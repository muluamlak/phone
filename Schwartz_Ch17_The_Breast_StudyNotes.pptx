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</p:sldIdLst>
  <p:notesMasterIdLst>
    <p:notesMasterId r:id="rId16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notesMaster" Target="notesMasters/notesMaster1.xml"/><Relationship Id="rId164" Type="http://schemas.openxmlformats.org/officeDocument/2006/relationships/presProps" Target="presProps.xml"/><Relationship Id="rId165" Type="http://schemas.openxmlformats.org/officeDocument/2006/relationships/viewProps" Target="viewProps.xml"/><Relationship Id="rId166" Type="http://schemas.openxmlformats.org/officeDocument/2006/relationships/theme" Target="theme/theme1.xml"/><Relationship Id="rId1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965960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BREAST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Notes with Illustrations, Graphs and Flowcharts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632808" y="3520440"/>
            <a:ext cx="2926080" cy="0"/>
          </a:xfrm>
          <a:prstGeom prst="line">
            <a:avLst/>
          </a:prstGeom>
          <a:noFill/>
          <a:ln w="15875">
            <a:solidFill>
              <a:srgbClr val="D8F3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794760"/>
            <a:ext cx="107286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Condensed from Schwartz's Principles of Surgery -- Chapter 17, “The Breast”
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(book pages 541–603)
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D8F3DC"/>
                </a:solidFill>
              </a:rPr>
              <a:t>Chapter authors: C. C. Parker, S. Damodaran, K. I. Bland, K. K. Hunt
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Prepared for: Dr. Muluamlak -- GSR-3
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8F3DC"/>
                </a:solidFill>
              </a:rPr>
              <a:t>EBS Unit • Surgical residency study aid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Use These Notes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143000"/>
            <a:ext cx="11368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slides follow the chapter’s own order. Each slide gives the facts that are testable or that change management, with numbers kept exact and a figure wherever a picture explains faster than a paragraph.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11480" y="1920240"/>
            <a:ext cx="1417320" cy="420624"/>
          </a:xfrm>
          <a:prstGeom prst="roundRect">
            <a:avLst>
              <a:gd name="adj" fmla="val 13043"/>
            </a:avLst>
          </a:prstGeom>
          <a:solidFill>
            <a:srgbClr val="F2F2F2"/>
          </a:solidFill>
          <a:ln w="12700">
            <a:solidFill>
              <a:srgbClr val="4A5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9202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A5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[p.552]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011680" y="1920240"/>
            <a:ext cx="9768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page in Schwartz (PDF page = book page - 540).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432304"/>
            <a:ext cx="1417320" cy="420624"/>
          </a:xfrm>
          <a:prstGeom prst="roundRect">
            <a:avLst>
              <a:gd name="adj" fmla="val 13043"/>
            </a:avLst>
          </a:prstGeom>
          <a:solidFill>
            <a:srgbClr val="E3ECF7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432304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4E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 box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011680" y="2432304"/>
            <a:ext cx="9768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at a glance -- what to do.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2944368"/>
            <a:ext cx="1417320" cy="420624"/>
          </a:xfrm>
          <a:prstGeom prst="roundRect">
            <a:avLst>
              <a:gd name="adj" fmla="val 13043"/>
            </a:avLst>
          </a:prstGeom>
          <a:solidFill>
            <a:srgbClr val="FBEEDB"/>
          </a:solidFill>
          <a:ln w="12700">
            <a:solidFill>
              <a:srgbClr val="9C6B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944368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C6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box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011680" y="2944368"/>
            <a:ext cx="9768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pearl.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3456432"/>
            <a:ext cx="1417320" cy="420624"/>
          </a:xfrm>
          <a:prstGeom prst="roundRect">
            <a:avLst>
              <a:gd name="adj" fmla="val 13043"/>
            </a:avLst>
          </a:prstGeom>
          <a:solidFill>
            <a:srgbClr val="FBE4E4"/>
          </a:solidFill>
          <a:ln w="12700">
            <a:solidFill>
              <a:srgbClr val="A424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45643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 box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011680" y="3456432"/>
            <a:ext cx="9768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 / common mistake / contraindication.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3968496"/>
            <a:ext cx="1417320" cy="420624"/>
          </a:xfrm>
          <a:prstGeom prst="roundRect">
            <a:avLst>
              <a:gd name="adj" fmla="val 13043"/>
            </a:avLst>
          </a:prstGeom>
          <a:solidFill>
            <a:srgbClr val="D8F3DC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96849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Fig. 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011680" y="3968496"/>
            <a:ext cx="9768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illustration, chart or flowchart drawn from the chapter’s data.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" y="4590288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know before you 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" y="4901184"/>
            <a:ext cx="113687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11th edition (2019); landmark trials (Z0011, B-32, TAILORx, B-24...) explained in full -- check current guidelines for newer drugs/updates.</a:t>
            </a:r>
            <a:endParaRPr lang="en-US" sz="11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Misprint in source: PRIME-2 result printed "41%" on p.583 -- corrected here to 4.1% (published trial value).</a:t>
            </a:r>
            <a:endParaRPr lang="en-US" sz="11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pages 1-63 of the supplied PDF (chapter text + start of reference list).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Brief History of Breast Cancer Therapy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541-543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Brief History of Breast Cancer Therapy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879" y="1097280"/>
            <a:ext cx="10603936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1 --- Milestones in breast cancer therapy.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"there is no treatment" to the Halsted operation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641475"/>
            <a:ext cx="5455768" cy="2660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Edwin Smith papyrus (3000-2500 BC): earliest record (a man); "no treatment" verdict. [p.541]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Celsus: only early cancer removable. Galen: crab-like tumour, humoral theory. [p.541]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Dran: breast cancer spreads via lymphatics to axillary nodes -&gt; remove enlarged nodes. [p.542]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Moore: remove whole breast + palpable nodes. Banks (1877): remove nodes even if impalpable. [p.542]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 (1894): radical mastectomy + levels I-III axillary dissection (sacrifices long thoracic nerve, thoracodorsal bundle) -&gt; became standard. [p.542]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713230"/>
            <a:ext cx="5455768" cy="2373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Haagensen &amp; Stout (1943) "grave signs": skin oedema, ulceration, chest-wall fixation, node &gt;2.5cm, fixed nodes. [p.542]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&gt;=2 signs -&gt; 42% local recurrence, only 2% 5-y DFS -&gt; "beyond cure by radical surgery". [p.542]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 (1948): modified radical mastectomy -- preserve pectoralis major, remove pectoralis minor for level III access. [p.542]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1970s: MRM replaces Halsted -- pec major removal added nothing in stage I-II; neither controlled stage III -&gt; radiation added. [p.542]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trials that dismantled the Halstedian idea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 dismantling the Halstedian radical-surgery paradigm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Trial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Design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B-04 (1971-74; n=1,665)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Cl. N0: Halsted vs total mastectomy +/- RT vs total mastectomy alone. Cl. N+: Halsted vs total + RT.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survival difference in any comparison, still equal at 25 years (era before effective systemic therapy).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 (1937)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breast conservation + radium.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 of breast-conserving therapy.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B-06 (n=1,851)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mastectomy vs lumpectomy vs lumpectomy + RT.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DFS, distant DFS, OS; lumpectomy alone had much more in-breast recurrence.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Systemic therapy and the biology era (EBCTCG overviews)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689862"/>
            <a:ext cx="5455768" cy="1204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Fisher's "alternative hypothesis": breast cancer systemic at diagnosis; nodes = marker, not barrier. [p.542-543]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EBCTCG: avoiding 1 breast recurrence avoids ~1 breast-cancer death per 4 recurrences avoided over 15y -&gt; local control matters. [p.542-543]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" y="3031998"/>
            <a:ext cx="5455768" cy="1399032"/>
          </a:xfrm>
          <a:prstGeom prst="roundRect">
            <a:avLst>
              <a:gd name="adj" fmla="val 3922"/>
            </a:avLst>
          </a:prstGeom>
          <a:solidFill>
            <a:srgbClr val="FBEEDB"/>
          </a:solidFill>
          <a:ln w="15875">
            <a:solidFill>
              <a:srgbClr val="9C6B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3105150"/>
            <a:ext cx="516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pearl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57784" y="3379470"/>
            <a:ext cx="51631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B-06 caveats: palpable axillary nodes excluded.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frozen-section margins -&gt; converted to mastectomy but analyzed as breast conservation (intention-to-treat).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In-breast recurrences counted as "non-events" for DFS.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24448" y="1812290"/>
            <a:ext cx="5455768" cy="1977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Anthracyclines &gt; CMF; adding taxane -&gt; -1/3 breast-cancer mortality. Tamoxifen: ER+ only, mortality down up to 30%. [p.543]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risk reduction unaffected by size, ER status, nodes -&gt; treat by absolute risk (spare low-risk toxicity). [p.543]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IHC (1980s) -&gt; gene arrays: &gt;=5 intrinsic subtypes, different outcomes -&gt; subtype now steers local + systemic tx. [p.543]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women: 50% see surgeon for breast disease, 25% biopsied, 12% develop breast cancer. [p.543]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and Functional Anatomy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543-547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and congenital anomalies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960880"/>
            <a:ext cx="11368735" cy="138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5-6: ectodermal mammary ridges (milk lines), axilla-&gt;inguinal; mostly regress in humans. [p.543-544]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bud -&gt; 15-20 secondary buds -&gt; epithelial cords -&gt; lactiferous ducts -&gt; mammary pit; infancy: mesenchyme lifts pit into nipple. [p.543-544]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Birth: male/female breasts identical (major ducts only); transient enlargement + "witch's milk" from maternal hormones. [p.544]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breast undeveloped until puberty (estrogen+progesterone); incomplete until pregnancy. [p.544]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and congenital anomalies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Congenital breast anomalies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Anomaly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it is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nipple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 fails to elevate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4% of infants; congenital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Amastia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 breast; arrest of ridge in 6th fetal week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Poland's syndrome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hypoplasia/absence + costal cartilage and rib defects + chest-wall subcutaneous hypoplasia + brachysyndactyly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 can also be iatrogenic (trauma, infection, RT before puberty)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Symmastia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Webbing between breasts across the midline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Polythelia (accessory nipple)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nipple along milk 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 of infants; may go with urinary/cardiovascular anomalies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Polymastia (supernumerary breast)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breast anywhere along milk 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 between normal nipple and symphysis pubis; Turner and Fleischer syndromes; axillary tissue usually bilateral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Gross anatomy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09241"/>
            <a:ext cx="11368735" cy="45766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2 --- Breast anatomy: (A) sagittal section, (B) frontal view with quadrants.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Nipple-areola complex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32915"/>
            <a:ext cx="5455768" cy="2660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 lobes, multiple lobules each; Cooper's ligaments traverse breast, insert perpendicular into dermis. [p.544]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2nd/3rd rib -&gt; inframammary fold (6th/7th rib); lateral sternal border -&gt; anterior axillary line. [p.544]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surface: pec major, serratus anterior, external oblique, upper rectus sheath fascia; retromammary bursa between breast and pectoral fascia. [p.544]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 crosses anterior axillary fold; upper outer quadrant has most tissue; base 10-12cm. [p.544]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Nulliparous: hemispheric, flattened above nipple. Pregnancy/lactation -&gt; volume/density up. Senescence: flat, pendulous. [p.544]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663700"/>
            <a:ext cx="5455768" cy="257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Pigmented, corrugated; darkens at puberty, pregnancy. Montgomery's tubercles = areola's sebaceous/sweat/accessory glands. [p.544-545]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Circumferential/longitudinal smooth muscle -&gt; nipple erection; Meissner's corpuscles in dermal papillae -&gt; sensation drives let-down reflex. [p.545]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lobe -&gt; 1 lactiferous duct (2-4mm) opening via 0.4-0.7mm orifice; dilates as lactiferous sinus under NAC (stratified squamous epithelium). [p.545]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ducts: 2 layers cuboidal cells; minor ducts: 1 layer; myoepithelial cells in basal lamina. [p.545]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Inactive vs active breast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66880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Histology/function by physiological state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041200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Histology / function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 epithelium, mostly ductal, in loose stroma; dense tissue around TDLU. Menstrual cycle: minor ducts cord-like early; at ovulation estrogen raises alveolar epithelial height and lumina; regresses as hormones fall.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ducts branch, alveoli develop (asymmetrically); lymphocytes, plasma cells and eosinophils accumulate in stroma.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Alveolar epithelium (rich in ER, mitochondria, Golgi): protein by merocrine secretion, lipid by apocrine secretion. Colostrum (first days): low fat, antibody-rich (from plasma cells) -&gt; then lipid-rich milk.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supply, nerves and lymphatics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Vascular, neural and lymphatic supply of the breast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System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Key facts [p.545-547]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Perforating branches of internal mammary artery (2nd-4th anterior intercostal perforators = medial mammary arteries); lateral branches of posterior intercostals; axillary artery branches --- highest thoracic, lateral thoracic (also supplies serratus, pectorals, subscapularis; gives lateral mammary branches), pectoral branch of thoracoacromial.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arteries, draining toward axilla: perforating branches of internal thoracic vein, posterior intercostal perforators, axillary vein tributaries. Batson's vertebral plexus (skull base to sacrum) = route to vertebrae, skull, pelvis and CNS metastases.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nerves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cutaneous branches of intercostals 3-6 (exit between serratus slips); supraclavicular nerve (cervical plexus) supplies upper breast skin. Intercostobrachial nerve (lateral cutaneous of T2): cut in axillary dissection -&gt; numbness of medial upper arm.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Lymphatics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Plexus in interlobular tissue and duct walls -&gt; subareolar plexus. Efferents pass round lateral edge of pectoralis major, pierce clavipectoral fascia -&gt; external mammary nodes; some go direct to subscapular or apical nodes. &gt;75% axillary; remainder (mainly medial breast) -&gt; internal mammary (parasternal) nodes.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supply, nerves and lymphatics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8119" y="1097280"/>
            <a:ext cx="8755457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3 --- Proportion of breast lymph draining to the axilla.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 axillary node groups -&gt; three surgical levels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6426" y="1097280"/>
            <a:ext cx="6838844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4 --- Axillary levels I-III relative to pectoralis minor; parasternal and supraclavicular nodes.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 axillary node groups -&gt; three surgical levels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 node groups and surgical levels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2273747"/>
                <a:gridCol w="2273747"/>
                <a:gridCol w="2273747"/>
                <a:gridCol w="2273747"/>
                <a:gridCol w="227374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Group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Number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Position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Receives lymph from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Level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vein (lateral)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Medial/posterior to the vein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of the upper limb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mammary (anterior/pectoral)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border of pectoralis minor, with lateral thoracic vessels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breast (most)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Scapular (posterior/subscapular)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axillary wall, lateral scapular border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posterior neck, posterior trunk, shoulder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in fat behind pectoralis minor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Vein, external mammary, scapular groups + breast directly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Interpectoral (Rotter's)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pectoralis major and minor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Directly from breast -&gt; central and subclavicular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Subclavicular (apical)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Behind and above upper border of pectoralis minor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axillary groups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and Functional Anatomy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2148015"/>
            <a:ext cx="11368735" cy="963422"/>
          </a:xfrm>
          <a:prstGeom prst="roundRect">
            <a:avLst>
              <a:gd name="adj" fmla="val 5695"/>
            </a:avLst>
          </a:prstGeom>
          <a:solidFill>
            <a:srgbClr val="FBEEDB"/>
          </a:solidFill>
          <a:ln w="15875">
            <a:solidFill>
              <a:srgbClr val="9C6B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7784" y="2221167"/>
            <a:ext cx="110761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pearl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57784" y="2495487"/>
            <a:ext cx="11076127" cy="542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I = lateral/below pec minor's lower border; II = deep/superficial to it; III = medial/above its upper border. [p.547, 563]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Metastasis usually spreads sequentially I -&gt; II -&gt; III. [p.547, 563]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Breast; Gynecomastia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547-549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Breast; Gynecomastia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3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0113" y="1097280"/>
            <a:ext cx="9511469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5 --- Neuroendocrine control of the breast.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Breast; Gynecomastia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683385"/>
            <a:ext cx="5455768" cy="2858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hormones act (estrogen, progesterone, prolactin, oxytocin, thyroid, cortisol, GH); estrogen/progesterone/prolactin essential. [p.547]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-&gt; ductal development; progesterone -&gt; lobular development + epithelial differentiation; prolactin -&gt; lactogenesis (late pregnancy/postpartum). [p.547]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Childhood: low estrogen -- hypothalamic-pituitary axis very sensitive to negative feedback. [p.547-548]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Puberty: less negative-, more positive-feedback -&gt; GnRH/FSH/LH rise -&gt; ovarian estrogen/progesterone -&gt; menstrual cycle. [p.547-548]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size/density rise premenstrually; engorgement/proliferation subside with menses. [p.547-548]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097280"/>
            <a:ext cx="545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changes across life stages</a:t>
            </a:r>
            <a:endParaRPr lang="en-US" sz="10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24448" y="1371600"/>
          <a:ext cx="5455768" cy="914400"/>
        </p:xfrm>
        <a:graphic>
          <a:graphicData uri="http://schemas.openxmlformats.org/drawingml/2006/table">
            <a:tbl>
              <a:tblPr/>
              <a:tblGrid>
                <a:gridCol w="2727884"/>
                <a:gridCol w="27278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Life stage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Changes [p.548-549]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Ovarian + placental estrogen/progestin increase -&gt; ductal and lobular proliferation, areolar darkening, Montgomery glands prominent. Trimesters 1-2: minor ducts branch; trimester 3: fat droplets in alveolar cells, colostrum fills ducts; late pregnancy: prolactin drives milk fat and protein synthesis.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Placental delivery -&gt; estrogen/progesterone fall -&gt; prolactin acts fully. Nipple neural reflex maintains prolactin; oxytocin (from sight, sound, smell of nursing) contracts myoepithelial cells -&gt; expels milk into sinuses. After weaning, dormant milk raises duct pressure -&gt; epithelial atrophy.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Senescence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Menopause: estrogen/progesterone fall -&gt; involution of ducts and alveoli, denser fibrous stroma, replacement by fat.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Gynecomastia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455768" cy="217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Enlarged male breast, 3 physiologic phases: neonatal (placental estrogen); adolescence (estradiol&gt;testosterone, usually unilateral, age 12-15); senescence (testosterone falls, usually bilateral, age 50-70). [p.548]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in non-obese man needs &gt;=2cm breast tissue. [p.548]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Mammography/US distinguish gynecomastia from cancer; dominant/irregular/asymmetric mass -&gt; suspect cancer. [p.548]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itself doesn't raise cancer risk; Klinefelter's (XXY, hypoandrogenic) does. [p.548]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3409696"/>
            <a:ext cx="545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grading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684016"/>
          <a:ext cx="5455768" cy="914400"/>
        </p:xfrm>
        <a:graphic>
          <a:graphicData uri="http://schemas.openxmlformats.org/drawingml/2006/table">
            <a:tbl>
              <a:tblPr/>
              <a:tblGrid>
                <a:gridCol w="2727884"/>
                <a:gridCol w="27278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Description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enlargement, no skin redundancy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enlargement, no skin redundancy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enlargement with skin redundancy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enlargement, skin redundancy and ptosis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24448" y="1097280"/>
            <a:ext cx="545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gynecomastia (Table 17-1, p.549)</a:t>
            </a:r>
            <a:endParaRPr lang="en-US" sz="105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24448" y="1371600"/>
          <a:ext cx="5455768" cy="914400"/>
        </p:xfrm>
        <a:graphic>
          <a:graphicData uri="http://schemas.openxmlformats.org/drawingml/2006/table">
            <a:tbl>
              <a:tblPr/>
              <a:tblGrid>
                <a:gridCol w="2727884"/>
                <a:gridCol w="27278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Cause group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Examples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 excess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Testicular tumours (Leydig, Sertoli, germ-cell: choriocarcinoma, seminoma); adrenal cortical tumours; lung and hepatocellular carcinoma; thyroid disease; cirrhosis; malnutrition/re-feeding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Androgen deficiency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Senescence; primary testicular failure (Klinefelter, Kallmann, Reifenstein); secondary failure (trauma, orchitis, cryptorchidism, irradiation); renal failure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Estrogenic: digitalis, estrogens, anabolic steroids, marijuana; increase estrogen synthesis: hCG; anti-androgen: cimetidine, ketoconazole, phenytoin, spironolactone, chemotherapy, diazepam; idiopathic: reserpine, theophylline, verapamil, tricyclics, furosemide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Gynecomastia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991011"/>
            <a:ext cx="11368735" cy="1225677"/>
          </a:xfrm>
          <a:prstGeom prst="roundRect">
            <a:avLst>
              <a:gd name="adj" fmla="val 4476"/>
            </a:avLst>
          </a:prstGeom>
          <a:solidFill>
            <a:srgbClr val="E3ECF7"/>
          </a:solidFill>
          <a:ln w="15875">
            <a:solidFill>
              <a:srgbClr val="1D4E8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7784" y="2064163"/>
            <a:ext cx="110761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57784" y="2338483"/>
            <a:ext cx="11076127" cy="805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cause -- replace testosterone if deficient, stop the drug, treat endocrine defect.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Progressive/unresponsive gynecomastia -&gt; surgery (excision, liposuction, or subcutaneous mastectomy). [p.549]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Danazol works but has significant androgenic side effects. [p.549]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and Inflammatory Disorders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550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and Inflammatory Disorders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267585"/>
            <a:ext cx="11368735" cy="521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Postpartum = commonest time for breast infection; non-lactational infection is intrinsic (periductal mastitis) or extrinsic (infected sebaceous cyst). [p.550]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and Inflammatory Disorders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Infectious/inflammatory breast conditions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Condition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Key features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Treatment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Staphylococcal abscess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 aureus (also Streptococcus). Point tenderness, erythema, heat. Lactational abscess in first weeks of feeding. Subcutaneous, subareolar, interlobular, retromammary; localised, may be deep.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repeated ultrasound-guided aspiration; operative drainage only if it fails or skin is thin/necrotic. Biopsy the abscess wall if it will not resolve (exclude cancer). Chronic/recurrent -&gt; cultures for AFB, anaerobes, fungi; long antibiotics.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Streptococcal infection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Diffuse, superficial.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compresses, local care, IV penicillin or cephalosporin.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mastitis --- epidemic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Virulent MRSA spread by the suckling neonate; purulent nipple discharge; real morbidity.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breastfeeding, antibiotics, surgery as needed.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mastitis --- sporadic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fissure + milk stasis -&gt; retrograde infection of interlobular tissue.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the breast (pump) + antibiotics -&gt; success in &gt;95%.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Zuska's disease (recurrent periductal mastitis)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retro-areolar infection/abscess; smoking implicated.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drainage; wide debridement/terminal duct resection can cure but may be frustrated by infection.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Blastomycosis, sporotrichosis (from infant's mouth); abscess near NAC, blood-stained pus, sinuses. Candida: red scaly inframammary/axillary skin.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Antifungals (usually avoids surgery; sometimes drainage/partial mastectomy). Candida: remove maceration + topical nystatin.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Hidradenitis suppurativa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 inflammation of Montgomery glands or axillary sebaceous glands; acne predisposes; mimics Paget's or cancer at NAC.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incision/drainage; excision +/- flaps or grafts if extensive.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Mondor's disease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Superficial thrombophlebitis ("string phlebitis") of lateral thoracic / thoracoepigastric / superficial epigastric vein: acute lateral chest/breast pain + tender cord. Benign, self-limited, not a cancer sign.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NSAIDs + warm compresses; resolves in 4-6 weeks; biopsy if diagnosis uncertain or mass nearby; excise vein if refractory.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Disorders and Diseases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550-554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ANDI --- Aberrations of Normal Development and Involution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267585"/>
            <a:ext cx="5455768" cy="521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Surgeon's goal: explain clearly, treat appropriately, avoid unneeded long-term follow-up.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2005330"/>
            <a:ext cx="5455768" cy="1204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3 principles: (a) benign conditions track normal reproductive life/involution; (b) spectrum normal -&gt; disorder -&gt; disease. [p.550]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classification covers pathogenesis + degree of abnormality. [p.550]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ANDI --- Aberrations of Normal Development and Involution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classification by life period</a:t>
            </a:r>
            <a:endParaRPr lang="en-US" sz="12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2842184"/>
                <a:gridCol w="2842184"/>
                <a:gridCol w="2842184"/>
                <a:gridCol w="28421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Period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Disorder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Disease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reproductive (15-25 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and stromal development; nipple 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Fibroadenoma; adolescent hypertrophy; nipple inversion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fibroadenoma; gigantomastia; subareolar abscess; mammary duct fistula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reproductive (25-40 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menstrual change; epithelial hyperplasia of pregnancy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mastalgia; nodularity; bloody nipple discharge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Incapacitating mastalgia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(35-55 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involution; duct involution: dilatation, sclerosis; epithelial turnover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Macrocysts; sclerosing lesions; duct ectasia; nipple retraction; epithelial hyperplasia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mastitis; epithelial hyperplasia with atypia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Disorders and Diseases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908810"/>
            <a:ext cx="11368735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Fibroadenoma: age 15-25, usually 1-2cm then stable. &lt;=1cm normal; up to 3cm disorder; &gt;3cm giant=disease; &gt;5 lesions/breast=disease. [p.550-551]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now finds asymptomatic fibroadenomas in older women. [p.550-551]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Mastalgia/nodularity: premenstrual = normal; painful nodularity &gt;1 wk of cycle = disorder. [p.552]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bloody discharge can arise from papillary projections of pregnancy epithelium. [p.552]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Involution: stroma involutes faster than alveoli -&gt; microcysts -&gt; macrocysts (common, often subclinical, no tx needed). [p.552]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Periductal fibrosis after periductal mastitis -&gt; nipple retraction; ~60% of women &gt;=70y show epithelial hyperplasia. [p.552]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Histological classification and cancer risk (Page)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5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148" y="1097280"/>
            <a:ext cx="9423400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6 --- Page classification of benign breast disease.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Histological classification and cancer risk (Page)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5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397" y="1097280"/>
            <a:ext cx="10500902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7 --- Relative risk of breast cancer (Dupont &amp; Page, Table 17-3).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Histological classification and cancer risk (Page)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breast lesions: features and behaviour [p.552-554]</a:t>
            </a:r>
            <a:endParaRPr lang="en-US" sz="12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Lesion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Defining features and behaviour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Cysts, macrocysts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Involutional, frequently multiple; simple cyst rarely of concern, complex cyst may hide malignancy.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ectasia / periductal mastitis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Dilated palpable subareolar ducts, thick discharge. Haagensen: ectasia -&gt; stasis -&gt; leakage of irritant fatty acids -&gt; periductal inflammation -&gt; fibrosis -&gt; nipple retraction; alternative: periductal mastitis primary. Both may occur; spectrum = discharge, retraction, inflammatory mass, abscess.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Calcifications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benign (secretions, debris, trauma). Cancer-associated: microcalcifications &lt;0.5 mm of varying shape/density, and fine linear branching.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vs adenoma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Fibroadenoma: abundant stroma, hormone-dependent (lactates in pregnancy, involutes after menopause). Adenoma: sparse stroma; tubular (young, non-pregnant) or lactating. Hamartoma: 2-4 cm firm circumscribed. Adenolipoma: fat nodule with normal lobules/ducts.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adenosis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Childbearing/perimenopausal; distorted lobules with microcysts +/- palpable mass; benign calcifications; no malignant potential but mimics cancer clinically, on imaging and grossly -&gt; observe only if imaging and pathology concordant, otherwise excise.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/ complex sclerosing lesion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fibrosis with radiating change at terminal duct branching; &lt;=1 cm = radial scar, &gt;1 cm = complex sclerosing lesion (adds papilloma, apocrine metaplasia, +/- sclerosing adenosis). Spiculated mass looks like cancer -&gt; core result "benign" is discordant -&gt; vacuum-assisted or open excision.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Histological classification and cancer risk (Page)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breast lesions: features and behaviour [p.552-554] (cont.)</a:t>
            </a:r>
            <a:endParaRPr lang="en-US" sz="12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Lesion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Defining features and behaviour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hyperplasia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= 3-4 cell layers above basement membrane; moderate = &gt;=5; florid = fills &gt;=70% of the minor-duct lumen (&gt;20% of specimens; risk 1.5-2x).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Intraductal papilloma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ducts, premenopausal, usually &lt;0.5 cm (up to 5 cm); serous/bloody discharge; pinkish friable lesion on a stalk; no added risk unless atypia. Multiple papillomas (younger women, less discharge) can transform.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Looks like low-grade DCIS: monotonous round cells, rare mitoses. &lt;=2-3 mm = ADH; &gt;3 mm = DCIS. Hard on core -&gt; often needs excision. Risk 4x; counsel on risk reduction.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 / LCIS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ALH: minimal distension of lobular units by LCIS-like cells. LCIS: small monomorphic cells distend the TDLU, acini full, architecture kept. E-cadherin lost in lobular neoplasia, present in most ductal lesions.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"Fibrocystic disease"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non-specific label (many synonyms); better to name the actual histology.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Treating the common benign problems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5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423" y="1097280"/>
            <a:ext cx="9086850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8 --- Palpable mass: triple assessment, cyst vs solid, and concordance.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Treating the common benign problems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of common benign problems [p.554-555]</a:t>
            </a:r>
            <a:endParaRPr lang="en-US" sz="12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Problem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Approach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 needle, 10 mL syringe (mass fixed with the other hand). Cyst 5-10 mL (up to &gt;=75 mL). Non-bloody fluid: aspirate to dryness, discard (cytology not cost-effective), re-palpate for residual mass. Bloody fluid -&gt; cytology. Image first when possible (needle artifacts); most cysts now US-guided. Mass on US or residual mass -&gt; core biopsy. Pneumocystogram (air, repeat mammogram) shows wall irregularity.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self-limiting; US + core biopsy diagnoses; under ~25 y biopsy may be unnecessary. Options: excision, cryoablation, US-guided vacuum-assisted excision (&lt;3 cm), or observation. Many shrink; those &gt;2 cm often remain palpable.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lesions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 or larger (stereotactic, vacuum) sample to exclude cancer.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 / subareolar abscess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 with 21-G, culture (anaerobes); polymicrobial antibiotics; repeated US-guided aspiration; surgery in a proportion. Subareolar abscess usually unilocular, single duct system. Young/childbearing: simple drainage preferred; recurrent abscess + fistula: fistulectomy + primary closure with antibiotics (or lay-open/granulation if recurrent).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inversion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Caused by short subareolar ducts -&gt; permanent correction needs complete division of the ducts; warn of altered sensation, nipple necrosis, fibrosis with retraction.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Disorders and Diseases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79897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Fistulectomy vs total duct excision criteria (Table 17-5)</a:t>
            </a:r>
            <a:endParaRPr lang="en-US" sz="10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054217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Fistulectomy suitable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 duct excision suitable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abscess in one 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abscess &gt;50% of areolar circumference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in the same 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in a different 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Mild/no nipple inversion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nipple inversion or patient wants it corrected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Younger patient; no discharge from other ducts; no prior fistulectomy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patient; purulent discharge from other ducts; recurrence after fistulectomy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3532021"/>
            <a:ext cx="11368735" cy="610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sepsis -&gt; fistulectomy regardless of age; diffuse sepsis/&gt;1 fistula -&gt; total duct excision. [p.555]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2-4 wk antibiotics before total duct excision. [p.555]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Factors, Risk Models, Screening and Prevention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555-558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risk factors and reasoning [p.555]</a:t>
            </a:r>
            <a:endParaRPr lang="en-US" sz="12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Type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Factors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Reasoning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increased 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menarche, nulliparity, late menopause, older age at first live birth, obesity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lifetime menstrual cycles = more estrogen exposure; a full-term pregnancy causes terminal differentiation (protective); after menopause adipose aromatisation of androstenedione -&gt; estrone is the main estrogen source.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decreased risk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exercise, longer lactation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cycles.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 lymphoma (75x risk vs age-matched controls); atomic-bomb survivors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Adolescence (active breast development) magnifies the effect.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Lifestyle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Alcohol (increases with amount; raises estradiol); long-term high-fat diet (increases serum estrogen)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lifetime risk at birth 12%; at age 50 = 11%; at age 70 = 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longer you live cancer-free, the lower the remaining risk.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6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66203"/>
            <a:ext cx="11368735" cy="466275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9 --- US lifetime risk over time and by age.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risk assessment models [p.555-556]</a:t>
            </a:r>
            <a:endParaRPr lang="en-US" sz="12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Model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Inputs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Output / limits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(most used in US; from BCDDP)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age at menarche, age at first live birth, number of biopsies, atypical hyperplasia, number of first-degree relatives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Multiplies relative risks -&gt; score vs adjusted population risk -&gt; 5-year and lifetime risk. Modified for African American and Asian/Pacific Island women; revised version adds weight and mammographic density, drops menarche. Does not include BRCA. Not appropriate for LCIS/DCIS or BRCA carriers.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 and second-degree relatives with breast cancer, their ages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by decade; more family detail but excludes other factors.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breast/ovarian family history (Mendelian model)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of carrying a BRCA mutation -&gt; age-specific cancer risk; laborious in clinic.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Tyrer-Cuzick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 + menarche, parity, age at first birth, menopause age, atypia/LCIS, height, BMI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adjusted for personal factors.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Manchester score, BOADICEA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probability to decide referral for genetic testing.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Gail relative risk values (Table 17-6)</a:t>
            </a:r>
            <a:endParaRPr lang="en-US" sz="12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Variable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Value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Menarche &gt;=14 / 12-13 / &lt;12 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1.10 / 1.21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Biopsies, age &lt;50: 0 / 1 / &gt;=2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1.70 / 2.88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Biopsies, age &gt;=50: 0 / 1 / &gt;=2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/ 1.27 / 1.62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birth &lt;20 y with 0 / 1 / &gt;=2 first-degree relatives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2.61 / 6.80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birth 20-24 y (0 / 1 / &gt;=2 relatives)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/ 2.68 / 5.78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birth 25-29 y (0 / 1 / &gt;=2 relatives)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/ 2.76 / 4.91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birth &gt;=30 y (0 / 1 / &gt;=2 relatives)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 / 2.83 / 4.17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Factors, Risk Models, Screening and Prevention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455768" cy="100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Risk-dependent decisions: HRT use, when to start mammography/add MRI, when to give tamoxifen, prophylactic mastectomy. [p.556]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risk accounting for competing risks and comorbidity. [p.556]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2305304"/>
            <a:ext cx="545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mammography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671064"/>
            <a:ext cx="5455768" cy="2660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&gt;=50y lowers breast-cancer mortality ~25% (older estimates 20-25%; HIP/BCDDP 33%). [p.557, 570]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Overdiagnosis: UK panel est. ~11% of cancers in invited women; still ~20% mortality reduction -&gt; screening continues. [p.557, 570]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&lt;50y screening controversial: denser breasts (lower sensitivity), more false positives (lower specificity), lower incidence (less benefit). [p.557]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 higher-risk younger women helps; age 40-49, abnormal mammogram 3x more likely cancer with family history. [p.557]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independently predicts risk; US used in dense breasts but no proven mortality benefit. [p.557]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24448" y="1784985"/>
            <a:ext cx="545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Hormone replacement therapy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24448" y="2150745"/>
            <a:ext cx="5455768" cy="2086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 (2002): breast-cancer risk 3-4x higher after &gt;4y combined HRT; no coronary/cerebrovascular protection. Collaborative Group reanalysis (52,705 cases, 108,411 controls): risk raised in current users (rises with duration), not past users. [p.556-557, 577]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 Women Study: estrogen+progesterone worse than other regimens; estrogen+progestin -&gt; +26% breast cancer vs placebo. [p.556-557, 577]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HRT use is thought to explain the recent fall in incidence. [p.561]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mammography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45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mammography recommendations by body [p.557]</a:t>
            </a:r>
            <a:endParaRPr lang="en-US" sz="10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5455768" cy="914400"/>
        </p:xfrm>
        <a:graphic>
          <a:graphicData uri="http://schemas.openxmlformats.org/drawingml/2006/table">
            <a:tbl>
              <a:tblPr/>
              <a:tblGrid>
                <a:gridCol w="2727884"/>
                <a:gridCol w="27278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Body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Average-risk recommendation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USPSTF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Biennial mammography, 50-74 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American Cancer Society (2015)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from 45 y (option from 40-44); annual 45-54; from 55 biennial or continue annual; while health good and life expectancy &gt;=10 y. No routine clinical breast exam.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NCCN (as cited)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from &gt;=40 y + annual clinical exam + breast awareness. (Chapter also: CBE at least every 3 y from age 20, yearly from 40 [p.570].)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agree on "high risk"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breast cancer history, chest radiation at a young age, known/suspected pathogenic mutation.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324448" y="1860995"/>
            <a:ext cx="5455768" cy="1745742"/>
          </a:xfrm>
          <a:prstGeom prst="roundRect">
            <a:avLst>
              <a:gd name="adj" fmla="val 3143"/>
            </a:avLst>
          </a:prstGeom>
          <a:solidFill>
            <a:srgbClr val="D8F3DC"/>
          </a:solidFill>
          <a:ln w="15875">
            <a:solidFill>
              <a:srgbClr val="2D6A4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70752" y="1934147"/>
            <a:ext cx="516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gets MRI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70752" y="2208467"/>
            <a:ext cx="5163160" cy="132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screening (ACS) if: lifetime risk &gt;=20-25% (family-history models); BRCA carrier; untested 1st-degree relative of carrier. [p.557]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chest RT age 10-30; Li-Fraumeni, Cowden, or Bannayan-Riley-Ruvalcaba syndrome (or 1st-degree relative). [p.557]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very sensitive, unaffected by density, but moderate specificity -&gt; more false positives/biopsies. [p.557]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Chemoprevention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673860"/>
            <a:ext cx="11368735" cy="2530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(SERM): first drug shown to reduce breast cancer in healthy women. [p.557-558]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P-1 (BCPT, &gt;13,000 women, 5-y Gail risk &gt;=1.66% or LCIS): -49% invasive cancer at ~4y, all ER+ (ER- unchanged). [p.557-558]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Marsden, Italian, IBIS-I confirmed ER+ reduction; no mortality effect (underpowered). [p.557-558]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harms: DVT x1.6, PE x3.0, endometrial cancer x2.5 (early-stage, postmenopausal), cataract surgery ~2x, vasomotor symptoms. [p.558]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Gail &gt;=1.66% age 35-59 (or older), or LCIS/ADH/ALH. [p.558]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(P-2, n=19,747 postmenopausal): tamoxifen vs raloxifene -- raloxifene kept 76% efficacy, fewer AEs (less endometrial cancer); doesn't reduce LCIS/DCIS. [p.558]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AIs: MAP.3 (exemestane, n=4,560): -65% at 35mo; IBIS-II (anastrozole, n=3,864): ~-50% at 5y; more arthritis/hot flashes. [p.558]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ASCO: tamoxifen pre- or postmenopausal; consider raloxifene or exemestane post-menopause. [p.558]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Chemoprevention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6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31153"/>
            <a:ext cx="11368735" cy="41328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10 --- Chemoprevention trials.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Risk-reducing surgery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960880"/>
            <a:ext cx="11368735" cy="138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 data: prophylactic mastectomy -&gt; &gt;90% risk reduction; QoL data poor. [p.558]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 with 40% lifetime risk gains ~3y life; with 85% risk gains &gt;5y. [p.558]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Prospective BRCA cohort: risk-reducing mastectomy highly effective in BRCA1 and 2; risk-reducing salpingo-oophorectomy cuts ovarian/breast cancer and breast-, ovarian-, all-cause mortality. [p.558]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 unproven in non-carriers; some patients regret cosmetic/reconstructive results. [p.558]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--- BRCA and Other Genes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558-561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--- BRCA and Other Genes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245360"/>
            <a:ext cx="11368735" cy="610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5% of breast cancers from germline BRCA1/BRCA2 mutations (autosomal dominant, variable penetrance).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tumour-suppressor genes needing biallelic loss; roles in transcription, cell-cycle control, DNA repair.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--- BRCA and Other Genes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7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466432"/>
            <a:ext cx="11368735" cy="406229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11 --- Sporadic, familial and hereditary breast cancer; genes involved (Table 17-7).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--- BRCA and Other Genes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BRCA1 vs BRCA2 (Table 17-7)</a:t>
            </a:r>
            <a:endParaRPr lang="en-US" sz="125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Feature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BRCA1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BRCA2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Chromosome /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17q; ~100 kb; 22 coding exons; 1,863 amino acids; &gt;500 variants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13q; ~70 kb; 26 exons; 3,418 amino acids; &gt;250 mutations; no homology to known genes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hereditary breast cancer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(&gt;=80% of hereditary ovarian)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breast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85% (some families); average 60-70%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to 85%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ovarian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IDC, poorly differentiated, mostly triple-negative/basal; medullary phenotype frequent; ~66% of BRCA1 DCIS is ER-negative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IDC, better differentiated, hormone-receptor positive more often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onset, bilateral breast cancer, ovarian; possibly colon and prostate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onset, bilateral; ovarian, colon, prostate, pancreas, gallbladder, bile duct, stomach, melanoma; male breast cancer risk 6% (x100)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mutations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185delAG and 5382insC (10% of BRCA1 mutations; Ashkenazi carrier frequency of 185delAG 1%; ~20% of Jewish women with breast cancer &lt;40 y carry it); also Dutch, Polish, Finnish, Russian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6174delT (Ashkenazi 1.2%; 60% of ovarian and 30% of early-onset breast cancers in Ashkenazi women); 999del5 (Icelandic, Finnish); 3036delACAA (Spanish)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Identifying and testing carriers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7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8738" y="1097280"/>
            <a:ext cx="7374219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12 --- Genetic risk assessment pathway.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--- BRCA and Other Genes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809750"/>
            <a:ext cx="11368735" cy="2353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hereditary risk: Ashkenazi ancestry; 1st-degree relative with breast cancer &lt;50y; ovarian cancer at any age (self or 1st/2nd-degree relative). [p.559]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breast+ovarian in one person; &gt;=2 first/second-degree relatives; bilateral breast cancer; male breast cancer in a relative. [p.559]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testing threshold in high-prevalence ethnic groups. [p.559]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affected family member first; relatives then tested for that specific mutation only. Ashkenazi: test 3 founder mutations first. [p.559-560]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false-negative &lt;5%; phenocopy possible if cancer onset &gt;=60y; indeterminate variants ~12% (missense may not disable protein). [p.559-560]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HIPAA (1996): group plans can't treat genetic info as pre-existing condition; little documented genetic discrimination. [p.560]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BRCA carriers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7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28819"/>
            <a:ext cx="11368735" cy="45375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13 --- The four risk-management strategies for BRCA1/2 carriers.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hereditary syndromes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455768" cy="3343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Surveillance: clinical exam q6mo + mammogram q12mo from age 25 (risk rises after 30); mammograms look same as non-carriers. [p.560]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MRI more sensitive in young dense breasts (ACS criteria above). [p.560]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Chemoprevention: P-1 -- -62% in BRCA2 carriers, no reduction in BRCA1 carriers starting &gt;=35y (tamoxifen mainly prevents ER+ cancers); not uniformly recommended for BRCA1. [p.560-561]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Surgery: mastectomy leaves some tissue, germline mutation persists. [p.560-561]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bilateral salpingo-oophorectomy age 35-40 post-childbearing (ovarian risk 20-40% = 10x general population); discuss HRT then. [p.560-561]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deferred: yearly transvaginal US + CA-125 from age 25. Avoid HRT if breasts retained (no data). [p.560-561]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097280"/>
            <a:ext cx="545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hereditary breast cancer genes/syndromes [p.561]</a:t>
            </a:r>
            <a:endParaRPr lang="en-US" sz="105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24448" y="1371600"/>
          <a:ext cx="5455768" cy="914400"/>
        </p:xfrm>
        <a:graphic>
          <a:graphicData uri="http://schemas.openxmlformats.org/drawingml/2006/table">
            <a:tbl>
              <a:tblPr/>
              <a:tblGrid>
                <a:gridCol w="2727884"/>
                <a:gridCol w="27278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Gene / syndrome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Associated cancers and notes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breast risk to age 70: 33% (no family history) to 58% (&gt;=2 affected first-degree relatives &lt;50 y); 5-9x general population --- comparable to BRCA2. Mammogram + MRI from age 30; consider risk-reducing mastectomy; ovarian risk unclear.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PTEN (Cowden)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 and GI cancers, benign skin/subcutaneous nodules.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 (Li-Fraumeni)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Sarcomas, lymphomas, adrenocortical tumours.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CDH1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Hereditary diffuse gastric cancer + lobular breast cancer.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Breast-melanoma; STK11, MSH2/MLH1, ATM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Table 17-7; panel testing now available --- interpretation is complex, use a genetic counsellor.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and Natural History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561-563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817370"/>
            <a:ext cx="11368735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Commonest site-specific cancer in women; leading cancer-death cause for women 20-59. [p.560-561]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2018: 266,120 new cases, 40,920 deaths = 30% of new cancers, 14% of cancer deaths in women; lung overtook it as top killer in 1987. [p.560-561]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rose 1-in-13 (1970s) -&gt; 1-in-11 (1980) -&gt; 1-in-8 (2004); 1980s jump reflected mammographic detection in women &gt;=55. [p.561]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 fell since ~2000, attributed to less HRT post-WHI. [p.561]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 survival: 63%(white)/46%(African American) in 1960-63 -&gt; 92%/78% in 2002-08. [p.561]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international mortality variation: Cyprus/Malta highest 29.6/100,000; Haiti lowest 2.0; US 19.0. [p.561]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8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9607" y="1097280"/>
            <a:ext cx="8712481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14 --- Five-year survival by era and race (Schwartz, p.561).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and Natural History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931035"/>
            <a:ext cx="11368735" cy="1867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incidence: less-industrialised nations (early/multiple pregnancies, long lactation, except Japan); Mormons, Seventh Day Adventists, Native Americans, Hispanic/Latina, Japanese/Filipino women in Hawaii. [p.561-562]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Higher: nuns (nulliparity), Ashkenazi Jewish women; rises in 2nd/3rd-gen Asian Americans. [p.561-562]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Mortality worse in poorer settings: no organized screening, limited multidisciplinary care -&gt; delays, later stage, incomplete tx. [p.562]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American women: lower lifetime risk, higher mortality, highest incidence &lt;45y, more ER-negative tumours (also seen in West/sub-Saharan Africa); male breast cancer more frequent in both. [p.562]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Disparities multifactorial: socioeconomic, access, comorbidity, biology. [p.562]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history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8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212" y="1097280"/>
            <a:ext cx="8955272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15 --- Survival of untreated breast cancer (Bloom series).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and Natural History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980565"/>
            <a:ext cx="11368735" cy="1669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growth: &gt;80% show productive fibrosis; desmoplasia shortens Cooper's ligaments -&gt; skin retraction/dimpling; lymphatic obstruction -&gt; peau d'orange. [p.562]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Progresses to skin invasion, ulceration, satellite nodules. Tumour size correlates with survival and nodal involvement. [p.562]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pattern: up to 20% local-regional only, &gt;60% distant, 20% both. [p.562]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nodes: soft/ill-defined -&gt; firm/hard, matted, through capsule, fixed to chest wall; spreads I -&gt; II -&gt; III. [p.562-563]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 of women who die have distant mets. Nodal status = top prognostic factor: node-neg &lt;30% recurrence vs node-pos up to 75%. [p.562-563]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history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8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32090"/>
            <a:ext cx="11368735" cy="393098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16 --- Pattern of recurrence and effect of axillary status.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and Natural History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87525"/>
            <a:ext cx="11368735" cy="244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spread: neovascularisation at ~20th cell doubling; shed cells reach lungs (axillary/intercostal veins) or spine (Batson's plexus). [p.563]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implantation once tumour &gt;0.5cm (27th doubling); distant mets = commonest cause of death for 10y -&gt; trials need 5-10y follow-up. [p.563]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metastases appear within 60mo, but can appear at 20-30y. [p.563]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 relapses earlier (3-5y); ER-pos risk falls off more slowly beyond 5y. [p.563]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 size + nodal status remain strong late-recurrence predictors (better than IHC4, Recurrence Score, PAM50). [p.563]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sites by frequency: bone &gt; lung &gt; pleura &gt; soft tissue &gt; liver. [p.563]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less common, but more likely in triple-negative/HER2+ disease after chemo+HER2 therapy. [p.563]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Histopathology of Breast Cancer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563-567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Histopathology of Breast Cancer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317115"/>
            <a:ext cx="11368735" cy="323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 = confined by basement membrane; invasive = crossed it. Minute invasion easily missed -&gt; exam multiple sections to call in-situ.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8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Carcinoma in situ: LCIS vs DCIS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vs DCIS comparison</a:t>
            </a:r>
            <a:endParaRPr lang="en-US" sz="125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Feature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LCIS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DCIS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44-47 y (~15-25 y younger than invasive cancer)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54-58 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Incidence in biopsies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/ mammographic signs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None; incidental finding; calcifications occur in adjacent tissue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Mass, pain, nipple discharge; microcalcifications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Synchronous invasive cancer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60-90%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40-80%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50-70%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metastasis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invasive cancer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25-35%, bilateral, after 15-20 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25-70%, ipsilateral (same quadrant), after 5-10 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type that follows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65% are ductal, not lobular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 of risk (not precursor); female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Anatomic precursor of IDC (RR of invasive cancer ~5x); ~5% of male breast cancers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LCIS histology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146300"/>
            <a:ext cx="5455768" cy="100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Multicentric = 2nd cancer outside quadrant (&gt;=4cm away); multifocal = within quadrant or within 4cm. [p.564]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Pre-mammography: in situ &lt;6% of cancers (LCIS&gt;DCIS 2:1). With screening: in situ 45% (14-fold rise; DCIS&gt;LCIS 2:1). [p.564]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2005330"/>
            <a:ext cx="5455768" cy="1204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TDLU distension/distortion by large cells, normal N:C ratio, cytoplasmic mucoid globules; 12x more common in white vs African American women. [p.564, 553-554]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 can show calcifications, resembles high-grade DCIS. [p.564, 553-554]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--- growth patterns and grade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9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35200"/>
            <a:ext cx="11368735" cy="4724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17 --- Papillary -&gt; cribriform -&gt; solid -&gt; comedo growth patterns.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Histopathology of Breast Cancer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195830"/>
            <a:ext cx="11368735" cy="808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sequence: epithelial proliferation lines ducts (papillary) -&gt; coalesce into round spaces, hyperchromasia, lost polarity (cribriform) -&gt; pleomorphic cells/mitoses fill lumen (solid) -&gt; outgrows blood supply, necrosis + calcification (comedo). [p.564]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DCIS lacks atypia, hard to distinguish from hyperplasia. [p.564]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8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--- growth patterns and grade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histologic subtype, nuclear grade, necrosis and DCIS grade</a:t>
            </a:r>
            <a:endParaRPr lang="en-US" sz="125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2842184"/>
                <a:gridCol w="2842184"/>
                <a:gridCol w="2842184"/>
                <a:gridCol w="28421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Histologic subtype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Nuclear grade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Necrosis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DCIS grade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(often mixed non-comedo)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or absent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Non-comedo (solid, cribriform, papillary, micropapillary)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carcinoma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225675"/>
            <a:ext cx="11368735" cy="323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types (~10%): need &gt;=90% of tumour with defining feature. NST/ductal (~80%) has worse prognosis than special types. [p.565]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8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carcinoma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9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36610"/>
            <a:ext cx="11368735" cy="432194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18 --- Invasive breast cancer types: frequency and ER positivity.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carcinoma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breast cancer histologic types [p.565-567]</a:t>
            </a:r>
            <a:endParaRPr lang="en-US" sz="125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Type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Key points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ductal, NST (80%)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Scirrhous; 5th-6th decade; hard solitary mass, poorly defined, stellate cut surface with chalky streaks. Nodes positive in up to 25% of screen-detected and up to 60% of symptomatic cases. 75% ER-positive.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lobular (10%)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cells, round nuclei, scant cytoplasm, single-file ("Indian file") growth; signet-ring variants (intracytoplasmic mucin). Clinically inapparent to whole-breast replacement; often multifocal, multicentric, bilateral; subtle on mammography. &gt;90% ER+.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 (4%)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Soft, haemorrhagic, bulky, deep; rapid growth (necrosis). Dense lymphoplasmacytic infiltrate, large poorly differentiated pleomorphic nuclei with active mitosis, sheet-like growth; ~50% with peripheral DCIS; bilateral 20%; &lt;10% hormone-receptor positive; BRCA1 phenotype; reactive axillary nodes can mislead staging; better 5-year survival than NST or lobular.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/ colloid (2%)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women, bulky; glistening gelatinous; extracellular mucin around low-grade cells; &gt;90% receptor-positive; nodes 33%; 5-/10-year survival 73% / 59%; needs multiple sections.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(2%)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7th decade, non-white women; small (&lt;3 cm); fibrovascular stalks; 87% ER+; low nodal rate; survival like mucinous/tubular.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(2%)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20% of screen-detected; perimenopausal; haphazard small tubules; 94% ER+; nodes ~10% (1-2 nodes do not worsen survival); distant metastases rare; survival approaches 100%. Cribriform is a close relative.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Paget's disease of the nipple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 eczematous, then ulcerated weeping nipple; large pale vacuolated Paget cells in rete pegs; usually with extensive DCIS +/- invasion; mass may/may not be present. Nipple biopsy. Differential: pagetoid melanoma --- S-100 positive in melanoma, CEA positive in Paget's. Surgery: lumpectomy or mastectomy depending on NAC/parenchymal disease.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Adenoid cystic, squamous, apocrine (see section 15).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8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Diagnosis: Examination, Imaging and Biopsy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567-575</a:t>
            </a:r>
            <a:endParaRPr lang="en-US" sz="14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Diagnosis: Examination, Imaging and Biopsy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62760"/>
            <a:ext cx="545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2128520"/>
            <a:ext cx="5455768" cy="217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women present with a lump; also: enlargement/asymmetry, nipple change/retraction/discharge, skin ulceration/erythema, axillary mass, musculoskeletal discomfort. [p.567]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50% with breast complaints have no physical sign; pain usually = benign disease. [p.567]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breast cancer = commonest diagnostic-error malpractice claim (often young women). [p.567]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&lt;=45 + palpable mass + equivocal mammogram -&gt; US + biopsy to avoid delay. [p.567]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24448" y="1713230"/>
            <a:ext cx="545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examination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24448" y="2078990"/>
            <a:ext cx="5455768" cy="2373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seated (arms at sides/raised, hands on hips +/- pec contraction, leaning forward): symmetry, size, shape, peau d'orange, retraction, erythema. [p.567]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Palpate supine with finger pads (no pinching), sternum-&gt;latissimus, clavicle-&gt;rectus sheath; mould breast to reveal retraction. [p.567]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all 3 axillary levels, supraclavicular, parasternal areas; record site, size, consistency, shape, mobility, fixation. [p.567]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 of axillary nodes is only ~33% accurate. [p.575]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imaging modalities [p.567-574]</a:t>
            </a:r>
            <a:endParaRPr lang="en-US" sz="125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Modality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Key facts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0.1 cGy/study (chest X-ray = 25% of that); no measurable cancer risk from screening. Screening = CC + MLO (MLO shows the most tissue incl. upper outer quadrant and axillary tail; CC shows medial breast and allows more compression). Diagnostic adds 90 degree lateral (triangulation), spot compression (+/- magnification x1.5). Cancer signs: solid mass +/- stellate/spiculated, asymmetric thickening, clustered microcalcifications (fine, stippled; up to 50% of non-palpable cancers; sometimes the only sign in young women). True-positive rate 90%; only 20% of non-palpable vs 50% of palpable cancers have node metastases.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Film -&gt; digital -&gt; DBT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Screen-film replaced xeromammography. DMIST (&gt;42,000): digital = film overall but better &lt;50 y, dense breasts, pre/perimenopause. Tomosynthesis (DBT): slices as thin as 0.5 mm; FDA 2011 with digital mammography; dose about double; STORM: increased detection and decreased recalls; synthetic 2D-3D (STORM-2) equals dual acquisition with less radiation. CEDM (iodinated contrast): detects cancers like MRI; cheaper, faster, usable with pacemakers/expanders.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nipple discharge (especially bloody): cannulate one duct, inject 0.1-0.2 mL contrast, CC + MLO without compression. Papilloma = small filling defect; cancer = irregular mass or multiple filling defects.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8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imaging modalities [p.567-574] (cont.)</a:t>
            </a:r>
            <a:endParaRPr lang="en-US" sz="125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Modality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Key facts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Resolves equivocal mammograms; separates cyst from solid; guides FNA/core/localisation. Cyst: well-circumscribed, echo-free, smooth. Benign solid: smooth, round/oval, weak echoes. Cancer: irregular walls (may be smooth with enhancement). Misses lesions &lt;=1 cm. Axilla: sensitivity 35-82%, specificity 73-97%; abnormal node = cortical thickening, rounder shape, &gt;10 mm, absent fatty hilum, hypoechoic.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dedicated coils and BI-RADS; an MRI-only finding needs focused US, then MRI-guided biopsy. Finds contralateral cancer in 5.7% of women with known cancer and extra ipsilateral (multifocal/multicentric) disease. COMICE (n=1,623): MRI did not lower re-operation (19% vs 19%); meta-analysis: MRI -&gt; more mastectomies without proven benefit. Useful for: axillary metastasis with occult primary, response to neoadjuvant therapy, selecting partial-breast RT, recurrence in treated breast, screening high-risk women.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Biopsy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10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7357" y="1097280"/>
            <a:ext cx="9176981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19 --- Work-up of a non-palpable abnormality.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Diagnosis: Examination, Imaging and Biopsy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2066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Non-palpable: US localisation if mass, stereotactic if only calcifications/distortion. Core biopsy preferred over open -- lower complications, minimal scar, cheaper, plans one operation. [p.574]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mammography + US/stereotactic FNA together -&gt; almost 100% accuracy. [p.574]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Palpable: outpatient FNA (1.5-in 22-G needle, 10-mL syringe; suction while moving in mass; air-dried + 95% ethanol-fixed smears) or core (14-G Tru-Cut/automated). [p.574-575]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Clinically+mammographically suspicious mass: FNA sensitivity/specificity ~100%; core shows architecture and invasion. [p.574-575]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Vacuum-assisted core (8-10G): 4-12 samples; X-ray calcification cores; always place radiopaque clip (marks site if lesion fully removed); fix formalin -&gt; paraffin. [p.575]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" y="3300476"/>
            <a:ext cx="11368735" cy="963422"/>
          </a:xfrm>
          <a:prstGeom prst="roundRect">
            <a:avLst>
              <a:gd name="adj" fmla="val 5695"/>
            </a:avLst>
          </a:prstGeom>
          <a:solidFill>
            <a:srgbClr val="FBE4E4"/>
          </a:solidFill>
          <a:ln w="15875">
            <a:solidFill>
              <a:srgbClr val="A424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3373628"/>
            <a:ext cx="110761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57784" y="3647948"/>
            <a:ext cx="11076127" cy="542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core biopsy doesn't exclude cancer (sampling error); clinical+radiologic+pathologic findings must be concordant. [p.575]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discordant -&gt; multidisciplinary review -&gt; image-guided or open biopsy. [p.575]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 and Biomarkers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575-580</a:t>
            </a:r>
            <a:endParaRPr lang="en-US" sz="14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 and Biomarkers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195830"/>
            <a:ext cx="11368735" cy="808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stage = exam of skin, breast, regional nodes (axillary, supraclavicular, internal mammary) +/- imaging. Pathologic stage adds resected tumour+nodes. [p.575]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 accurate distant-disease prediction needs &gt;=10 level I-II nodes examined. [p.575]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(Schwartz Table 17-10)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673" y="1097280"/>
            <a:ext cx="10116350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20 --- T categories drawn to scale.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8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 and Biomarkers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625433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8th edition T categories</a:t>
            </a:r>
            <a:endParaRPr lang="en-US" sz="105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99753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Definition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 (DCIS) / Tis (Paget)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DCIS; Paget disease of the nipple not associated with invasive carcinoma/DCIS in the underlying breast (if there is, stage by the parenchymal tumour). LCIS is now considered benign and removed from TNM.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(&lt;=20 mm)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T1mi &lt;=1 mm; T1a &gt;1-5 mm; T1b &gt;5-10 mm; T1c &gt;10-20 mm.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&gt;20-50 mm; T3 &gt;50 mm.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size with direct extension to chest wall and/or skin (ulceration or macroscopic nodules; dermal invasion alone is not T4). T4a chest wall (pectoralis adherence alone does not qualify); T4b ulceration and/or ipsilateral macroscopic satellite nodules and/or skin oedema (peau d'orange) not meeting inflammatory criteria; T4c = a + b; T4d inflammatory carcinoma.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4282432"/>
            <a:ext cx="11368735" cy="323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to nearest mm; subscript c/p = clinical vs pathological size; pathological size takes precedence. [p.576]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8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(Schwartz Table 17-10)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AJCC 8th edition N (nodal) categories, clinical vs pathological [p.576-577]</a:t>
            </a:r>
            <a:endParaRPr lang="en-US" sz="125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Category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Clinical (c)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Pathological (p)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regional metastasis by imaging or exam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found; pN0(i+) = isolated tumour cells &lt;=0.2 mm; pN0(mol+) = RT-PCR positive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cN1: movable ipsilateral level I-II nodes. cN1mi: micrometastases (~200 cells, &gt;0.2 to &lt;=2.0 mm), rarely 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pN1mi micromets; pN1a 1-3 axillary nodes with &gt;=1 deposit &gt;2 mm; pN1b internal mammary sentinel nodes (micro/macro), axilla negative; pN1c = a + 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cN2a: level I-II nodes fixed/matted; cN2b: internal mammary nodes only, axilla clear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pN2a: 4-9 axillary nodes (&gt;=1 deposit &gt;2 mm); pN2b: clinically detected internal mammary nodes, axilla pathologically negative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cN3a: infraclavicular (level III) nodes; cN3b: internal mammary nodes + level I-II nodes; cN3c: ipsilateral supraclavicular nodes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pN3a: &gt;=10 axillary nodes or infraclavicular nodes; pN3b: pN1a/pN2a with cN2b, or pN2a with pN1b; pN3c: supraclavicular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M0 (incl. cM0(i+): tumour cells/deposits &lt;=0.2 mm in blood, marrow or non-regional nodes without symptoms); cM1 distant metastases by clinical/radiographic means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pM1 histologically proven &gt;0.2 mm. pM0 is not a valid category.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8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 and Biomarkers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124075"/>
            <a:ext cx="11368735" cy="1095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Suffixes (sn)/(f) = confirmed by SLN biopsy or FNA/core. Supraclavicular disease no longer stage IV (now N3c); routine scalene/supraclavicular biopsy not indicated. [p.575]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8th ed. allows staging from internal mammary sentinel nodes (drainage commoner with central/medial cancers). [p.575]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involved axillary nodes = top predictor of 10- and 20-y survival. [p.575]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8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(Schwartz Table 17-10)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4203" y="1097280"/>
            <a:ext cx="9203289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21 --- Anatomic stage groups (Table 17-11).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8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 and Biomarkers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2016887"/>
            <a:ext cx="11368735" cy="1487932"/>
          </a:xfrm>
          <a:prstGeom prst="roundRect">
            <a:avLst>
              <a:gd name="adj" fmla="val 3687"/>
            </a:avLst>
          </a:prstGeom>
          <a:solidFill>
            <a:srgbClr val="FBEEDB"/>
          </a:solidFill>
          <a:ln w="15875">
            <a:solidFill>
              <a:srgbClr val="9C6B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7784" y="2090039"/>
            <a:ext cx="110761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6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pearl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57784" y="2364359"/>
            <a:ext cx="11076127" cy="1067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Micromets: T0-T1 with N1mi = stage IB; in T2-T4 tumours, N1mi staged as N1. [p.578]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M1 present before neoadjuvant therapy, stage stays IV regardless of response. [p.578]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 staging uses yc/yp prefix; complete pathologic response (ypT0 ypN0 cM0) has no anatomic stage group. [p.578]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Post-surgical imaging showing mets within 4mo of diagnosis (no progression, no neoadjuvant tx) can change the stage. [p.578]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8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Work-up by stage (Table 17-13)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work-up investigations by clinical stage</a:t>
            </a:r>
            <a:endParaRPr lang="en-US" sz="125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1894789"/>
                <a:gridCol w="1894789"/>
                <a:gridCol w="1894789"/>
                <a:gridCol w="1894789"/>
                <a:gridCol w="1894789"/>
                <a:gridCol w="18947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Investigation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II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III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 and physical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blood count, platelets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Liver function tests and alkaline phosphatase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radiograph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diagnostic mammograms (US as indicated)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receptor 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 expression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scan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CT / US / MRI (+/- pelvis)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8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267585"/>
            <a:ext cx="5455768" cy="521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imaging + bone scan indicated at any stage for symptoms or abnormal labs (table adapted from NCCN 2006 data). [p.580]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2054860"/>
            <a:ext cx="5455768" cy="100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Biomarker types: risk (familial, germline, atypia, density), exposure (DNA adducts), surrogate endpoint (short chemoprevention trials), prognostic, predictive. [p.575-579]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that decide therapy: ER, PR, HER2. [p.575-579]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biomarkers and clinical meaning [p.577-579]</a:t>
            </a:r>
            <a:endParaRPr lang="en-US" sz="125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Biomarker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Clinical meaning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/ 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invasive cancer (pre- and postmenopausal), on core or FNA material by IHC. ER/PR-positive tumours respond more to endocrine therapy; HR-positive metastatic patients live 2-3x longer than HR-negative. ER and PR both negative -&gt; no endocrine therapy.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 (ErbB family)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Overexpression -&gt; poorly differentiated, high proliferation, node-positive, low HR, increased recurrence/death. Test all invasive cancers by IHC (protein) or FISH (gene amplification); RT-PCR/Oncotype mRNA is not recommended for decisions (high false-negative rate). Positive -&gt; anti-HER2 therapy. Trastuzumab + chemotherapy: -40-50% recurrence, ~1/3 lower mortality. HER2 is a co-receptor without its own ligand.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Overexpression correlates with ER-negativity and p53 overexpression.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Ki-67 / PCNA (proliferation)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Correlate with p53, high S-phase, aneuploidy, mitotic index, high grade; inverse with ER. IHC4 (ER, PR, HER2, Ki-67) approximately equals Recurrence Score prognostically, but Ki-67 is poorly reproducible between labs.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VEGF / angiogenesis index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VEGF increases with microvessel density and recurrence in node-negative disease. Bevacizumab + paclitaxel (ECOG E2100) raised PFS from 5.8 to 11.3 months but was not reproduced; FDA revoked the indication in 2011.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Apoptosis (bcl-2, bax)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Bcl-2 = the only oncogene acting by inhibiting apoptosis; increased bcl-2 and decreased bax:bcl-2 ratio correlate with high grade, node metastases, poor survival.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mTOR pathway, p53, cyclins/CDKs, proteasome, COX-2, PPARs --- preclinical/trial stage at the time of writing.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 and Biomarkers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853795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prognostic and predictive factors (Table 17-12)</a:t>
            </a:r>
            <a:endParaRPr lang="en-US" sz="105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128115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Tumour factors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Host factors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Nodal status, tumour size, histologic/nuclear grade, lymphovascular invasion, pathologic stage, hormone receptor status, DNA content (ploidy, S-phase), extent of intraductal component, HER2/neu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menopausal status, family history, previous breast cancer, immunosuppression, nutrition, prior chemotherapy, prior radiation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3112206"/>
            <a:ext cx="11368735" cy="808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markers don't beat combined clinicopathologic risk; using combined factors alone, up to 70% of early-cancer patients get unnecessary/ineffective chemo. [p.579]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Adjuvant! Online, Nottingham Prognostic Index, PREDICT. [p.579]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8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Multigene assays [p.580]</a:t>
            </a:r>
            <a:endParaRPr lang="en-US" sz="125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Assay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it is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Evidence and use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21-gene RT-PCR; node-negative, ER-positive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score -&gt; benefits from chemotherapy; low score -&gt; endocrine therapy alone. TAILORx: RS 0-10 -&gt; 98% 5-year OS and low local-regional/distant recurrence with endocrine therapy alone; intermediate (11-25) randomised to endocrine +/- chemotherapy. Retrospectively predicts chemo benefit in postmenopausal ER+ with 1-3 nodes. Changes treatment decisions.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70-gene profile, FDA-approved (also on paraffin); stage I-II, node-negative, ER+ or ER-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vs high risk of distant metastasis. RASTER: low-risk = 97% distant-recurrence-free at 5 y. MINDACT (node-negative or 1-3 nodes): clinically high-risk / genomically low-risk had 94.7% 5-y distant-metastasis-free survival (non-inferior; target &gt;92%) but DFS/OS were higher with chemotherapy in the ITT population.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Multigene assay from ECOG 5194 samples (Solin)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Low/intermediate/high risk of in-breast events (DCIS or invasive).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8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580-588</a:t>
            </a:r>
            <a:endParaRPr lang="en-US" sz="14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317115"/>
            <a:ext cx="11368735" cy="323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depends on stage, subtype, general health. Before local therapy: know stage, histology, biomarkers; share clear plan with patient.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086" y="1097280"/>
            <a:ext cx="9205524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22 --- Master map of management by stage.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8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94" y="1097280"/>
            <a:ext cx="10076507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23 --- LCIS management.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8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002790"/>
            <a:ext cx="11368735" cy="158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options: observation, chemoprevention (tamoxifen), bilateral total mastectomy; aim to prevent/catch early the invasive cancer that follows in 25-35%. [p.580]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Excision doesn't help -- disease diffuse, risk equal both breasts. Expert path review essential (hard to separate from ADH/early invasion). [p.580]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mammography first. [p.580]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 behaves more like DCIS; some manage as DCIS (attend to margins, consider RT with BCT). [p.554]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85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7096" y="1097280"/>
            <a:ext cx="8857504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24 --- DCIS management by extent, margin and grade.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45576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extensive (&gt;4cm or &gt;1 quadrant) -&gt; mastectomy; limited -&gt; lumpectomy+RT. Non-palpable: needle/image-guided localisation + specimen mammography. [p.580-581]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= gold standard: local recurrence + mortality &lt;2%; no RCT vs breast conservation. [p.580-581]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RT, ~45% of recurrences are invasive. [p.580-581]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benefit proven in all subgroups: NSABP B-17 (margins not prospectively assessed, up to half maybe positive), EORTC 10853, UK/ANZ, Swedish trials (margins assessed). [p.581]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 SSO-ASTRO-ASCO: 2mm margin adequate with whole-breast RT. [p.581]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Silverstein: margins &gt;10mm -&gt; no extra RT benefit; relative recurrence risk 1.49 (margins 1-10mm) vs 2.54 (&lt;1mm). [p.581]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097280"/>
            <a:ext cx="5455768" cy="325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Omitting RT: ECOG 5194 registry (low/int grade &lt;=2.5cm or high grade &lt;=1cm, margin &gt;=3mm): in-breast recurrence 6.1%(low/int) vs 15.3%(high grade) at 6.2y, contralateral ~4% -- acceptable only for low/int. [p.581-582]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RTOG 9804 (good-risk, n=585): 5-y local recurrence 0.4% with RT vs 3.2% without. [p.581-582]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 limited role. ~20% of core-diagnosed DCIS proves invasive at final pathology; SLNB usually done with mastectomy (can't do after) but not with lumpectomy. [p.582]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Tamoxifen: NSABP B-24 (n=1,804, lumpectomy+RT +/- tamoxifen): events 8.2% vs 13.4% at 74mo (P=0.0009), benefit greater in ER+ DCIS (76% tested); 15% had positive margins. [p.582, 596]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5y tamoxifen to ER+ DCIS w/o contraindication; not after bilateral mastectomy. [p.582, 596]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85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554" y="1097280"/>
            <a:ext cx="10678587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25 --- DCIS trial outcomes (ECOG 5194 and NSABP B-24).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8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invasive cancer (stage I, IIA, IIB)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1108" y="1097280"/>
            <a:ext cx="7269480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26 --- Stage I-IIB: local therapy, axilla, systemic therapy.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8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052320"/>
            <a:ext cx="11368735" cy="138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RCTs: equal survival, breast conservation vs mastectomy. Size limits: most 2-2.5cm; B-06 4cm; NCI trial up to 5cm. [p.582]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B-06 at 20y: same DFS, total mastectomy vs lumpectomy +/-RT; in-breast recurrence 39.2%(lumpectomy alone) vs 14.3%(+RT). [p.582]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EBCTCG (15y): RT after lumpectomy lowers mortality 5.1%(node-neg), 7.1%(node-pos) -- RT improves survival, not just local control. [p.582]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Preferred: lumpectomy+RT for unifocal disease in non-carriers. Mastectomy+axillary staging equivalent to BCS+axillary staging+RT; BCS has cosmetic edge. [p.582-583]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invasive cancer (stage I, IIA, IIB)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1292" y="1097280"/>
            <a:ext cx="11289111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27 --- Radiation lowers in-breast recurrence after lumpectomy.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85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455768" cy="1690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older women w/ small ER+ tumours may omit RT. CALGB C9343 (&gt;=70y, T1N0, on tamoxifen): local recurrence 1% vs 4% at 5y, 2% vs 10% at 10y; no OS/DFS difference. [p.582-583]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Canadian trial (&gt;=50y, mean 68, 80% ER+): 0.6% vs 7.7% recurrence, no DFS/OS difference. [p.582-583]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PRIME-2 (&gt;=65y, ER+, N0, &lt;=3cm, on endocrine tx): 1.3% vs 4.1% recurrence (corrected from a 41% misprint on p.583). [p.582-583]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2924556"/>
            <a:ext cx="545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Accelerated partial breast irradiation (APBI) --- ASTRO groups [p.583]</a:t>
            </a:r>
            <a:endParaRPr lang="en-US" sz="1050" dirty="0"/>
          </a:p>
        </p:txBody>
      </p:sp>
      <p:graphicFrame>
        <p:nvGraphicFramePr>
          <p:cNvPr id="10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198876"/>
          <a:ext cx="5455768" cy="914400"/>
        </p:xfrm>
        <a:graphic>
          <a:graphicData uri="http://schemas.openxmlformats.org/drawingml/2006/table">
            <a:tbl>
              <a:tblPr/>
              <a:tblGrid>
                <a:gridCol w="2727884"/>
                <a:gridCol w="27278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Group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Criteria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&gt;=60 y, unifocal T1, ER-positive, no lymphovascular invasion, margins &gt;=2 mm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Cautionary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lobular histology, size 2.1-3 cm, ER-negative, focal LVI, margins &lt;2 mm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Unsuitable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or T4, ER-negative (in this group), multifocal, multicentric, extensive LVI, positive margins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24448" y="1097280"/>
            <a:ext cx="5455768" cy="1204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APBI = 5 days BID, lower total dose vs 50Gy +/-boost over 5-6wk; recurrences mostly at/near tumour bed. [p.583]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RTOG 04-13/NSABP B-39 (WBI vs APBI) awaited; TARGIT (n=3,451, intra-op RT vs external beam): 3.3% vs 1.3% recurrence at 2.4y. [p.583]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24448" y="2439416"/>
            <a:ext cx="5455768" cy="1745742"/>
          </a:xfrm>
          <a:prstGeom prst="roundRect">
            <a:avLst>
              <a:gd name="adj" fmla="val 3143"/>
            </a:avLst>
          </a:prstGeom>
          <a:solidFill>
            <a:srgbClr val="FBE4E4"/>
          </a:solidFill>
          <a:ln w="15875">
            <a:solidFill>
              <a:srgbClr val="A4243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70752" y="2512568"/>
            <a:ext cx="516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42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Contraindications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70752" y="2786888"/>
            <a:ext cx="5163160" cy="132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contraindications to breast conservation: prior breast/chest-wall RT; persistently positive margins after re-excision; multicentric disease; scleroderma/lupus. [p.583]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BRCA carriers: not advised (high risk of new cancers). [p.583]</a:t>
            </a:r>
            <a:endParaRPr lang="en-US" sz="105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mastectomy: poor choice if PMRT planned (RT effect on preserved nipple).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324448" y="4322318"/>
            <a:ext cx="5455768" cy="1204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immediate for most early-stage pts (skin-sparing, single op, cheaper, psychological benefit). Implant or autologous (TRAM, DIEP, latissimus +/- implant). [p.583]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PMRT expected: tissue expander (deflate for RT), definitive reconstruction 6-12mo after RT. [p.583]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85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early breast cancer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960880"/>
            <a:ext cx="11368735" cy="138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vs delayed ALND (until nodes palpable): no survival difference; with screening, up to 75% with negative axilla don't need ALND. [p.583]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Lymphatic mapping technique originated in melanoma. [p.583]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Krag (early 1990s): radioisotope+gamma probe -- SLN found in 18/22, positive in all 7 node-positive cases. [p.584]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Giuliano (1991): blue dye -- SLN found in 65.5%, predicted axillary status in 95.6%. [p.584]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85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early breast cancer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axillary/SLN trials [p.584-585]</a:t>
            </a:r>
            <a:endParaRPr lang="en-US" sz="1250" dirty="0"/>
          </a:p>
        </p:txBody>
      </p:sp>
      <p:graphicFrame>
        <p:nvGraphicFramePr>
          <p:cNvPr id="10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Question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Findings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ALMANAC (n=1,031)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 dissection vs standard axillary surgery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Decreased lymphedema and sensory loss, shorter drain use, hospital stay and return to normal activity with SLN.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B-32 (n=5,611)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 dissection + ALND vs ALND only if SLN positive (cN0)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 identification 97%; false-negative 9.7%; 26% SLN-positive, of whom &gt;60% had no other positive node. No difference in DFS, OS or local-regional recurrence with SLN alone; less arm swelling, better range of motion and quality of life.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ACOSOG Z0010 (n=5,539)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Prognostic value of occult metastases; T1-2 for BCS + WBI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 SLN+ on routine pathology; 10.5% of negative SLNs had occult IHC metastases; 3.0% bone-marrow positive -&gt; not significant in multivariable analysis -&gt; routine IHC of SLNs not warranted.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ACOSOG Z0011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cT1-2 N0, 1-2 positive SLNs, BCS + tangential WBI, no other axillary/nodal RT; no neoadjuvant therapy; randomised to completion ALND vs no further surgery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6.3 y: OS 91.9% vs 92.5% (P=0.25), DFS 82.2% vs 83.8% (P=0.14); 10-y results confirm low local-regional failure. ALND arm: more infection, seroma, paresthesia; lymphedema at 1 y 13% vs 2%.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IBCSG 23-01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 micrometastases only; ALND vs none; mastectomy allowed (~9% per arm)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difference in OS or local-regional recurrence (endpoint definitions and power criticised).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85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early breast cancer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89643"/>
            <a:ext cx="11368735" cy="36158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28 --- SLN false-negative rates: number of nodes removed, and after neoadjuvant chemotherapy.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early breast cancer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992" y="1097280"/>
            <a:ext cx="9835712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29 --- ACOSOG Z0011 outcomes and lymphedema.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8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60220"/>
            <a:ext cx="11368735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Z0011 changed practice (NCCN, Am. Soc. Breast Surgeons endorse omission for eligible pts); concerns: only ~half intended pts accrued, no standardized low-axillary tangent irradiation. [p.584-585]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Z0010 SLN-alone morbidity: infection 1%, seroma 7.1%, hematoma 1.4%. [p.584-585]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6mo: paresthesia 8.6%, reduced motion 3.8%, arm circumference &gt;2cm in 6.9% (younger -&gt; paresthesia; older/high BMI -&gt; lymphedema). [p.584-585]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pathology: step sections/IHC common but not shown to matter. Intra-op options: touch-prep cytology, frozen section, GeneSearch (RT-PCR mammaglobin+CK19, FDA-approved, detects foci &gt;0.2mm). [p.585]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now skip intra-op assessment post-Z0011. Nomograms estimate risk of further positive non-sentinel nodes. [p.585]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nodal disease on FNA/core: skip SLNB -&gt; ALND or neoadjuvant tx. SLNB OK for T3 and post-neoadjuvant chemo (ASCO); if SLN not found -&gt; ALND. [p.585]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85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early breast cancer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45247"/>
            <a:ext cx="11368735" cy="43046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30 --- Morbidity of SLN dissection alone (Z0010).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8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Adjuvant systemic therapy --- which patients?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839595"/>
            <a:ext cx="11368735" cy="1867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ASCO: consider chemo for node-positive, ER-negative, HER2-positive, Adjuvant! Online mortality &gt;10%, grade 3 node-neg tumour &gt;5mm, triple-negative, LVI, or 21-gene relapse estimate &gt;15% at 10y. [p.585]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for HR-positive disease; AI if postmenopausal. [p.585]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 testing in all; positive -&gt; trastuzumab-based regimen. [p.585]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FDA: trastuzumab approved Nov 2006 with doxorubicin+cyclophosphamide+paclitaxel for HER2+, node-positive disease. BCIRG 006: trastuzumab+docetaxel+carboplatin works as well as with anthracycline. [p.585]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Pertuzumab approved for adjuvant use in high-risk HER2-amplified cancers. [p.585]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local-regional cancer (stage IIIA / IIIB)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37545" y="1097280"/>
            <a:ext cx="4916604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31 --- Treatment pathways for stage IIIA and IIIB (adapted from Schwartz Fig. 17-31).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85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455768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 cancer: high occult-mets risk (PET/CT, CT, bone scan often positive); "cure by local tx" paradigm of small screen-detected cancers (&gt;90% cure) doesn't apply. [p.585]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integrated with radiation + chemotherapy. [p.585]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chemo for stage III (esp. ER-neg): chemo maximizes distant control, RT maximizes local-regional control; can shrink IIIA enough for breast conservation. [p.585-586]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Anderson: 5-y actuarial ipsilateral recurrence-free 95%; higher recurrence w/ cN2-N3, &gt;2cm residual disease, multifocal residual, LVI. [p.585-586]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Caution: Oxford overview HR 1.5, meta-analysis HR 1.3 for local recurrence, neoadjuvant vs adjuvant (includes RT-alone-w/o-resection). [p.586-587]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Breast Group (5,535 pts): local recurrence 7.6-19.5%(T1-T4), 6.4-17.9%(N0-N3). Avoiding recurrence in conserved breast prevents ~1 death per 4 recurrences over 15y. [p.586-587]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633855"/>
            <a:ext cx="5455768" cy="305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response in IIIA/IIIB -&gt; modified radical mastectomy, always + adjuvant RT. [p.586-587]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with oncologist at intervals -- a few patients progress on treatment. [p.586-587]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Primary/neoadjuvant endocrine tx for indolent ER+ locally advanced disease (esp. w/ comorbidity): series of 195 pts, median age 69, size 6cm -- 5-y OS 76%, cancer-specific 86%, metastasis-free 77%. [p.587]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ACOSOG Z1031 supports neoadjuvant endocrine downstaging in strongly ER+ tumours; PEPI score helps decide on chemo. [p.587]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IMNs: may be occult, seen on CXR/CT, or a parasternal mass; no consensus on RT to clinically-negative at-risk IMNs (medial tumours, nodal disease); grossly involved IMNs get chemo+RT. [p.587]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Distant metastases (stage IV)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8746" y="1097280"/>
            <a:ext cx="6954203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32 --- Stage IV management.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12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 not curable; goal = longer survival + QoL. Endocrine tx preferred over chemo in ER+ disease unless visceral crisis (immediate life-threatening organ dysfunction). [p.586-587]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Bone, soft-tissue, limited visceral disease can start on endocrine therapy. [p.586-587]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alone (e.g. dyspnoea) aren't a chemo indication: drain pleural effusion, if relief -&gt; endocrine tx; if lymphangitic spread -&gt; chemo. [p.586-587]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logic applies for pain. [p.586-587]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indicated for: HR-negative disease, visceral crisis, hormone-refractory mets. [p.587]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problems needing individual surgery/RT: brain mets, pleural/pericardial effusion, biliary/ureteric obstruction, impending/existing long-bone fracture, spinal cord compression, painful bone/soft-tissue mets. [p.587]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Bisphosphonate or denosumab (anti-RANKL) for bone mets. [p.587]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Resecting primary in stage IV: NCDB/SEER suggest better survival w/ negative-margin resection, but selection bias likely; ECOG E2108 RCT addresses this; decide via MDT + patient goals. [p.587]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8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Local-regional recurrence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5260" y="1097280"/>
            <a:ext cx="9401175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33 --- Local-regional recurrence.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85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927" y="1097280"/>
            <a:ext cx="11039841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34 --- SEER 5-year relative survival by stage at diagnosis.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 of Therapy by Stage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245360"/>
            <a:ext cx="11368735" cy="610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 relative survival (2003-09, 18 SEER areas): 89.2% overall; white 90.4% vs black 78.7%. [p.587-588]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stage: localized(61% of pts) 98.6%, regional(32%) 84.4%, distant(5%) 24.3%. Improvement reflects screening + better therapy. [p.587-588]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Techniques in Breast Cancer Therapy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588-594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Excisional biopsy with needle localisation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036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Excisional biopsy = complete removal of lesion + rim of normal breast. Core biopsy is preferred route; reserve excision for discordant needle results. [p.588]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"one-step" mastectomy consent is obsolete -- plan options first (lumpectomy vs mastectomy +/- reconstruction, SLN). [p.588]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Incisions: circumareolar for subareolar/near-NAC lesions; elsewhere along skin tension lines concentric with NAC; radial in lower half. [p.588]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radial incisions in upper half (scar contracture displaces NAC) and curvilinear in lower half (pulls NAC down); remote biopsy scar excised separately if mastectomy follows. [p.588]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X-ray confirms lesion+margins; orient specimen (sutures, clips, dyes); take further margins (sup/inf/med/lat/superficial/deep) if close. [p.588]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Hemostasis: cautery/ligatures; close with 3-0 absorbable + subcuticular 4-0/5-0 monofilament; drain usually not needed. [p.588]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Localisation: pre-op wire (hook near lesion), radioactive/magnetic seed + handheld probe, or US targeting; verify excision by specimen X-ray before leaving theatre. [p.588]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85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Sentinel lymph node dissection --- technique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13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1039" y="1097280"/>
            <a:ext cx="6749617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35 --- Sentinel node biopsy: technique and decisions.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85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Sentinel lymph node dissection --- technique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biopsy technique details [p.590-591]</a:t>
            </a:r>
            <a:endParaRPr lang="en-US" sz="1250" dirty="0"/>
          </a:p>
        </p:txBody>
      </p:sp>
      <p:graphicFrame>
        <p:nvGraphicFramePr>
          <p:cNvPr id="1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Step / topic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Details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Clinically node-negative (exam + imaging) early cancer; accurate in T3N0 but ~75% of these prove node-positive (better to detect pre-operatively). After chemotherapy in cN0 disease. Meta-analysis (449 cases): sensitivity 93%, false-negative 7%, NPV 94%, accuracy 95%.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recommended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cancer; biopsy-proven nodal metastasis; DCIS without mastectomy; prior axillary surgery. Safe in pregnancy with isotope alone.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 technique (isotope + blue dye) is more accurate than either alone; lymphoscintigraphy optional. Technetium-99m sulfur colloid (0.2 micron): 25-G needle, 0.5 mCi same-day or 2.5 mCi day before; injected peritumoral, around the biopsy cavity (not into it), subareolar or subdermal; US/mammographic guidance if non-palpable. Blue dye 3-5 mL (isosulfan or methylene) into parenchyma or subareolar --- never subdermal (tattooing / skin necrosis). Allergy ~1 in 10,000; warn about blue urine.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Gamma probe transcutaneously -&gt; 3-4 cm incision in line with an ALND incision (curved, low axilla below hairline) -&gt; divide axillary fascia, follow blue lymphatics, probe signal rises near the node. 10-second in-vivo count, remove, 10-second ex-vivo count.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10% rule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blue nodes and all nodes with counts &gt;10% of the hottest SLN's ex-vivo count; re-check the bed until residual activity &lt;10% of the hottest ex-vivo count. Removal of 4 SLNs finds 98% of positive SLNs.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False-negative influences (B-32)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tumours; prior excisional biopsy; number of SLNs removed (1 node 17.7% -&gt; 2 nodes 10% -&gt; 3 nodes 6.9%). Extra-axillary SLNs in 1.4%: 0% with subareolar/periareolar injection vs 20% with peritumoral; internal-mammary drainage on lymphoscintigraphy predicts worse distant DFS.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85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Breast-conserving therapy (BCT)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036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= cancer resection w/ normal-tissue margin + adjuvant RT + regional node assessment (synonyms: segmental mastectomy, lumpectomy, partial mastectomy, wide local excision, tylectomy). [p.590]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= total mastectomy (6 trials; EBCTCG: RT halves recurrence, +~1/6 15-y survival), with better body image/sensation/aesthetics. Standard for stage 0, I, II. [p.590]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resection+RT, no node assessment. [p.590]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incision concentric to NAC (upper-breast tumours) or radial (lower-breast); skin excised only if involved; remove cancer w/ normal-tissue envelope; specimen X-ray; orient; further margins as needed; send ER/PR/HER2. [p.590-591]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done before tumour removal (intra-op node assessment concurrent); if negative margins unobtainable -&gt; mastectomy. [p.590-591]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Margins: SSO-ASTRO consensus -- "no tumour on ink" = negative margin for invasive stage I-II with WBI (wider margins don't lower recurrence). DCIS margin: 2mm. [p.590]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Oncoplastic surgery (tissue rearrangement, pedicled flaps, reduction) when: skin must be resected; large parenchymal volume removed; tumour between nipple and inframammary fold; closure would malposition nipple. [p.591]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85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and axillary dissection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13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0282" y="1097280"/>
            <a:ext cx="9051131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36 --- What each mastectomy removes.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8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Modified radical (Patey) mastectomy --- key steps and landmarks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633855"/>
            <a:ext cx="5455768" cy="305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Skin-sparing mastectomy: recurrence &lt;6-8% for Tis-T3, similar to standard mastectomy. [p.591]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NAC-sparing: mainly for risk-reduction; for cancer, consider tumour &gt;2-3cm from areolar border, smaller breast, minimal ptosis, no prior periareolar surgery, BMI&lt;40, non-smoker, no prior breast RT, no collagen-vascular disease. [p.591]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doesn't go with NAC preservation. [p.591]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mastectomy: patient preference (avoids RT cost/inconvenience); not excisable w/ acceptable cosmesis; extensive microcalcifications; large central/subareolar cancer; multicentric disease. [p.591-592]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Radical (Halsted) is now almost never needed because of systemic therapy and RT. [p.591]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097280"/>
            <a:ext cx="5455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 technique [p.592-593]</a:t>
            </a:r>
            <a:endParaRPr lang="en-US" sz="1050" dirty="0"/>
          </a:p>
        </p:txBody>
      </p:sp>
      <p:graphicFrame>
        <p:nvGraphicFramePr>
          <p:cNvPr id="1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24448" y="1371600"/>
          <a:ext cx="5455768" cy="914400"/>
        </p:xfrm>
        <a:graphic>
          <a:graphicData uri="http://schemas.openxmlformats.org/drawingml/2006/table">
            <a:tbl>
              <a:tblPr/>
              <a:tblGrid>
                <a:gridCol w="2727884"/>
                <a:gridCol w="272788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Element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Detail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Latissimus dorsi (anterior edge) laterally, sternal midline medially, subclavius superiorly, 2-3 cm below the inframammary fold inferiorly. Skin flaps 7-8 mm thick (skin + tela subcutanea).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removal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the pectoralis major fascia with the breast off the muscle.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clearance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the lateral extent of the axillary vein; clear its anterior and inferior surfaces; lateral/subscapular nodes (level I) at the vein-latissimus junction; dissect lateral -&gt; medial through central (level II) to apical (level III). Pectoralis minor tendon divided near the coracoid (or muscle removed in the original) to reach the apex; medial limit costoclavicular (Halsted's) ligament.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Structures to preserve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Thoracodorsal neurovascular bundle; long thoracic nerve of Bell (on serratus anterior) --- injury -&gt; winged scapula and shoulder weakness; nerves to pectoralis major; (intercostobrachial nerve is often sacrificed -&gt; medial arm numbness).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85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Modified radical (Patey) mastectomy --- key steps and landmarks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851414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complications [p.593]</a:t>
            </a:r>
            <a:endParaRPr lang="en-US" sz="1050" dirty="0"/>
          </a:p>
        </p:txBody>
      </p:sp>
      <p:graphicFrame>
        <p:nvGraphicFramePr>
          <p:cNvPr id="1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125734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Complication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Facts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Commonest; up to 30%; closed suction drains reduce it; remove when output &lt;30 mL/day.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infection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Infrequent; mostly from skin-flap necrosis -&gt; culture, debride, antibiotics.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Haemorrhage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Rare; explore early and re-establish drainage.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 after MRM (up to 50-60% with post-operative RT). Risks: extensive ALND, RT, positive nodes, obesity. Early physiotherapy, fitted sleeves, complex decongestive therapy.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8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of the breast and chest wall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13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424" y="1097280"/>
            <a:ext cx="9880847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37 --- Timing and types of reconstruction.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85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Techniques in Breast Cancer Therapy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881505"/>
            <a:ext cx="11368735" cy="2066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Goals: wound closure + reconstruction (immediate/delayed); usually simple closure; large skin/soft-tissue defect -&gt; pedicled latissimus dorsi flap (thoracodorsal artery + posterior intercostal branches). [p.593]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graft tolerates RT but not preferred (poor take can delay RT). [p.593]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 flap = skin paddle on rectus abdominis (deep inferior epigastric vessels); free TRAM uses microvascular anastomosis. [p.593]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reconstruction after risk-reducing/early-stage mastectomy permits skin-sparing (best cosmesis); locally advanced disease -&gt; often delayed until after adjuvant RT (worse cosmesis if RT hits reconstructed breast). [p.593]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wall involvement: resect; 1-2 ribs -&gt; soft-tissue cover only (scar stabilises); &gt;2 ribs -&gt; prosthetic stabilisation + latissimus/TRAM flap. [p.594]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8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Nonsurgical Therapy: Radiation, Chemotherapy, Endocrine and Anti-HER2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594-599</a:t>
            </a:r>
            <a:endParaRPr lang="en-US" sz="14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Nonsurgical Therapy: Radiation, Chemotherapy, Endocrine and Anti-HER2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45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Radiation therapy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463040"/>
            <a:ext cx="5455768" cy="2967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used at all stages (BCT vs mastectomy). Post-mastectomy RT (chest wall+supraclavicular) if: positive margin, &gt;=4 positive axillary nodes, or 1-3 positive nodes in premenopausal women. [p.594]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EBCTCG: better local control+survival with PMRT for 1-3 positive nodes (ALND-era trials; SLN-era volumes smaller -&gt; decide via MDT). [p.594]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IIIA/IIIB RT: (a) breast+supraclavicular after neoadjuvant chemo + segmental mastectomy +/-ALND; (b) chest wall+supraclavicular after neoadjuvant chemo + mastectomy +/-ALND; (c) chest wall+supraclavicular after mastectomy/segmental mastectomy+ALND+adjuvant chemo. [p.594]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APBI: brachytherapy, 3D-conformal EBRT, or IMRT -- only for highly selected low-risk pts, per guidelines/trial. [p.594-595]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24448" y="1762760"/>
            <a:ext cx="545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Adjuvant chemotherapy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24448" y="2128520"/>
            <a:ext cx="5455768" cy="217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EBCTCG: reduced recurrence+death in women &lt;=70y, stage I-IIB (&gt;70y lacks definitive data). Node-neg + &lt;=0.5cm: minimal benefit, not recommended. [p.595]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0.6-1.0cm N0: chemo only w/ adverse features -- lymphovascular invasion, high grade, HER2 overexpression, negative HRs. [p.595]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HR-neg &gt;1cm: chemo. HR-pos, T1, node-neg: endocrine +/-chemo (guided by risk + 21-gene assay). [p.595-596]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types (tubular, mucinous, medullary, usually strongly ER+): endocrine if &gt;1cm; chemo if node-pos or &gt;3cm. [p.595-596]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85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Adjuvant chemotherapy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30129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chemotherapy regimens by HER2 status (Table 17-14; NCCN 2006 data, historical)</a:t>
            </a:r>
            <a:endParaRPr lang="en-US" sz="1050" dirty="0"/>
          </a:p>
        </p:txBody>
      </p:sp>
      <p:graphicFrame>
        <p:nvGraphicFramePr>
          <p:cNvPr id="1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004449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HER2-negative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HER2-positive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Preferred: dose-dense AC -&gt; paclitaxel every 2 weeks; dose-dense AC -&gt; paclitaxel weekly; TC (docetaxel + cyclophosphamide)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Preferred: AC -&gt; paclitaxel + trastuzumab +/- pertuzumab; TCH (docetaxel, carboplatin, trastuzumab +/- pertuzumab)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Other: CMF; AC -&gt; docetaxel every 3 weeks; AC -&gt; paclitaxel weekly; TAC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Other: AC -&gt; docetaxel + trastuzumab +/- pertuzumab; docetaxel + cyclophosphamide + trastuzumab; FEC -&gt; docetaxel (or paclitaxel) + trastuzumab + pertuzumab; paclitaxel + trastuzumab; paclitaxel (or docetaxel) + trastuzumab + pertuzumab -&gt; FEC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3404465"/>
            <a:ext cx="11368735" cy="521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A=doxorubicin(Adriamycin); C=cyclophosphamide; E=epirubicin; F=5-FU; M=methotrexate; T=taxane(docetaxel/paclitaxel); -&gt;=followed by. Regimens from NCCN 2006 data -- today's lists differ. [p.595]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85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Adjuvant chemotherapy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2104" y="1097280"/>
            <a:ext cx="6567488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38 --- Adjuvant systemic therapy by subtype (chapter-based).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8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Neoadjuvant (preoperative) chemotherapy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641475"/>
            <a:ext cx="5455768" cy="2660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(1970s, T3/T4): best results w/ surgery interposed between chemo courses. [p.594]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B-18 (stage II-III): same 5-y DFS as adjuvant, but more lumpectomies + fewer positive nodes; suits cancers too large for lumpectomy. [p.594]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Meta-analyses: neoadjuvant=adjuvant for OS; local recurrence higher only when RT alone replaced surgery. [p.594]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Mittendorf (~3,000 pts): local-regional recurrence driven by biology+stage, not timing. [p.594]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Advantage: watch tumour respond; if stable/progressing, switch drug class (no RCT proof). [p.595]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663700"/>
            <a:ext cx="5455768" cy="257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predicts better survival; residual cancer burden (RCB-0 to RCB-3, MD Anderson) predicts 10-y RFS in triple-neg, ER+, HER2+ disease; progression on tx = worst survival. [p.595]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used by FDA as accelerated-approval endpoint but not proven to predict DFS/OS. [p.595]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tumours respond less to neoadjuvant chemo (pCR &lt;10%; lobular &lt;3%); ER- pCR rate ~3x ER+. HER2+: trastuzumab+pertuzumab+chemo increases pCR. [p.595, 596]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 advanced: anthracycline +/-taxane -&gt; mastectomy/lumpectomy +/-ALND -&gt; RT. Inoperable IIIA/IIIB: chemo first -&gt; MRM/radical mastectomy -&gt; RT. [p.595, 596]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85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Nodal evaluation after neoadjuvant chemotherapy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8248" y="1097280"/>
            <a:ext cx="6695199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39 --- Axillary management around neoadjuvant chemotherapy.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8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Neoadjuvant endocrine therapy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782445"/>
            <a:ext cx="5455768" cy="2462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RCT. Options: SLN before chemo, or ALND after. SLN after chemo in cN0: 14 studies, 818 pts, FNR 11%, accuracy 94%. [p.595-596]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cN1 at presentation: ACOSOG Z1071 (cT0-4 N1-2, SLN+ALND): FNR 12.6% (target &lt;=10%), lower with dual tracer + &gt;=3 SLNs; SENTINA, SN-FNAC agreed. [p.595-596]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Clipped node in SLN specimen w/ &gt;=2 SLNs -&gt; FNR 6.8%. [p.595-596]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axillary dissection (MD Anderson, clipped node+SLN): FNR 1.4% vs 10.1% for SLN alone. [p.595-596]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long-term data yet on omitting ALND after cN1-&gt;cN0 conversion. [p.595-596]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713230"/>
            <a:ext cx="5455768" cy="2373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endocrine tx: started in elderly/unfit, now widely studied. AIs match combination chemo response/conservation rates (meta-analysis, ~3,500 pts, 20 studies), less toxicity, beat tamoxifen; pCR &lt;10% w/ both. [p.596]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BCS in mastectomy candidates 31%(tamoxifen) vs 44%(anastrozole). [p.596]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Lobular cancers respond poorly to chemo, better to endocrine tx. [p.596]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everolimus(mTOR) or palbociclib(CDK4/6) lowers Ki-67 further; ALTERNATE compares fulvestrant/anastrozole. [p.596]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85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Antiestrogen therapy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455768" cy="2858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ER/PR detectable in &gt;90% of well-differentiated ductal/lobular cancers; status can change in mets -&gt; re-biopsy metastatic disease. [p.597]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to antiestrogens: &gt;60% HR-positive vs &lt;10% HR-negative. [p.597]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(blocks estrogen action in breast tissue): EBCTCG -- 5y tx reduces breast-cancer mortality ~1/3 for 15y (carry-over benefit yrs 5-9, 10-15); contralateral cancer -39%. [p.597]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Toxicity: bone pain, hot flashes, nausea, fluid retention, thrombosis (&lt;3%), cataract; endometrial cancer with long use. [p.597]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B-14: stopped at 10y (no added benefit, shorter follow-up). [p.597]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097280"/>
            <a:ext cx="5455768" cy="2858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(~13,000 women): 10y vs 5y lowers recurrence+mortality, benefit from yrs 10-15; confirmed by aTTom. [p.597]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-- 1st-line adjuvant, postmenopausal: anastrozole, letrozole (reversible, non-steroidal), exemestane (irreversible, steroidal). [p.597]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EBCTCG (31,920 women): 5y AI vs tamoxifen -&gt; -30% recurrence, ~-15% 10-y breast-cancer mortality; less endometrial cancer; bone loss/fractures (prevent w/ bisphosphonates), arthralgia. [p.597]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B-42, MA-17R: extended letrozole improves breast-cancer-free/DFS but not OS; likely helps node-pos, chemo-treated, prior-tamoxifen pts. [p.597]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now mainly for premenopausal women. [p.597]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8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Endocrine therapy of metastatic disease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4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2256" y="1097280"/>
            <a:ext cx="7187184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40 --- Choosing endocrine therapy.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endParaRPr lang="en-US" sz="85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Nonsurgical Therapy: Radiation, Chemotherapy, Endocrine and Anti-HER2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633855"/>
            <a:ext cx="5455768" cy="305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options (postmenopausal ER+/HER2-): anastrozole, letrozole, exemestane, tamoxifen/toremifene, fulvestrant (ER down-regulator), megestrol, fluoxymesterone, high-dose ethinyl estradiol. [p.597-598]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 AI, or palbociclib+letrozole (PALOMA-1 PFS 20.2 vs 10.2mo; phase 3: 24.8 vs 14.5mo). [p.597-598]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Ribociclib, abemaciclib also approved with endocrine therapy. [p.597-598]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endocrine progression: palbociclib+fulvestrant (PALOMA-3: 9.2 vs 3.8mo; premenopausal women also get goserelin); abemaciclib +/-fulvestrant. [p.598]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Everolimus+exemestane (BOLERO-2: 11 vs 4.1mo; PI3K/mTOR resistance pathway); tamoxifen+everolimus similar. [p.598]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24448" y="1782445"/>
            <a:ext cx="5455768" cy="2462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Temsirolimus+letrozole did not help. [p.598]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 stage IV, endocrine-naive: tamoxifen, or ovarian suppression/ablation + AI +/-CDK4/6 inhibitor. [p.598]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"Clinical benefit" (response/long stable disease) -&gt; further endocrine tx at progression (high response chance). [p.598]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novo progression on an agent -&gt; &lt;20% benefit from next -&gt; weigh endocrine vs chemo by site, extent, fitness. [p.598]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mutations (ligand-binding domain, 20-30% after AI exposure, rare in primary tumours) -&gt; ligand-independent ER activation, AI resistance, shorter survival. [p.598]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</a:t>
            </a:r>
            <a:endParaRPr lang="en-US" sz="8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Endocrine therapy of metastatic disease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10209"/>
            <a:ext cx="11368735" cy="477474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41 --- Progression-free survival in metastatic trials cited in the chapter.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85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Ovarian ablation / suppression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032635"/>
            <a:ext cx="11368735" cy="1095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adrenalectomy/hypophysectomy rarely used now. Premenopausal: oophorectomy, ovarian RT, or GnRH agonists (goserelin, leuprolide); goserelin+tamoxifen beat CMF in ER+ premenopausal early cancer (RFS). [p.598]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SOFT/TEXT: exemestane+ovarian suppression vs tamoxifen+OS -&gt; DFS 93% vs 89%, no OS difference. [p.598]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helps mainly high-risk (&lt;40y, node-positive) women who needed chemo; no meaningful benefit without chemo. [p.598]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85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Anti-HER2 therapy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4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69946"/>
            <a:ext cx="11368735" cy="46552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42 --- Anti-HER2 trials cited in the chapter.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85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Anti-HER2 therapy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Anti-HER2 agents and trials [p.598-599]</a:t>
            </a:r>
            <a:endParaRPr lang="en-US" sz="1250" dirty="0"/>
          </a:p>
        </p:txBody>
      </p:sp>
      <p:graphicFrame>
        <p:nvGraphicFramePr>
          <p:cNvPr id="1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Agent / trial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Facts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Recombinant humanised anti-HER2 antibody. B-31/N9831 joint analysis: 3-y DFS 75% -&gt; 87% (HR 0.48), mortality -33% (HR 0.67). 1 year = standard. 2 years: more effective but more toxic; PHARE: 6 months not shown non-inferior. Benefits when added to a taxane. Not given concurrently with anthracyclines (overlapping cardiotoxicity). BCIRG 006: TCH approximately equals AC-TH at 10 y (no significant DFS/OS difference; anthracycline arm had more leukemia and heart failure).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trastuzumab (Buzdar)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25% -&gt; 66.7% when given concurrently with paclitaxel -&gt; FEC-75; cardiac function preserved.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Binds HER2 subdomain II, blocks HER2-HER3 dimerisation. Metastatic first line with trastuzumab + docetaxel. Neoadjuvant (HER2+ &gt;2 cm or node+): NeoSphere pCR increased ~17%; TRYPHAENA pCR 57-66%; NeoSphere: 27% pCR with pertuzumab + trastuzumab alone in ER-negative disease (interest in chemo-free regimens). APHINITY adjuvant: invasive-DFS event rates 7.1% vs 8.7%, HR 0.82 (OS immature).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 HER2/EGFR tyrosine-kinase inhibitor; with capecitabine in metastatic disease; adjuvant lapatinib inferior to trastuzumab; combination with trastuzumab improved DFS.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 (ado-trastuzumab emtansine)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Antibody-drug conjugate (trastuzumab + microtubule inhibitor DM1) for metastatic disease after trastuzumab + taxane.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 (ExteNET)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Irreversible EGFR/HER2/HER4 inhibitor for 1 y after trastuzumab-based adjuvant therapy: 2-y iDFS 94.2% vs 91.9% (HR 0.66). HER2 mutations (~2%; ER+, lobular/pleomorphic): neratinib clinical benefit 36% in a phase 2 study.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85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Clinical Situations, Inflammatory and Rare Cancers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599-602</a:t>
            </a:r>
            <a:endParaRPr lang="en-US" sz="14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Nipple discharge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15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4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8498" y="1097280"/>
            <a:ext cx="8434699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43 --- Nipple discharge.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85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Clinical Situations, Inflammatory and Rare Cancers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953260"/>
            <a:ext cx="11368735" cy="1779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Ductogram: cannulate the discharging duct, inject ~1mL water-soluble contrast. Cancer-related discharge may be clear, bloody, or serous; hemoglobin tests help but also positive w/ papilloma/ectasia. [p.599-600]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Definitive diagnosis = excision of duct +/-mass. Find duct with 3.0 lacrimal probe or methylene blue after ductography (seal nipple with collodion). [p.599-600]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Wire/seed localisation if mass lies &gt;2-3cm from nipple. [p.599-600]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discharge: prolactin-secreting pituitary adenoma in &lt;2%; large adenomas -&gt; optic nerve compression, visual-field loss, infertility. [p.600]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8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node metastasis with unknown primary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15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2" y="1097280"/>
            <a:ext cx="8021890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44 --- Axillary metastasis, occult primary.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85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Clinical Situations, Inflammatory and Rare Cancers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267585"/>
            <a:ext cx="11368735" cy="521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harbour occult breast cancer, though only 1% of breast cancers present this way; positive ER/PR suggests (not proves) breast origin. [p.600]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85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 during pregnancy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15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4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715" y="1097280"/>
            <a:ext cx="9504265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45 --- Breast cancer in pregnancy and lactation.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8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Clinical Situations, Inflammatory and Rare Cancers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5455768" cy="1204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Nodules in pregnancy/lactation: &lt;25% are cancer; ~30% of benign findings are pregnancy-specific (galactocele, lobular hyperplasia, lactating adenoma, mastitis/abscess). [p.600]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Work-up: CBC, chest X-ray (abdomen shielded), LFTs. Late presentation common -- hormone-rich tissue masks early cancers. [p.600]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2503424"/>
            <a:ext cx="545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Phyllodes tumours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869184"/>
            <a:ext cx="5455768" cy="257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Phyllodes: benign, borderline, or malignant (cystosarcoma phyllodes); borderline recurs locally more. Calcification/necrosis don't discriminate grade; hard to separate from fibroadenoma. [p.600-601]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Sharply demarcated, mixed gelatinous/solid/cystic, leaf-like cut surface; stroma more cellular than fibroadenoma, always monoclonal (fibroadenoma: poly- or monoclonal). [p.600-601]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 ones often show liposarcomatous/rhabdomyosarcomatous elements; mitoses+invasive margins help grade. [p.600-601]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Tx: wide excision w/ normal-tissue margin; suspicious malignant elements -&gt; re-excise to 1cm margin; large tumours may need mastectomy. No ALND (nodal mets rare). [p.601]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24448" y="1097280"/>
            <a:ext cx="5455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Male breast cancer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24448" y="1463040"/>
            <a:ext cx="5455768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cancer: &lt;1% of all breast cancers (up to 1.5% of male cancers in N. Americans/British); highest in Jewish and African-American men. [p.600]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Preceded by gynecomastia in 20%; risk factors: radiation, estrogen tx, testicular feminising syndromes, Klinefelter's; peak in 6th decade. [p.600]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non-tender mass needs investigation; skin/chest-wall fixation is worrying. [p.600]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&lt;15%; infiltrating ductal &gt;85%; lobular special type occasionally. Staged as in women, same stage-for-stage survival, but men present later (stage II-IV). [p.600]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surgical -- usually modified radical mastectomy; SLNB feasible/accurate; RT for high local-regional risk. [p.600]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HR-positive -&gt; adjuvant tamoxifen; chemo for HR-negative, large tumours, multiple positive nodes, or locally advanced disease. [p.600]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5848" y="1097280"/>
            <a:ext cx="0" cy="5257800"/>
          </a:xfrm>
          <a:prstGeom prst="line">
            <a:avLst/>
          </a:prstGeom>
          <a:noFill/>
          <a:ln w="9525">
            <a:solidFill>
              <a:srgbClr val="B7CC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</a:t>
            </a:r>
            <a:endParaRPr lang="en-US" sz="85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breast carcinoma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15</a:t>
            </a:r>
            <a:endParaRPr lang="en-US" sz="1100" dirty="0"/>
          </a:p>
        </p:txBody>
      </p:sp>
      <p:pic>
        <p:nvPicPr>
          <p:cNvPr id="5" name="Image 0" descr="/tmp/claude-0/-home-user-Phone/c7f42cbc-61a1-5785-9117-fab275c9b64e/scratchpad/schwartz_pptx/media/image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4008" y="1097280"/>
            <a:ext cx="6583680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5943600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46 --- Inflammatory carcinoma pathway.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</a:t>
            </a:r>
            <a:endParaRPr lang="en-US" sz="85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breast carcinoma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vs non-inflammatory locally advanced breast cancer</a:t>
            </a:r>
            <a:endParaRPr lang="en-US" sz="1250" dirty="0"/>
          </a:p>
        </p:txBody>
      </p:sp>
      <p:graphicFrame>
        <p:nvGraphicFramePr>
          <p:cNvPr id="1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Feature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Inflammatory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Non-inflammatory (locally advanced)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 invasion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 (with or without inflammatory change)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Inflammation without dermal lymphatic invasion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Delineation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delineated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Erythema / oedema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&gt;33% of breast skin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confined to lesion; less oedema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involvement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Distant metastases at presentation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common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85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Clinical Situations, Inflammatory and Rare Cancers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124075"/>
            <a:ext cx="11368735" cy="1095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IBC: &lt;3% of breast cancers -- brawny induration, erythema w/ raised edge, peau d'orange; may mimic infection; &gt;75% have palpable axillary nodes; PET-CT at diagnosis. [p.601-602]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alone or +RT disappointing; anthracycline neoadjuvant chemo -&gt; dramatic regression up to 75%; MRM after response. [p.601-602]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to chest wall, supraclavicular, internal mammary, axillary nodes; 5-y survival ~30%; encourage trial enrollment. [p.601-602]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85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Rare breast cancers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breast cancer types [p.602]</a:t>
            </a:r>
            <a:endParaRPr lang="en-US" sz="1050" dirty="0"/>
          </a:p>
        </p:txBody>
      </p:sp>
      <p:graphicFrame>
        <p:nvGraphicFramePr>
          <p:cNvPr id="1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Type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Key points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 cell (epidermoid)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duct metaplasia; regional metastases 25%, distant rare.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Adenoid cystic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&lt;0.1% of breast cancers; like salivary tumour; 1-3 cm, well circumscribed; axillary spread rare, but pulmonary metastases can kill.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Apocrine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 differentiated, vesicular nuclei, prominent nucleoli, low mitoses; can behave aggressively.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Large, painless, rapidly growing mass; core or open incisional biopsy; graded; wide local excision (may need mastectomy); no ALND unless nodes proven. Angiosarcoma: de novo, post-radiation (60% of cases had RT), or Stewart-Treves (lymphangiosarcoma in post-mastectomy lymphedema; mean 7-10 y after surgery); may need forequarter amputation for palliation.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Lymphoma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types: &lt;=39 y, often bilateral, Burkitt-like; &gt;=40 y, usually B-cell. May present with axillary nodes. Treatment by stage (lumpectomy/mastectomy, ALND, chemo-RT); 5-/10-year survival 74% / 51%. Implant-associated anaplastic large cell lymphoma: excise the implant capsule and mass; systemic therapy/RT if advanced.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85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2700">
            <a:solidFill>
              <a:srgbClr val="D8F3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2860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Revision Tools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Schwartz, pp. N/A</a:t>
            </a:r>
            <a:endParaRPr lang="en-US" sz="14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Numbers to remember (from the chapter)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numbers with page references</a:t>
            </a:r>
            <a:endParaRPr lang="en-US" sz="1250" dirty="0"/>
          </a:p>
        </p:txBody>
      </p:sp>
      <p:graphicFrame>
        <p:nvGraphicFramePr>
          <p:cNvPr id="1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Topic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Number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Page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 to axilla / to internal mammary nodes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 / remainder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size categories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&lt;=1 cm normal; &lt;=3 cm disorder; &gt;3 cm giant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Cancer risk: ADH/ALH; LCIS/DCIS; ductal involvement by ADH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4x; 10x; 7x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Gail: high-risk threshold / tamoxifen eligibility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risk &gt;=1.66%; age 35-59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557-558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P-1 / MAP.3 / IBIS-II risk reduction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/ 65% / ~50%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557-558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/ BRCA2 breast risk; ovarian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&lt;=85%; 40% / 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558-559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BRCA-related share of hereditary cancer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/ 35%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benefit &gt;=50 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-25% mortality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invasive risk; DCIS ipsilateral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25-35% (bilateral); 25-70%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types: ductal NST / lobular / medullary / mucinous / papillary / tubular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/ 10 / 4 / 2 / 2 / 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breast cancer median survival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 y; 5-y 18%, 10-y 3.6%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Neovascularisation / metastatic implantation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20th / 27th doubling; &gt;0.5 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axillary node exam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85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Numbers to remember (from the chapter)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numbers with page references (cont.)</a:t>
            </a:r>
            <a:endParaRPr lang="en-US" sz="1250" dirty="0"/>
          </a:p>
        </p:txBody>
      </p:sp>
      <p:graphicFrame>
        <p:nvGraphicFramePr>
          <p:cNvPr id="1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Topic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Number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Page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TAILORx low recurrence score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0-10 -&gt; 98% 5-y OS with endocrine alone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recurrence: low/int vs high grade, excision alone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 vs 15.3%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581-582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B-24: tamoxifen + RT vs 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 vs 13.4%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B-06 in-breast recurrence (20 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39.2% (lumpectomy) vs 14.3% (+RT)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B-32: SLN identification / false-negative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/ 9.7%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 false-negative by nodes removed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1 -&gt; 17.7%; 2 -&gt; 10%; 3 -&gt; 6.9%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OS / lymphedema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 vs 92.5%; 13% vs 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3-y DFS / mortality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75-&gt;87%; -33%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SLN: positive nodes found by 4 SLNs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skin flap thickness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 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 / lymphedema after MRM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30% / ~20% (50-60% with 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cancer: distant M1 at diagnosis; 5-y survival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25%; ~30%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601-602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SEER survival: local / regional / distant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 / 84.4 / 24.3%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8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High-yield distinctions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paired distinctions</a:t>
            </a:r>
            <a:endParaRPr lang="en-US" sz="125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Pair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Distinguish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vs DCIS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LCIS: risk marker, bilateral, multicentric, no calcification, E-cadherin lost, no excision needed. DCIS: precursor, ipsilateral, calcifications, excise + RT +/- tamoxifen. (Table 17-8)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vs BRCA2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BRCA1: triple-negative/medullary, ovarian 40%; BRCA2: HR-positive, male breast cancer, pancreas etc.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vs phyllodes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Phyllodes: leaf-like, cellular monoclonal stroma, wide excision 1-cm margin, no ALND.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vs complex sclerosing lesion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&lt;=1 cm vs &gt;1 cm. Both need enough tissue to exclude cancer.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 vs DCIS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cut-off 2-3 mm.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 vs multifocal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vs inside the quadrant / within 4 cm.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vs neglected locally advanced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 invasion, rapid onset, poor delineation, more M1.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 vs total duct excision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Localized recurrent sepsis vs diffuse / multiple fistulae / other discharging ducts.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vs adjuvant chemotherapy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OS; more BCS with neoadjuvant; local recurrence risk depends on biology/stage.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</a:t>
            </a:r>
            <a:endParaRPr lang="en-US" sz="85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Rapid-fire management recall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866900"/>
            <a:ext cx="11368735" cy="175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observe / tamoxifen / bilateral mastectomy. DCIS: margin &gt;=2mm +RT; extensive -&gt; mastectomy+SLNB; ER+ -&gt; tamoxifen 5y.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invasive: SLNB (dual tracer, 10% rule). 1-2 +SLN + BCS + WBI: no ALND (Z0011). Proven nodes: ALND or neoadjuvant therapy.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III: neoadjuvant systemic -&gt; response? -&gt; surgery -&gt; RT; no response -&gt; change drug, individualise local therapy.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IV: endocrine first if HR+ without visceral crisis; chemo for HR-/crisis; treat local problems; bone-modifying agent.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Endocrine: premenopausal tamoxifen (+/- suppression + exemestane if high risk); postmenopausal AI; extended therapy for node-positive.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trastuzumab x1y with taxane, not with anthracycline, +/- pertuzumab; neratinib after.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85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Abbreviations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Abbreviation glossary</a:t>
            </a:r>
            <a:endParaRPr lang="en-US" sz="1250" dirty="0"/>
          </a:p>
        </p:txBody>
      </p:sp>
      <p:graphicFrame>
        <p:nvGraphicFramePr>
          <p:cNvPr id="1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Abbreviation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Meaning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ADH/ALH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Atypical ductal/lobular hyperplasia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replacement therapy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lymph node dissection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nodes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Aberrations of normal development and involution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mastectomy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Aromatase inhibitor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Nipple-areola complex (or neoadjuvant chemotherapy, by context)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APBI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Accelerated partial breast irradiation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special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BCT/BCS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Breast-conserving therapy / surgery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Pathologic complete response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breast examination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Post-mastectomy radiotherapy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85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Abbreviations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11368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Abbreviation glossary (cont.)</a:t>
            </a:r>
            <a:endParaRPr lang="en-US" sz="1250" dirty="0"/>
          </a:p>
        </p:txBody>
      </p:sp>
      <p:graphicFrame>
        <p:nvGraphicFramePr>
          <p:cNvPr id="1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81328"/>
          <a:ext cx="11368735" cy="91440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Abbreviation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Meaning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CC/MLO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Craniocaudal / mediolateral oblique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cancer burden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breast tomosynthesis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score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DCIS/LCIS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/ lobular carcinoma in situ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 estrogen receptor modulator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DFS/OS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Disease-free / overall survival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SLN(B)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 lymph node (biopsy)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EBCTCG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Breast Cancer Trialists' Collaborative Group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axillary dissection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ER/PR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 / progesterone receptor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TDLU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duct lobular 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FNA/CNB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Fine-needle aspiration / core-needle biopsy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WBI/WBRT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E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Whole-breast irradiation / radiotherapy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t">
                    <a:lnL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C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</a:t>
            </a:r>
            <a:endParaRPr lang="en-US" sz="85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56032"/>
            <a:ext cx="11679631" cy="658368"/>
          </a:xfrm>
          <a:prstGeom prst="rect">
            <a:avLst/>
          </a:prstGeom>
          <a:solidFill>
            <a:srgbClr val="1B4332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11858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and scope note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082735" y="256032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8F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Sec. 16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2054860"/>
            <a:ext cx="11368735" cy="100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summarise Schwartz's Principles of Surgery, 11th ed., Ch.17 (The Breast), pp.541-603 as supplied; trial names/percentages/dates as printed in the chapter.</a:t>
            </a:r>
            <a:endParaRPr lang="en-US" sz="1200" dirty="0"/>
          </a:p>
          <a:p>
            <a:pPr algn="l"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1A2E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predates later developments (adjuvant CDK4/6, PARP inhibition, immune checkpoint therapy, antibody-drug conjugates, 2020s guideline revisions) -- consult current guidelines.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9728" y="109728"/>
            <a:ext cx="11972239" cy="6638544"/>
          </a:xfrm>
          <a:prstGeom prst="rect">
            <a:avLst/>
          </a:prstGeom>
          <a:ln w="19050">
            <a:solidFill>
              <a:srgbClr val="1B43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64739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Schwartz's Principles of Surgery -- Ch.17: The Breast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161</Slides>
  <Notes>161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161</vt:i4>
      </vt:variant>
    </vt:vector>
  </HeadingPairs>
  <TitlesOfParts>
    <vt:vector size="1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</vt:vector>
  </TitlesOfParts>
  <Company>EBS Unit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Breast -- Schwartz's Principles of Surgery, Chapter 17</dc:title>
  <dc:subject>PptxGenJS Presentation</dc:subject>
  <dc:creator>Dr. Muluamlak -- GSR-3</dc:creator>
  <cp:lastModifiedBy>Dr. Muluamlak -- GSR-3</cp:lastModifiedBy>
  <cp:revision>1</cp:revision>
  <dcterms:created xsi:type="dcterms:W3CDTF">2026-09-27T13:16:35Z</dcterms:created>
  <dcterms:modified xsi:type="dcterms:W3CDTF">2026-09-27T13:16:35Z</dcterms:modified>
</cp:coreProperties>
</file>