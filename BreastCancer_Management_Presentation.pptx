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77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Presentation — Comprehensive Study Notes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Schwartz's Principles of Surgery, 11th Ed. (Ch. 17 — The Breast)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DeVita, Hellman &amp; Rosenberg's Cancer (Ch. 106 — Malignant Tumors of the Breast)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216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Parker CC, Damodaran S, Bland KI, Hunt KK | Burstein HJ, Harris JR, Morrow 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21792"/>
            <a:ext cx="41605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History of Breast Cancer Therapy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Anatomy &amp; Physiology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Epidemiology &amp; Natural History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Risk Factors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Hereditary Breast Cancer (BRCA)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Screening &amp; Prevention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Diagnosis: Imaging &amp; Biopsy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Pathology — In Situ Carcinomas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621792"/>
            <a:ext cx="41605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Pathology — Invasive Carcinomas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AJCC Staging (TNM)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Prognostic Factors &amp; Subtypes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Local-Regional Therapy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Systemic Therapy (Adjuvant)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Management by Stage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Metastatic Breast Cancer</a:t>
            </a:r>
            <a:endParaRPr lang="en-US" sz="12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Special Situations &amp; Follow-Up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9050">
            <a:solidFill>
              <a:srgbClr val="2779A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Breast Cancer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5852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~3000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Smith Papyrus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recorded case (male); "there is no treatment"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Dran &amp; Moore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spread via lymphatics; first node removal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Halsted &amp; Meyer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mastectomy: en-bloc skin, pec major/minor, axilla levels I–III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Haagensen &amp; Stout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"grave signs" of inoperability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Patey &amp; Dyson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radical: preserve pectoralis major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 (NSABP)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hypothesis: breast cancer systemic at diagnosis; nodes are markers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1981–91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B-04/B-06/Milan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 = mastectomy for survival; RT reduces local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1980s–90s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IHC &amp; EBCTCG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ER/PR testing; tamoxifen &amp; chemo meta-analyses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LN (Krag/Giuliano)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replaces routine ALND in cN0 patients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Molecular 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arrays → 5 intrinsic subtypes; Oncotype DX; trastuzumab for HER2+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ACOSOG Z0011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ALND needed for 1–2 positive SLNs + BCS + WBI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2010s–20s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CDK4/6i, PARP-i, 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Palbociclib, olaparib, pembrolizumab expand metastatic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&amp; Physiology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structure, lymphatics, hormonal control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Anatomy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96596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Components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lobes, each subdivided into lobules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Cooper's ligaments: run through breast, insert perpendicularly into dermis — shortening causes skin dimpling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 2nd–3rd rib → 6th–7th rib (inframammary fold); sternum → anterior axillary line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tail of Spence: projects across anterior axillary fold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outer quadrant holds the most glandular tissue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51760"/>
            <a:ext cx="4251960" cy="201168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517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Nipple–Areola Complex (NAC)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53512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lobe → 1 lactiferous duct (2–4 mm), opens through 0.4–0.7 mm orifice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Sub-areolar lactiferous sinus (ampulla) dilates beneath NAC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Montgomery's tubercles = sebaceous/sweat/accessory glandular openings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Circumferential &amp; longitudinal smooth muscle → nipple erection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innervation: Meissner's corpuscles in dermal papillae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621792"/>
            <a:ext cx="4251960" cy="196596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Supply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923544"/>
            <a:ext cx="4069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thoracic (internal mammary) artery — medial 60%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thoracic &amp; thoracoacromial arteries — lateral 40%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intercostal perforators (3rd–5th)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drainage parallels arteries; skin drains to axillary/internal mammary veins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4251960" cy="201168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6517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Innervation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953512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breast: 2nd–4th intercostal nerves (anterior cutaneous branches)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breast: 3rd–6th lateral cutaneous branches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thoracic nerve (serratus anterior): runs along chest wall medial to axillary contents — injury = "winged scapula"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Thoracodorsal nerve (lat dorsi): in axillary fat — preserve during ALND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Lymphatic Drainage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5029200" cy="274320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Lymph Node Levels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8463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 (low axilla): lateral to pectoralis minor — lateral, anterior, posterior, subscapular groups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II (mid axilla): behind pectoralis minor — central group, interpectoral (Rotter's) nodes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III (apex): medial to pectoralis minor — subclavicular/apical group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75–97% of breast lymph drains to the ipsilateral axilla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35–53 nodes in the axilla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node: first echelon node; identified by blue dye + radioisotope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3438144"/>
            <a:ext cx="5029200" cy="123444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3438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Mammary Nodes (IMNs)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3739896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first 6 intercostal spaces, within 3 cm of sternal edge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concentration: intercostal spaces 1–3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drainage from medial/central breast; lower outer quadrant drains IMNs ~5%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IMN involvement is independent adverse prognostic factor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621792"/>
          <a:ext cx="3520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08760"/>
                <a:gridCol w="548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Significance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to pec minor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ALND/SLNB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pec minor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standard ALND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Medial to pec minor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Dissected in modified radical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Rotter's (Interpectoral)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pec muscles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in Halsted, preserved in MRM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Supraclavicular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clavicle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pN3c — regional (not M1 per AJCC 8th)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Physiology &amp; Gynecomastia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502920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Control of the Breast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846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hormones: estrogen, progesterone, prolactin (main trio); also oxytocin, GH, thyroid, cortisol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Childhood: hypothalamic–pituitary axis very sensitive → low estrogen → minimal breast development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Puberty: reduced negative feedback → estrogen surge → ductal elongation &amp; branching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 massive ductal–alveolar development (estrogen + progesterone + prolactin + hPL)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Lactation: prolactin drives milk synthesis; oxytocin → milk ejection reflex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Involution: post-menopause → loss of glandular tissue, replacement by fat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798064"/>
            <a:ext cx="502920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798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 Phases of Breast Development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3099816"/>
            <a:ext cx="4846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Neonatal: transient enlargement from placental estrogen; "witch's milk" in ~80%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Puberty (Tanner stages): thelarche 8–13y; asymmetric growth is normal; ~4 y to full development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Reproductive: cyclic changes with menstrual cycle; premenstrual engorgement/tenderness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&amp; lactation: full lobulo-alveolar differentiation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621792"/>
            <a:ext cx="3520440" cy="4050792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6217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Gynecomastia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923544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benign glandular (not fatty) enlargement of male breast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— 3 phases: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Neonatal (placental estrogen)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Adolescence (estradiol excess relative to testosterone)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Old age (↓ testosterone, obesity → peripheral aromatization)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causes: hepatic cirrhosis, renal failure, Klinefelter's, hCG-secreting tumors, anti-androgens, spironolactone, cimetidine, digoxin, cannabis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Investigation: mammography/US to exclude cancer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suspect if: dominant, hard, irregular, eccentric, ulcerated, with axillary nodes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correct underlying cause; danazol/tamoxifen if persistent; surgery if &gt;12 months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&amp; Natural History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Incidence, mortality trends, racial disparities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of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210312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621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7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 in women worldwide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1448" y="621792"/>
            <a:ext cx="210312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41448" y="621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7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441448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lifetime risk (1 in 8)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621792"/>
            <a:ext cx="210312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4296" y="621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7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breast cancer deaths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67144" y="621792"/>
            <a:ext cx="210312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67144" y="621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7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overall 5-year relative survival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1755648"/>
            <a:ext cx="4251960" cy="1298448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1755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Incidence Trends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" y="2057400"/>
            <a:ext cx="4069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~266,120 new invasive + ~63,960 in situ cases/year (US)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rose from 1:13 (1970s) → 1:8 (2000s); partially from increased mammography detection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fell ~7% after WHI (2002) due to reduced HRT use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Age-adjusted incidence highest in non-Hispanic white women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755648"/>
            <a:ext cx="4251960" cy="1298448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1755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&amp; Survival Trends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773168" y="2057400"/>
            <a:ext cx="4069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by era: 63% (1960) → 92% (2008) in white; 46% → 78% in African American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reduction = ~equal contribution of screening + systemic 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American women: lower lifetime risk but higher mortality; more ER-negative tumors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international variation in incidence (lowest in Japan/Africa)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4251960" cy="15087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" y="3127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&amp; Geographic Disparities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38328" y="3429000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incidence: non-Hispanic white &amp; Jewish women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mortality: African American women (lower-stage detection, biologically aggressive)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immigrants to US acquire US risk within 1–2 generations → environmental/lifestyle drivers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 developing nations with early/multiple pregnancies and prolonged lactation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27248"/>
            <a:ext cx="4251960" cy="150876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3127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Rising Incidence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73168" y="3429000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first pregnancy &amp; fewer pregnancies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menopause; shorter/no breastfeeding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(post-menopausal estrogen from adipose aromatization)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HRT use (post-2002 fall confirms this)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detection (mammography) accounting for ~50% of rise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History of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4008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GROWTH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show productive fibrosis (desmoplasia); shortens Cooper's ligaments → skin retraction/dimpling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 permeation → peau d'orange (lymphedema); venous invasion → skin nodules</a:t>
            </a:r>
            <a:endParaRPr lang="en-US" sz="11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SPREAD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initially soft/ill-defined → firm/hard/matted → extra-capsular extension → fixed to chest wall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level I → II → III → supraclavicular (skip metastases occur ~5%)</a:t>
            </a:r>
            <a:endParaRPr lang="en-US" sz="11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METASTASIS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Neovascularization begins at ~20th cell doubling; hematogenous spread via axillary/intercostal veins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sites (in order): BONE &gt; LUNG &gt; PLEURA &gt; SOFT TISSUE &gt; LIVER &gt; BRAIN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ER-negative cancers relapse early (peak 3–5 y); ER-positive risk extends &gt;10 years</a:t>
            </a:r>
            <a:endParaRPr lang="en-US" sz="11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SURVIVAL (Bloom series)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survival ~2.7 years; 5-year 18%; 10-year 3.6% without treatment</a:t>
            </a:r>
            <a:endParaRPr lang="en-US" sz="11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NODES (Schwartz rules)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nodes: intermediate; 4–9 nodes: poor; ≥10 nodes: very poor prognosis</a:t>
            </a:r>
            <a:endParaRPr lang="en-US" sz="1100" dirty="0"/>
          </a:p>
          <a:p>
            <a:pPr lvl="1" marL="228600" indent="-1143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size + nodal status are independent predictors; together they define risk tiers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640080"/>
            <a:ext cx="2560320" cy="1965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640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941832"/>
            <a:ext cx="23774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US women see surgeon for breast disease in lifetime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have biopsy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develop breast cancer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doubling time ~100 days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20th doubling = ~1 cm tumor (~10 years)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697480"/>
            <a:ext cx="2560320" cy="19659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Pattern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999232"/>
            <a:ext cx="23774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BCS + RT: ~1% local recurrence/year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recurrence continues past 5 y (annual risk ~0.5–1%)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recurrence: highest 2–3 y, falls steeply after 5 y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only: best prognosis; visceral crisis: worst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for Breast Cancer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Genetic, hormonal, environmental, and benign disease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— Overview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4297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mutation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45–85× lifetime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Autosomal dominant; triple-negative predominance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BRCA2 mutation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25–85× lifetime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luminal tumors; also male BC, pancreatic 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Atypical ductal hyperplasia (ADH)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multiplies further with +family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risk marker; not obligate precursor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breast cancer (contralateral)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risk ~0.5–1%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First-degree relative with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if pre-menopausal or bilateral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menarche (&lt;12 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year delay reduces risk ~3%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menopause (&gt;55 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extra year of cycles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Nulliparity or first birth &gt;30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to first birth &lt;20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HRT &gt;5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Estrogen + progestogen; risk falls after stopping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Obesity (post-menopausal BMI &gt;30)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Adipose aromatization → excess estrogen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(≥2 drinks/day)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1.2–1.5×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Dose-dependent; raises estrogen levels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radiation before age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 (field)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Hodgkin's treatment; risk proportional to dose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breast tissue (&gt;75% density)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risk; ↓ mammography sensitivity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BRCA1 &amp; BRCA2 Mutations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5087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(chromosome 17q21)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breast cancer risk: ~65–85%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risk: ~39–44%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Tumors: high-grade, ER−/PR−/HER2− (triple-negative)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basal-like phenotype, PARP inhibitor sensitivity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 risk: ~1%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BRCA2 (chromosome 13q12)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breast cancer risk: ~45–85%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risk: ~11–18%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Tumors: luminal/ER-positive; lobular pattern possible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male BC (~6%), pancreatic Ca, prostate Ca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Fanconi anemia gene (FANCD1) when both alleles mutated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4251960" cy="155448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212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Identification — Who to Test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2514600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Ashkenazi Jewish ancestry (founder mutations × 3)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First-degree relative with BC &lt;50 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or bilateral breast cancer in family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 in family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 with known BRCA mutation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affected member first; relatives then screened for that mutation only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4251960" cy="155448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212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High-Risk Genes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514600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(Li-Fraumeni): very high risk; sarcomas, brain, adrenal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(Cowden): hamartomas, thyroid, endometrial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CDH1: lobular BC + diffuse gastric cancer; prophylactic gastrectomy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(Peutz-Jeghers): GI polyps +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PALB2, ATM, CHEK2: moderate risk (2–4× RR)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8686800" cy="841248"/>
          </a:xfrm>
          <a:prstGeom prst="rect">
            <a:avLst/>
          </a:prstGeom>
          <a:solidFill>
            <a:srgbClr val="EBF5FB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38404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&amp; Genetic Privacy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" y="4142232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HIPAA (1996): group health plans cannot treat genetic info as pre-existing condition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 (2008): further protects against insurance/employment discrimination based on genetic testing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genetic discrimination is rare but concern remains — counsel patients before testing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Hormonal &amp; Environmental Risk Factors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Hormones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OCP: small ↑ risk (RR ~1.2); disappears within 10 years of stopping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 (2002): combined HRT (E+P) → RR 1.26 after 5.2 years; no risk increase with E alone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HRT use (post-2002) correlates with incidence decrease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Menopausal HRT: ↑ density → ↓ mammography sensitivity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&gt;5 years confers highest risk; risk ↓ after stopping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210312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Factors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menarche (&lt;12 y) &amp; late menopause (&gt;55 y): more lifetime cycles = more exposure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Nulliparity or late first birth: progesterone deficiency hypothesis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of breastfeeding → ~4.3% ↓ in relative risk (CGHFBC meta-analysis)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birth → ~7% ↓ in relative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≥4 children who breastfeed each ≥12 months have substantially lower risk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798064"/>
            <a:ext cx="425196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798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Environmental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3099816"/>
            <a:ext cx="40690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Alcohol: dose-dependent, RR 1.07 per drink/day; mechanism: ↑estrogen, DNA damage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Obesity: post-menopausal adipose aromatization → excess estrogen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Pre-menopausal obesity may be slightly PROTECTIVE (anovulatory cycles)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activity: ↓ risk ~20–30% with regular vigorous exercise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Ionizing radiation: therapeutic doses (Hodgkin's) carry highest risk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98064"/>
            <a:ext cx="4251960" cy="187452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798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Breast Disease (Page Classification)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3099816"/>
            <a:ext cx="40690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NON-PROLIFERATIVE (no ↑ risk): cysts, mild hyperplasia, fibroadenoma without complex features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 WITHOUT ATYPIA (RR 1.5–2.0): moderate/florid hyperplasia, sclerosing adenosis, papilloma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HYPERPLASIA (RR 4–5): ADH, ALH — doubles again with +FH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(RR 8–10): bilateral risk marker for future invasive cancer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epithelial atypia (FEA): columnar cell lesion; upgrade to ADH/DCIS in 20%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Models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 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/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Model (NCI)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race, # 1st-deg relatives, prior biopsy, ADH, age of menarche &amp; first birth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validated; 5-yr &amp; lifetime risk; POOR for BRCA carriers; does not use 2nd-degree relatives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Tyrer-Cuzick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family history, BRCA prior prob., height, BMI, HRT, ADH/LCIS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calibration; more complex; used in high-risk screening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 (1st &amp; 2nd degree)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hereditary cases; not calibrated for general population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Bayesian: family history + Ashkenazi ancestry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Calculates probability of carrying BRCA1/2; guides genetic referral (threshold &gt;10%)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IBIS (Tyrer-Cuzick)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major risk factors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comprehensive; preferred in UK clinics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200400"/>
            <a:ext cx="4251960" cy="146304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200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Model Thresholds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502152"/>
            <a:ext cx="4069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risk ≥1.7%: qualifies for tamoxifen/raloxifene chemoprevention (US FDA)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≥20–25%: qualifies for supplemental MRI screening (ACS)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underestimates risk in BRCA carriers, lobular histology, prior chest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5-year risk at age 50 is ~0.7%; at age 60 is ~1.2%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3200400"/>
            <a:ext cx="4251960" cy="146304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200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Points Based on Risk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3502152"/>
            <a:ext cx="4069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&gt;20–25% lifetime: annual MRI + mammography from age 25–30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&gt;1.7% 5-year: discuss chemoprevention (tamoxifen/raloxifene/AIs)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≥40% lifetime (BRCA carriers): consider prophylactic mastectomy discussion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clinics: BRCA carrier, prior RT, Cowden, Li-Fraumeni — individualized protocols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Cancer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management strategies, prophylactic options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 Carrier Management Strategies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 [Observe]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breast exam every 6 months from age 25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mammogram from age 25–30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MRI (more sensitive in dense breasts)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transvaginal US + CA-125 for ovarian surveillance (limited sensitivity)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≠ reduced risk — only earlier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621792"/>
            <a:ext cx="4251960" cy="201168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  [Drugs]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92354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Tamoxifen: NSABP P-1 showed 62% risk reduction in BRCA2 carriers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 benefit in BRCA1 carriers (ER-negative tumors)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Raloxifene: similar breast efficacy, fewer uterine effects (post-menopausal)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 (post-menopausal): MAP.3, IBIS-II — 50–65% reduction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24912"/>
            <a:ext cx="4251960" cy="201168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7249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 [Surgery]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302666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data: &gt;90% risk reduction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prophylactic mastectomy discussion in carriers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or skin-sparing options; immediate reconstruction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eliminate all risk (residual breast tissue)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Quality-of-life data are mixed — patient counselling essential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2724912"/>
            <a:ext cx="4251960" cy="20116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2312" y="27249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SALPINGO-OOPHORECTOMY  [Surgery]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02666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at age 35–40 (BRCA1) or 40–45 (BRCA2) after childbearing complete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ovarian cancer risk ~95%; also reduces breast cancer risk ~50% (pre-menopausal)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Post-surgical menopause: short-term HRT acceptable until natural menopause age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all BRCA1/2 carriers who have completed childbearing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&amp; Prevention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guidelines, MRI, chemoprevention, risk-reducing surgery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Mammography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Evidence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(8 RCTs): ~15% relative risk reduction in BC death; some trials show 20–25%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trial (New York): 33% mortality reduction at 5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10-year NNS to prevent 1 death ~1,000 women aged 50–59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Overdiagnosis estimate varies widely: 0–54%; USPSTF uses ~10–20%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women: denser breasts → lower sensitivity; more false positives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21792"/>
          <a:ext cx="4251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06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 (2015)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mammography from age 45; optional 40–44; every 1–2 years 55+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mammography starting age 40 (updated from 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from 40 (average risk); earlier + MRI if high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from 40; shared decision-making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(NHS)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 years age 47–73; younger only if family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28600" y="2212848"/>
            <a:ext cx="4251960" cy="24231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" y="2212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Breasts &amp; Supplemental Screening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38328" y="2514600"/>
            <a:ext cx="406908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BI-RADS density: A (fatty) → D (extremely dense)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breast (C+D) → ~40% of screening population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independently predicts risk (RR ~4.7 for &gt;75% density vs &lt;10%)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sensitivity: 98% fatty → 48% extremely dense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US: ↑ cancer detection rate by ~4/1000; but ↑ false positive rate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MRI: highest sensitivity (~71–100%) but low specificity → many unnecessary biopsies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mortality benefit proven for supplemental US in dense breasts (ongoing trials)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212848"/>
            <a:ext cx="4251960" cy="24231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2212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Controversies &amp; Harms of Screening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773168" y="2514600"/>
            <a:ext cx="406908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~50% of women screened annually for 10 years have at least one callback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biopsies from benign findings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Overdiagnosis: treatment of cancers that would never have caused symptoms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dose: ~1 mSv per mammogram; estimated 1.3–2 induced cancers per 100k mammograms/year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cancer rate: ~20% of cancers found between scheduled mammograms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recall: use of computer-aided detection (CAD) and tomosynthesis (3D mammography)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MRI Screening Indications &amp; Chemoprevention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MRI + Mammography Recommendations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MRI + annual mammogram (start age 25–30):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BRCA1/2 carriers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First-degree relative with BRCA mutation (untested)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Lifetime risk ≥20–25% (Tyrer-Cuzick or Gail)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Prior chest RT age 10–30 (Hodgkin's disease)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Li-Fraumeni, Cowden, Bannayan-Riley-Ruvalcaba syndromes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evidence for MRI if lifetime risk 15–20%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NOT recommended for lifetime risk &lt;15% or average-risk population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78608"/>
          <a:ext cx="8686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256032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Side Effects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P-1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(n=13,388)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↓ ER+ BC; 84% ↓ in ADH subgroup; no effect ER−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DVT ×1.6; PE ×3; endometrial Ca ×2.5; hot flushes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Raloxifene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P-2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(n=19,747)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 of tamoxifen efficacy (post-menopausal)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DVT than tamoxifen; no endometrial Ca ↑; cataract risk similar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Exemestane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(n=4,560)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↓ at 35 months (post-menopausal)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Arthralgia, hot flushes, ↓ bone density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Anastrozole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IBIS-II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(n=3,864)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↓ at 5 years (post-menopausal)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Musculoskeletal sx, osteoporosis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28600" y="4160520"/>
            <a:ext cx="8686800" cy="521208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" y="4160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 Eligibility &amp; Counselling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38328" y="4462272"/>
            <a:ext cx="8503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Gail risk ≥1.7% (pre/post-menopausal) OR prior LCIS/ADH → discuss tamoxifen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Post-menopausal women: prefer raloxifene (equivalent efficacy, fewer uterine effects) or AI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patients: chemoprevention reduces ER+ risk only; not ER-negative or BRCA1-associated tumors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Diagnosis: Imaging &amp; Biopsy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examination, imaging modalities, biopsy techniques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Presentation &amp; Examination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502920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Presentation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846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women find their own lump (breast self-examination)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Palpable mass: most common; may be painless or tender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changes: retraction, inversion, discharge, Paget's changes (eczematoid)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changes: dimpling, erythema, peau d'orange (IBC), ulceration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Enlargement / asymmetry; pain is less common as sole symptom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BC = commonest diagnostic-error malpractice claim (often young women)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dominant mass in woman ≤45 y with equivocal imaging → biopsy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23744"/>
            <a:ext cx="5029200" cy="214884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23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Examination Technique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25496"/>
            <a:ext cx="484632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Inspect: seated, arms at sides → arms raised → hands on hips (with/without pectoral contraction) → lean forward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symmetry, contour changes, skin changes, nipple changes, axillary fullness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Palpate: supine (45° tilt); use palmar surface of fingers — NO pinching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examination: sternum to latissimus dorsi, clavicle to rectus sheath; include tail of Spence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 breast against chest wall; assess mass: size, shape, consistency, fixation, tender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palpation: ONLY ~33% clinical accuracy for nodal assessment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clinical assessment CANNOT exclude cancer — triple assessment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621792"/>
            <a:ext cx="3520440" cy="4050792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6217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923544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CLINICAL EXAMINATION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Palpation findings + risk factors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IMAGING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Mammography (≥40 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Ultrasound (all ages, palpable mass)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MRI (high-risk, equivocal)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BIOPSY (Histology/Cytology)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Core needle biopsy preferred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FNA: cytology only (no architecture)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 REQUIRED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benign → observe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discordant → biopsy/excision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biopsy always acted on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Modalities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/ 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 (2D)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Screening; calcifications, architectural distortion; limited in dense breasts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Tomosynthesis (3D)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sensitivity ~15–20% vs 2D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specificity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callback rate ~15%; preferred where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 (US)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80–90% (palpable)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Characterizes cysts vs solids; guides biopsy; first line in &lt;30 y; no standalone screening benefit 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MRI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71–100%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37–98%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screening; extent of disease; occult primary; implant integrity; monitoring neoadjuvant Rx — NOT for screening average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PET/CT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(&gt;1 cm nodes)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locally advanced/metastatic; not for early-stage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for bone 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specific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pain or elevated alk. phos; not for stage I–IIA routine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584448"/>
            <a:ext cx="8686800" cy="109728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584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Imaging BI-RADS Classification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88620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 Incomplete — additional imaging needed | 1: Negative | 2: Benign | 3: Probably benign (≤2% malignancy) — 6-month follow-up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4A: Low suspicion (&gt;2–10%) — tissue diagnosis | 4B: Moderate (&gt;10–50%) | 4C: High (&gt;50–95%) → core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Highly suggestive of malignancy (≥95%) → biopsy before treatment | 6: Known biopsy-proven malignancy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Biopsy Techniques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56032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Gauge /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Needle Aspiration (FNA)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22-G, 10-mL syringe; aspiration during movement in mass; air-dried &amp; alcohol-fixed smears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Quick; cheap; outpatient; immediate cytology; good for cysts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Cytology only — no architecture; cannot distinguish in situ from invasive; operator-dependent; false negative ~3%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Needle Biopsy (CNB)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14-G spring-loaded; 3–5 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Histology with architecture; can determine invasive vs in situ, ER/PR/HER2; PREFERRED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 or stereotactic-guidance; clip placement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Vacuum-Assisted Core Biopsy (VACB)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8–10G vacuum-assisted (Mammotome)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samples; best for calcifications; reduces sampling error; can remove small lesions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tissue; requires X-ray of cores for calcifications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Surgical Biopsy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 or incisional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Definitive; needed when CNB discordant or inadequate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OR; leaves scar; disrupts lymphatics for future SLNB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584448"/>
            <a:ext cx="4251960" cy="10972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5844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Surgical Biopsy After CNB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8862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on core (upgrade to DCIS ~20%)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sample targeted calcifications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scar / complex sclerosing lesion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Papillary lesion (exclude papillary carcinoma)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Discordance between imaging &amp; histology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3584448"/>
            <a:ext cx="425196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5844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Pre-Operative Localization Methods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38862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localization (hook wire): standard; placed same-day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Radioactive seed (RADical): placed days prior; more flexible scheduling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seed (Magseed): no radioactivity; MRI compatible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marking: for US-visible lesions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placement mandatory after CNB (marks site if tumor resolves with NAC)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Pathology — In Situ Carcinomas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LCIS, DCIS: features, natural history, management algorithms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LCIS — Features &amp; Natural History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645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Histologic Features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Distension/distortion of terminal duct lobular units (TDLUs)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uniform cells with rounded nuclei, inconspicuous nucleoli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Cytoplasmic mucoid vacuoles (pathognomonic)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E-cadherin expression (diagnostic marker)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Multicentric: 60–90%; bilateral: 30–40%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larger cells, prominent nuclei — more like DCIS behavior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64592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9-study analysis (n=172, ~10-year follow-up):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15% developed invasive Ca ipsilaterally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9.3% contralaterally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~1–2% annual risk (30–40% lifetime)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invasive cancer: more often IDC than ILC (though ILC risk ↑)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risk marker — not an obligate direct precursor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margins NOT required after excision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359152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" y="2359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/ ALH Diagnosed on Biopsy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752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" y="29718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Risk Counseling + Risk Assessment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329184"/>
          </a:xfrm>
          <a:prstGeom prst="roundRect">
            <a:avLst>
              <a:gd name="adj" fmla="val 13889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8600" y="358444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MANAGEMENT STRATEGY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922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922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922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8600" y="4142232"/>
            <a:ext cx="2788920" cy="1005840"/>
          </a:xfrm>
          <a:prstGeom prst="roundRect">
            <a:avLst>
              <a:gd name="adj" fmla="val 4545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" y="414223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patients)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mammography ± MRI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4142232"/>
            <a:ext cx="2788920" cy="1005840"/>
          </a:xfrm>
          <a:prstGeom prst="roundRect">
            <a:avLst>
              <a:gd name="adj" fmla="val 4545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46120" y="414223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(5 y): 49% 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 (post-menop): comparable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post-menopausal women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142232"/>
            <a:ext cx="2788920" cy="1005840"/>
          </a:xfrm>
          <a:prstGeom prst="roundRect">
            <a:avLst>
              <a:gd name="adj" fmla="val 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414223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MASTECTOMY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(High-risk, patient preference)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risk reduction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DCIS — Features &amp; Management Algorithm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645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Characteristics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Pre-mammography: &lt;5% of breast cancers; current: 15–30% screen-detected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patterns: papillary → cribriform → solid → comedo (with central necrosis)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grade: low / intermediate / high — predicts recurrence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positive: ~70% of DCIS; HER2 amplified: ~30%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core-diagnosed DCIS upgrades to invasive at final excision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 unicentric (unifocal) vs multicentric (skip lesions rare — usually continuous)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64592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Trial Evidence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B-17: lumpectomy alone vs + RT → RT ↓ in-breast recurrence 47% (8%→4.4%)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B-24: RT + tamoxifen vs RT alone → tamoxifen ↓ events (13.4%→8.2%) in ER+ DCIS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5194: low/int grade ≤2.5cm or high grade ≤1cm + margins ≥3mm → omit RT; 10-yr IBR 15.6% &amp; 7.5%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recurrences (with or without RT) are invasive → hence treatment is important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Cancer-specific survival &gt;98% regardless of RT choice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359152"/>
            <a:ext cx="7315200" cy="36576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359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Diagnosed (Mammography / Biopsy)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7340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953512"/>
            <a:ext cx="7315200" cy="365760"/>
          </a:xfrm>
          <a:prstGeom prst="roundRect">
            <a:avLst>
              <a:gd name="adj" fmla="val 12500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953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Assess: Size / Grade / ER Status / Margins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3284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0" y="3547872"/>
            <a:ext cx="3657600" cy="594360"/>
          </a:xfrm>
          <a:prstGeom prst="diamond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(&gt;4 cm) or cannot excise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acceptable cosmesis?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3547872"/>
            <a:ext cx="1737360" cy="594360"/>
          </a:xfrm>
          <a:prstGeom prst="roundRect">
            <a:avLst>
              <a:gd name="adj" fmla="val 769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3547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Reconstruction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151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4370832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71600" y="4370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+ RT → add Tamoxifen 5y if ER+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Pathology — Invasive Carcinomas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special histologies, IBC, Paget's, Phyllodes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Invasive Carcinoma Types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914400"/>
                <a:gridCol w="4663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Histologic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 / Prognosis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Ductal Carcinoma (IDC) / NST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~75–80%+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common; heterogeneous; graded I–III (Elston-Ellis); prognosis depends on grade &amp;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Lobular Carcinoma (ILC)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Single-file infiltration; E-cadherin negative; bilateral; multicentric; diffuse spread; harder to detect on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Tubular Carcinoma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Well-differentiated, excellent prognosis; small tubules infiltrate stroma; usually node-negative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Mucinous (Colloid)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Gelatinous material surrounding cells; good prognosis; elderly women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Medullary Carcinoma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~ER-negative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Circumscribed, lymphoplasmacytic infiltrate, syncytial growth; despite ER-neg, relatively good prognosis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Metaplastic Carcinoma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ER-negative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Squamous/spindle cell elements; triple-negative; poor prognosis; resistant to chemotherapy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Adenoid Cystic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ER-negative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prognosis despite ER-neg; low-grade malignancy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BC (IBC)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diagnosis: brawny induration, erythema, peau d'orange; dermal lymphatic invasion; most aggressive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886200"/>
            <a:ext cx="8686800" cy="795528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8862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Nottingham (Elston-Ellis) Histologic Grading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4187952"/>
            <a:ext cx="8503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1: Score 3–5 (tubule formation + nuclear pleomorphism + mitotic count) — well differentiated, best prognosis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2: Score 6–7 — moderately differentiated | Grade 3: Score 8–9 — poorly differentiated, worst prognosis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types require ≥90% of tumor to show defining feature to qualify (e.g., mucinous, tubular)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Histologic Types &amp; Presentations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828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Breast Carcinoma (IBC)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 of breast cancers; most aggressive subtype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diagnosis: brawny induration + erythema with raised border + peau d'orange involving ≥1/3 of breast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mimic mastitis/cellulitis — antibiotics fail to resolve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 have palpable axillary nodes at presentation; dermal lymphatic emboli on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NEOADJUVANT chemo → mastectomy → adjuvant RT (no BCS)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~40% with modern treatment; pCR → significantly better prognosis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82880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Paget's Disease of the Nipple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of breast malignancies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 cells: large cells with clear cytoplasm + atypical nuclei within nipple epidermis (in situ carcinoma of nipple)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eczematoid changes, crusting, redness, erosion, nipple discharge or retraction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Association: (1) underlying invasive cancer — staged by invasive tumor; (2) underlying DCIS — staged Tis; (3) Paget's alone — staged Tis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BCT (central lumpectomy + RT) or total mastectomy; SLNB if any invasive component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523744"/>
            <a:ext cx="4251960" cy="214884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5237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Phyllodes Tumors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2825496"/>
            <a:ext cx="406908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fibroepithelial tumor; benign, borderline, or malignant (sarcomatous stroma)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large, rapidly growing mass; leaf-like projections on gross exam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and necrosis do NOT reliably predict malignancy — grade is key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wide local excision with 1-cm clear margin (not en-bloc ALND)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phyllodes: metastasize hematogenously (lung); lymph node mets rare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Borderline: more local recurrences → wider margin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RT: for malignant phyllodes with close margins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523744"/>
            <a:ext cx="4251960" cy="214884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5237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825496"/>
            <a:ext cx="406908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all breast cancers; ~1% of male malignancies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incidence: Ashkenazi Jewish, African-American men; BRCA2 carriers (6% lifetime risk)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Histology: &gt;85% infiltrating ductal; DCIS &lt;15%; lobular occasionally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ER+: &gt;90% (high ER positivity due to lack of normal hormonal suppression)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for stage: same survival as women; presents at older age, later stage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same as women; modified radical mastectomy preferred (thin tissue coverage)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tamoxifen: indicated in ER+ (aromatase inhibitors not effective without ovariectomy)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Staging (TNM)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Edition: T, N, M categories and stage groups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8th Edition — T &amp; N Categories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4251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37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assessed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 of primary tumor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DCIS, LCIS, or Paget's of nipple without invasive 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T1mic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Microinvasion ≤0.1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0.5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1.0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– 2.0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– 5.0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&gt;5.0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invasion (not pec muscle)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edema/ulceration or satellite skin nodules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T4a and T4b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carcinoma (IBC)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21792"/>
          <a:ext cx="4251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37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regional LN metastasis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pN0(i+)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IHC: tumor cells ≤0.2 mm (isolated tumor cells)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Micrometastasis: &gt;0.2 mm but ≤2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positive axillary LNs (≥1 macrometastasis &gt;2mm)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 (IMN) sentinel node 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 + pN1b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4–9 positive axillary LNs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IMN nodes clinically detected, no axillary 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 axillary LNs or infraclavicular (level III)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 + pN2b; or pN2a + clinical IMN 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Supraclavicular LN metastasis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M0/M1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distant mets / distant mets (including non-regional LNs)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Staging Groups &amp; Workup by Stage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50292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731520"/>
                <a:gridCol w="594360"/>
                <a:gridCol w="59436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Survival (approx.)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(≤2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T0–T1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T0–1 / 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 / 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/ 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 / 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T0–3 / 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/ N1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~86% (variable)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~22–28%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21792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Workup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I–II (early)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physical, CBC, LFTs, ALP; bilateral mammogram; bone scan only if sx/↑ALP; CT/PET only if 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 (locally advanced)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+ CT chest/abdomen/pelvis; bone scan; consider PET/CT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(metastatic)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staging: CT C/A/P; bone scan or PET/CT; brain MRI if sx; biopsy of metastatic site (re-confirm ER/PR/HER2)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474720"/>
            <a:ext cx="8686800" cy="1207008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0040" y="34747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8th Edition Key Changes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38328" y="3776472"/>
            <a:ext cx="8503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Supraclavicular nodes: now pN3c (regional), not M1 → potentially curable with aggressive multimodality treatment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IHC-only positive nodes (isolated tumor cells ≤0.2 mm) → pN0(i+) — do NOT require ALND; not prognostically equivalent to micrometastasis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Micrometastasis (&gt;0.2mm but ≤2mm) → pN1mi — ALND now NOT routinely required (IBCSG 23-01, ACOSOG Z0010 data)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stage groups (8th ed.) add biomarkers (ER, PR, HER2, grade) to improve staging accuracy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Prognostic Factors &amp; Molecular Subtypes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biomarkers, multigene assays, intrinsic subtypes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Prognostic &amp; Predictive Factors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4937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Prognostic?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 node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(strongest)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 vs 1–3 vs 4–9 vs ≥10: stepwise worsening; pN1mi better than pN1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cm increase ~16% ↑ mortality; independent of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Histologic grade (Nottingham)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3 worst; correlates with Ki-67, molecular subtype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ER/PR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(modest)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(tamoxifen/AIs)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 → better prognosis long-term; predictive for endocrine benefit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(negative)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(trastuzumab)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→ poorer prognosis w/o anti-HER2 Rx; now targetable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Ki-67 proliferation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Cut-point varies; ≥20–25% = high; used in Luminal B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Lymphovascular invasion (LVI)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nodal mets; adverse for prognosis; independent in 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Margins (surgical)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(local)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margin → ↑ local recurrence; "no ink on tumor" = adequate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/ menopausal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(young=worse)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Premenopausal: different endocrine Rx; young age independent poor prognostic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913632"/>
            <a:ext cx="8686800" cy="795528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9136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vs Prognostic Markers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4215384"/>
            <a:ext cx="8503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marker: tells you about OUTCOME regardless of treatment (e.g., lymph node status)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marker: tells you about RESPONSE to a SPECIFIC treatment (e.g., ER → tamoxifen benefit; HER2 → trastuzumab benefit)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marker can be both prognostic AND predictive (e.g., ER: prognostic for overall survival + predictive for endocrine therapy response)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Multigene Assays — Oncotype DX &amp; MammaPrint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Oncotype DX (21-gene RT-PCR assay)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Score (RS): 0–100 scale; validated in ER+, HER2−, node-negative tumors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&lt;18 (low): chemo adds minimal benefit; endocrine therapy alone (TAILORx)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26–100 (high): chemo + endocrine therapy recommended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18–25 (intermediate): TAILORx → most gain from chemo; young premenopausal may benefit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validated in N+ (1–3 nodes): RxPONDER trial → chemo not needed in post-menopausal RS ≤25 + 1–3 N+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~$4,000; most insurance covers in appropriate settings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210312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MammaPrint (70-gene microarray)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classification: Low vs High genomic risk (binary)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for early-stage, ER+, N0 or 1–3 N+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MINDACT trial: 46% of clinically high-risk tumors were genomically low-risk → spared chemotherapy safely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Ultrasound-based: ~5-year distant metastasis-free survival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gene set from Oncotype DX; both approved but different algorithms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interchangeable clinically; payer coverage varies</a:t>
            </a:r>
            <a:endParaRPr lang="en-US" sz="10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34640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5603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Oncotype DX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RT-PCR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ER+, HER2−, N0 or 1–3 N+ (post-men.)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TAILORx (N0), RxPONDER (N+)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microarray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ER+, HER2−, N0 or 1–3 N+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Prosigna (PAM50)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genes + 8 ref.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ER+, N0/N1; post-menopausal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ABCSG-8, ATAC, BIG1-98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EndoPredict (EPclin)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genes + size +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ER+, HER2−, N0–N1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TransATAC, ABCSG-8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Cancer Index (BCI)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endocrine Rx (5–10 y) benefit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ATAC, Stockholm 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IHC4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ER, PR, HER2, Ki-67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surrogate for gene assays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TransATAC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Subtypes (Intrinsic/Sorlie–Perou Classification)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A  |  ER+/PR+  HER2−  Ki-67 LOW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(~40% of BC)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prognosis; lowest recurrence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sensitive to endocrine therapy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usually NOT required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&gt;85%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621792"/>
            <a:ext cx="4251960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B  |  ER+  HER2+ or  Ki-67 HIGH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92354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BC; intermediate prognosis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aggressive than Luminal A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+ chemo often needed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subset: add trastuzumab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recurrence rate at 5 years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24912"/>
            <a:ext cx="4251960" cy="201168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7249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HER2-ENRICHED  |  ER−  PR−  HER2+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302666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BC; historically poor prognosis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excellent outcomes with anti-HER2 Rx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+ pertuzumab ± TDM-1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pCR rate with neoadjuvant HER2-targeted Rx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metastases more frequent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2724912"/>
            <a:ext cx="4251960" cy="20116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2312" y="27249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NEGATIVE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(TNBC)  |  ER−  PR−  HER2−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02666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 of BC; worst prognosis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targeted therapy (no hormone/HER2)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only for systemic Rx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mutation → PARP inhibitors effective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(pembrolizumab): PDL1+ metastatic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predicts excellent long-term outcome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Local-Regional Therapy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BCS vs mastectomy, axillary management, radiation, reconstruction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Breast-Conserving Surgery (BCS) vs Mastectomy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  <a:gridCol w="3337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 + Radiation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Oncologic equivalence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6 RCTs (Milan, NSABP B-06, NCI, EORTC, Danish, IGR)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overall survival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~1–2%/year; cumulative ~10–15% at 10 y without 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~5–8% at 10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tumor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excisable with acceptable cosmesis (usually ≤4–5 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size limit; large T in small 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Adjuvant RT (mandatory for BCS); no RT center access → mastectomy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routine RT (unless ≥4 LNs, T3/T4)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Contraindications to BCS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below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not needed (breast preserved)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(preferred) or delayed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Psychological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image preserved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anxiety about residual tissue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 + RT often more costly than mastectomy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alone is cheaper; reconstruction adds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584448"/>
            <a:ext cx="4251960" cy="10972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5844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Contraindications to BCS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8862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Multicentric disease (multiple quadrants)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excise with negative margins despite re-excision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malignant microcalcifications throughout breast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breast/chest wall irradiation (RT already given)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1st/2nd trimester pregnancy (RT contraindicated)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3584448"/>
            <a:ext cx="425196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5844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SSO-ASTRO Margin Consensus (2014)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38862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tumor on ink" = negative margin for early invasive BC with whole-breast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margins do NOT further reduce local recurrence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DCIS — 2 mm margin recommended to reduce recurrence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Re-excision for positive margins only; extensive margin width unnecessary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Axillary Surgery — SLNB &amp; Z0011 Trial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Lymph Node Biopsy (SLNB) Technique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Dual-tracer technique: radioisotope (99mTc-sulfur colloid) + blue dye (isosulfan blue)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Inject: peri-tumoral or sub-areolar (converge at same sentinel nodes)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probe detects hot spots; blue visual identification; "10% rule": any hot node &gt;10% of highest count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2–3 SLNs removed; false-negative rate ~5–8% (dual tracer)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95–98% for detecting nodal metastasis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morbidity: lymphedema 3–5% (vs ALND 15–20%); shoulder morbidity much less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210312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ACOSOG Z0011 Trial (Key Findings)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Eligible: T1–2, cN0, 1–2 positive SLNs, BCS + whole-breast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alone vs SLNB + ALND: no difference in overall survival (92.5 vs 91.8%, p=0.02 non-inferiority)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 in disease-free survival or regional recurrence at 10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Lymphedema rate: SLNB 13% vs ALND 70% — dramatic reduction in morbidity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NCCN/ASCO/ASBrS endorsement: omit ALND for eligible Z0011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high-tangent RT fields in Z0011 may have treated some level I–II nodes</a:t>
            </a:r>
            <a:endParaRPr lang="en-US" sz="10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98064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or ALND?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cN0, BCS, 1–2 positive SLNs + WBI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alone (Z0011; no ALND needed)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cN0, mastectomy, positive SLN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ALND still standard (AMAROS: axillary RT an option)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cN+ (proven by FNA/CNB)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ALND (skip SLNB) OR neoadjuvant therapy → then assess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neoadjuvant chemo, cN0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acceptable if ≥3 nodes removed (ACOSOG Z1071, SN FNAC)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SLNB — ALND after neoadjuvant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axillary surgery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technically feasible; higher false-negative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 Therapy in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Breast-Conserving Surgery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WBI: 50 Gy / 25 fractions over 5–6 weeks ± tumor-bed boost (10–16 Gy)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Hypofractionated WBI: 40 Gy / 15 fx or 42.5 Gy / 16 fx — equivalent efficacy, better tolerability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EBCTCG (2005, n=42,000): RT halves 10-yr local recurrence (25%→12.5%) AND reduces 15-yr BC mortality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APBI: 5 days twice daily; brachytherapy, 3D-conformal, or proton; only highly-selected low-risk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RT after BCS: CALGB C9343 (≥70 y, T1N0 ER+, all on tamoxifen): LR 1% vs 4% — acceptable to omit RT in select elderly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60020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Post-Mastectomy Radiation (PMRT)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 positive axillary LNs: PMRT to chest wall + regional nodes (Level 1 evidence)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positive nodes: PMRT should be considered (EBCTCG 2014: significant OS benefit)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T3/T4 tumors (chest wall or skin involvement)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close (&lt;1 mm) surgical margins after mastectomy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chest wall + axillary apex + supraclavicular; ± IMN (if clinically involved)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starts after completion of chemotherapy (sequential, not concurrent)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95144"/>
            <a:ext cx="4251960" cy="24231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2951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Techniques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2596896"/>
            <a:ext cx="406908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fields: standard for whole-breast; spare heart (left-sided: deep inspiration breath hold)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IMRT: better dose conformity; less radiation to lung/heart; preferred for complex anatomy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positioning: reduces heart/lung dose in large-breasted women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therapy: superior dosimetry for complex cases (re-irradiation, bilateral, anatomy)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breast: catheter-based brachytherapy or external beam APBI (RAPID trial)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Fractionation: hypofractionation now standard for adjuvant WBI (shorter course, equivalent)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295144"/>
            <a:ext cx="4251960" cy="24231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2951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Side Effects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596896"/>
            <a:ext cx="406908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Acute: skin erythema, desquamation, fatigue, breast edema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Chronic: skin fibrosis, breast edema/firmness, rib tenderness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Cardiac: coronary artery disease (left-sided); modern techniques markedly reduce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Pulmonary: radiation pneumonitis (1–3%), rare with modern fields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cancer: lung (smokers), sarcoma of chest wall — very rare (&lt;1%)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Lymphedema: when combined with ALND; RT adds modest additional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Brachial plexopathy: with high-dose supraclavicular fields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Mastectomy Types &amp; Reconstruction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Structures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tissue + skin + nipple-areola; no axillary dissection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Prophylactic; DCIS; with SLNB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+ NAC; preserve skin envelope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I–III with immediate reconstruction; local recurrence &lt;6–8% (similar to standard)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Nipple-Areola Sparing (NSM)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parenchyma only; preserve NAC + skin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Prophylactic (BRCA); early-stage (NAC not involved); retroareolar tissue sampled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+ NAC + pec minor + axilla levels I–III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curative for invasive BC requiring mastectomy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(Halsted)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+ NAC + pec major + pec minor + axilla I–III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almost never needed; possible for T4 with pec major invasion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127248"/>
            <a:ext cx="4251960" cy="155448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127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Options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429000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Implant-based: tissue expander → permanent implant (2-stage); simplest, shortest recovery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 flap: pedicled or free (microvascular); uses rectus abdominis + skin paddle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 flap: free flap using inferior epigastric perforators; preserves rectus muscle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Latissimus dorsi flap ± implant: posterior donor site; useful after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SGAP / IGAP flap: gluteal flaps for patients with prior abdominal surgery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(same operation) vs delayed (after RT completion) — immediate preferred when no RT planned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3127248"/>
            <a:ext cx="4251960" cy="15544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127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Mastectomy over BCS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3429000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preference (avoids RT)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not excisable with acceptable cosmesis (large tumor in small breast)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or multifocal DCIS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receive RT (prior RT, pregnancy)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margins despite re-excision (usually 2 attempts)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Multicentric disease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BRCA carrier (increased risk of new primary)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Skin/chest wall involvement (T4)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Systemic Therapy (Adjuvant)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therapy, chemotherapy regimens, HER2-targeted therapy, neoadjuvant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Endocrine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(SERM)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EBCTCG: 5 years tamoxifen → one-third reduction in BC mortality at 15 years in ER+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tamoxifen (10 years, ATLAS/aTTom trials): further ↓ recurrence &amp; mortality vs 5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Pre/post-menopausal: tamoxifen works in both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Cardioprotective (↓ LDL), preserves bone density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effects: DVT ×1.6, PE ×3, endometrial cancer ×2.5 (post-menopausal), hot flushes, cataracts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Contraindicated with strong CYP2D6 inhibitors (paroxetine → ↓ active metabolite endoxifen)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60020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 (AIs)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Anastrozole (Arimidex), Letrozole (Femara): reversible non-steroidal; Exemestane (Aromasin): irreversible steroidal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to tamoxifen in post-menopausal women: ↓ recurrence ~2–4%; small OS benefit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ATAC, BIG 1-98, TEAM, IES trials all demonstrate AI superiority in post-menopausal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AI therapy (total 10 years): MA.17R — reduces distant recurrence in N+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effects: arthralgia/myalgia, hot flushes, osteoporosis (monitor bone density), no uterine/DVT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effective in pre-menopausal women (ovaries continue making estrogen)</a:t>
            </a:r>
            <a:endParaRPr lang="en-US" sz="10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04288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Endocrine Therapy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Pre-menopausal, low-risk (N0, small tumor)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× 5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Pre-menopausal, high-risk (N+, young, large tumor)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Ovarian suppression (GnRH analog) + exemestane or letrozole (SOFT/TEXT trials) + tamoxifen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Post-menopausal, any ER+ invasive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× 5–10 years (preferred over tamoxifen)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Post-menopausal, completed 5 years tamoxifen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AI × 5 more years (extended adjuvant)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Post-menopausal, completed 5 years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 extended AI if N+ (MA.17R)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 DCIS after BCS + 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× 5 years reduces in-breast &amp; contralateral events in ER+ DCIS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Chemotherapy Regimens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86868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Adjuvant Chemotherapy (ASCO / NCCN Consensus)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Node-positive (any) + ER-negative: chemotherapy strongly indicated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Triple-negative BC &gt;5 mm: chemotherapy standard of care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(any size, node-negative): trastuzumab-based chemotherapy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ER+, N0: guided by genomic testing (Oncotype DX RS, MammaPrint) — high-risk score → chemo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ER+, N+ (post-menopausal): RxPONDER — RS ≤25 → chemo NOT beneficial; &gt;25 → chemo indicated</a:t>
            </a:r>
            <a:endParaRPr lang="en-US" sz="10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517904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4663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/ Indication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×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Doxorubicin (A) + Cyclophosphamide (C)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base; for ER+ lower-risk; given q3w or dose-dense (q2w with G-CSF)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T ×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+ Paclitaxel or Docetaxel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ER+ or any TNBC; adds taxane after 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× 4 (or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Docetaxel + Cyclophosphamide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to AC for lower-risk; no cardiac toxicity; preferred if cardiac issues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ddAC → ddT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Dose-dense AC → Paclitaxel q2w + G-CSF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to q3w in node-positive (CALGB 9741); preferred for high-risk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→ 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5-FU + Epirubicin + Cyclophosphamide → Docetaxel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standard; comparable to AC-T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Cyclophosphamide + Methotrexate + 5-FU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regimen; inferior to anthracycline; rarely used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Docetaxel + Carboplatin + Trastuzumab + Pertuzumab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neoadjuvant; high pCR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THP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Paclitaxel + Herceptin + Pertuzumab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adjuvant (APHINITY backbone)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28600" y="3977640"/>
            <a:ext cx="8686800" cy="7040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" y="3977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Side Effects — Key Points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38328" y="4279392"/>
            <a:ext cx="8503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Anthracyclines: cardiotoxicity (dose-dependent; LVEF monitoring); alopecia; N/V; leukemia (rare, &lt;1%)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Taxanes: peripheral neuropathy; nail changes; fluid retention (docetaxel); hypersensitivity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Cyclophosphamide: hemorrhagic cystitis (hydration); premature ovarian failure; bladder cancer (long-term)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All: myelosuppression (febrile neutropenia especially ddAC-T); dose-dense requires G-CSF support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HER2-Targeted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73736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(Herceptin) — Anti-HER2 mAb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binds HER2 extracellular domain; inhibits signaling + ADCC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HERA, NSABP B-31, NCCTG N9831: trastuzumab × 1 year → 50% ↓ recurrence, 33% ↓ mortality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year standard (HERA: 2 years no additional benefit)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with taxane; NOT concurrent with anthracycline (↑ cardiotoxicity)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LVEF every 3 months (can cause asymptomatic LV dysfunction)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formulation available (faster administration)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73736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Pertuzumab (Perjeta) &amp; Dual HER2 Blockade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binds different HER2 epitope → prevents HER2/HER3 heterodimerization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APHINITY trial: trastuzumab + pertuzumab → ↑ iDFS vs trastuzumab alone in N+ HER2+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Combination: pertuzumab + trastuzumab + docetaxel = PHESGO (subcutaneous combo)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Neoadjuvant: TCHP (docetaxel + carbo + trastuzumab + pertuzumab) → pCR rate ~60%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approved: neoadjuvant + adjuvant in HER2+ N+ or high-risk N0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32304"/>
            <a:ext cx="4251960" cy="173736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4323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T-DM1 (Kadcyla) &amp; T-DXd (Enhertu)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2734056"/>
            <a:ext cx="4069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T-DM1 (ado-trastuzumab emtansine): ADC — trastuzumab + DM1 (maytansinoid cytotoxin)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KATHERINE trial: for residual disease after neoadjuvant trastuzumab-based chemo → T-DM1 × 14 cycles → ↑iDFS vs trastuzumab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T-DXd (trastuzumab deruxtecan): ADC with topoisomerase I inhibitor payload; active in HER2-low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DESTINY-Breast: T-DXd superior to T-DM1 in HER2+ metastatic (2nd line); also active in HER2-low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HER2-low (IHC 1+ or 2+/FISH−): T-DXd now approved — expands targetable HER2 population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32304"/>
            <a:ext cx="4251960" cy="17373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4323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Neratinib (Nerlynx) &amp; Other Agents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734056"/>
            <a:ext cx="4069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Neratinib: irreversible pan-HER TKI; ExteNET trial: extended adjuvant after trastuzumab × 1 y → ↑iDFS in HER2+/ER+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Lapatinib: dual EGFR/HER2 TKI; older; CNS activity; active in trastuzumab-refractory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Tucatinib: HER2-selective TKI; HER2CLIMB: tucatinib + trastuzumab + capecitabine → superior OS in HER2+ mBC including brain mets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Margetuximab: Fc-optimized anti-HER2 mAb; SOPHIA trial: ↑PFS vs trastuzumab in 3rd line mBC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242816"/>
            <a:ext cx="8686800" cy="438912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42428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Testing Guidelines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" y="4544568"/>
            <a:ext cx="8503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IHC: Positive = 3+ staining (&gt;30% invasive cells); Equivocal = 2+ → confirm with FISH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FISH: Positive = &gt;6 copies/nucleus OR HER2/CEP17 ratio &gt;2.2 | ~20% of BC are HER2+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Neoadjuvant (Preoperative) Systemic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&amp; Goals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inoperable → operable disease (locally advanced/inflammatory BC)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Downstage to allow BCS instead of mastectomy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vivo chemosensitivity assessment (watch tumor respond)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 complete response (pCR) = strong long-term survival surrogate (especially HER2+ &amp; TNBC)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SLNB after cN+ conversion to cN0 (requires ≥3 nodes removed)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Oncotype RS correlates with higher pCR rate to neoadjuvant chemo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50876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Definition &amp; Significance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pCR: no residual invasive cancer in breast AND nodes (ypT0/Tis ypN0)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rates by subtype: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ER+ / LumA: &lt;10% pCR; lobular &lt;3%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ER+ / LumB: ~10–20%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HER2+ (no targeted Rx): ~20–25%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HER2+ (trastuzumab + pertuzumab): ~50–65%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TNBC: ~30–55% with chemo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disease after neoadjuvant: T-DM1 (HER2+) or capecitabine (TNBC) as adjuvant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" y="22128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SEQUENCING ALGORITHM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633472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6334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(±SLNB/ALND) — BCS or Mastectomy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990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044952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0449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FIRST (if indicated) — delays RT, prevents distant relapse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401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456432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4564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concurrent with taxane phase (HER2+); pertuzumab if high-risk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8130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3867912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38679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THERAPY after completion of chemotherapy (if indicated)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4279392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279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— sequential after chemo (NOT concurrent); OK concurrent with RT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28600" y="4663440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Tamoxifen should NOT be given concurrent with chemotherapy (IBCSG trial: concurrent → ↑ recurrence risk)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through IV: algorithms and treatment principles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In Situ Disease Management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6217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987552"/>
            <a:ext cx="42519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Observation | Chemoprevention | Bilateral prophylactic mastectomy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prevent/detect future invasive cancer (bilateral risk marker)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annual mammography ± MRI; appropriate for most patients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Chemoprevention: tamoxifen (50% ↓ risk in BRCA2; not BRCA1); raloxifene post-menopausal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mastectomy: ONLY for very high-risk (BRCA carrier) with extreme anxiety; extreme intervention for risk marker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margins NOT required (LCIS not treated like DCIS)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manage like DCIS — attention to margins, consider RT with BCS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658368"/>
            <a:ext cx="0" cy="3931920"/>
          </a:xfrm>
          <a:prstGeom prst="line">
            <a:avLst/>
          </a:prstGeom>
          <a:noFill/>
          <a:ln w="19050">
            <a:solidFill>
              <a:srgbClr val="2779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6217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987552"/>
            <a:ext cx="42519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(&gt;4 cm or &gt;1 quadrant) → mastectomy ± immediate reconstruction + SLNB (20% upgrade)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disease → lumpectomy + RT (RT reduces IBR by 47–68% in all subgroups)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≥2 mm in DCIS (wider than invasive Ca requirement)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 SLNB only if mastectomy (cannot do SLNB after) or high suspicion of invasion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DCIS: tamoxifen × 5 years → further ↓ in-breast &amp; contralateral events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DCIS omitting RT (ECOG 5194): low/int grade ≤2.5cm, margin ≥3mm → 10-yr IBR 15.6% vs 3.7% (with RT)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accelerated partial breast irradiation (APBI) for low-risk DCIS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I–IIB — Curative Intent Management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658368"/>
            <a:ext cx="7315200" cy="384048"/>
          </a:xfrm>
          <a:prstGeom prst="roundRect">
            <a:avLst>
              <a:gd name="adj" fmla="val 1190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658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 Invasive Breast Cancer — Curative Intent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051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261872"/>
            <a:ext cx="7315200" cy="365760"/>
          </a:xfrm>
          <a:prstGeom prst="roundRect">
            <a:avLst>
              <a:gd name="adj" fmla="val 12500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1261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THERAPY: BCS (preferred if eligible) or Mastectomy + Axillary Assessment (SLNB)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1636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636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1847088"/>
            <a:ext cx="3886200" cy="347472"/>
          </a:xfrm>
          <a:prstGeom prst="roundRect">
            <a:avLst>
              <a:gd name="adj" fmla="val 1315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" y="18470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→ Adjuvant 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(Mandatory)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847088"/>
            <a:ext cx="3886200" cy="347472"/>
          </a:xfrm>
          <a:prstGeom prst="roundRect">
            <a:avLst>
              <a:gd name="adj" fmla="val 13158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8470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→ PMRT 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≥4N+ or T3/T4 or margins+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2423160"/>
            <a:ext cx="7315200" cy="365760"/>
          </a:xfrm>
          <a:prstGeom prst="roundRect">
            <a:avLst>
              <a:gd name="adj" fmla="val 12500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THERAPY: Decision based on ER/PR/HER2/Grade/Genomics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2798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2743200" cy="384048"/>
          </a:xfrm>
          <a:prstGeom prst="roundRect">
            <a:avLst>
              <a:gd name="adj" fmla="val 952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8600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ER+/PR+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HER2-negative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410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3630168"/>
            <a:ext cx="2743200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" y="36301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± Chemo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(guided by RS/MammaPrint)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2798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0" y="3017520"/>
            <a:ext cx="2743200" cy="384048"/>
          </a:xfrm>
          <a:prstGeom prst="roundRect">
            <a:avLst>
              <a:gd name="adj" fmla="val 9524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ER)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3410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0" y="3630168"/>
            <a:ext cx="2743200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46120" y="36301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+ Trastuzumab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(± Pertuzumab if high-risk)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2798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72200" y="3017520"/>
            <a:ext cx="2743200" cy="384048"/>
          </a:xfrm>
          <a:prstGeom prst="roundRect">
            <a:avLst>
              <a:gd name="adj" fmla="val 952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3410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3630168"/>
            <a:ext cx="2743200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0" y="36301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Anthracycline + Taxane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(capecitabine if residual TNBC)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4389120"/>
            <a:ext cx="8686800" cy="292608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0040" y="43891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 immediate preferred for most early-stage patients (skin-sparing; psychological benefit; single operation)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338328" y="4690872"/>
            <a:ext cx="850392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III — Locally Advanced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502920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Locally Advanced BC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846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IIIA: T3N1; T0–3N2; T3N1M0 (operable or inoperable based on tumor and node fixation)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IIIB: T4 (skin/chest wall) any N; or any T N3 (supraclavicular/infraclavicular)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occult distant micrometastases → staging with PET/CT, CT, bone scan essential before local therapy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1810512"/>
            <a:ext cx="7680960" cy="36576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 LABC — Multimodality Treatment Algorithm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1854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395728"/>
            <a:ext cx="7680960" cy="365760"/>
          </a:xfrm>
          <a:prstGeom prst="roundRect">
            <a:avLst>
              <a:gd name="adj" fmla="val 12500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395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SYSTEMIC THERAPY (preferred approach)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7706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706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2990088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8600" y="2990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/ low-grade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ENDOCRINE Rx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(AIs for post-menopausal)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comorbidity or patient preference)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990088"/>
            <a:ext cx="4434840" cy="594360"/>
          </a:xfrm>
          <a:prstGeom prst="roundRect">
            <a:avLst>
              <a:gd name="adj" fmla="val 7692"/>
            </a:avLst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990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ER-negative or high-grade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CHEMOTHERAPY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(anthracycline + taxane ± targeted)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(maximizes distant control)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813048"/>
            <a:ext cx="7680960" cy="365760"/>
          </a:xfrm>
          <a:prstGeom prst="roundRect">
            <a:avLst>
              <a:gd name="adj" fmla="val 12500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13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(response-guided): BCS if downstaged or Modified Radical Mastectomy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4389120"/>
            <a:ext cx="7680960" cy="292608"/>
          </a:xfrm>
          <a:prstGeom prst="roundRect">
            <a:avLst>
              <a:gd name="adj" fmla="val 1562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3891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RT (chest wall + regional nodes) → ADJUVANT SYSTEMIC Rx (residual disease protocol)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81728"/>
            <a:ext cx="5029200" cy="914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" y="4681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overview: neoadjuvant vs adjuvant → LR HR 1.5 (more local recurrence with NAC) — adequate surgery + RT critical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38328" y="4983480"/>
            <a:ext cx="4846320" cy="-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IV — Metastatic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868680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Prolongation of life + symptom control + quality of life. NOT generally curative. Median survival ~2–3 years (HR+) to 18 months (TNBC).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8503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188720"/>
            <a:ext cx="8686800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" y="1188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 Metastatic BC — Assess ER/PR status + HER2 status + Sites of disease + Symptom burden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1545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1545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545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1764792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/ PR+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negative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2768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" y="2496312"/>
            <a:ext cx="2743200" cy="2176272"/>
          </a:xfrm>
          <a:prstGeom prst="rect">
            <a:avLst/>
          </a:prstGeom>
          <a:solidFill>
            <a:srgbClr val="EBF5FB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" y="2798064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First-line: AI + CDK4/6i (palbociclib, ribociclib, abemaciclib)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Subsequent: fulvestrant ± CDK4/6i; everolimus + exemestane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Chemotherapy: for visceral crisis or endocrine-refractory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can be tried through multiple lines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1764792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896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(± ER/PR)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22768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08960" y="2496312"/>
            <a:ext cx="2743200" cy="2176272"/>
          </a:xfrm>
          <a:prstGeom prst="rect">
            <a:avLst/>
          </a:prstGeom>
          <a:solidFill>
            <a:srgbClr val="EBF5FB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0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218688" y="2798064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+ pertuzumab + taxane (1st line: CLEOPATRA)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T-DM1 (2nd line) or T-DXd (superior: DESTINY-Breast03)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Tucatinib + trastuzumab + capecitabine (CNS active)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anti-HER2 therapy across multiple 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9320" y="1764792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Negative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(ER−/PR−/HER2−)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2768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89320" y="2496312"/>
            <a:ext cx="2743200" cy="2176272"/>
          </a:xfrm>
          <a:prstGeom prst="rect">
            <a:avLst/>
          </a:prstGeom>
          <a:solidFill>
            <a:srgbClr val="EBF5F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80760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099048" y="2798064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+ chemo (PD-L1+): KEYNOTE-522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/ talazoparib (BRCA1/2 mut.)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Sacituzumab govitecan (ASCENT trial)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chemo (anthracycline, taxane, capecitabine, gemcitabine)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4370832"/>
            <a:ext cx="4251960" cy="32004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0040" y="43708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metastases: Zoledronic acid or Denosumab (↓ skeletal-related events); Palliative RT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38328" y="4672584"/>
            <a:ext cx="40690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370832"/>
            <a:ext cx="4251960" cy="32004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54880" y="43708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metastases: SRS (≤3–4 lesions), WBRT, surgical resection; Tucatinib active in CNS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773168" y="4672584"/>
            <a:ext cx="40690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Follow-Up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Pregnancy, male BC, IBC, nipple discharge, follow-up guidelines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Situations: Pregnancy, Male BC &amp; Nipple Discharge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in Pregnancy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Incidence: ~1 in 3,000 pregnancies; most common cancer in pregnancy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delayed (breast changes mask lesion) — high clinical suspicion essential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safe throughout pregnancy (modified radical mastectomy or BCS)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Chemotherapy: safe in 2nd/3rd trimester: FAC (5-FU + doxorubicin + cyclo)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Methotrexate (abort/fetal malformation), Tamoxifen (uncertain safety)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Trastuzumab (reversible anhydramnios)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RT: contraindicated during pregnancy; give post-delivery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Breastfeeding: avoid during chemo or tamoxifen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stage for stage similar to non-pregnant women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201168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all breast cancers; mean age ~65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risk: BRCA2 carriers (6%), Klinefelter's, liver disease, exogenous estrogens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Histology: &gt;85% infiltrating ductal; ER+ &gt;90%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excision biopsy (fine needle for cysts) + mammogram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same as women — modified radical mastectomy preferred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Adjuvant: tamoxifen (NOT aromatase inhibitors alone — need GnRH analog + AI)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for stage: same survival as women but usually presents at later stage → worse overall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706624"/>
            <a:ext cx="4251960" cy="19659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7066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 — Evaluation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3008376"/>
            <a:ext cx="4069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Physiologic: bilateral, multi-duct, non-spontaneous → reassurance + endocrine work-up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Pathologic: unilateral, single duct, spontaneous, clear/bloody/serous, associated mass → investigate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Ductogram: cannulate single discharging duct, inject ~1 mL water-soluble contrast → identifies filling defect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Cancer-related discharge: can be any color; absence of blood does NOT exclude malignancy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discharge: prolactinoma (&lt;2%) if copious → MRI pituitary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if benign → microdochectomy (single duct) or total duct excision (multiple ducts)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06624"/>
            <a:ext cx="4251960" cy="196596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7066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Node Metastasis — Occult Primary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3008376"/>
            <a:ext cx="4069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harbor an occult breast cancer; only 1% of BC presents this way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ER/PR/HER2 on node: positive → strongly suggests breast origin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identifies primary in ~62% with normal mammography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primary found on MRI: standard treatment (BCS or mastectomy)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primary found: mastectomy (traditional) OR whole-breast RT (equivalent local control)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develop clinically evident breast disease without breast-directed therapy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Inflammatory BC, Local-Regional Recurrence &amp; Rare Cancers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51960" cy="15544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Breast Carcinoma (IBC)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brawny induration + erythema with raised border + peau d'orange ≥1/3 breast ± palpable mass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 — not histologic; may not have palpable mass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Pathology: dermal lymphatic tumor emboli on skin punch biopsy (in ~75%)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 have palpable axillary nodes; distant mets at diagnosis in ~30%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MANDATORILY: NAC → mastectomy (no BCS) → adjuvant RT + adjuvant systemic 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survival ~40% with modern treatment; pCR to NAC → significantly better prognosis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251960" cy="1554480"/>
          </a:xfrm>
          <a:prstGeom prst="rect">
            <a:avLst/>
          </a:prstGeom>
          <a:solidFill>
            <a:srgbClr val="E8F4FD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621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Recurrence After BCT or Mastectomy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923544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BCS: 50% of recurrences are at or near original tumor bed; remain manageable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LRR: full staging → salvage mastectomy; 5-yr survival ~60–70%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mastectomy LRR: full staging → resection if possible + RT if not previously irradiated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based on receptor status of recurrent tumor (re-biopsy and re-test ER/PR/HER2)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Prognostic: early LRR (&lt;2 years) suggests aggressive biology; late LRR more favorable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wall recurrence: wide excision → RT → systemic therapy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51960" cy="2423160"/>
          </a:xfrm>
          <a:prstGeom prst="rect">
            <a:avLst/>
          </a:prstGeom>
          <a:solidFill>
            <a:srgbClr val="FDFCF0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2494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Infections &amp; Inflammation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2551176"/>
            <a:ext cx="406908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Lactational (post-partum) mastitis: most common; S. aureus; cellulitis → abscess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antibiotics (dicloxacillin/cephalexin) + continue breastfeeding (prevents engorgement)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Abscess: US-guided aspiration or incision/drainage; avoid cessation of breastfeeding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Non-lactational periductal mastitis: smokers; mixed flora including anaerobes; subareolar fistula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subareolar abscess: total duct excision required (fistulectomy alone recurs)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Granulomatous mastitis: idiopathic; steroid-responsive; exclude TB/fungal infection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249424"/>
            <a:ext cx="4251960" cy="242316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2494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 — 5-Year Survival by Stage (SEER 2003–2009)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551176"/>
            <a:ext cx="406908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5-year relative survival: 89.2%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women: 90.4% | Black women: 78.7%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breakdown (SEER):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Localized (61%): 98.6%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Regional (32%): 83.8%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Distant (5%): 23.3%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Unstaged (2%): 56.5%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ER+ cancers continue to recur beyond 5 years (annual risk ~0.5–1%)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EBCTCG overviews: continued improvement with systemic therapy advances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57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2539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&amp; Key Reference Tables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follow-up guidelines, quick-reference comparison tables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Guidelines (ASCO Recommendations)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4114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 exam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3–6 months for first 3 years; every 6–12 months years 3–5; annually after year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symptoms of recurrence; patient education on warning signs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 of remaining breast(s)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post-treatment mammogram ~1 year after BCT (6 months after RT completion)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self-examination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Empowers patients; detect interval changes between appointments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Gynecologic follow-up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tamoxifen patients: annual pelvic exam; report abnormal vaginal bleeding immediately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density (DEXA scan)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then every 1–2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for patients on AIs; baseline before starting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markers (CA 15-3, CEA)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routinely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 of survival benefit from routine marker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CT/PET/bone 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routinely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symptoms suggestive of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CBC, LFTs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routinely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Evidence-based: routine labs do NOT improve outcomes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counseling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indicated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 diagnosed with features of hereditary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977640"/>
            <a:ext cx="8686800" cy="7040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977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Recommended vs NOT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4279392"/>
            <a:ext cx="8503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Annual mammogram | Physical exam every 3–6 months (3 y) then annually | Bone density (AI patients) | Gynecologic follow-up (tamoxifen)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NOT: Routine CBC, LFTs, tumor markers, bone scan, CT/PET in asymptomatic patients — no evidence of improved outcomes or survival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Subtypes, Key Numbers &amp; High-Yield Distinctions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4251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36192"/>
                <a:gridCol w="152704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 (bilateral)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Obligate precursor (→ invasive if untreated)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Unilateral (usually)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Margins required?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(≥2 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indicated?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(after BCS)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staging?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(unless invasive)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mastectomy or high suspicion of invasion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benefit?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(BRCA2, ADH subgroup)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(ER+ DCIS)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21792"/>
          <a:ext cx="4251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BC risk in US women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 (1 in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 screening mortality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chemoprevention (P-1)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↓ in ER+ BC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 = mastectomy for survival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RCTs 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false-negative rate (dual tracer)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Z0011: ALND vs SLNB alone (OS)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 (N=891)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benefit (HERA)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↓ in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in TNBC with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~30–55%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upgrade to invasive at excision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IMN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Intercostal spaces 1–6, within 3 cm of sternal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108960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SERM — blocks ER in breast tissue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Pre/post-menopausal ER+ adj; chemoprevention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Letrozole/Anastrozole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Non-steroidal AI — blocks peripheral aromatization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Post-menopausal ER+ adjuvant (superior to tamoxifen)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Anti-HER2 mAb — ADCC + signaling inhibition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adjuvant + metastatic; 1 year 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Palbociclib/Ribociclib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 inhibitor — arrests cell cycle G1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ER+/HER2− metastatic 1st line (+ 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Olaparib/Talazoparib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PARP inhibitor — synthetic lethality in BRCA mut.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BRCA1/2-mutated HER2-neg metastatic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9144000" cy="17602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2779A7"/>
          </a:solidFill>
          <a:ln w="12700">
            <a:solidFill>
              <a:srgbClr val="2779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143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Messages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459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biologically heterogeneous — molecular subtyping drives modern management</a:t>
            </a:r>
            <a:endParaRPr lang="en-US" sz="11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+ RT = mastectomy for survival in eligible patients; Z0011 supports SLNB alone in most N+ BCS</a:t>
            </a:r>
            <a:endParaRPr lang="en-US" sz="11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BC: endocrine therapy is the backbone; genomic assays (Oncotype DX, MammaPrint) guide chemo decisions</a:t>
            </a:r>
            <a:endParaRPr lang="en-US" sz="11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BC: dual anti-HER2 blockade (trastuzumab + pertuzumab) is standard; T-DXd for residual/metastatic</a:t>
            </a:r>
            <a:endParaRPr lang="en-US" sz="11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TNBC: chemo ± pembrolizumab (PD-L1+); PARP inhibitors for BRCA mut.; sacituzumab for subsequent lines</a:t>
            </a:r>
            <a:endParaRPr lang="en-US" sz="11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follow-up: annual mammogram + physical exam only — NO routine scans/markers in asymptomatic patients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4930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Schwartz's Principles of Surgery 11th Ed. (Ch.17) | DeVita's Cancer 10th Ed. (Ch.106)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 GSR-3 Surgical Oncology Residency — September 2026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Muluamlak — EBS Unit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Exhaustive Presentation</dc:title>
  <dc:subject>PptxGenJS Presentation</dc:subject>
  <dc:creator>PptxGenJS</dc:creator>
  <cp:lastModifiedBy>PptxGenJS</cp:lastModifiedBy>
  <cp:revision>1</cp:revision>
  <dcterms:created xsi:type="dcterms:W3CDTF">2026-09-26T09:56:11Z</dcterms:created>
  <dcterms:modified xsi:type="dcterms:W3CDTF">2026-09-26T09:56:11Z</dcterms:modified>
</cp:coreProperties>
</file>