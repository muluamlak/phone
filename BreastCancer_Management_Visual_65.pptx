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charts/chart12.xml" ContentType="application/vnd.openxmlformats-officedocument.drawingml.chart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charts/chart13.xml" ContentType="application/vnd.openxmlformats-officedocument.drawingml.chart+xml"/>
  <Override PartName="/ppt/slides/slide60.xml" ContentType="application/vnd.openxmlformats-officedocument.presentationml.slide+xml"/>
  <Override PartName="/ppt/charts/chart14.xml" ContentType="application/vnd.openxmlformats-officedocument.drawingml.chart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charts/chart15.xml" ContentType="application/vnd.openxmlformats-officedocument.drawingml.chart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Ethiopia 2020 — incidence vs mortality per 100,000: breast leads both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Incidence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41.5</c:v>
                </c:pt>
                <c:pt idx="1">
                  <c:v>21.5</c:v>
                </c:pt>
                <c:pt idx="2">
                  <c:v>10</c:v>
                </c:pt>
                <c:pt idx="3">
                  <c:v>8.9</c:v>
                </c:pt>
                <c:pt idx="4">
                  <c:v>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Mortality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24.1</c:v>
                </c:pt>
                <c:pt idx="1">
                  <c:v>16</c:v>
                </c:pt>
                <c:pt idx="2">
                  <c:v>5.9</c:v>
                </c:pt>
                <c:pt idx="3">
                  <c:v>6.8</c:v>
                </c:pt>
                <c:pt idx="4">
                  <c:v>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Lymphedema: full axillary surgery vs SLNB alone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Lymphedema 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ALND (Z0011)</c:v>
                  </c:pt>
                  <c:pt idx="1">
                    <c:v>SLNB alone (Z0011)</c:v>
                  </c:pt>
                  <c:pt idx="2">
                    <c:v>SLNB alone (ALMANAC, 12 mo)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2</c:v>
                </c:pt>
                <c:pt idx="2">
                  <c:v>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Schwartz's Principles of Surgery • DeVita, Hellman &amp; Rosenberg's Cancer • NCCN Breast Cancer Guidelines (JNCCN) • Ethiopian National Breast Cancer Guideline 2024–2028 (MoH)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224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global &amp; Ethiopian epidemiology • early detection • in situ &amp; invasive types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Ethiopian 60-day pathway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&amp; MoH 60:60:80 roadmap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cancer (16,133 cases, 2020);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present at stage III–IV → MoH 60:60:80 targets: early stage • 60-day diagnosis • treatment completion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1559052"/>
            <a:ext cx="4160520" cy="0"/>
          </a:xfrm>
          <a:prstGeom prst="line">
            <a:avLst/>
          </a:prstGeom>
          <a:noFill/>
          <a:ln w="317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834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1894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498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Meyer: radical mastectomy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96126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155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79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5789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breast conservation + radium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417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7447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871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081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Stout: "grave signs"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88709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3738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7162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8372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Dyson: modified radical mastectomy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35000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0030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3454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4664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B-04: radical vs total mastectomy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81292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6321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9745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40955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Giuliano: blue-dye SLN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7583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2613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6037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87247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WHI: HRT raises breast cancer risk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875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8904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2328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3538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approved (adjuvant)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20166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5196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620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79830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Tomosynthesis (3D) approved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46" name="Text 44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natomy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52" y="658368"/>
            <a:ext cx="4872736" cy="1993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5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2" name="Text 7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xlevels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9808"/>
            <a:ext cx="3749040" cy="2834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Hypothalamus → GnRH (and other releasing factors)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08860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1540" y="1069848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15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0886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2618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+ FSH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9154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Ovary → estrogen (ductal development) + progesterone (lobular development, differentiation)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64592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230886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Lactogenesis (late pregnancy, postpartum); epithelial development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06324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Oxytocin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372618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let-down: myoepithelial contraction expels milk into sinuses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28600" y="25054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E/P feed back on hypothalamus–pituitary; suckling → nipple nerves → prolactin + oxytocin release</a:t>
            </a:r>
            <a:endParaRPr lang="en-US" sz="7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33" name="Text 30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4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31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38" name="Text 33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9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0" name="Text 17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1" name="Shape 18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3" name="Text 20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197864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29" name="Text 27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1" name="Text 7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1" name="Text 7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 MoH (no population mammography)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awareness + monthly BSE &gt;20 y • annual CBE by trained provider ≥30 y • diagnostic US/mammography &gt;40 y every 2 y • high risk: imaging earlier, annually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6" name="Text 13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2" name="Shape 10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" y="2336292"/>
            <a:ext cx="284378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8" name="Shape 26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1" name="Shape 29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37560" y="749808"/>
            <a:ext cx="5486400" cy="188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— global &amp; Ethiopia</a:t>
            </a:r>
            <a:endParaRPr lang="en-US" sz="1015" dirty="0"/>
          </a:p>
        </p:txBody>
      </p:sp>
      <p:sp>
        <p:nvSpPr>
          <p:cNvPr id="10" name="Text 7"/>
          <p:cNvSpPr/>
          <p:nvPr/>
        </p:nvSpPr>
        <p:spPr>
          <a:xfrm>
            <a:off x="3319272" y="965924"/>
            <a:ext cx="5541264" cy="16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2020: &gt;2.2 million cases — commonest cancer; 11.7% of new cancers and 15% of cancer deaths in women, mostly in low/middle-income countries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leading cancer — 16,133 cases (20.9% of all; ⅓ of cancers in women); mortality/incidence ratio ≈0.6 (late stage)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 present at stage III–IV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(high-income: &gt;70% at stage I–II) — low awareness, traditional medicine, misdiagnosis, distance, cost, waiting times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women: younger, more ER-negative, higher mortality; male cancer up to 6% (0.5–1% elsewhere)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lifetime risk 1 in 8; 5-y survival 63→92% (White), 46→78% (African American) with screening + adjuvant therapy</a:t>
            </a:r>
            <a:endParaRPr lang="en-US" sz="865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4" name="Text 10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3" name="Text 10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4" name="Shape 11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6" name="Text 13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nuclear grade and necrosis  →  higher risk of recurrence / progression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896112"/>
            <a:ext cx="4846320" cy="0"/>
          </a:xfrm>
          <a:prstGeom prst="line">
            <a:avLst/>
          </a:prstGeom>
          <a:noFill/>
          <a:ln w="25400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6517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finger-like growths into the lumen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 rot="5400000">
            <a:off x="1131753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8100000">
            <a:off x="1055370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0800000">
            <a:off x="870966" y="1812889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3500000">
            <a:off x="686562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6200000">
            <a:off x="610179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8900000">
            <a:off x="686562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0966" y="1291316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1055370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577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517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161391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 filled; punched-out round spaces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1831086" y="1261872"/>
            <a:ext cx="841248" cy="841248"/>
          </a:xfrm>
          <a:prstGeom prst="ellipse">
            <a:avLst/>
          </a:prstGeom>
          <a:solidFill>
            <a:srgbClr val="AFC3DE"/>
          </a:solidFill>
          <a:ln/>
        </p:spPr>
      </p:sp>
      <p:sp>
        <p:nvSpPr>
          <p:cNvPr id="23" name="Shape 21"/>
          <p:cNvSpPr/>
          <p:nvPr/>
        </p:nvSpPr>
        <p:spPr>
          <a:xfrm>
            <a:off x="2183130" y="1427304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0412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95097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71163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5848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83130" y="1632577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9451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7734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Cribriform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61391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32" name="Text 30"/>
          <p:cNvSpPr/>
          <p:nvPr/>
        </p:nvSpPr>
        <p:spPr>
          <a:xfrm>
            <a:off x="296265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obliterate the lumen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3179826" y="1261872"/>
            <a:ext cx="841248" cy="841248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4" name="Shape 32"/>
          <p:cNvSpPr/>
          <p:nvPr/>
        </p:nvSpPr>
        <p:spPr>
          <a:xfrm>
            <a:off x="3615741" y="164820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02894" y="170627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75640" y="1537747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46274" y="17520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19593" y="162286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4480" y="15592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0750" y="182110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76507" y="1478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58716" y="171685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67116" y="1732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60474" y="14414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39724" y="187432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50249" y="152639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7067" y="158974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15560" y="18686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6733" y="137498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86749" y="18283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73326" y="166512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76213" y="14317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57520" y="19577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58096" y="1408421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89189" y="1685034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97232" y="184390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33399" y="13150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45628" y="194526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26341" y="154874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14325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92608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296265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grade (focal / no necrosis)</a:t>
            </a:r>
            <a:endParaRPr lang="en-US" sz="730" dirty="0"/>
          </a:p>
        </p:txBody>
      </p:sp>
      <p:sp>
        <p:nvSpPr>
          <p:cNvPr id="63" name="Text 61"/>
          <p:cNvSpPr/>
          <p:nvPr/>
        </p:nvSpPr>
        <p:spPr>
          <a:xfrm>
            <a:off x="431139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necrosis + calcification</a:t>
            </a:r>
            <a:endParaRPr lang="en-US" sz="730" dirty="0"/>
          </a:p>
        </p:txBody>
      </p:sp>
      <p:sp>
        <p:nvSpPr>
          <p:cNvPr id="64" name="Shape 62"/>
          <p:cNvSpPr/>
          <p:nvPr/>
        </p:nvSpPr>
        <p:spPr>
          <a:xfrm>
            <a:off x="4528566" y="1261872"/>
            <a:ext cx="841248" cy="841248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728362" y="1461668"/>
            <a:ext cx="441655" cy="441655"/>
          </a:xfrm>
          <a:prstGeom prst="ellipse">
            <a:avLst/>
          </a:prstGeom>
          <a:solidFill>
            <a:srgbClr val="E8DDB5"/>
          </a:solidFill>
          <a:ln w="12700">
            <a:solidFill>
              <a:srgbClr val="8A7A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17770" y="1568196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7" name="Shape 65"/>
          <p:cNvSpPr/>
          <p:nvPr/>
        </p:nvSpPr>
        <p:spPr>
          <a:xfrm>
            <a:off x="4816602" y="167792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2050" y="176936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9" name="Shape 67"/>
          <p:cNvSpPr/>
          <p:nvPr/>
        </p:nvSpPr>
        <p:spPr>
          <a:xfrm>
            <a:off x="4898898" y="153162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0" name="Shape 68"/>
          <p:cNvSpPr/>
          <p:nvPr/>
        </p:nvSpPr>
        <p:spPr>
          <a:xfrm>
            <a:off x="5054346" y="171450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1" name="Shape 69"/>
          <p:cNvSpPr/>
          <p:nvPr/>
        </p:nvSpPr>
        <p:spPr>
          <a:xfrm>
            <a:off x="4853178" y="1778508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2" name="Shape 70"/>
          <p:cNvSpPr/>
          <p:nvPr/>
        </p:nvSpPr>
        <p:spPr>
          <a:xfrm>
            <a:off x="449199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7482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31139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→ HIGH grade (extensive necrosis)</a:t>
            </a:r>
            <a:endParaRPr lang="en-US" sz="73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Shape 73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78" name="Text 75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79" name="Shape 76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81" name="Text 78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82" name="Text 79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 • Ethiopia: refer any woman &gt;30 y with a sign — full diagnosis within 60 days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07899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ER/PR/HER2); Ethiopia: US-guided CNB where available, else incisional biopsy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suspicious; false-negative 4–27% → negative FNAC never excludes cancer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18488" y="286207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18488" y="3282696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97180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89788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97180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89788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3" name="Text 41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4" name="Shape 42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6" name="Text 44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078992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193852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5840" y="235000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1" name="Text 38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2" name="Shape 39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4" name="Text 41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1252728"/>
            <a:ext cx="21945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20493" y="1472184"/>
            <a:ext cx="27432" cy="27432"/>
          </a:xfrm>
          <a:prstGeom prst="ellipse">
            <a:avLst/>
          </a:prstGeom>
          <a:solidFill>
            <a:srgbClr val="C8D6E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169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8449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98994" y="1455741"/>
            <a:ext cx="60317" cy="60317"/>
          </a:xfrm>
          <a:prstGeom prst="ellipse">
            <a:avLst/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9113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3393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863780" y="1425583"/>
            <a:ext cx="120634" cy="120634"/>
          </a:xfrm>
          <a:prstGeom prst="ellipse">
            <a:avLst/>
          </a:prstGeom>
          <a:solidFill>
            <a:srgbClr val="8FA9CC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4057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58337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498407" y="1365266"/>
            <a:ext cx="241269" cy="241269"/>
          </a:xfrm>
          <a:prstGeom prst="ellipse">
            <a:avLst/>
          </a:prstGeom>
          <a:solidFill>
            <a:srgbClr val="6F8FC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99001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253281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012399" y="1184314"/>
            <a:ext cx="603172" cy="603172"/>
          </a:xfrm>
          <a:prstGeom prst="ellipse">
            <a:avLst/>
          </a:prstGeom>
          <a:solidFill>
            <a:srgbClr val="3F6699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93945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48225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707177" y="1123997"/>
            <a:ext cx="723806" cy="72380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03320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28600" y="67665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Diameters drawn to scale • T4 = any size with chest-wall / skin extension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343400" cy="914400"/>
        </p:xfrm>
        <a:graphic>
          <a:graphicData uri="http://schemas.openxmlformats.org/drawingml/2006/table">
            <a:tbl>
              <a:tblPr/>
              <a:tblGrid>
                <a:gridCol w="599090"/>
                <a:gridCol w="748862"/>
                <a:gridCol w="748862"/>
                <a:gridCol w="748862"/>
                <a:gridCol w="748862"/>
                <a:gridCol w="74886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4505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M0. Any T / any N with M1 = stage IV (stays IV whatever the neoadjuvant response). N1mi in T2–T4 is staged as N1.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notes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1" name="Text 7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2" name="Shape 8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2728" y="1234440"/>
            <a:ext cx="6629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 roadmap: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60:60:80 by 2030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≥60% diagnosed at stage I–II • diagnosis + treatment start ≤60 days (tertiary work-up ≤45 d, pathology report ≤2 wk) • ≥80% complete multimodality treatment. MDT at general &amp; tertiary hospitals; MRM for stage I–II at general hospital; small early cancers &gt;90% curable.</a:t>
            </a:r>
            <a:endParaRPr lang="en-US" sz="865" dirty="0"/>
          </a:p>
        </p:txBody>
      </p:sp>
      <p:sp>
        <p:nvSpPr>
          <p:cNvPr id="37" name="Shape 35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234440"/>
            <a:ext cx="59436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52144"/>
            <a:ext cx="39319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24712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43000" y="3200400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1746504"/>
            <a:ext cx="3200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1143000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2898648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63040" y="2395728"/>
            <a:ext cx="26517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0" name="Text 38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23560" y="2670048"/>
            <a:ext cx="3200400" cy="183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05272" y="2880919"/>
            <a:ext cx="3255264" cy="12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 RT machines (LINAC/Cobalt-60) exist only at tertiary/highly-specialised centres — the RT phase of this pathway is where most LABC patients need referral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143000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18488" y="2775204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920" y="1536192"/>
            <a:ext cx="30175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0" name="Shape 18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2029968"/>
            <a:ext cx="1463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Schedule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874520"/>
                <a:gridCol w="178308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Follow-up: frequency &amp; methods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mammogram 6–12 mo after RT then yearly (ipsilateral recurrence 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contralateral mammogram yearly; no routine imaging of reconstruction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endocrine adherence; BMD on AI; gynae review on tamoxifen;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cardiac monitoring after anthracycline / anti-HER2 / left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high M1 risk → symptom-directed imaging early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imaging response each line; re-biopsy at progression; palliative care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disease, then STD*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6-monthly; mammogram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529584"/>
            <a:ext cx="8686800" cy="5120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547872"/>
            <a:ext cx="8540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Follow-up:</a:t>
            </a:r>
            <a:r>
              <a:rPr lang="en-US" sz="8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*STD = H&amp;P every 3–6 mo for 3 y, 6–12 mo in years 4–5, then yearly; monthly BSE; annual mammogram; no routine blood tests, tumour markers, bone scan, CT/PET or breast MRI when asymptomatic. Ethiopia: first 2–3 y at an oncologist-led centre, then at the nearest lower-level facility with a named focal point.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4553712"/>
            <a:ext cx="8686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NCCN pitfalls: choosing mastectomy over indicated BCS+RT does not by itself improve survival • risk-reducing surgery has no single numeric threshold — always individualised.</a:t>
            </a:r>
            <a:endParaRPr lang="en-US" sz="68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1600200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3054096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4507992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5961888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7415784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669280" y="694944"/>
            <a:ext cx="3246120" cy="96012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749808"/>
            <a:ext cx="30632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5742432" y="968172"/>
            <a:ext cx="3118104" cy="659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alone; meta-analysis: sensitivity 93%, FNR 7%, NPV 94%, accuracy 95%</a:t>
            </a:r>
            <a:endParaRPr lang="en-US" sz="88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5669280" y="1709928"/>
          <a:ext cx="3246120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5669280" y="2999232"/>
            <a:ext cx="3246120" cy="10149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760720" y="3054096"/>
            <a:ext cx="306324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20" dirty="0"/>
          </a:p>
        </p:txBody>
      </p:sp>
      <p:sp>
        <p:nvSpPr>
          <p:cNvPr id="37" name="Text 34"/>
          <p:cNvSpPr/>
          <p:nvPr/>
        </p:nvSpPr>
        <p:spPr>
          <a:xfrm>
            <a:off x="5742432" y="3270961"/>
            <a:ext cx="3118104" cy="715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 removed: 1 → 17.7%, 2 → 10%, 3 → 6.9%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870" dirty="0"/>
          </a:p>
        </p:txBody>
      </p:sp>
      <p:sp>
        <p:nvSpPr>
          <p:cNvPr id="38" name="Shape 35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116938"/>
                <a:gridCol w="536130"/>
                <a:gridCol w="446775"/>
                <a:gridCol w="536130"/>
                <a:gridCol w="491453"/>
                <a:gridCol w="521238"/>
                <a:gridCol w="461668"/>
                <a:gridCol w="4616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Nipple–areola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 nodes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Levels II–III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minor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major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simple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†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614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removed  •  ✓ preserved  •  – not part of the operation (axilla staged separately: SLNB or ALND)  •  ÷ † Patey removed pectoralis minor; most surgeons now divide only its tendon</a:t>
            </a:r>
            <a:endParaRPr lang="en-US" sz="730" dirty="0"/>
          </a:p>
        </p:txBody>
      </p:sp>
      <p:graphicFrame>
        <p:nvGraphicFramePr>
          <p:cNvPr id="10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7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standard. Ethiopia: MRM suits a trained general surgeon at general-hospital level; skin/nipple-sparing technique and reconstruction concentrate at tertiary centres [MoH 2024].</a:t>
            </a:r>
            <a:endParaRPr lang="en-US" sz="74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49240" y="1069848"/>
            <a:ext cx="28803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3" name="Text 20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4" name="Shape 21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80760" y="731520"/>
            <a:ext cx="2743200" cy="1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10" dirty="0"/>
          </a:p>
        </p:txBody>
      </p:sp>
      <p:sp>
        <p:nvSpPr>
          <p:cNvPr id="10" name="Text 7"/>
          <p:cNvSpPr/>
          <p:nvPr/>
        </p:nvSpPr>
        <p:spPr>
          <a:xfrm>
            <a:off x="6062472" y="946887"/>
            <a:ext cx="2798064" cy="1714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6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(LINAC/Cobalt-60) exists only at tertiary/highly-specialised centres — a major bottleneck to completing multimodality treatment [MoH 2024]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46120" y="3255264"/>
            <a:ext cx="2651760" cy="181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5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965" dirty="0"/>
          </a:p>
        </p:txBody>
      </p:sp>
      <p:sp>
        <p:nvSpPr>
          <p:cNvPr id="17" name="Text 14"/>
          <p:cNvSpPr/>
          <p:nvPr/>
        </p:nvSpPr>
        <p:spPr>
          <a:xfrm>
            <a:off x="3227832" y="3463887"/>
            <a:ext cx="2706624" cy="1153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1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1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1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1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1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1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1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1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1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1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1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chemotherapy delivered from secondary-hospital level with MDT oversight [MoH 2024]</a:t>
            </a:r>
            <a:endParaRPr lang="en-US" sz="815" dirty="0"/>
          </a:p>
        </p:txBody>
      </p:sp>
      <p:sp>
        <p:nvSpPr>
          <p:cNvPr id="18" name="Shape 15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0" name="Text 17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4" name="Text 11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5" name="Shape 12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7" name="Text 14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088136"/>
            <a:ext cx="3749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8" name="Shape 16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2" name="Shape 20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29" name="Text 26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 is the prioritised IHC test at secondary-hospital level when the panel is limited; full HER2/ER confirmation to guide endocrine vs targeted therapy is routine at tertiary level [MoH 2024]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sources disagree on stopping at 5 y: older data found no gain beyond 5 y (the basis for the old fixed-5-year rule) — ATLAS/aTTom (13,000 women) later showed lower recurrence/mortality from years 10–15; treat "stop at 5 y" as superseded, not wrong-then-right.</a:t>
            </a:r>
            <a:endParaRPr lang="en-US" sz="93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9" name="Text 7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2" name="Text 10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6" name="Text 13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PHARE: 6 months not shown non-inferior to 12. The 2-year question is unsettled between sources: DeVita's era reports the HERA 1-vs-2-year data as "not yet available"; later teaching notes describe 2 years as more effective but more toxic — treat this as an evolving answer, not a settled one.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172200" y="3392424"/>
            <a:ext cx="2651760" cy="18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9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990" dirty="0"/>
          </a:p>
        </p:txBody>
      </p:sp>
      <p:sp>
        <p:nvSpPr>
          <p:cNvPr id="11" name="Text 7"/>
          <p:cNvSpPr/>
          <p:nvPr/>
        </p:nvSpPr>
        <p:spPr>
          <a:xfrm>
            <a:off x="6153912" y="3604793"/>
            <a:ext cx="2706624" cy="1012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 — record the actual IHC/ISH result; "HER2-low" is not a separate treatment category (NCCN)</a:t>
            </a:r>
            <a:endParaRPr lang="en-US" sz="8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 biologic/targeted (anti-HER2) therapy is a highly-specialised-level service [MoH 2024]</a:t>
            </a:r>
            <a:endParaRPr lang="en-US" sz="84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167335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5" name="Text 23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6" name="Shape 24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8" name="Text 26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1" name="Text 29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30175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 of breast cancers; peak 6th decade; gynecomastia precedes in 20%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60" dirty="0"/>
          </a:p>
        </p:txBody>
      </p:sp>
      <p:sp>
        <p:nvSpPr>
          <p:cNvPr id="10" name="Shape 7"/>
          <p:cNvSpPr/>
          <p:nvPr/>
        </p:nvSpPr>
        <p:spPr>
          <a:xfrm>
            <a:off x="5961888" y="69494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07608" y="71323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5961888" y="119329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07608" y="12115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961888" y="169164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07608" y="170992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5961888" y="2189988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07608" y="2208276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920" dirty="0"/>
          </a:p>
        </p:txBody>
      </p:sp>
      <p:sp>
        <p:nvSpPr>
          <p:cNvPr id="24" name="Shape 21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60" dirty="0"/>
          </a:p>
        </p:txBody>
      </p:sp>
      <p:sp>
        <p:nvSpPr>
          <p:cNvPr id="26" name="Shape 23"/>
          <p:cNvSpPr/>
          <p:nvPr/>
        </p:nvSpPr>
        <p:spPr>
          <a:xfrm>
            <a:off x="5961888" y="2688336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07608" y="2706624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60" dirty="0"/>
          </a:p>
        </p:txBody>
      </p:sp>
      <p:sp>
        <p:nvSpPr>
          <p:cNvPr id="30" name="Shape 27"/>
          <p:cNvSpPr/>
          <p:nvPr/>
        </p:nvSpPr>
        <p:spPr>
          <a:xfrm>
            <a:off x="5961888" y="318668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07608" y="320497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920" dirty="0"/>
          </a:p>
        </p:txBody>
      </p:sp>
      <p:sp>
        <p:nvSpPr>
          <p:cNvPr id="32" name="Shape 29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5961888" y="368503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07608" y="37033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920" dirty="0"/>
          </a:p>
        </p:txBody>
      </p:sp>
      <p:sp>
        <p:nvSpPr>
          <p:cNvPr id="36" name="Shape 33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60" dirty="0"/>
          </a:p>
        </p:txBody>
      </p:sp>
      <p:sp>
        <p:nvSpPr>
          <p:cNvPr id="38" name="Shape 35"/>
          <p:cNvSpPr/>
          <p:nvPr/>
        </p:nvSpPr>
        <p:spPr>
          <a:xfrm>
            <a:off x="5961888" y="418338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07608" y="420166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2026-09-28T05:32:58Z</dcterms:created>
  <dcterms:modified xsi:type="dcterms:W3CDTF">2026-09-28T05:32:58Z</dcterms:modified>
</cp:coreProperties>
</file>