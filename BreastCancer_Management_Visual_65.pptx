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charts/chart12.xml" ContentType="application/vnd.openxmlformats-officedocument.drawingml.chart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charts/chart13.xml" ContentType="application/vnd.openxmlformats-officedocument.drawingml.chart+xml"/>
  <Override PartName="/ppt/slides/slide60.xml" ContentType="application/vnd.openxmlformats-officedocument.presentationml.slide+xml"/>
  <Override PartName="/ppt/charts/chart14.xml" ContentType="application/vnd.openxmlformats-officedocument.drawingml.chart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charts/chart15.xml" ContentType="application/vnd.openxmlformats-officedocument.drawingml.chart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Ethiopia 2020 — incidence vs mortality per 100,000: breast leads both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Incidence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41.5</c:v>
                </c:pt>
                <c:pt idx="1">
                  <c:v>21.5</c:v>
                </c:pt>
                <c:pt idx="2">
                  <c:v>10</c:v>
                </c:pt>
                <c:pt idx="3">
                  <c:v>8.9</c:v>
                </c:pt>
                <c:pt idx="4">
                  <c:v>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Mortality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24.1</c:v>
                </c:pt>
                <c:pt idx="1">
                  <c:v>16</c:v>
                </c:pt>
                <c:pt idx="2">
                  <c:v>5.9</c:v>
                </c:pt>
                <c:pt idx="3">
                  <c:v>6.8</c:v>
                </c:pt>
                <c:pt idx="4">
                  <c:v>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Lymphedema: full axillary surgery vs SLNB alone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Lymphedema 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ALND (Z0011)</c:v>
                  </c:pt>
                  <c:pt idx="1">
                    <c:v>SLNB alone (Z0011)</c:v>
                  </c:pt>
                  <c:pt idx="2">
                    <c:v>SLNB alone (ALMANAC, 12 mo)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2</c:v>
                </c:pt>
                <c:pt idx="2">
                  <c:v>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584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global &amp; Ethiopian epidemiology • early detection • in situ &amp; invasive types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Ethiopian 60-day pathway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&amp; MoH 60:60:80 roadmap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(16,133 cases, 2020);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 at stage III–IV → MoH 60:60:80 targets: early stage • 60-day diagnosis • treatment completion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1559052"/>
            <a:ext cx="4160520" cy="0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6" name="Text 44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5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2" name="Text 7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540" y="1069848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3" name="Text 30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4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1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8" name="Text 33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9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0" name="Text 17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1" name="Shape 18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3" name="Text 20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29" name="Text 27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1" name="Text 7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1" name="Text 7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MoH (no population mammography)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awareness + monthly BSE &gt;20 y • annual CBE by trained provider ≥30 y • diagnostic US/mammography &gt;40 y every 2 y • high risk: imaging earlier, annually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6" name="Text 13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2" name="Shape 10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1" name="Shape 29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749808"/>
            <a:ext cx="5486400" cy="188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— global &amp; Ethiopia</a:t>
            </a:r>
            <a:endParaRPr lang="en-US" sz="1015" dirty="0"/>
          </a:p>
        </p:txBody>
      </p:sp>
      <p:sp>
        <p:nvSpPr>
          <p:cNvPr id="10" name="Text 7"/>
          <p:cNvSpPr/>
          <p:nvPr/>
        </p:nvSpPr>
        <p:spPr>
          <a:xfrm>
            <a:off x="3319272" y="965924"/>
            <a:ext cx="5541264" cy="16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2020: &gt;2.2 million cases — commonest cancer; 11.7% of new cancers and 15% of cancer deaths in women, mostly in low/middle-income countries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leading cancer — 16,133 cases (20.9% of all; ⅓ of cancers in women); mortality/incidence ratio ≈0.6 (late stage)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III–IV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(high-income: &gt;70% at stage I–II) — low awareness, traditional medicine, misdiagnosis, distance, cost, waiting times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women: younger, more ER-negative, higher mortality; male cancer up to 6% (0.5–1% elsewhere)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lifetime risk 1 in 8; 5-y survival 63→92% (White), 46→78% (African American) with screening + adjuvant therapy</a:t>
            </a:r>
            <a:endParaRPr lang="en-US" sz="865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4" name="Text 10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3" name="Text 10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4" name="Shape 11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6" name="Text 13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896112"/>
            <a:ext cx="4846320" cy="0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3" name="Shape 21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2" name="Text 30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3" name="Text 61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4" name="Shape 62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7" name="Shape 65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Shape 73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8" name="Text 75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79" name="Shape 76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1" name="Text 78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2" name="Text 79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 • Ethiopia: refer any woman &gt;30 y with a sign — full diagnosis within 60 days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ER/PR/HER2); Ethiopia: US-guided CNB where available, else incisional biopsy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suspicious; false-negative 4–27% → negative FNAC never excludes cancer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3" name="Text 41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4" name="Shape 42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6" name="Text 44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1" name="Text 38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2" name="Shape 39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4" name="Text 41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notes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1" name="Text 7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2" name="Shape 8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 roadmap: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60:60:80 by 2030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≥60% diagnosed at stage I–II • diagnosis + treatment start ≤60 days (tertiary work-up ≤45 d, pathology report ≤2 wk) • ≥80% complete multimodality treatment. MDT at general &amp; tertiary hospitals; MRM for stage I–II at general hospital; small early cancers &gt;90% curable.</a:t>
            </a:r>
            <a:endParaRPr lang="en-US" sz="865" dirty="0"/>
          </a:p>
        </p:txBody>
      </p:sp>
      <p:sp>
        <p:nvSpPr>
          <p:cNvPr id="37" name="Shape 35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0" name="Text 38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2670048"/>
            <a:ext cx="3200400" cy="183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05272" y="2880919"/>
            <a:ext cx="3255264" cy="12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 RT machines (LINAC/Cobalt-60) exist only at tertiary/highly-specialised centres — the RT phase of this pathway is where most LABC patients need referral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0" name="Shape 18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Schedule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874520"/>
                <a:gridCol w="178308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Follow-up: frequency &amp; methods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mammogram 6–12 mo after RT then yearly (ipsilateral recurrence 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contralateral mammogram yearly; no routine imaging of reconstruction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endocrine adherence; BMD on AI; gynae review on tamoxifen;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cardiac monitoring after anthracycline / anti-HER2 / left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high M1 risk → symptom-directed imaging early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imaging response each line; re-biopsy at progression; palliative care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disease, then STD*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6-monthly; mammogram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529584"/>
            <a:ext cx="8686800" cy="5120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547872"/>
            <a:ext cx="8540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</a:t>
            </a:r>
            <a:r>
              <a:rPr lang="en-US" sz="8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*STD = H&amp;P every 3–6 mo for 3 y, 6–12 mo in years 4–5, then yearly; monthly BSE; annual mammogram; no routine blood tests, tumour markers, bone scan, CT/PET or breast MRI when asymptomatic. Ethiopia: first 2–3 y at an oncologist-led centre, then at the nearest lower-level facility with a named focal point.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4553712"/>
            <a:ext cx="8686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mastectomy over indicated BCS+RT does not by itself improve survival • risk-reducing surgery has no single numeric threshold — always individualised.</a:t>
            </a:r>
            <a:endParaRPr lang="en-US" sz="68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669280" y="694944"/>
            <a:ext cx="3246120" cy="96012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749808"/>
            <a:ext cx="30632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5742432" y="968172"/>
            <a:ext cx="3118104" cy="6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alone; meta-analysis: sensitivity 93%, FNR 7%, NPV 94%, accuracy 95%</a:t>
            </a:r>
            <a:endParaRPr lang="en-US" sz="88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5669280" y="1709928"/>
          <a:ext cx="324612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5669280" y="2999232"/>
            <a:ext cx="3246120" cy="10149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760720" y="3054096"/>
            <a:ext cx="306324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20" dirty="0"/>
          </a:p>
        </p:txBody>
      </p:sp>
      <p:sp>
        <p:nvSpPr>
          <p:cNvPr id="37" name="Text 34"/>
          <p:cNvSpPr/>
          <p:nvPr/>
        </p:nvSpPr>
        <p:spPr>
          <a:xfrm>
            <a:off x="5742432" y="3270961"/>
            <a:ext cx="3118104" cy="715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 removed: 1 → 17.7%, 2 → 10%, 3 → 6.9%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870" dirty="0"/>
          </a:p>
        </p:txBody>
      </p:sp>
      <p:sp>
        <p:nvSpPr>
          <p:cNvPr id="38" name="Shape 35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7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standard. Ethiopia: MRM suits a trained general surgeon at general-hospital level; skin/nipple-sparing technique and reconstruction concentrate at tertiary centres.</a:t>
            </a:r>
            <a:endParaRPr lang="en-US" sz="74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4" name="Shape 21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80760" y="731520"/>
            <a:ext cx="2743200" cy="1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10" dirty="0"/>
          </a:p>
        </p:txBody>
      </p:sp>
      <p:sp>
        <p:nvSpPr>
          <p:cNvPr id="10" name="Text 7"/>
          <p:cNvSpPr/>
          <p:nvPr/>
        </p:nvSpPr>
        <p:spPr>
          <a:xfrm>
            <a:off x="6062472" y="946887"/>
            <a:ext cx="2798064" cy="1714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(LINAC/Cobalt-60) exists only at tertiary/highly-specialised centres — a major bottleneck to completing multimodality treatment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46120" y="3255264"/>
            <a:ext cx="2651760" cy="18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990" dirty="0"/>
          </a:p>
        </p:txBody>
      </p:sp>
      <p:sp>
        <p:nvSpPr>
          <p:cNvPr id="17" name="Text 14"/>
          <p:cNvSpPr/>
          <p:nvPr/>
        </p:nvSpPr>
        <p:spPr>
          <a:xfrm>
            <a:off x="3227832" y="3467633"/>
            <a:ext cx="2706624" cy="1150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chemotherapy delivered from secondary-hospital level with MDT oversight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0" name="Text 17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4" name="Text 11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5" name="Shape 12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7" name="Text 14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2" name="Shape 20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29" name="Text 26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 is the prioritised IHC test at secondary-hospital level when the panel is limited; full HER2/ER confirmation to guide endocrine vs targeted therapy is routine at tertiary level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sources disagree on stopping at 5 y: older data found no gain beyond 5 y (the basis for the old fixed-5-year rule) — ATLAS/aTTom (13,000 women) later showed lower recurrence/mortality from years 10–15; treat "stop at 5 y" as superseded, not wrong-then-right.</a:t>
            </a:r>
            <a:endParaRPr lang="en-US" sz="93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9" name="Text 7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6" name="Text 13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PHARE: 6 months not shown non-inferior to 12. The 2-year question is unsettled between sources: DeVita's era reports the HERA 1-vs-2-year data as "not yet available"; later teaching notes describe 2 years as more effective but more toxic — treat this as an evolving answer, not a settled one.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172200" y="3392424"/>
            <a:ext cx="2651760" cy="18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9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990" dirty="0"/>
          </a:p>
        </p:txBody>
      </p:sp>
      <p:sp>
        <p:nvSpPr>
          <p:cNvPr id="11" name="Text 7"/>
          <p:cNvSpPr/>
          <p:nvPr/>
        </p:nvSpPr>
        <p:spPr>
          <a:xfrm>
            <a:off x="6153912" y="3604793"/>
            <a:ext cx="2706624" cy="1012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 — record the actual IHC/ISH result; "HER2-low" is not a separate treatment category</a:t>
            </a:r>
            <a:endParaRPr lang="en-US" sz="8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 biologic/targeted (anti-HER2) therapy is a highly-specialised-level service</a:t>
            </a:r>
            <a:endParaRPr lang="en-US" sz="84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5" name="Text 23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6" name="Shape 24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10" dirty="0"/>
          </a:p>
        </p:txBody>
      </p:sp>
      <p:sp>
        <p:nvSpPr>
          <p:cNvPr id="9" name="Text 7"/>
          <p:cNvSpPr/>
          <p:nvPr/>
        </p:nvSpPr>
        <p:spPr>
          <a:xfrm>
            <a:off x="301752" y="965175"/>
            <a:ext cx="4123944" cy="1805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0.5–1% of breast cancers worldwide; in sub-Saharan Africa, up to 6% of all breast cancers are male — diagnosed later, mainly from low awareness that men get breast cancer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983480" y="694944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6949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5961888" y="694944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07608" y="713232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4983480" y="1147572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114757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5961888" y="1147572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07608" y="116586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4983480" y="1600200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83480" y="160020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30" dirty="0"/>
          </a:p>
        </p:txBody>
      </p:sp>
      <p:sp>
        <p:nvSpPr>
          <p:cNvPr id="18" name="Shape 15"/>
          <p:cNvSpPr/>
          <p:nvPr/>
        </p:nvSpPr>
        <p:spPr>
          <a:xfrm>
            <a:off x="5961888" y="1600200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07608" y="161848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890" dirty="0"/>
          </a:p>
        </p:txBody>
      </p:sp>
      <p:sp>
        <p:nvSpPr>
          <p:cNvPr id="20" name="Shape 17"/>
          <p:cNvSpPr/>
          <p:nvPr/>
        </p:nvSpPr>
        <p:spPr>
          <a:xfrm>
            <a:off x="4983480" y="2052828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83480" y="2052828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30" dirty="0"/>
          </a:p>
        </p:txBody>
      </p:sp>
      <p:sp>
        <p:nvSpPr>
          <p:cNvPr id="22" name="Shape 19"/>
          <p:cNvSpPr/>
          <p:nvPr/>
        </p:nvSpPr>
        <p:spPr>
          <a:xfrm>
            <a:off x="5961888" y="2052828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07608" y="2071116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890" dirty="0"/>
          </a:p>
        </p:txBody>
      </p:sp>
      <p:sp>
        <p:nvSpPr>
          <p:cNvPr id="24" name="Shape 21"/>
          <p:cNvSpPr/>
          <p:nvPr/>
        </p:nvSpPr>
        <p:spPr>
          <a:xfrm>
            <a:off x="4983480" y="2505456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83480" y="2505456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5961888" y="2505456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07608" y="252374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890" dirty="0"/>
          </a:p>
        </p:txBody>
      </p:sp>
      <p:sp>
        <p:nvSpPr>
          <p:cNvPr id="28" name="Shape 25"/>
          <p:cNvSpPr/>
          <p:nvPr/>
        </p:nvSpPr>
        <p:spPr>
          <a:xfrm>
            <a:off x="4983480" y="2958084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83480" y="295808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5961888" y="2958084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07608" y="2976372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890" dirty="0"/>
          </a:p>
        </p:txBody>
      </p:sp>
      <p:sp>
        <p:nvSpPr>
          <p:cNvPr id="32" name="Shape 29"/>
          <p:cNvSpPr/>
          <p:nvPr/>
        </p:nvSpPr>
        <p:spPr>
          <a:xfrm>
            <a:off x="4983480" y="3410712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83480" y="341071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30" dirty="0"/>
          </a:p>
        </p:txBody>
      </p:sp>
      <p:sp>
        <p:nvSpPr>
          <p:cNvPr id="34" name="Shape 31"/>
          <p:cNvSpPr/>
          <p:nvPr/>
        </p:nvSpPr>
        <p:spPr>
          <a:xfrm>
            <a:off x="5961888" y="3410712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07608" y="34290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890" dirty="0"/>
          </a:p>
        </p:txBody>
      </p:sp>
      <p:sp>
        <p:nvSpPr>
          <p:cNvPr id="36" name="Shape 33"/>
          <p:cNvSpPr/>
          <p:nvPr/>
        </p:nvSpPr>
        <p:spPr>
          <a:xfrm>
            <a:off x="4983480" y="3863340"/>
            <a:ext cx="960120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983480" y="386334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30" dirty="0"/>
          </a:p>
        </p:txBody>
      </p:sp>
      <p:sp>
        <p:nvSpPr>
          <p:cNvPr id="38" name="Shape 35"/>
          <p:cNvSpPr/>
          <p:nvPr/>
        </p:nvSpPr>
        <p:spPr>
          <a:xfrm>
            <a:off x="5961888" y="3863340"/>
            <a:ext cx="2953512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07608" y="3881628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890" dirty="0"/>
          </a:p>
        </p:txBody>
      </p:sp>
      <p:sp>
        <p:nvSpPr>
          <p:cNvPr id="40" name="Shape 37"/>
          <p:cNvSpPr/>
          <p:nvPr/>
        </p:nvSpPr>
        <p:spPr>
          <a:xfrm>
            <a:off x="228600" y="4370832"/>
            <a:ext cx="8686800" cy="3657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1752" y="4389120"/>
            <a:ext cx="85404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7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Concurrent tamoxifen + chemotherapy raises recurrence risk vs sequential (chemo → tamoxifen) • avoid strong CYP2D6 inhibitors (paroxetine, fluoxetine) with tamoxifen — they blunt its active metabolites • high-dose chemotherapy with stem-cell rescue showed no survival benefit and more treatment deaths in randomised trials.</a:t>
            </a:r>
            <a:endParaRPr lang="en-US" sz="79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0664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40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713232"/>
            <a:ext cx="82021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Brunicardi FC, et al. Schwartz's Principles of Surgery, 11th edition — Chapter 17, "The Breast." McGraw-Hill.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228600" y="1298448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1271016"/>
            <a:ext cx="82021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Burstein HJ, Harris JR, Morrow M. "Malignant Tumors of the Breast," in DeVita, Hellman &amp; Rosenberg's Cancer: Principles &amp; Practice of Oncology.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228600" y="185623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1828800"/>
            <a:ext cx="82021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Comprehensive Cancer Network. NCCN Clinical Practice Guidelines in Oncology: Breast Cancer, v6.2026, and Breast Cancer Risk Reduction, v1.2026.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28600" y="2414016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2414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2386584"/>
            <a:ext cx="82021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JNCCN Guidelines Insights: Genetic/Familial High-Risk Assessment — Breast, Ovarian, Pancreatic and Prostate, v2.2026. J Natl Compr Canc Netw. 2026;24(2):2–10.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228600" y="2971800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971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2944368"/>
            <a:ext cx="82021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Ministry of Health, Ethiopia. National Breast Cancer Guideline 2024–2028.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228600" y="3529584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3502152"/>
            <a:ext cx="82021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GLOBOCAN 2020, IARC — cited within the Ethiopian national guideline for Ethiopia-specific incidence and mortality estimates.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228600" y="413308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names used throughout (NSABP B-06, ACOSOG Z0011, ATLAS, PALOMA, HERA, BCIRG, etc.) are as reported in the sources above; figures and tables are original redraws for on-screen display, not reproductions.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2026-09-28T05:39:18Z</dcterms:created>
  <dcterms:modified xsi:type="dcterms:W3CDTF">2026-09-28T05:39:18Z</dcterms:modified>
</cp:coreProperties>
</file>