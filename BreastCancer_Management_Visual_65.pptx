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8.xml" ContentType="application/vnd.openxmlformats-officedocument.drawingml.chart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charts/chart9.xml" ContentType="application/vnd.openxmlformats-officedocument.drawingml.chart+xml"/>
  <Override PartName="/ppt/slides/slide40.xml" ContentType="application/vnd.openxmlformats-officedocument.presentationml.slide+xml"/>
  <Override PartName="/ppt/charts/chart10.xml" ContentType="application/vnd.openxmlformats-officedocument.drawingml.chart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charts/chart11.xml" ContentType="application/vnd.openxmlformats-officedocument.drawingml.chart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charts/chart12.xml" ContentType="application/vnd.openxmlformats-officedocument.drawingml.chart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charts/chart13.xml" ContentType="application/vnd.openxmlformats-officedocument.drawingml.chart+xml"/>
  <Override PartName="/ppt/slides/slide60.xml" ContentType="application/vnd.openxmlformats-officedocument.presentationml.slide+xml"/>
  <Override PartName="/ppt/charts/chart14.xml" ContentType="application/vnd.openxmlformats-officedocument.drawingml.chart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charts/chart15.xml" ContentType="application/vnd.openxmlformats-officedocument.drawingml.chart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950" b="0" i="0" u="none" strike="noStrike">
                <a:solidFill>
                  <a:srgbClr val="1B3A6B"/>
                </a:solidFill>
                <a:latin typeface="Arial"/>
              </a:rPr>
              <a:t>Lymph flow: &gt;75% to axilla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Drainage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bubble3D val="0"/>
            <c:spPr>
              <a:solidFill>
                <a:srgbClr val="AFC3D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Axillary nodes</c:v>
                </c:pt>
                <c:pt idx="1">
                  <c:v>Internal mammary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Relative risk of later breast cancer (×)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risk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Nonproliferative</c:v>
                  </c:pt>
                  <c:pt idx="1">
                    <c:v>Sclerosing adenosis</c:v>
                  </c:pt>
                  <c:pt idx="2">
                    <c:v>Papilloma (no atypia)</c:v>
                  </c:pt>
                  <c:pt idx="3">
                    <c:v>Florid hyperplasia</c:v>
                  </c:pt>
                  <c:pt idx="4">
                    <c:v>ALH</c:v>
                  </c:pt>
                  <c:pt idx="5">
                    <c:v>ADH</c:v>
                  </c:pt>
                  <c:pt idx="6">
                    <c:v>Ductal involvement by ADH</c:v>
                  </c:pt>
                  <c:pt idx="7">
                    <c:v>LCIS</c:v>
                  </c:pt>
                  <c:pt idx="8">
                    <c:v>DCIS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1.75</c:v>
                </c:pt>
                <c:pt idx="4">
                  <c:v>4</c:v>
                </c:pt>
                <c:pt idx="5">
                  <c:v>4</c:v>
                </c:pt>
                <c:pt idx="6">
                  <c:v>7</c:v>
                </c:pt>
                <c:pt idx="7">
                  <c:v>10</c:v>
                </c:pt>
                <c:pt idx="8">
                  <c:v>10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US lifetime risk over time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Lifetime risk %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1970s (1/13)</c:v>
                  </c:pt>
                  <c:pt idx="1">
                    <c:v>1980 (1/11)</c:v>
                  </c:pt>
                  <c:pt idx="2">
                    <c:v>2004 (1/8)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7.7</c:v>
                </c:pt>
                <c:pt idx="1">
                  <c:v>9.1</c:v>
                </c:pt>
                <c:pt idx="2">
                  <c:v>12.5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Remaining lifetime risk by age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Remaining risk %</c:v>
                </c:pt>
              </c:strCache>
            </c:strRef>
          </c:tx>
          <c:spPr>
            <a:solidFill>
              <a:srgbClr val="8FA9C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Newborn</c:v>
                  </c:pt>
                  <c:pt idx="1">
                    <c:v>Age 50</c:v>
                  </c:pt>
                  <c:pt idx="2">
                    <c:v>Age 70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11</c:v>
                </c:pt>
                <c:pt idx="2">
                  <c:v>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Reduction in invasive cancer vs placebo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reduction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Tamoxifen — NSABP P-1</c:v>
                  </c:pt>
                  <c:pt idx="1">
                    <c:v>Anastrozole — IBIS-II</c:v>
                  </c:pt>
                  <c:pt idx="2">
                    <c:v>Exemestane — MAP.3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50</c:v>
                </c:pt>
                <c:pt idx="2">
                  <c:v>65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Ethiopia 2020 — incidence vs mortality per 100,000: breast leads both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Incidence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Breast</c:v>
                  </c:pt>
                  <c:pt idx="1">
                    <c:v>Cervix</c:v>
                  </c:pt>
                  <c:pt idx="2">
                    <c:v>Prostate</c:v>
                  </c:pt>
                  <c:pt idx="3">
                    <c:v>Colorectum</c:v>
                  </c:pt>
                  <c:pt idx="4">
                    <c:v>Ovary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41.5</c:v>
                </c:pt>
                <c:pt idx="1">
                  <c:v>21.5</c:v>
                </c:pt>
                <c:pt idx="2">
                  <c:v>10</c:v>
                </c:pt>
                <c:pt idx="3">
                  <c:v>8.9</c:v>
                </c:pt>
                <c:pt idx="4">
                  <c:v>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Mortality</c:v>
                </c:pt>
              </c:strCache>
            </c:strRef>
          </c:tx>
          <c:spPr>
            <a:solidFill>
              <a:srgbClr val="8FA9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Breast</c:v>
                  </c:pt>
                  <c:pt idx="1">
                    <c:v>Cervix</c:v>
                  </c:pt>
                  <c:pt idx="2">
                    <c:v>Prostate</c:v>
                  </c:pt>
                  <c:pt idx="3">
                    <c:v>Colorectum</c:v>
                  </c:pt>
                  <c:pt idx="4">
                    <c:v>Ovary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24.1</c:v>
                </c:pt>
                <c:pt idx="1">
                  <c:v>16</c:v>
                </c:pt>
                <c:pt idx="2">
                  <c:v>5.9</c:v>
                </c:pt>
                <c:pt idx="3">
                  <c:v>6.8</c:v>
                </c:pt>
                <c:pt idx="4">
                  <c:v>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Pattern of recurrence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recurrences %</c:v>
                </c:pt>
              </c:strCache>
            </c:strRef>
          </c:tx>
          <c:spPr>
            <a:solidFill>
              <a:srgbClr val="6C8E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Distant only</c:v>
                  </c:pt>
                  <c:pt idx="1">
                    <c:v>Local-regional only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20</c:v>
                </c:pt>
                <c:pt idx="2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Share of invasive cancers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NST</c:v>
                  </c:pt>
                  <c:pt idx="1">
                    <c:v>Lobular</c:v>
                  </c:pt>
                  <c:pt idx="2">
                    <c:v>Medullary</c:v>
                  </c:pt>
                  <c:pt idx="3">
                    <c:v>Mucinous</c:v>
                  </c:pt>
                  <c:pt idx="4">
                    <c:v>Papillary</c:v>
                  </c:pt>
                  <c:pt idx="5">
                    <c:v>Tubular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10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DCIS trial event rates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ECOG 5194 low/int (excision)</c:v>
                  </c:pt>
                  <c:pt idx="1">
                    <c:v>ECOG 5194 high grade</c:v>
                  </c:pt>
                  <c:pt idx="2">
                    <c:v>B-24 RT + tamoxifen</c:v>
                  </c:pt>
                  <c:pt idx="3">
                    <c:v>B-24 RT alone</c:v>
                  </c:pt>
                  <c:pt idx="4">
                    <c:v>RTOG 9804 + RT (5 y)</c:v>
                  </c:pt>
                  <c:pt idx="5">
                    <c:v>RTOG 9804 no 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6.1</c:v>
                </c:pt>
                <c:pt idx="1">
                  <c:v>15.3</c:v>
                </c:pt>
                <c:pt idx="2">
                  <c:v>8.2</c:v>
                </c:pt>
                <c:pt idx="3">
                  <c:v>13.4</c:v>
                </c:pt>
                <c:pt idx="4">
                  <c:v>0.4</c:v>
                </c:pt>
                <c:pt idx="5">
                  <c:v>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In-breast recurrence with vs without RT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B-06 lumpectomy + RT (20 y)</c:v>
                  </c:pt>
                  <c:pt idx="1">
                    <c:v>B-06 lumpectomy alone</c:v>
                  </c:pt>
                  <c:pt idx="2">
                    <c:v>CALGB ≥70 y + RT (10 y)</c:v>
                  </c:pt>
                  <c:pt idx="3">
                    <c:v>CALGB no RT</c:v>
                  </c:pt>
                  <c:pt idx="4">
                    <c:v>Canadian ≥50 y + RT</c:v>
                  </c:pt>
                  <c:pt idx="5">
                    <c:v>Canadian no RT</c:v>
                  </c:pt>
                  <c:pt idx="6">
                    <c:v>PRIME-2 ≥65 y + RT</c:v>
                  </c:pt>
                  <c:pt idx="7">
                    <c:v>PRIME-2 no RT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14.3</c:v>
                </c:pt>
                <c:pt idx="1">
                  <c:v>39.2</c:v>
                </c:pt>
                <c:pt idx="2">
                  <c:v>2</c:v>
                </c:pt>
                <c:pt idx="3">
                  <c:v>10</c:v>
                </c:pt>
                <c:pt idx="4">
                  <c:v>0.6</c:v>
                </c:pt>
                <c:pt idx="5">
                  <c:v>7.7</c:v>
                </c:pt>
                <c:pt idx="6">
                  <c:v>1.3</c:v>
                </c:pt>
                <c:pt idx="7">
                  <c:v>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False-negative rate of SLN surgery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FNR %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 SLN removed (B-32)</c:v>
                  </c:pt>
                  <c:pt idx="1">
                    <c:v>2 SLNs</c:v>
                  </c:pt>
                  <c:pt idx="2">
                    <c:v>3 SLNs</c:v>
                  </c:pt>
                  <c:pt idx="3">
                    <c:v>Z1071 SLN after NAC (cN1)</c:v>
                  </c:pt>
                  <c:pt idx="4">
                    <c:v>Clipped node in SLN, ≥2 SLNs</c:v>
                  </c:pt>
                  <c:pt idx="5">
                    <c:v>SLN alone (MD Anderson)</c:v>
                  </c:pt>
                  <c:pt idx="6">
                    <c:v>TAD: SLN + clipped node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17.7</c:v>
                </c:pt>
                <c:pt idx="1">
                  <c:v>10</c:v>
                </c:pt>
                <c:pt idx="2">
                  <c:v>6.9</c:v>
                </c:pt>
                <c:pt idx="3">
                  <c:v>12.6</c:v>
                </c:pt>
                <c:pt idx="4">
                  <c:v>6.8</c:v>
                </c:pt>
                <c:pt idx="5">
                  <c:v>10.1</c:v>
                </c:pt>
                <c:pt idx="6">
                  <c:v>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Lymphedema: full axillary surgery vs SLNB alone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Lymphedema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ALND (Z0011)</c:v>
                  </c:pt>
                  <c:pt idx="1">
                    <c:v>SLNB alone (Z0011)</c:v>
                  </c:pt>
                  <c:pt idx="2">
                    <c:v>SLNB alone (ALMANAC, 12 mo)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Median PFS in metastatic trials (months)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Combination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PALOMA-1</c:v>
                  </c:pt>
                  <c:pt idx="1">
                    <c:v>PALOMA-2</c:v>
                  </c:pt>
                  <c:pt idx="2">
                    <c:v>PALOMA-3</c:v>
                  </c:pt>
                  <c:pt idx="3">
                    <c:v>BOLERO-2</c:v>
                  </c:pt>
                  <c:pt idx="4">
                    <c:v>E2100 (bevacizumab)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20.2</c:v>
                </c:pt>
                <c:pt idx="1">
                  <c:v>24.8</c:v>
                </c:pt>
                <c:pt idx="2">
                  <c:v>9.2</c:v>
                </c:pt>
                <c:pt idx="3">
                  <c:v>11</c:v>
                </c:pt>
                <c:pt idx="4">
                  <c:v>11.3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8FA9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PALOMA-1</c:v>
                  </c:pt>
                  <c:pt idx="1">
                    <c:v>PALOMA-2</c:v>
                  </c:pt>
                  <c:pt idx="2">
                    <c:v>PALOMA-3</c:v>
                  </c:pt>
                  <c:pt idx="3">
                    <c:v>BOLERO-2</c:v>
                  </c:pt>
                  <c:pt idx="4">
                    <c:v>E2100 (bevacizumab)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10.2</c:v>
                </c:pt>
                <c:pt idx="1">
                  <c:v>14.5</c:v>
                </c:pt>
                <c:pt idx="2">
                  <c:v>3.8</c:v>
                </c:pt>
                <c:pt idx="3">
                  <c:v>4.1</c:v>
                </c:pt>
                <c:pt idx="4">
                  <c:v>5.8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Effect of anti-HER2 therapy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Adjuvant 3-y DFS</c:v>
                  </c:pt>
                  <c:pt idx="1">
                    <c:v>Neoadjuvant pCR</c:v>
                  </c:pt>
                  <c:pt idx="2">
                    <c:v>ExteNET 2-y iDFS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25</c:v>
                </c:pt>
                <c:pt idx="2">
                  <c:v>91.9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anti-HER2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Adjuvant 3-y DFS</c:v>
                  </c:pt>
                  <c:pt idx="1">
                    <c:v>Neoadjuvant pCR</c:v>
                  </c:pt>
                  <c:pt idx="2">
                    <c:v>ExteNET 2-y iDFS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</c:v>
                </c:pt>
                <c:pt idx="1">
                  <c:v>66.7</c:v>
                </c:pt>
                <c:pt idx="2">
                  <c:v>94.2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SEER 5-year relative survival by stage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5-y survival %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Localized (61%)</c:v>
                  </c:pt>
                  <c:pt idx="1">
                    <c:v>Regional (32%)</c:v>
                  </c:pt>
                  <c:pt idx="2">
                    <c:v>Distant (5%)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98.6</c:v>
                </c:pt>
                <c:pt idx="1">
                  <c:v>84.4</c:v>
                </c:pt>
                <c:pt idx="2">
                  <c:v>24.3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68680"/>
            <a:ext cx="91440" cy="26517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5361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61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Study Deck — Triple Assessment, Stage-wise Algorithms, Adjuvant Therapy &amp; Recurrence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Dr. Muluamlak — GSR-3  |  EBS Unit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584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731520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73152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822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Benign Disease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1338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• anatomy • axilla • physiology • gynecomastia • infections • ANDI • benign lesions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731520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731520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73152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32120" y="822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Risk, Genetics &amp; Pathology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11338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&amp; models • screening • chemoprevention • BRCA • global &amp; Ethiopian epidemiology • early detection • in situ &amp; invasive types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029968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029968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029968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3000" y="2121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&amp; Staging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4323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assessment • Ethiopian 60-day pathway • imaging • biopsy • nipple discharge • TNM • work-up • biomarkers • gene assays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029968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029968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029968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32120" y="2121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by Stage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24323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map &amp; MoH 60:60:80 roadmap • LCIS • DCIS • stage I–II • axilla • stage III • inflammatory • stage IV • recurrence • summary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328416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328416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28416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143000" y="3419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Surgery &amp; Adjuvant Therapy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730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per operation • techniques • reconstruction • radiotherapy • chemotherapy • endocrine • anti-HER2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328416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328416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328416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532120" y="3419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Situations &amp; Review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3730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• male • phyllodes • rare cancers • prognosis • pitfalls &amp; rapid recall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 Key Points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68680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68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749808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cancer (16,133 cases, 2020);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65–75%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present at stage III–IV → MoH 60:60:80 targets: early stage • 60-day diagnosis • treatment completion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713232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68680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68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749808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 drainage: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&gt;75%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axillary nodes; remainder (mainly medial breast) → internal mammary (parasternal) nodes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499616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655064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1536192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hormones: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(ducts), progesterone (lobules), prolactin (lactogenesis) are essential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499616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655064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1536192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disease: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spectrum: normal → disorder → disease, tracking reproductive life and involution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286000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44144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2322576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models: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Gail: 5-y + lifetime risk vs population — NOT for BRCA carriers or LCIS/DCIS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286000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44144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2322576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≥50 y →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mortality; MRI for BRCA carriers / lifetime risk &gt;20–25%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3072384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227832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310896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Core-needle biopsy is preferred — palpable or non-palpable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072384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227832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310896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local therapy: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clinical stage + histology + biomarkers (ER, PR, HER2)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858768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014216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" y="3895344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for cN0; ALND avoidable with 1–2 +SLNs + BCS + whole-breast RT + systemic therapy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3858768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014216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212080" y="3895344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decides local-regional and systemic therapy; sequence by patient, tumour and subtype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Benign Disease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• anatomy &amp; axilla • physiology • gynecomastia • infections • ANDI • benign lesions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Therapy — From Halsted to Biology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59052"/>
            <a:ext cx="4160520" cy="0"/>
          </a:xfrm>
          <a:prstGeom prst="line">
            <a:avLst/>
          </a:prstGeom>
          <a:noFill/>
          <a:ln w="317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834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498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Halsted &amp; Meyer: radical mastectomy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6126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155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79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789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Keynes: breast conservation + radium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42417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7447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871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2081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Haagensen &amp; Stout: "grave signs"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8709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3738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7162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8372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Patey &amp; Dyson: modified radical mastectomy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35000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0030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3454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4664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NSABP B-04: radical vs total mastectomy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81292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6321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9745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40955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Giuliano: blue-dye SLN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7583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2613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037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87247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WHI: HRT raises breast cancer risk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3875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8904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328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3538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approved (adjuvant)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20166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79830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Tomosynthesis (3D) approved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63440" y="676656"/>
            <a:ext cx="4251960" cy="1764792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731520"/>
            <a:ext cx="4069080" cy="190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5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Evolution</a:t>
            </a:r>
            <a:endParaRPr lang="en-US" sz="1025" dirty="0"/>
          </a:p>
        </p:txBody>
      </p:sp>
      <p:sp>
        <p:nvSpPr>
          <p:cNvPr id="46" name="Text 44"/>
          <p:cNvSpPr/>
          <p:nvPr/>
        </p:nvSpPr>
        <p:spPr>
          <a:xfrm>
            <a:off x="4736592" y="949135"/>
            <a:ext cx="4123944" cy="1464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Halsted &amp; Meyer (1894):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radical mastectomy + ALND I–III → superior local control, became standard</a:t>
            </a:r>
            <a:endParaRPr lang="en-US" sz="87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signs (1943):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skin oedema, ulceration, chest-wall fixation, node &gt;2.5 cm, fixed nodes → ≥2 signs = 42% local recurrence, 2% 5-y DFS → beyond cure by surgery</a:t>
            </a:r>
            <a:endParaRPr lang="en-US" sz="87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Patey &amp; Dyson (1948):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MRM keeps pectoralis major; replaced Halsted in 1970s (no gain from removing it in stage I–II; stage III needed RT)</a:t>
            </a:r>
            <a:endParaRPr lang="en-US" sz="87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cancer is systemic at diagnosis — nodes are a marker, not a barrier</a:t>
            </a:r>
            <a:endParaRPr lang="en-US" sz="875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542032"/>
          <a:ext cx="8686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4206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/ evidence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B-04 (n = 1,665)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cN0: Halsted vs total mastectomy ± RT; cN+: Halsted vs total mastectomy +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survival difference in any arm — still equal at 25 years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B-06 (n = 1,851)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mastectomy vs lumpectomy vs lumpectomy +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DFS, distant DFS, OS; lumpectomy alone → far more in-breast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EBCTCG overviews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Meta-analyses of local and systemic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4 local recurrences → prevent ~1 breast-cancer death (15 y). Anthracycline &gt; CMF; taxane ↓ mortality by ⅓; tamoxifen ↓ mortality up to 30% (ER+ only)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Biology era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IHC (1980s) → gene arrays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 intrinsic subtypes; proportional benefit constant → treat by absolute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48" name="Shape 45"/>
          <p:cNvSpPr/>
          <p:nvPr/>
        </p:nvSpPr>
        <p:spPr>
          <a:xfrm>
            <a:off x="228600" y="4224528"/>
            <a:ext cx="8686800" cy="42062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01752" y="4242816"/>
            <a:ext cx="854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5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2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B-06 caveats — palpable axillary nodes excluded; positive frozen-section margins converted to mastectomy yet analysed as BCS; in-breast recurrences were non-events for DFS. Perspective: 50% of women see a surgeon for breast disease, 25% are biopsied, 12% develop cancer.</a:t>
            </a:r>
            <a:endParaRPr lang="en-US" sz="9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Embryology &amp; Gross Anatomy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pic>
        <p:nvPicPr>
          <p:cNvPr id="7" name="Image 0" descr="/tmp/claude-0/-home-user-Phone/c7f42cbc-61a1-5785-9117-fab275c9b64e/scratchpad/rebuild65/pics/anatomy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252" y="658368"/>
            <a:ext cx="4872736" cy="19933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2080" y="676656"/>
            <a:ext cx="3703320" cy="197510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731520"/>
            <a:ext cx="352044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Anatomy &amp; Nipple–Areola Complex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5285232" y="955878"/>
            <a:ext cx="3575304" cy="166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lobes; Cooper's ligaments insert perpendicularly into dermis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Extent: 2nd/3rd rib → IMF (6th/7th rib); sternal edge → anterior axillary line; base 10–12 cm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on pectoralis major, serratus, ext. oblique, rectus sheath; retromammary bursa behind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tail of Spence; </a:t>
            </a: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UOQ has most tissue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 2–4 mm (orifice 0.4–0.7 mm) → lactiferous sinus (squamous); Montgomery tubercles; smooth muscle → erection</a:t>
            </a:r>
            <a:endParaRPr lang="en-US" sz="92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24912"/>
          <a:ext cx="8686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  <a:gridCol w="3383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note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 nipple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Mammary pit fails to elevate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 of infants; congenital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Amastia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breast — ridge arrest in 6th fetal week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Poland's syndrome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Hypoplasia/absence of breast + costal cartilage/rib defects + chest-wall subcutaneous hypoplasia + brachysyndactyly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Hypoplasia can also be iatrogenic (trauma, infection, RT before puberty)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Symmastia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Webbing across the midline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Polythelia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Accessory nipple on the milk line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 of infants; may accompany urinary/cardiovascular anomalies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Polymastia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Supernumerary breast on the milk line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Commonest nipple → pubis; Turner/Fleischer syndromes; axillary tissue usually bilateral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28600" y="44165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lines appear at 5–6 weeks (axilla → groin) and mostly regress; breasts identical at birth ("witch's milk"); female breast completes only in pregnancy.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Supply, Nerves &amp; Lymphatic Drainage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13232"/>
          <a:ext cx="5760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663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9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</a:t>
                      </a:r>
                      <a:endParaRPr lang="en-US" sz="9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Arteries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mammary perforators (2nd–4th = medial mammary arteries); lateral branches of posterior intercostals; axillary branches — highest thoracic, </a:t>
                      </a: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thoracic</a:t>
                      </a: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(lateral mammary branches), pectoral branch of thoracoacromial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arteries toward axilla: internal thoracic perforators, posterior intercostals, axillary tributaries. </a:t>
                      </a: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Batson's vertebral plexus</a:t>
                      </a: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vertebrae, skull, pelvis, CNS metastases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Sensory nerves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cutaneous branches of intercostals 3–6; supraclavicular nerve (upper skin). </a:t>
                      </a: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Intercostobrachial n.</a:t>
                      </a: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(T2) cut in ALND → medial upper-arm numbness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Lymphatics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Interlobular + ductal plexus → subareolar plexus → round lateral pectoralis major, through clavipectoral fascia → external mammary nodes (some direct to subscapular/apical)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90672"/>
          <a:ext cx="5760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663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state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Histology / function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Sparse, mostly ductal epithelium in loose stroma; dense tissue around TDLUs; alveolar height rises at ovulation then regresses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ducts branch, alveoli develop; lymphocytes, plasma cells, eosinophils gather in stroma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Alveolar cells rich in ER, mitochondria, Golgi: protein by merocrine, lipid by apocrine secretion; colostrum (low fat, antibody-rich) → lipid-rich milk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6172200" y="685800"/>
          <a:ext cx="2743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5"/>
          <p:cNvSpPr/>
          <p:nvPr/>
        </p:nvSpPr>
        <p:spPr>
          <a:xfrm>
            <a:off x="6172200" y="2907792"/>
            <a:ext cx="2743200" cy="173736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263640" y="2962656"/>
            <a:ext cx="25603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80" dirty="0"/>
          </a:p>
        </p:txBody>
      </p:sp>
      <p:sp>
        <p:nvSpPr>
          <p:cNvPr id="12" name="Text 7"/>
          <p:cNvSpPr/>
          <p:nvPr/>
        </p:nvSpPr>
        <p:spPr>
          <a:xfrm>
            <a:off x="6245352" y="3188513"/>
            <a:ext cx="2615184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Medial tumours may drain to internal mammary nodes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is usually sequential: level I → II → III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Veins explain lung (axillary/intercostal) and spine (Batson) metastases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Axillary Lymph Node Groups → Surgical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pic>
        <p:nvPicPr>
          <p:cNvPr id="7" name="Image 0" descr="/tmp/claude-0/-home-user-Phone/c7f42cbc-61a1-5785-9117-fab275c9b64e/scratchpad/rebuild65/pics/axlevels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49808"/>
            <a:ext cx="3749040" cy="28346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713232"/>
          <a:ext cx="4800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1325880"/>
                <a:gridCol w="320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Axillary vein (4–6)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Medial/posterior to vein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of upper limb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mammary (5–6)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border pec. minor, with lateral thoracic vessels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breast (most)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Scapular (5–7)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wall, lateral scapular border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neck, trunk, shoulder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(3–4)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fat behind pec. minor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groups above + breast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Interpectoral / Rotter's (1–4)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pec. major &amp; minor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direct → central, subclavicular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Subclavicular / apical (6–12)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upper border of pec. minor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other groups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228600" y="3767328"/>
            <a:ext cx="8686800" cy="86868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1752" y="3785616"/>
            <a:ext cx="85404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Level I = lateral/below the lower border of pectoralis minor; Level II = deep to it; Level III = medial/above its upper border. Metastasis is usually sequential I → II → III. Clinical examination of the axilla is only ~33% accurate — stage the axilla surgically or by imaging-guided biopsy.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Physiology of the Breast &amp; Gynecomastia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16052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 → GnRH (and other releasing factors)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08860" y="10058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1540" y="1069848"/>
            <a:ext cx="2834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54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0886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2618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33856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52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pituitary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+ FSH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91540" y="15361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1664208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682496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Ovary → estrogen (ductal development) + progesterone (lobular development, differentiation)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645920" y="1133856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152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pituitary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Prolactin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08860" y="15361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645920" y="1664208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1682496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Lactogenesis (late pregnancy, postpartum); epithelial development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063240" y="1133856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1152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pituitary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Oxytocin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726180" y="15361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063240" y="1664208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1682496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let-down: myoepithelial contraction expels milk into sinuses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28600" y="25054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E/P feed back on hypothalamus–pituitary; suckling → nipple nerves → prolactin + oxytocin release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816352"/>
          <a:ext cx="4160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 + lobular proliferation; T1–2 ducts branch; T3 colostrum; prolactin drives milk synthesis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E/P fall at delivery → prolactin acts; nipple reflex; oxytocin expels milk; weaning → atrophy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Menopause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 of ducts/alveoli; fibrous stroma → fat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4572000" y="676656"/>
            <a:ext cx="4343400" cy="118872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731520"/>
            <a:ext cx="4160520" cy="1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5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Gynecomastia — Physiological Peaks</a:t>
            </a:r>
            <a:endParaRPr lang="en-US" sz="1045" dirty="0"/>
          </a:p>
        </p:txBody>
      </p:sp>
      <p:sp>
        <p:nvSpPr>
          <p:cNvPr id="33" name="Text 30"/>
          <p:cNvSpPr/>
          <p:nvPr/>
        </p:nvSpPr>
        <p:spPr>
          <a:xfrm>
            <a:off x="4645152" y="952132"/>
            <a:ext cx="4215384" cy="885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</a:t>
            </a: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(placental estrogen) • </a:t>
            </a:r>
            <a:r>
              <a:rPr lang="en-US" sz="89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</a:t>
            </a: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12–15 y, often unilateral • </a:t>
            </a:r>
            <a:r>
              <a:rPr lang="en-US" sz="89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Senescent</a:t>
            </a: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50–70 y, often bilateral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≥2 cm tissue in non-obese man; mammography/US separate it from cancer — dominant, irregular or asymmetric mass → suspect cancer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itself a cancer risk — but Klinefelter (XXY) is</a:t>
            </a:r>
            <a:endParaRPr lang="en-US" sz="895" dirty="0"/>
          </a:p>
        </p:txBody>
      </p:sp>
      <p:graphicFrame>
        <p:nvGraphicFramePr>
          <p:cNvPr id="4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920240"/>
          <a:ext cx="4343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6868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/ skin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Mild, no redundancy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Moderate, no redundancy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+ redundancy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+ redundancy + ptosis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487168"/>
          <a:ext cx="4343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Estrogen excess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Testicular (Leydig, Sertoli, germ-cell), adrenal, lung, HCC; thyroid; cirrhosis; re-feeding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Androgen deficiency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Senescence; Klinefelter, Kallmann, Reifenstein; orchitis, trauma, RT; renal failure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Digitalis, estrogens, steroids, marijuana, hCG; cimetidine, ketoconazole, phenytoin, spironolactone, chemo; tricyclics, verapamil…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1"/>
          <p:cNvSpPr/>
          <p:nvPr/>
        </p:nvSpPr>
        <p:spPr>
          <a:xfrm>
            <a:off x="4572000" y="3959352"/>
            <a:ext cx="4343400" cy="68580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663440" y="4014216"/>
            <a:ext cx="4160520" cy="17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5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5" dirty="0"/>
          </a:p>
        </p:txBody>
      </p:sp>
      <p:sp>
        <p:nvSpPr>
          <p:cNvPr id="38" name="Text 33"/>
          <p:cNvSpPr/>
          <p:nvPr/>
        </p:nvSpPr>
        <p:spPr>
          <a:xfrm>
            <a:off x="4645152" y="4221340"/>
            <a:ext cx="4215384" cy="39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cause (testosterone, stop drug) → progressive/unresponsive: excision, liposuction or subcutaneous mastectomy; danazol works but androgenic</a:t>
            </a:r>
            <a:endParaRPr lang="en-US" sz="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Infectious &amp; Inflammatory Disorders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200400"/>
                <a:gridCol w="4069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Staphylococcal abscess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aureus; point tenderness, erythema, heat; lactational in first weeks; may be deep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 + repeated US-guided aspiration; drain if fails / thin necrotic skin; biopsy wall if non-resolving; chronic → culture AFB, anaerobes, fungi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Streptococcal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Diffuse, superficial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compresses, IV penicillin/cephalosporin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Puerperal — epidemic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MRSA spread by suckling neonate; purulent discharge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breastfeeding, antibiotics, surgery as needed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Puerperal — sporadic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 fissure + milk stasis → retrograde infection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breast (pump) + antibiotics → &gt;95% success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Zuska's disease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retro-areolar abscess; smoking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 + drainage; terminal duct resection can cure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Blastomycosis, sporotrichosis near NAC; Candida in folds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Antifungals; Candida: remove maceration + nystatin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Hidradenitis suppurativa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Montgomery/axillary sebaceous glands; mimics Paget's/cancer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 + I&amp;D; excision ± flaps/grafts if extensive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Mondor's disease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Thrombophlebitis of lateral thoracic / thoracoepigastric vein: tender cord; benign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NSAIDs + warm compresses (4–6 wk); biopsy if doubt; excise if refractory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4224528"/>
            <a:ext cx="8686800" cy="420624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4242816"/>
            <a:ext cx="854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non-resolving or recurrent "abscess" may be cancer — biopsy the wall. Postpartum remains the commonest time for breast infection; non-lactational infection is intrinsic (periductal mastitis) or extrinsic (infected sebaceous cyst).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ANDI — Aberrations of Normal Development &amp; Involution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56032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reproductive (15–25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&amp; stromal development; nipple eversion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Fibroadenoma; adolescent hypertrophy; nipple inversion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Giant fibroadenoma; gigantomastia; subareolar abscess; duct fistula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 reproductive (25–40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change; pregnancy hyperplasia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mastalgia; nodularity; bloody discharge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Incapacitating mastalgia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 (35–55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&amp; duct involution; epithelial turnover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Macrocysts; sclerosing lesions; duct ectasia; nipple retraction; hyperplasia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Periductal mastitis; epithelial hyperplasia with atypia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3317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Fibroadenoma — size defines the category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" y="2615184"/>
            <a:ext cx="2834640" cy="566928"/>
          </a:xfrm>
          <a:prstGeom prst="chevron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 cm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36392" y="2615184"/>
            <a:ext cx="2834640" cy="566928"/>
          </a:xfrm>
          <a:prstGeom prst="chevron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4" name="Text 9"/>
          <p:cNvSpPr/>
          <p:nvPr/>
        </p:nvSpPr>
        <p:spPr>
          <a:xfrm>
            <a:off x="3410712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cm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44184" y="2615184"/>
            <a:ext cx="2834640" cy="566928"/>
          </a:xfrm>
          <a:prstGeom prst="chevron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8504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 cm (giant) or &gt;5 lesions/breast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28600" y="3310128"/>
            <a:ext cx="2834640" cy="1344168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3364992"/>
            <a:ext cx="265176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301752" y="3589350"/>
            <a:ext cx="2706624" cy="10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conditions follow reproductive life &amp; involution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Spectrum: normal → disorder → disease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pathogenesis + degree of abnormality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3154680" y="3310128"/>
            <a:ext cx="2834640" cy="134416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46120" y="3364992"/>
            <a:ext cx="2651760" cy="1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5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Mastalgia &amp; Discharge</a:t>
            </a:r>
            <a:endParaRPr lang="en-US" sz="1045" dirty="0"/>
          </a:p>
        </p:txBody>
      </p:sp>
      <p:sp>
        <p:nvSpPr>
          <p:cNvPr id="20" name="Text 17"/>
          <p:cNvSpPr/>
          <p:nvPr/>
        </p:nvSpPr>
        <p:spPr>
          <a:xfrm>
            <a:off x="3227832" y="3585604"/>
            <a:ext cx="2706624" cy="1041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Premenstrual pain/nodularity = normal; &gt;1 week of cycle = disorder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bloody discharge may come from pregnancy epithelium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Fibroadenoma age 15–25; screening now finds them in older women</a:t>
            </a:r>
            <a:endParaRPr lang="en-US" sz="895" dirty="0"/>
          </a:p>
        </p:txBody>
      </p:sp>
      <p:sp>
        <p:nvSpPr>
          <p:cNvPr id="21" name="Shape 18"/>
          <p:cNvSpPr/>
          <p:nvPr/>
        </p:nvSpPr>
        <p:spPr>
          <a:xfrm>
            <a:off x="6080760" y="3310128"/>
            <a:ext cx="2834640" cy="1344168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3364992"/>
            <a:ext cx="265176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Involution</a:t>
            </a:r>
            <a:endParaRPr lang="en-US" sz="1070" dirty="0"/>
          </a:p>
        </p:txBody>
      </p:sp>
      <p:sp>
        <p:nvSpPr>
          <p:cNvPr id="23" name="Text 20"/>
          <p:cNvSpPr/>
          <p:nvPr/>
        </p:nvSpPr>
        <p:spPr>
          <a:xfrm>
            <a:off x="6153912" y="3589350"/>
            <a:ext cx="2706624" cy="10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Stroma involutes too fast → micro → macrocysts (common, no treatment)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Periductal fibrosis → nipple retraction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women ≥70 y show some hyperplasia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 Breast Disease — Histology Decides Cancer Risk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classification of benign lesions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197864"/>
            <a:ext cx="2834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197864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1720" y="1197864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1197864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298448"/>
            <a:ext cx="1325880" cy="1828800"/>
          </a:xfrm>
          <a:prstGeom prst="roundRect">
            <a:avLst>
              <a:gd name="adj" fmla="val 4138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16736"/>
            <a:ext cx="1234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NONPROLIFERATIVE (70%)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Cysts, apocrine metaplasia, duct ectasia, mild hyperplasia, calcifications, fibroadenoma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91540" y="3127248"/>
            <a:ext cx="0" cy="18288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331012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28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increased risk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1645920" y="1298448"/>
            <a:ext cx="1325880" cy="1828800"/>
          </a:xfrm>
          <a:prstGeom prst="roundRect">
            <a:avLst>
              <a:gd name="adj" fmla="val 4138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316736"/>
            <a:ext cx="1234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PROLIFERATIVE, NO ATYPIA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Sclerosing adenosis, radial scar/CSL, florid ductal hyperplasia, intraductal papilloma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308860" y="3127248"/>
            <a:ext cx="0" cy="18288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645920" y="331012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328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 hyperplasia 1.5–2×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3063240" y="1298448"/>
            <a:ext cx="1325880" cy="1828800"/>
          </a:xfrm>
          <a:prstGeom prst="roundRect">
            <a:avLst>
              <a:gd name="adj" fmla="val 4138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1316736"/>
            <a:ext cx="1234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ATYPICAL PROLIFERATIVE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ADH, ALH (low-grade DCIS / LCIS look-alikes)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726180" y="3127248"/>
            <a:ext cx="0" cy="18288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063240" y="331012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328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≈4× → counsel on risk reduction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22860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vs DCIS: ≤2–3 mm = ADH; &gt;3 mm = DCIS. E-cadherin is lost in lobular neoplasia, kept in most ductal lesions.</a:t>
            </a:r>
            <a:endParaRPr lang="en-US" sz="82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4617720" y="685800"/>
          <a:ext cx="4297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 Lesions — Features &amp; What To 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84048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Defining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Involutional, often multiple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Simple: rarely concerning; complex may hide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 ectasia / periductal mastitis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Dilated subareolar ducts, thick discharge; stasis → irritant leakage → inflammation → fibrosis → retraction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Spectrum: discharge, retraction, mass, abscess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Calcifications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benign (secretions, debris, trauma)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Suspicious: &lt;0.5 mm, varied shape/density, fine linear branching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 / adenoma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FA: abundant stroma, hormone-dependent; adenoma: sparse stroma (tubular, lactating); hamartoma 2–4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Benign; see treatment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Sclerosing adenosis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Distorted lobules ± mass; mimics cancer on exam, imaging, gross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only if imaging–pathology concordant; else excise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scar / complex sclerosing lesion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 cm vs &gt;1 cm; spiculated, cancer-like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"Benign" core = discordant → vacuum-assisted or open excision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 hyperplasia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 3–4 layers; moderate ≥5; florid fills ≥70% of lumen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Florid: risk 1.5–2×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Intraductal papilloma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ducts, usually &lt;0.5 cm; serous/bloody discharge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added risk unless atypia; multiple papillomas can transform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Resembles low-grade DCIS; ≤2–3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excise after core; risk 4× → risk-reduction counselling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ALH / LCIS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units distended by monomorphic cells; E-cadherin lost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 — see LCIS algorithm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44348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"Fibrocystic disease" is a non-specific label — name the actual histology.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Treating Common Benign Problems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3949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21-G needle + 10 mL syringe (image first; most US-guided). Non-bloody → aspirate to dryness, discard, re-palpate.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Bloody → cytology.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Residual mass / mass on US → core biopsy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+ core biopsy (may skip biopsy &lt;25 y). Excision, cryoablation, vacuum excision (&lt;3 cm) or observe; &gt;2 cm often stay palpable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Sclerosing lesions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 or large-volume (stereotactic/vacuum) sampling to exclude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Periductal mastitis / subareolar abscess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Aspirate (21-G), culture incl. anaerobes, polymicrobial antibiotics, repeat US aspiration; young → simple drainage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 inversion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ducts → complete duct division; warn: altered sensation, necrosis, re-retraction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694944"/>
          <a:ext cx="3154680" cy="914400"/>
        </p:xfrm>
        <a:graphic>
          <a:graphicData uri="http://schemas.openxmlformats.org/drawingml/2006/table">
            <a:tbl>
              <a:tblPr/>
              <a:tblGrid>
                <a:gridCol w="1577340"/>
                <a:gridCol w="15773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Fistulectomy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duct excision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abscess, one segment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Abscess &gt;50% of areola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Recurrence same segment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Recurrence different segment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Mild/no inversion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inversion / wants correction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Younger; no other discharge; no prior fistulectomy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Older; purulent discharge other ducts; recurrence after fistulectomy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760720" y="3200400"/>
            <a:ext cx="3154680" cy="144475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52160" y="3255264"/>
            <a:ext cx="297180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070" dirty="0"/>
          </a:p>
        </p:txBody>
      </p:sp>
      <p:sp>
        <p:nvSpPr>
          <p:cNvPr id="11" name="Text 7"/>
          <p:cNvSpPr/>
          <p:nvPr/>
        </p:nvSpPr>
        <p:spPr>
          <a:xfrm>
            <a:off x="5833872" y="3479622"/>
            <a:ext cx="3026664" cy="113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sepsis → fistulectomy at any age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sepsis or &gt;1 fistula → total duct excision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2–4 weeks of antibiotics before total duct excision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Risk, Genetics &amp; Pathology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&amp; models • screening • chemoprevention • BRCA • epidemiology • natural history • histopathology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Factors &amp; Hormone Replacement Therapy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394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148840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Hormonal ↑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menarche, nulliparity, late menopause, late first birth, obesity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cycles = more estrogen; term pregnancy differentiates; post-menopause fat aromatises androstenedione → estrone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Hormonal 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exercise, longer lactation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cycles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Mantle RT for Hodgkin (75×), atomic-bomb survivors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during adolescence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 (dose-related), long-term high-fat diet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estradiol / serum estrogen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WHI: 3–4× after &gt;4 y combined; E + P ↑ 26% vs placebo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in current users, rises with duration, not past users; falling HRT use → falling incidence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749040"/>
            <a:ext cx="5394960" cy="89611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3767328"/>
            <a:ext cx="5248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 US lifetime risk: 12% at birth, 11% at 50 y, 7% at 70 y — the longer you live cancer-free, the lower the remaining risk. HRT gave no significant coronary or cerebrovascular protection; estrogen + progesterone is worse than other regimens.</a:t>
            </a:r>
            <a:endParaRPr lang="en-US" sz="98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806440" y="685800"/>
          <a:ext cx="3108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Chart 1" descr=""/>
          <p:cNvGraphicFramePr/>
          <p:nvPr/>
        </p:nvGraphicFramePr>
        <p:xfrm>
          <a:off x="5806440" y="2697480"/>
          <a:ext cx="3108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Models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440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2240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(BCDDP)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menarche, age at 1st birth, biopsies, atypia, 1st-degree relatives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 &amp; lifetime risk; adapted for African American, Asian/Pacific;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excludes BRCA; not for LCIS/DCIS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1st/2nd-degree relatives + ages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by decade; ignores other factors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BRCAPRO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breast/ovarian family history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probability → age-specific risk; laborious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Tyrer–Cuzick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history + menarche, parity, menopause, atypia/LCIS, height, BMI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probability adjusted for personal factors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Manchester, BOADICEA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history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probability → genetic referral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694944"/>
          <a:ext cx="30632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relative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Menarche ≥14 / 12–13 / &lt;12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1.10 / 1.21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Biopsies &lt;50 y: 0 / 1 / ≥2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1.70 / 2.88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Biopsies ≥50 y: 0 / 1 / ≥2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 / 1.27 / 1.62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&lt;20 y (0/1/≥2 rel.)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2.61 / 6.80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20–24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/ 2.68 / 5.78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25–29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 / 2.76 / 4.91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≥30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 / 2.83 / 4.17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3794760"/>
            <a:ext cx="8686800" cy="85039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3849624"/>
            <a:ext cx="85039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depend on estimated risk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301752" y="4075481"/>
            <a:ext cx="8558784" cy="54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HRT use • age to start mammography / add MRI • tamoxifen chemoprevention • prophylactic mastectomy — communicate risk against competing risks and comorbidity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— Who, When &amp; With What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1206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86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Average-risk recommendation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USPSTF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Biennial mammography 50–74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 (2015)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45–54 (option 40–44); ≥55 biennial or annual while life expectancy ≥10 y; no routine CBE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NCCN (as cited)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mammography ≥40 y + annual CBE + breast awareness; CBE ≥3-yearly from 20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agree "high risk"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breast cancer, chest RT at young age, known/suspected pathogenic mutation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 MoH (no population mammography)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awareness + monthly BSE &gt;20 y • annual CBE by trained provider ≥30 y • diagnostic US/mammography &gt;40 y every 2 y • high risk: imaging earlier, annually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2743200"/>
            <a:ext cx="2514600" cy="1901952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798064"/>
            <a:ext cx="233172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vs harm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301752" y="3022422"/>
            <a:ext cx="2386584" cy="15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 y: </a:t>
            </a: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mortality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(HIP/BCDDP 33%)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Overdiagnosis ~11% vs ~20% mortality reduction → screening continues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834640" y="2743200"/>
            <a:ext cx="2514600" cy="190195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2798064"/>
            <a:ext cx="233172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&lt;50 y is debated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2907792" y="3022422"/>
            <a:ext cx="2386584" cy="15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 breasts → ↓ sensitivity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false positives; lower incidence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→ abnormal mammogram 3× likelier cancer at 40–49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5486400" y="694944"/>
            <a:ext cx="3429000" cy="2395728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749808"/>
            <a:ext cx="32461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screening (ACS)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5559552" y="975665"/>
            <a:ext cx="3300984" cy="208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risk ≥20–25% (family-history models)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 carrier or untested 1st-degree relative of carrier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RT between ages 10–30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Li-Fraumeni, Cowden, Bannayan-Riley-Ruvalcaba (or 1st-degree relative)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sensitive, density-independent; moderate specificity → more biopsies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5486400" y="3163824"/>
            <a:ext cx="3429000" cy="1481328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3218688"/>
            <a:ext cx="32461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080" dirty="0"/>
          </a:p>
        </p:txBody>
      </p:sp>
      <p:sp>
        <p:nvSpPr>
          <p:cNvPr id="20" name="Text 16"/>
          <p:cNvSpPr/>
          <p:nvPr/>
        </p:nvSpPr>
        <p:spPr>
          <a:xfrm>
            <a:off x="5559552" y="3444545"/>
            <a:ext cx="3300984" cy="117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independently predicts risk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can supplement dense breasts — no proven mortality benefit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Chemoprevention &amp; Risk-Reducing Surgery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685800"/>
          <a:ext cx="39319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297680" y="694944"/>
            <a:ext cx="4617720" cy="1773936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749808"/>
            <a:ext cx="44348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(SERM) — first proven preventive drug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4370832" y="972668"/>
            <a:ext cx="4489704" cy="146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(&gt;13,000; Gail ≥1.66% or LCIS): −49% invasive cancer — ER+ only; no mortality effect shown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Indication: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Gail 5-y risk ≥1.66% age 35–59 (and older), or LCIS / ADH / ALH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Harms: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DVT ×1.6, PE ×3.0, endometrial cancer ×2.5, cataract ~2×, hot flashes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228600" y="2560320"/>
            <a:ext cx="3931920" cy="208483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615184"/>
            <a:ext cx="374904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after menopause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301752" y="2839542"/>
            <a:ext cx="3803904" cy="177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Raloxifene (STAR, n = 19,747):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76% of tamoxifen efficacy, fewer adverse events, less endometrial cancer; does NOT reduce LCIS/DCIS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Aromatase inhibitors: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MAP.3 −65%; IBIS-II ~−50%; arthralgia, hot flashes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ASCO: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tamoxifen pre/post-menopause; raloxifene or exemestane post-menopause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4297680" y="2560320"/>
            <a:ext cx="4617720" cy="2084832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2615184"/>
            <a:ext cx="443484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surgery</a:t>
            </a:r>
            <a:endParaRPr lang="en-US" sz="1070" dirty="0"/>
          </a:p>
        </p:txBody>
      </p:sp>
      <p:sp>
        <p:nvSpPr>
          <p:cNvPr id="16" name="Text 13"/>
          <p:cNvSpPr/>
          <p:nvPr/>
        </p:nvSpPr>
        <p:spPr>
          <a:xfrm>
            <a:off x="4370832" y="2839542"/>
            <a:ext cx="4489704" cy="177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Prophylactic mastectomy: &gt;90% risk reduction (retrospective); poor QoL data; some regret cosmetic results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 carriers: ~3 years of life gained; highly effective in BRCA1 and 2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Salpingo-oophorectomy ↓ ovarian + breast cancer and breast/ovarian/all-cause mortality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benefit unproven in non-carriers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Hereditary Breast Cancer — BRCA1 vs BRCA2 &amp; Other Genes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577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103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17q; 22 exons; &gt;500 variants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13q; 26 exons; &gt;250 mutations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hereditary 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(≥80% of hereditary ovarian)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breast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85%; average 60–70%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85%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ovarian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 type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Poorly differentiated, mostly triple-negative/basal, medullary; ~66% of DCIS ER−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differentiated, HR+ more often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cancers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Ovary; possibly colon, prostate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Ovary, colon, prostate, pancreas, biliary, stomach, melanoma;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BC 6%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mutations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185delAG, 5382insC (Ashkenazi)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6174delT (Ashkenazi); 999del5 (Iceland)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694944"/>
          <a:ext cx="29718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920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PALB2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 33–58% by 70 y (≈BRCA2); mammogram + MRI from 30; consider RRM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PTEN (Cowden)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Thyroid, GI cancers, skin nodules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TP53 (Li-Fraumeni)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Sarcoma, lymphoma, adrenocortical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CDH1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 gastric + lobular 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STK11, MLH1/MSH2, ATM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testing — use a genetic counsellor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4069080"/>
            <a:ext cx="8686800" cy="57607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1752" y="4087368"/>
            <a:ext cx="8540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to 5% of breast cancers are BRCA-driven: autosomal dominant, variable penetrance, tumour-suppressor genes needing loss of both alleles (DNA repair, transcription, cell-cycle control). Sporadic 65–75%, familial 20–30%, hereditary 5–10%.</a:t>
            </a:r>
            <a:endParaRPr lang="en-US" sz="9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Testing Pathway &amp; Managing BRCA Carriers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4069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hereditary risk: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Ashkenazi ancestry • 1st-degree relative &lt;50 y • ovarian cancer (any age) • breast + ovarian in one person • ≥2 affected relatives • bilateral BC • male BC in family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304288" y="1581912"/>
            <a:ext cx="0" cy="13716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719072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→ test an </a:t>
            </a:r>
            <a:r>
              <a:rPr lang="en-US" sz="94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</a:t>
            </a:r>
            <a:r>
              <a:rPr lang="en-US" sz="94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relative first (Ashkenazi: 3 founder mutations first) → relatives tested for that mutation only</a:t>
            </a:r>
            <a:endParaRPr lang="en-US" sz="945" dirty="0"/>
          </a:p>
        </p:txBody>
      </p:sp>
      <p:sp>
        <p:nvSpPr>
          <p:cNvPr id="12" name="Shape 10"/>
          <p:cNvSpPr/>
          <p:nvPr/>
        </p:nvSpPr>
        <p:spPr>
          <a:xfrm>
            <a:off x="2304288" y="22219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336292"/>
            <a:ext cx="284378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" y="23362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04288" y="23362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30752" y="23362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2450592"/>
            <a:ext cx="1325880" cy="841248"/>
          </a:xfrm>
          <a:prstGeom prst="roundRect">
            <a:avLst>
              <a:gd name="adj" fmla="val 652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6888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strategies →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0" y="2450592"/>
            <a:ext cx="1325880" cy="841248"/>
          </a:xfrm>
          <a:prstGeom prst="roundRect">
            <a:avLst>
              <a:gd name="adj" fmla="val 652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46888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False-negative &lt;5%; phenocopy if affected ≥60 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63240" y="2450592"/>
            <a:ext cx="1325880" cy="841248"/>
          </a:xfrm>
          <a:prstGeom prst="roundRect">
            <a:avLst>
              <a:gd name="adj" fmla="val 652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46888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INDETERMINATE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(missense variants)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" y="3383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testing threshold in high-prevalence ethnic groups. US HIPAA (1996) bars treating genetic information as a pre-existing condition.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69494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risk-management strategies for carriers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4343400" cy="859536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149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Surveillance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45152" y="12288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CBE every 6 mo + mammogram yearly from 25 y; annual MRI (young dense breasts)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4572000" y="1874520"/>
            <a:ext cx="4343400" cy="859536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9293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Chemoprevention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45152" y="21432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−62% in BRCA2; no benefit in BRCA1 started ≥35 y — not uniformly advised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4572000" y="2788920"/>
            <a:ext cx="4343400" cy="859536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8437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Risk-reducing mastectomy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45152" y="30576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reduction; some tissue + the germline defect remain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4572000" y="3703320"/>
            <a:ext cx="4343400" cy="859536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7581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Salpingo-oophorectomy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45152" y="39720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35–40 y after childbearing (ovarian risk 20–40%); ↓ ovarian + breast cancer &amp; mortality. Deferred → yearly TVUS + CA-125 from 25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228600" y="3886200"/>
            <a:ext cx="4160520" cy="75895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3904488"/>
            <a:ext cx="40142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use Gail in carriers • avoid HRT if breasts retained (no data) • a negative test in an unaffected person is uninformative unless the family mutation is known.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Epidemiology &amp; Natural History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685800"/>
          <a:ext cx="29260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246120" y="694944"/>
            <a:ext cx="5669280" cy="1956816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749808"/>
            <a:ext cx="5486400" cy="188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5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— global &amp; Ethiopia</a:t>
            </a:r>
            <a:endParaRPr lang="en-US" sz="1015" dirty="0"/>
          </a:p>
        </p:txBody>
      </p:sp>
      <p:sp>
        <p:nvSpPr>
          <p:cNvPr id="10" name="Text 7"/>
          <p:cNvSpPr/>
          <p:nvPr/>
        </p:nvSpPr>
        <p:spPr>
          <a:xfrm>
            <a:off x="3319272" y="965924"/>
            <a:ext cx="5541264" cy="165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2020: &gt;2.2 million cases — commonest cancer; 11.7% of new cancers and 15% of cancer deaths in women, mostly in low/middle-income countries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leading cancer — 16,133 cases (20.9% of all; ⅓ of cancers in women); mortality/incidence ratio ≈0.6 (late stage)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65–75% present at stage III–IV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(high-income: &gt;70% at stage I–II) — low awareness, traditional medicine, misdiagnosis, distance, cost, waiting times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women: younger, more ER-negative, higher mortality; male cancer up to 6% (0.5–1% elsewhere)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lifetime risk 1 in 8; 5-y survival 63→92% (White), 46→78% (African American) with screening + adjuvant therapy</a:t>
            </a:r>
            <a:endParaRPr lang="en-US" sz="865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228600" y="2724912"/>
          <a:ext cx="29260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46120" y="2724912"/>
            <a:ext cx="5669280" cy="192024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2779776"/>
            <a:ext cx="548640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history</a:t>
            </a:r>
            <a:endParaRPr lang="en-US" sz="1060" dirty="0"/>
          </a:p>
        </p:txBody>
      </p:sp>
      <p:sp>
        <p:nvSpPr>
          <p:cNvPr id="14" name="Text 10"/>
          <p:cNvSpPr/>
          <p:nvPr/>
        </p:nvSpPr>
        <p:spPr>
          <a:xfrm>
            <a:off x="3319272" y="3002636"/>
            <a:ext cx="5541264" cy="161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Untreated: median survival 2.7 y; 5-y 18%, 10-y 3.6%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Desmoplasia shortens Cooper's ligaments → dimpling; lymphatic block → peau d'orange → ulceration, satellites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Node-negative &lt;30% vs node-positive up to 75% recurrence; ~95% of deaths have distant disease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Angiogenesis at 20th doubling; implantation &gt;0.5 cm (27th); 60% of metastases within 5 y, some at 20–30 y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Sites: bone &gt; lung &gt; pleura &gt; soft tissue &gt; liver; brain more in TNBC/HER2+</a:t>
            </a:r>
            <a:endParaRPr lang="en-US" sz="91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Carcinoma In Situ — LCIS vs DCIS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44–47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54–58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biopsies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signs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incidental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Mass, pain, discharge, microcalcification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Premenopausal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 invasion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2–46%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Multicentric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60–90%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Axillary metastasis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 invasive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25–35%,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breast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15–20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25–70%,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breast/quadrant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5–10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that follows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65% ductal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female only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Precursor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of IDC (RR ≈5×); ~5% of male 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694944"/>
            <a:ext cx="2560320" cy="13716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749808"/>
            <a:ext cx="23774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6428232" y="972668"/>
            <a:ext cx="2432304" cy="10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situ = within basement membrane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Multicentric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other quadrant (≥4 cm away)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Multifocal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same quadrant / &lt;4 cm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6355080" y="2139696"/>
            <a:ext cx="2560320" cy="123444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194560"/>
            <a:ext cx="23774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histology</a:t>
            </a:r>
            <a:endParaRPr lang="en-US" sz="1060" dirty="0"/>
          </a:p>
        </p:txBody>
      </p:sp>
      <p:sp>
        <p:nvSpPr>
          <p:cNvPr id="13" name="Text 10"/>
          <p:cNvSpPr/>
          <p:nvPr/>
        </p:nvSpPr>
        <p:spPr>
          <a:xfrm>
            <a:off x="6428232" y="2417420"/>
            <a:ext cx="2432304" cy="9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TDLUs distended by uniform cells; mucoid globules; E-cadherin lost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LCIS: calcifies, mimics high-grade DCIS</a:t>
            </a:r>
            <a:endParaRPr lang="en-US" sz="910" dirty="0"/>
          </a:p>
        </p:txBody>
      </p:sp>
      <p:sp>
        <p:nvSpPr>
          <p:cNvPr id="14" name="Shape 11"/>
          <p:cNvSpPr/>
          <p:nvPr/>
        </p:nvSpPr>
        <p:spPr>
          <a:xfrm>
            <a:off x="6355080" y="3447288"/>
            <a:ext cx="2560320" cy="119786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502152"/>
            <a:ext cx="23774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effect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6428232" y="3725012"/>
            <a:ext cx="2432304" cy="89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situ: &lt;6% → 45% of cancers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flipped: LCIS&gt;DCIS 2:1 → DCIS&gt;LCIS 2:1</a:t>
            </a:r>
            <a:endParaRPr lang="en-US" sz="91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DCIS — Growth Patterns, Grade &amp; Progression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583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nuclear grade and necrosis  →  higher risk of recurrence / progression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4846320" cy="0"/>
          </a:xfrm>
          <a:prstGeom prst="line">
            <a:avLst/>
          </a:prstGeom>
          <a:noFill/>
          <a:ln w="25400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517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finger-like growths into the lumen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 rot="5400000">
            <a:off x="1131753" y="1552103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8100000">
            <a:off x="1055370" y="1736507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870966" y="1812889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3500000">
            <a:off x="686562" y="1736507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6200000">
            <a:off x="610179" y="1552103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8900000">
            <a:off x="686562" y="1367698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966" y="1291316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1055370" y="1367698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77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Papillary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17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Non-comedo → LOW grade (no necrosis)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161391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lumen filled; punched-out round spaces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1831086" y="1261872"/>
            <a:ext cx="841248" cy="841248"/>
          </a:xfrm>
          <a:prstGeom prst="ellipse">
            <a:avLst/>
          </a:prstGeom>
          <a:solidFill>
            <a:srgbClr val="AFC3DE"/>
          </a:solidFill>
          <a:ln/>
        </p:spPr>
      </p:sp>
      <p:sp>
        <p:nvSpPr>
          <p:cNvPr id="23" name="Shape 21"/>
          <p:cNvSpPr/>
          <p:nvPr/>
        </p:nvSpPr>
        <p:spPr>
          <a:xfrm>
            <a:off x="2183130" y="1427304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60412" y="1548602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95097" y="1763206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71163" y="1763206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5848" y="1548602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83130" y="1632577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9451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7734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Cribriform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1391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Non-comedo → LOW grade (no necrosis)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296265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cells obliterate the lumen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3179826" y="1261872"/>
            <a:ext cx="841248" cy="841248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4" name="Shape 32"/>
          <p:cNvSpPr/>
          <p:nvPr/>
        </p:nvSpPr>
        <p:spPr>
          <a:xfrm>
            <a:off x="3615741" y="164820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02894" y="170627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75640" y="1537747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46274" y="1752078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19593" y="1622862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4480" y="155927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0750" y="1821108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6507" y="147839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58716" y="1716850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67116" y="173239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60474" y="144149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39724" y="1874320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50249" y="152639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17067" y="1589742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15560" y="186867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6733" y="137498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86749" y="1828378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73326" y="166512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76213" y="143179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7520" y="195771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58096" y="1408421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89189" y="1685034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97232" y="184390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33399" y="131501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5628" y="194526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26341" y="154874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4325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96265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grade (focal / no necrosis)</a:t>
            </a:r>
            <a:endParaRPr lang="en-US" sz="730" dirty="0"/>
          </a:p>
        </p:txBody>
      </p:sp>
      <p:sp>
        <p:nvSpPr>
          <p:cNvPr id="63" name="Text 61"/>
          <p:cNvSpPr/>
          <p:nvPr/>
        </p:nvSpPr>
        <p:spPr>
          <a:xfrm>
            <a:off x="431139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necrosis + calcification</a:t>
            </a:r>
            <a:endParaRPr lang="en-US" sz="730" dirty="0"/>
          </a:p>
        </p:txBody>
      </p:sp>
      <p:sp>
        <p:nvSpPr>
          <p:cNvPr id="64" name="Shape 62"/>
          <p:cNvSpPr/>
          <p:nvPr/>
        </p:nvSpPr>
        <p:spPr>
          <a:xfrm>
            <a:off x="4528566" y="1261872"/>
            <a:ext cx="841248" cy="84124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65" name="Shape 63"/>
          <p:cNvSpPr/>
          <p:nvPr/>
        </p:nvSpPr>
        <p:spPr>
          <a:xfrm>
            <a:off x="4728362" y="1461668"/>
            <a:ext cx="441655" cy="441655"/>
          </a:xfrm>
          <a:prstGeom prst="ellipse">
            <a:avLst/>
          </a:prstGeom>
          <a:solidFill>
            <a:srgbClr val="E8DDB5"/>
          </a:solidFill>
          <a:ln w="12700">
            <a:solidFill>
              <a:srgbClr val="8A7A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17770" y="1568196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67" name="Shape 65"/>
          <p:cNvSpPr/>
          <p:nvPr/>
        </p:nvSpPr>
        <p:spPr>
          <a:xfrm>
            <a:off x="4816602" y="1677924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68" name="Shape 66"/>
          <p:cNvSpPr/>
          <p:nvPr/>
        </p:nvSpPr>
        <p:spPr>
          <a:xfrm>
            <a:off x="4972050" y="1769364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69" name="Shape 67"/>
          <p:cNvSpPr/>
          <p:nvPr/>
        </p:nvSpPr>
        <p:spPr>
          <a:xfrm>
            <a:off x="4898898" y="1531620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70" name="Shape 68"/>
          <p:cNvSpPr/>
          <p:nvPr/>
        </p:nvSpPr>
        <p:spPr>
          <a:xfrm>
            <a:off x="5054346" y="1714500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71" name="Shape 69"/>
          <p:cNvSpPr/>
          <p:nvPr/>
        </p:nvSpPr>
        <p:spPr>
          <a:xfrm>
            <a:off x="4853178" y="1778508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72" name="Shape 70"/>
          <p:cNvSpPr/>
          <p:nvPr/>
        </p:nvSpPr>
        <p:spPr>
          <a:xfrm>
            <a:off x="449199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7482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31139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 → HIGH grade (extensive necrosis)</a:t>
            </a:r>
            <a:endParaRPr lang="en-US" sz="73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1752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 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Necrosis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(mixed)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/ absent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Non-comedo (solid, cribriform, papillary, micropapillary)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" name="Shape 73"/>
          <p:cNvSpPr/>
          <p:nvPr/>
        </p:nvSpPr>
        <p:spPr>
          <a:xfrm>
            <a:off x="5806440" y="694944"/>
            <a:ext cx="3108960" cy="224942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897880" y="749808"/>
            <a:ext cx="292608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070" dirty="0"/>
          </a:p>
        </p:txBody>
      </p:sp>
      <p:sp>
        <p:nvSpPr>
          <p:cNvPr id="78" name="Text 75"/>
          <p:cNvSpPr/>
          <p:nvPr/>
        </p:nvSpPr>
        <p:spPr>
          <a:xfrm>
            <a:off x="5879592" y="974166"/>
            <a:ext cx="2980944" cy="19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lines minor ducts (papillary)</a:t>
            </a:r>
            <a:endParaRPr lang="en-US" sz="920" dirty="0"/>
          </a:p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Coalescence leaves round spaces; atypia, loss of polarity (cribriform)</a:t>
            </a:r>
            <a:endParaRPr lang="en-US" sz="920" dirty="0"/>
          </a:p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cells with mitoses fill lumen (solid)</a:t>
            </a:r>
            <a:endParaRPr lang="en-US" sz="920" dirty="0"/>
          </a:p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outstrips blood supply → necrosis + calcification seen on mammogram (comedo)</a:t>
            </a:r>
            <a:endParaRPr lang="en-US" sz="920" dirty="0"/>
          </a:p>
        </p:txBody>
      </p:sp>
      <p:sp>
        <p:nvSpPr>
          <p:cNvPr id="79" name="Shape 76"/>
          <p:cNvSpPr/>
          <p:nvPr/>
        </p:nvSpPr>
        <p:spPr>
          <a:xfrm>
            <a:off x="5806440" y="3017520"/>
            <a:ext cx="3108960" cy="162763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897880" y="3072384"/>
            <a:ext cx="292608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70" dirty="0"/>
          </a:p>
        </p:txBody>
      </p:sp>
      <p:sp>
        <p:nvSpPr>
          <p:cNvPr id="81" name="Text 78"/>
          <p:cNvSpPr/>
          <p:nvPr/>
        </p:nvSpPr>
        <p:spPr>
          <a:xfrm>
            <a:off x="5879592" y="3296742"/>
            <a:ext cx="2980944" cy="132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grade + necrosis → more recurrence/progression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DCIS lacks atypia — hard to separate from hyperplasia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invasion is easily missed → examine multiple sections</a:t>
            </a:r>
            <a:endParaRPr lang="en-US" sz="920" dirty="0"/>
          </a:p>
        </p:txBody>
      </p:sp>
      <p:sp>
        <p:nvSpPr>
          <p:cNvPr id="82" name="Text 79"/>
          <p:cNvSpPr/>
          <p:nvPr/>
        </p:nvSpPr>
        <p:spPr>
          <a:xfrm>
            <a:off x="228600" y="42245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drives local therapy: high-grade DCIS is not suitable for excision alone.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Invasive Breast Cancer — Histologic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6400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02920"/>
                <a:gridCol w="4663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(share)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 NST (80%)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stellate mass, chalky streaks; nodes + in ≤25% screen-detected, ≤60% symptomatic; worse than special types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(10%)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Single-file cells, signet-ring; multifocal, multicentric, bilateral; subtle on mammogram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Medullary (4%)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Soft, bulky, haemorrhagic; lymphoplasmacytic infiltrate; BRCA1 phenotype; reactive nodes mislead; better 5-y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Mucinous (2%)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women; gelatinous; nodes 33%; 5/10-y survival 73/59%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Papillary (2%)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7th decade; &lt;3 cm; low nodal rate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Tubular (2%)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20% of screen-detected; nodes ~10%; survival ≈100%; cribriform related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Paget's of nipple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Eczema → ulcerated nipple; Paget cells; with DCIS ± invasion; nipple biopsy; CEA+ (melanoma S-100+)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6766560" y="685800"/>
          <a:ext cx="2148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228600" y="42976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types (~10%) need ≥90% of tumour showing the defining feature. Rare types: adenoid cystic, squamous, apocrine (see Section VI).</a:t>
            </a:r>
            <a:endParaRPr lang="en-US" sz="8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&amp; Staging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assessment • clinical exam • imaging • tissue diagnosis • discharge &amp; occult primary • TNM • work-up • biomarkers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Assessment — The Diagnostic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76656"/>
            <a:ext cx="8686800" cy="329184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9494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/ abnormal imaging / nipple or skin change → TRIPLE ASSESSMENT (image before any needle) • Ethiopia: refer any woman &gt;30 y with a sign — full diagnosis within 60 days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8488" y="1078992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25512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52144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70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CLINICAL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426464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444752"/>
            <a:ext cx="2697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lump (~30%), nipple change/discharge, skin change, axillary mass, risk factors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seated in 4 positions; palpate supine, all 3 axillary levels + supraclavicular + parasternal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site, size, consistency, shape, mobility, fixation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182112" y="1152144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170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IMAGING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82112" y="1426464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444752"/>
            <a:ext cx="2697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mammogram (CC + MLO ± spot/magnification) + ultrasound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cyst vs solid; guides biopsy; axillary node look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≤45 + palpable mass + equivocal mammogram → US + biopsy (avoid delay)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MRI: selected problems only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135624" y="1152144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170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PATHOLOGY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35624" y="1426464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444752"/>
            <a:ext cx="2697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Core-needle biopsy PREFERRED (14-G; architecture, invasion, ER/PR/HER2); Ethiopia: US-guided CNB where available, else incisional biopsy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 (22-G) if clinically + radiologically suspicious; false-negative 4–27% → negative FNAC never excludes cancer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core (8–10 G) for calcifications; ALWAYS leave a clip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1618488" y="279806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79806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5512" y="279806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18488" y="2862072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86207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377440" y="2926080"/>
            <a:ext cx="4389120" cy="292608"/>
          </a:xfrm>
          <a:prstGeom prst="roundRect">
            <a:avLst>
              <a:gd name="adj" fmla="val 1875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CONCORDANCE?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 clinical, imaging and pathology findings agree?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572000" y="321868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18488" y="3282696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18488" y="32826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572000" y="32826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25512" y="32826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28600" y="3346704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36499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 BENIGN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/ treat benign condition (cyst: aspirate; FA: observe or excise)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3346704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27832" y="336499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 MALIGNANT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(clinical + imaging) + ER/PR/HER2 → MDT → one definitive operation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35624" y="3346704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336499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/ atypia / radial scar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review → vacuum-assisted or open (excisional) biopsy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4078224"/>
            <a:ext cx="8686800" cy="585216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4096512"/>
            <a:ext cx="8540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benign core does NOT exclude cancer (sampling error) • needling before imaging creates artefact • clinical axillary exam is only ~33% accurate • up to 50% with breast complaints have no physical sign and pain usually means benign disease — yet missed cancer (often young women) is the commonest diagnostic malpractice claim.</a:t>
            </a:r>
            <a:endParaRPr lang="en-US" sz="9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Assessment — History &amp; Examination Sequence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2743200" cy="12435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8046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804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" y="12070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Lump, asymmetry, nipple retraction/discharge, skin ulcer/erythema, axillary mass, pain; risk factors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71800" y="13533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54680" y="731520"/>
            <a:ext cx="2743200" cy="12435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8046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804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(seated)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64408" y="12070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at sides • arms raised • hands on hips ± pectoral contraction • leaning forward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897880" y="13533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731520"/>
            <a:ext cx="2743200" cy="12435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8046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804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0488" y="12070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Symmetry, size, shape, peau d'orange, nipple or skin retraction, erythema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28600" y="2103120"/>
            <a:ext cx="2743200" cy="124358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" y="21762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2176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Palpation (supine)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8328" y="25786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Palmar surface of fingers, no pinching; sternum → latissimus, clavicle → rectus sheath; mould breast to show retraction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971800" y="27249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154680" y="2103120"/>
            <a:ext cx="2743200" cy="124358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27832" y="21762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2783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0" y="2176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basins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64408" y="25786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levels I–III (support the arm), supraclavicular, parasternal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897880" y="27249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080760" y="2103120"/>
            <a:ext cx="2743200" cy="124358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53912" y="21762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391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83680" y="2176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90488" y="25786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site, size, consistency, shape, mobility, fixation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228600" y="3529584"/>
            <a:ext cx="4251960" cy="111556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584448"/>
            <a:ext cx="4069080" cy="1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facts</a:t>
            </a:r>
            <a:endParaRPr lang="en-US" sz="1090" dirty="0"/>
          </a:p>
        </p:txBody>
      </p:sp>
      <p:sp>
        <p:nvSpPr>
          <p:cNvPr id="43" name="Text 41"/>
          <p:cNvSpPr/>
          <p:nvPr/>
        </p:nvSpPr>
        <p:spPr>
          <a:xfrm>
            <a:off x="301752" y="3811803"/>
            <a:ext cx="4123944" cy="805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of women find a lump themselves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50% with breast complaints have no physical sign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usually means benign disease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4663440" y="3529584"/>
            <a:ext cx="4251960" cy="1115568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584448"/>
            <a:ext cx="4069080" cy="1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90" dirty="0"/>
          </a:p>
        </p:txBody>
      </p:sp>
      <p:sp>
        <p:nvSpPr>
          <p:cNvPr id="46" name="Text 44"/>
          <p:cNvSpPr/>
          <p:nvPr/>
        </p:nvSpPr>
        <p:spPr>
          <a:xfrm>
            <a:off x="4736592" y="3811803"/>
            <a:ext cx="4123944" cy="805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cancer = commonest diagnostic malpractice claim (young women)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≤45 + palpable mass + equivocal mammogram → US + biopsy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axillary assessment only ~33% accurate</a:t>
            </a:r>
            <a:endParaRPr lang="en-US" sz="9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 Modalities — What Each Adds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480560"/>
                <a:gridCol w="3017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/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cGy/study; no measurable risk. Screening CC + MLO (MLO: most tissue incl. UOQ &amp; tail). Diagnostic adds 90° lateral, spot ± magnification. Signs: spiculated mass, asymmetric thickening, clustered fine microcalcifications (≤50% of non-palpable cancers)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True-positive 90%; node mets in 20% non-palpable vs 50% palpable cancers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/ DBT / CEDM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= film overall, better &lt;50 y, dense, pre/perimenopausal (DMIST). Tomosynthesis: 0.5-mm slices, ↑ detection ↓ recall; synthetic 2D-3D = less dose. Contrast mammography ≈ MRI detection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CEDM usable with pacemakers/expanders; cheaper, faster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Ultrasound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Cyst: echo-free, smooth. Benign solid: round/oval, weak echoes. Cancer: irregular walls. Abnormal node: cortical thickening, round, &gt;10 mm, lost fatty hilum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Resolves equivocal mammograms, guides biopsy; misses ≤1 cm; axilla sens 35–82%, spec 73–97%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coils + BI-RADS; MRI-only lesion → focused US → MRI-guided biopsy. Finds contralateral cancer in 5.7%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Occult primary, neoadjuvant response, APBI selection, recurrence in treated breast, high-risk screening. COMICE: no fewer re-operations; more mastectomies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Ductography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Cannulate 1 duct, 0.1–0.2 mL contrast, no compression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Papilloma = small filling defect; cancer = irregular mass / multiple defects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Tissue Diagnosis — Non-palpable &amp; Palpable Lesions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84632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Non-palpable abnormality (mass, microcalcification, distortion)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005840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078992"/>
            <a:ext cx="32918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52144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7043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on 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US-guided core biopsy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74520" y="1152144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17043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Calcification / distortion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stereotactic vacuum core; X-ray the cores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1152144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17043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radiopaque clip at biopsy site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1865376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1865376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1865376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1938528"/>
            <a:ext cx="32918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1938528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00200" y="20116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+ concordance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2651760" y="2286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2350008"/>
            <a:ext cx="32918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235000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51760" y="235000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297680" y="235000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28600" y="2414016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432304"/>
            <a:ext cx="146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stage + biomarkers → plan ONE operation (wire/seed localisation, specimen X-ray)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1874520" y="2414016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2432304"/>
            <a:ext cx="146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&amp; concordant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imaging follow-up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3520440" y="2414016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2432304"/>
            <a:ext cx="146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/ atypia / radial scar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larger sample or excision</a:t>
            </a:r>
            <a:endParaRPr lang="en-US" sz="94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694944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FNA (palpable)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22-G, 10-mL syringe; suction while moving; air-dried + 95% ethanol smears; no architecture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(14-G)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Tru-Cut/automated; shows invasion + receptors; preferred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Vacuum-assisted (8–10 G)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 cores; calcifications; clip if lesion removed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for discordant needle results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228600" y="3401568"/>
            <a:ext cx="4846320" cy="1243584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0040" y="3456432"/>
            <a:ext cx="466344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core beats open biopsy</a:t>
            </a:r>
            <a:endParaRPr lang="en-US" sz="1080" dirty="0"/>
          </a:p>
        </p:txBody>
      </p:sp>
      <p:sp>
        <p:nvSpPr>
          <p:cNvPr id="41" name="Text 38"/>
          <p:cNvSpPr/>
          <p:nvPr/>
        </p:nvSpPr>
        <p:spPr>
          <a:xfrm>
            <a:off x="301752" y="3682289"/>
            <a:ext cx="4718304" cy="93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complications, minimal scar, cheaper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definitive cancer operation can be planned from the result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mammogram + US/stereotactic sampling ≈ 100% accurate</a:t>
            </a:r>
            <a:endParaRPr lang="en-US" sz="930" dirty="0"/>
          </a:p>
        </p:txBody>
      </p:sp>
      <p:sp>
        <p:nvSpPr>
          <p:cNvPr id="42" name="Shape 39"/>
          <p:cNvSpPr/>
          <p:nvPr/>
        </p:nvSpPr>
        <p:spPr>
          <a:xfrm>
            <a:off x="5257800" y="3401568"/>
            <a:ext cx="3657600" cy="1243584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349240" y="3456432"/>
            <a:ext cx="34747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080" dirty="0"/>
          </a:p>
        </p:txBody>
      </p:sp>
      <p:sp>
        <p:nvSpPr>
          <p:cNvPr id="44" name="Text 41"/>
          <p:cNvSpPr/>
          <p:nvPr/>
        </p:nvSpPr>
        <p:spPr>
          <a:xfrm>
            <a:off x="5330952" y="3682289"/>
            <a:ext cx="3529584" cy="93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core ≠ no cancer (sampling error)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Discordance → MDT → image-guided or open biopsy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"One-step" consent for mastectomy is obsolete</a:t>
            </a:r>
            <a:endParaRPr lang="en-US" sz="9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Algorithms — Nipple Discharge &amp; Occult Axillary Primary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583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 discharge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 the discharge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331720" y="118872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1252728"/>
            <a:ext cx="219456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125272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29000" y="125272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31673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35024"/>
            <a:ext cx="192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Spontaneous, unilateral, single duct, age ≥40, bloody, or with mass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423160" y="131673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335024"/>
            <a:ext cx="192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BENIGN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Bilateral, multiductal, age ≤39, milky or blue-green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1234440" y="218541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29000" y="218541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2313432"/>
            <a:ext cx="2011680" cy="1417320"/>
          </a:xfrm>
          <a:prstGeom prst="roundRect">
            <a:avLst>
              <a:gd name="adj" fmla="val 387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331720"/>
            <a:ext cx="1920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Mammogram + US ± ductogram (papilloma = filling defect)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 the offending duct ± mass (lacrimal probe or methylene blue; wire/seed if mass &gt;2–3 cm from nipple)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423160" y="2313432"/>
            <a:ext cx="2011680" cy="1417320"/>
          </a:xfrm>
          <a:prstGeom prst="roundRect">
            <a:avLst>
              <a:gd name="adj" fmla="val 387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331720"/>
            <a:ext cx="1920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prolactin — pituitary adenoma &lt;2% (large: optic compression, field loss, infertility); if raised → sella imaging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drugs; reassure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22860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Haemoglobin testing helps but is also positive with papilloma/ectasia; definitive diagnosis = excision.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709160" y="6583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metastasis, unknown primary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9144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326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harbour an occult breast cancer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(yet only 1% of breast cancers present this way)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1371600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709160" y="1499616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51790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 / core of node; IHC: epithelial vs melanocytic vs lymphoid. ER/PR+ suggests (not proves) breast origin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12280" y="2066544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09160" y="219456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21284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thyroid, breast, pelvis + rectum; diagnostic mammogram, US and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chest X-ray, LFTs (± chest/abdomen/bone imaging if stage III extent)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12280" y="29077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709160" y="3035808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lesion found → biopsy → ALND + mastectomy, or BCS + whole-breast RT; consider chemotherapy + endocrine therapy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4206240"/>
            <a:ext cx="8686800" cy="43891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4224528"/>
            <a:ext cx="8540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dismiss a single-duct, spontaneous or bloody discharge in a woman ≥40 as benign; do not treat an occult-primary axilla as lymphoma/unknown primary before breast MRI.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AJCC 8th Edition TNM — T, N and 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20493" y="1472184"/>
            <a:ext cx="27432" cy="27432"/>
          </a:xfrm>
          <a:prstGeom prst="ellipse">
            <a:avLst/>
          </a:prstGeom>
          <a:solidFill>
            <a:srgbClr val="C8D6E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169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T1mi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8449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 mm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98994" y="1455741"/>
            <a:ext cx="60317" cy="60317"/>
          </a:xfrm>
          <a:prstGeom prst="ellipse">
            <a:avLst/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113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3393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&gt;1–5 mm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63780" y="1425583"/>
            <a:ext cx="120634" cy="120634"/>
          </a:xfrm>
          <a:prstGeom prst="ellipse">
            <a:avLst/>
          </a:prstGeom>
          <a:solidFill>
            <a:srgbClr val="8FA9CC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4057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8337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&gt;5–10 mm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98407" y="1365266"/>
            <a:ext cx="241269" cy="241269"/>
          </a:xfrm>
          <a:prstGeom prst="ellipse">
            <a:avLst/>
          </a:prstGeom>
          <a:solidFill>
            <a:srgbClr val="6F8FC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99001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53281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&gt;10–20 mm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012399" y="1184314"/>
            <a:ext cx="603172" cy="603172"/>
          </a:xfrm>
          <a:prstGeom prst="ellipse">
            <a:avLst/>
          </a:prstGeom>
          <a:solidFill>
            <a:srgbClr val="3F6699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3945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48225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&gt;20–50 mm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07177" y="1123997"/>
            <a:ext cx="723806" cy="72380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03320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 mm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8600" y="67665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Diameters drawn to scale • T4 = any size with chest-wall / skin extension</a:t>
            </a:r>
            <a:endParaRPr lang="en-US" sz="7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542032"/>
          <a:ext cx="4206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337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DCIS; Paget without underlying tumour (LCIS removed — benign)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≤20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≤1 • a &gt;1–5 • b &gt;5–10 • c &gt;10–20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/ T3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&gt;20–50 mm / &gt;50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(pectoralis adherence alone ≠ T4)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Ulceration, satellite skin nodules, peau d'orange (not inflammatory)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T4c / T4d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 / inflammatory carcinoma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694944"/>
          <a:ext cx="42976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783080"/>
                <a:gridCol w="2148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(c)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Pathological (p)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on exam/imaging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ITC ≤0.2 mm = pN0(i+); PCR-only = pN0(mol+)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ipsilateral level I–II; N1mi &gt;0.2–2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pN1a 1–3 axillary (≥1 &gt;2 mm); pN1b IMN sentinel; pN1c = a + 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N2a fixed/matted I–II; N2b IMN only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pN2a 4–9 axillary; pN2b clinical IMN, axilla neg.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N3a infraclavicular; N3b IMN + axillary; N3c supraclavicular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pN3a ≥10 axillary or infraclavicular; pN3b IMN + axillary; pN3c supraclavicular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617720" y="3401568"/>
            <a:ext cx="4297680" cy="124358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09160" y="3456432"/>
            <a:ext cx="411480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and rules</a:t>
            </a:r>
            <a:endParaRPr lang="en-US" sz="1040" dirty="0"/>
          </a:p>
        </p:txBody>
      </p:sp>
      <p:sp>
        <p:nvSpPr>
          <p:cNvPr id="30" name="Text 26"/>
          <p:cNvSpPr/>
          <p:nvPr/>
        </p:nvSpPr>
        <p:spPr>
          <a:xfrm>
            <a:off x="4690872" y="3676294"/>
            <a:ext cx="4169664" cy="94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incl. cM0(i+) ≤0.2 mm deposits; cM1 clinical/radiologic; pM1 proven &gt;0.2 mm; "pM0" invalid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Pathological size takes precedence; (sn)/(f) = SLN or FNA/core confirmed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Supraclavicular = N3c (no longer M1); ≥10 level I–II nodes needed for accurate staging</a:t>
            </a:r>
            <a:endParaRPr lang="en-US" sz="89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Groups &amp; Staging Work-up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343400" cy="914400"/>
        </p:xfrm>
        <a:graphic>
          <a:graphicData uri="http://schemas.openxmlformats.org/drawingml/2006/table">
            <a:tbl>
              <a:tblPr/>
              <a:tblGrid>
                <a:gridCol w="599090"/>
                <a:gridCol w="748862"/>
                <a:gridCol w="748862"/>
                <a:gridCol w="748862"/>
                <a:gridCol w="748862"/>
                <a:gridCol w="74886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9C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9C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9C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45059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M0. Any T / any N with M1 = stage IV (stays IV whatever the neoadjuvant response). N1mi in T2–T4 is staged as N1.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28600" y="2834640"/>
            <a:ext cx="4343400" cy="181051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889504"/>
            <a:ext cx="416052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notes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01752" y="3110865"/>
            <a:ext cx="4215384" cy="150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T0–T1 + N1mi = IB; in T2–T4, N1mi staged as N1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before neoadjuvant therapy stays stage IV whatever the response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Post-neoadjuvant: yc / yp prefix; ypT0 ypN0 cM0 (pCR) has no stage group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Metastases on imaging within 4 months of diagnosis (no progression, no neoadjuvant) can change the stage</a:t>
            </a:r>
            <a:endParaRPr lang="en-US" sz="9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694944"/>
          <a:ext cx="41605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02336"/>
                <a:gridCol w="402336"/>
                <a:gridCol w="402336"/>
                <a:gridCol w="402336"/>
                <a:gridCol w="4023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&amp; physical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diagnostic mammogram (US as indicated)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Hormone receptor status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HER2/neu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CBC, platelets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LFTs + alkaline phosphatase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radiograph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scan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Abdominal CT / US / MRI (± pelvis)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754880" y="3794760"/>
            <a:ext cx="4160520" cy="8503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28032" y="3813048"/>
            <a:ext cx="40142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Bone scan and abdominal imaging are indicated at ANY stage for symptoms or abnormal labs; routine scalene/supraclavicular biopsy is not indicated.</a:t>
            </a:r>
            <a:endParaRPr lang="en-US" sz="9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Biomarkers &amp; Prognostic / Predictive Factors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532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572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/ PR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every invasive cancer (core/FNA, IHC). HR+ → endocrine response; HR+ metastatic live 2–3× longer. ER &amp; PR negative → no endocrine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HER2/neu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all invasive (IHC protein or FISH amplification; not RT-PCR). Overexpression → high grade, node+, poor outcome. Positive → anti-HER2: −40–50% recurrence, ~⅓ lower mortality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Ki-67 / PCNA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Proliferation; high grade, inverse to ER. IHC4 ≈ Recurrence Score but Ki-67 poorly reproducible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Correlates with ER-negativity and p53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VEGF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recurrence node-negative; bevacizumab (E2100) PFS 5.8 → 11.3 mo, not reproduced — indication revoked 2011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bcl-2 / bax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bcl-2, ↓ bax:bcl-2 → high grade, nodes, poor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694944"/>
          <a:ext cx="2971800" cy="914400"/>
        </p:xfrm>
        <a:graphic>
          <a:graphicData uri="http://schemas.openxmlformats.org/drawingml/2006/table">
            <a:tbl>
              <a:tblPr/>
              <a:tblGrid>
                <a:gridCol w="1485900"/>
                <a:gridCol w="14859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 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Nodal status, size, grade, LVI, stage, HR status, ploidy/S-phase, EIC, HER2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menopause, family history, prior BC, immunosuppression, nutrition, prior chemo/RT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2240280"/>
            <a:ext cx="2971800" cy="17007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35040" y="2295144"/>
            <a:ext cx="278892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types</a:t>
            </a:r>
            <a:endParaRPr lang="en-US" sz="1040" dirty="0"/>
          </a:p>
        </p:txBody>
      </p:sp>
      <p:sp>
        <p:nvSpPr>
          <p:cNvPr id="11" name="Text 7"/>
          <p:cNvSpPr/>
          <p:nvPr/>
        </p:nvSpPr>
        <p:spPr>
          <a:xfrm>
            <a:off x="6016752" y="2515006"/>
            <a:ext cx="2843784" cy="139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(germline, atypia, density) • </a:t>
            </a: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outcome regardless of therapy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response to a therapy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Therapy-deciding trio: </a:t>
            </a: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PR, HER2</a:t>
            </a:r>
            <a:endParaRPr lang="en-US" sz="890" dirty="0"/>
          </a:p>
        </p:txBody>
      </p:sp>
      <p:sp>
        <p:nvSpPr>
          <p:cNvPr id="12" name="Shape 8"/>
          <p:cNvSpPr/>
          <p:nvPr/>
        </p:nvSpPr>
        <p:spPr>
          <a:xfrm>
            <a:off x="228600" y="4023360"/>
            <a:ext cx="8686800" cy="6217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1752" y="4041648"/>
            <a:ext cx="854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combined clinicopathologic factors alone, up to 70% of early-cancer patients get unnecessary or ineffective chemotherapy; single markers do not beat combined risk. Tools: Adjuvant! Online, Nottingham Prognostic Index, PREDICT.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Multigene Assays — Who Really Needs Chemotherapy?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377440"/>
                <a:gridCol w="5166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/ for whom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Oncotype DX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21-gene RT-PCR; node-negative, ER+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score → chemo benefit; low → endocrine alone. TAILORx: RS 0–10 → 98% 5-y OS on endocrine alone; RS 11–25 randomised. Predicts chemo benefit in postmenopausal ER+ with 1–3 nodes; changes decisions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MammaPrint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70-gene; FDA-approved; stage I–II, N0, ER+ or ER−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RASTER low-risk: 97% 5-y distant-recurrence-free. MINDACT (N0–1–3 nodes): clinical-high/genomic-low → 94.7% 5-y DMFS without chemo (non-inferior), DFS/OS higher with chemo in ITT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Score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Multigene (ECOG 5194 samples)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intermediate / high risk of in-breast DCIS or invasive event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7889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Oncotype DX recurrence score — reading the result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8600" y="3072384"/>
            <a:ext cx="2377440" cy="82296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1752" y="3072384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0–10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alone (98% 5-y OS)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51760" y="3072384"/>
            <a:ext cx="3291840" cy="8229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24912" y="307238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11–25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— randomised endocrine ± chemo (TAILORx)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89320" y="3072384"/>
            <a:ext cx="283464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62472" y="3072384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RS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benefit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8600" y="4005072"/>
            <a:ext cx="8686800" cy="64008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1752" y="4023360"/>
            <a:ext cx="8540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Size and nodal status remain strong predictors of LATE recurrence (better than IHC4, Recurrence Score or PAM50). Assays add to — never replace — stage, grade and receptor status.</a:t>
            </a:r>
            <a:endParaRPr lang="en-US" sz="9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by Stage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algorithms with pitfalls: LCIS • DCIS • stage I–II • axilla • stage III • inflammatory • stage IV • recurrence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Management Map by Stage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breast cancer → define clinical STAGE + HISTOLOGY + ER/PR/HER2 + general health → multidisciplinary plan shared with the patient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152144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234440"/>
            <a:ext cx="662940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2728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56432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82128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8600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/ DCIS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57300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28600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LCIS: observe / chemoprevent / bilateral mastectomy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DCIS: lumpectomy (≥2 mm) + RT, or mastectomy ± SLNB; ER+ → tamoxifen 5 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36876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2596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I–IIB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invasive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65576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436876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2596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 (lumpectomy + WBI) or mastectomy ± reconstruction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Axilla: SLNB (cN0) / ALND or neoadjuvant (cN+)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systemic therapy by subtype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45152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IIIA–IIIB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advanced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73852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45152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staging → neoadjuvant systemic therapy → response → MRM or BCS + ALND → RT (chest wall/breast + nodes) → complete systemic/endocrine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3428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9148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82128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53428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is primary: endocrine first if HR+ and no visceral crisis; chemo if HR−/crisis/refractory; anti-HER2 if HER2+; local surgery/RT for complications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639312"/>
            <a:ext cx="8686800" cy="47548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3657600"/>
            <a:ext cx="8540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5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 roadmap: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60:60:80 by 2030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≥60% diagnosed at stage I–II • diagnosis + treatment start ≤60 days (tertiary work-up ≤45 d, pathology report ≤2 wk) • ≥80% complete multimodality treatment. MDT at general &amp; tertiary hospitals; MRM for stage I–II at general hospital; small early cancers &gt;90% curable.</a:t>
            </a:r>
            <a:endParaRPr lang="en-US" sz="865" dirty="0"/>
          </a:p>
        </p:txBody>
      </p:sp>
      <p:sp>
        <p:nvSpPr>
          <p:cNvPr id="37" name="Shape 35"/>
          <p:cNvSpPr/>
          <p:nvPr/>
        </p:nvSpPr>
        <p:spPr>
          <a:xfrm>
            <a:off x="228600" y="4187952"/>
            <a:ext cx="8686800" cy="45720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4206240"/>
            <a:ext cx="8540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plan local therapy before stage, histology and receptors are known; systemic therapy follows biology, not stage alone; stage IV is not curable — aims are survival and quality of life.</a:t>
            </a:r>
            <a:endParaRPr lang="en-US" sz="9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 — LCIS Management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— a MARKER of risk (25–35% later invasive cancer in EITHER breast, up to 65% ductal), not an obligate precursor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expert pathology review (vs ADH / early invasion) + bilateral mammography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152144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234440"/>
            <a:ext cx="594360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4380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316736"/>
            <a:ext cx="2788920" cy="100584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35024"/>
            <a:ext cx="2697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mammography + clinical exam + risk counselling; MRI in selected high-risk women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182112" y="1316736"/>
            <a:ext cx="2788920" cy="1005840"/>
          </a:xfrm>
          <a:prstGeom prst="roundRect">
            <a:avLst>
              <a:gd name="adj" fmla="val 545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335024"/>
            <a:ext cx="2697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CHEMOPREVENTION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(raloxifene / AI after menopause) — consider in ALL women with LCIS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135624" y="1316736"/>
            <a:ext cx="2788920" cy="1005840"/>
          </a:xfrm>
          <a:prstGeom prst="roundRect">
            <a:avLst>
              <a:gd name="adj" fmla="val 545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335024"/>
            <a:ext cx="2697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TOTAL MASTECTOMY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option for the very high-risk / personal choice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228600" y="2450592"/>
            <a:ext cx="4251960" cy="13716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05456"/>
            <a:ext cx="4069080" cy="20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excise?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" y="2734310"/>
            <a:ext cx="4123944" cy="1060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is diffuse, multicentric (60–90%) and bilateral (50–70%)</a:t>
            </a:r>
            <a:endParaRPr lang="en-US" sz="95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equal in both breasts → local excision adds nothing</a:t>
            </a:r>
            <a:endParaRPr lang="en-US" sz="95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removed from TNM (considered benign)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450592"/>
            <a:ext cx="4251960" cy="137160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05456"/>
            <a:ext cx="4069080" cy="20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variant — pleomorphic / florid LCIS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2734310"/>
            <a:ext cx="4123944" cy="1060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Calcifies and resembles high-grade DCIS</a:t>
            </a:r>
            <a:endParaRPr lang="en-US" sz="95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manage it like DCIS: attention to margins, consider RT with conservation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3913632"/>
            <a:ext cx="8686800" cy="73152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3931920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Treating classic LCIS like DCIS (re-excision for margins, RT) • unilateral mastectomy (risk is bilateral) • missing ADH or early invasion without expert review • forgetting E-cadherin: lost in lobular, retained in ductal lesions • using Gail in LCIS (not validated).</a:t>
            </a:r>
            <a:endParaRPr lang="en-US" sz="97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 — DCIS Management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76072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— expert pathology review + bilateral mammography: grade, size, extent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152144"/>
            <a:ext cx="393192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1152144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08960" y="1152144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74920" y="1152144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225296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43584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(&gt;4 cm or &gt;1 quadrant)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Mastectomy ± SLNB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43000" y="213969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94560" y="1225296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1243584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Lumpectomy (margin ≥2 mm) + whole-breast 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213969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60520" y="1225296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243584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LOW 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Low/int. grade ≤2.5 cm, margin ≥3 mm → excision alone may be acceptable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213969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" y="2267712"/>
            <a:ext cx="1828800" cy="1024128"/>
          </a:xfrm>
          <a:prstGeom prst="roundRect">
            <a:avLst>
              <a:gd name="adj" fmla="val 5357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local recurrence &amp; mortality &lt;2%; SLNB because ~20% upstage to invasive and SLNB impossible later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194560" y="2267712"/>
            <a:ext cx="1828800" cy="1024128"/>
          </a:xfrm>
          <a:prstGeom prst="roundRect">
            <a:avLst>
              <a:gd name="adj" fmla="val 5357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halves recurrence in all subgroups (B-17, EORTC, UK/ANZ, Swedish); ER+ → tamoxifen 5 y (B-24)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160520" y="2267712"/>
            <a:ext cx="1828800" cy="1024128"/>
          </a:xfrm>
          <a:prstGeom prst="roundRect">
            <a:avLst>
              <a:gd name="adj" fmla="val 5357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 5194: 6.1% recurrence low/int. vs 15.3% high grade → high grade needs RT</a:t>
            </a:r>
            <a:endParaRPr lang="en-US" sz="93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172200" y="658368"/>
          <a:ext cx="2743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228600" y="3383280"/>
            <a:ext cx="4251960" cy="9144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3438144"/>
            <a:ext cx="406908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01752" y="3659505"/>
            <a:ext cx="4123944" cy="61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mm adequate with WBI (SSO-ASTRO-ASCO 2016); &gt;10 mm: no added RT benefit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recurrence: 1.49 (1–10 mm) vs 2.54 (&lt;1 mm) — Silverstein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63440" y="3383280"/>
            <a:ext cx="4251960" cy="91440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0" y="3438144"/>
            <a:ext cx="406908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736592" y="3659505"/>
            <a:ext cx="4123944" cy="61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Non-palpable: needle/seed localisation + specimen mammography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RT ~45% of recurrences are invasive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28600" y="4352544"/>
            <a:ext cx="8686800" cy="310896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1752" y="4370832"/>
            <a:ext cx="8540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SLNB with lumpectomy for DCIS • no tamoxifen after bilateral mastectomy • no RCT compares mastectomy vs BCS • B-24: 15% had +ve margins.</a:t>
            </a:r>
            <a:endParaRPr lang="en-US" sz="8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I–IIB — Early Invasive Cancer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I–IIB: define stage, histology, ER/PR/HER2 BEFORE local therapy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27248" y="10607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124712"/>
            <a:ext cx="3977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112471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27248" y="112471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12471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88720"/>
            <a:ext cx="1847088" cy="896112"/>
          </a:xfrm>
          <a:prstGeom prst="roundRect">
            <a:avLst>
              <a:gd name="adj" fmla="val 612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0700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Lumpectomy (no tumour on ink) + whole-breast RT ± boost — equal survival to mastectomy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1143000" y="208483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12848" y="1188720"/>
            <a:ext cx="1847088" cy="896112"/>
          </a:xfrm>
          <a:prstGeom prst="roundRect">
            <a:avLst>
              <a:gd name="adj" fmla="val 6122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120700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Skin-/nipple-sparing; immediate reconstruction when appropriate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3127248" y="208483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97096" y="1188720"/>
            <a:ext cx="1847088" cy="896112"/>
          </a:xfrm>
          <a:prstGeom prst="roundRect">
            <a:avLst>
              <a:gd name="adj" fmla="val 612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2816" y="120700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 → SLNB; FNA/core-proven node → ALND or neoadjuvant therapy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5120640" y="208483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" y="2212848"/>
            <a:ext cx="1847088" cy="932688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31136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contraindications: prior chest RT, persistently +ve margins, multicentric disease, lupus/scleroderma; BRCA carriers not advised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212848" y="2212848"/>
            <a:ext cx="1847088" cy="932688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58568" y="2231136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when: extensive calcifications, large central/subareolar cancer, multicentric disease, patient choice (avoids RT)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197096" y="2212848"/>
            <a:ext cx="1847088" cy="932688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42816" y="2231136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by biology, not stage alone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43000" y="3145536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27248" y="3145536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3145536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43000" y="3200400"/>
            <a:ext cx="3977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27248" y="3200400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3255264"/>
            <a:ext cx="5806440" cy="420624"/>
          </a:xfrm>
          <a:prstGeom prst="roundRect">
            <a:avLst>
              <a:gd name="adj" fmla="val 13043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27355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systemic therapy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ER+: endocrine • HER2+: trastuzumab-based • ER−: chemotherapy — chosen by MDT</a:t>
            </a:r>
            <a:endParaRPr lang="en-US" sz="98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6172200" y="658368"/>
          <a:ext cx="2743200" cy="3035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228600" y="3749040"/>
            <a:ext cx="8686800" cy="89611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1752" y="3767328"/>
            <a:ext cx="85404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 after lumpectomy improves SURVIVAL, not just local control (EBCTCG 15 y: −5.1% N0, −7.1% N+ mortality) • RT omission only for selected older women with small ER+ N0 tumours on endocrine therapy • nipple-sparing mastectomy is a poor choice if PMRT is planned • BCT size limits in trials: 2–2.5 cm (most), 4 cm (B-06), 5 cm (NCI).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Axilla in cN0 Disease — SLNB &amp; the Z0011 Decision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66344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cancer, clinically N0 (exam + ultrasound)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11556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3385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dual tracer (Tc-99m + blue dye); remove all blue nodes + all nodes &gt;10% of hottest ex-vivo count (≤4 nodes find 98% of positive SLNs)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16824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1746504"/>
            <a:ext cx="320040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7465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60320" y="17465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60520" y="17465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1810512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828800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 −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ALND (B-32: same DFS/OS, less morbidity)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828800" y="1810512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1828800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SLN + with BCS + WBI + systemic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omit ALND (Z0011)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3429000" y="1810512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828800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Z0011</a:t>
            </a: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(mastectomy, APBI, neoadjuvant, ≥3 nodes)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completion ALND — MDT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228600" y="2907792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926080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SLNB: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inflammatory cancer • biopsy-proven nodes (→ ALND or neoadjuvant) • DCIS without mastectomy • prior axillary surgery</a:t>
            </a:r>
            <a:endParaRPr lang="en-US" sz="94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694944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ALMANAC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SLNB: ↓ lymphedema, sensory loss, drain use, stay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B-32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97%, FNR 9.7%; 26% SLN+ (&gt;60% no other +ve node); same DFS/OS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 occult IHC mets → not prognostic → no routine IHC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91.9 vs 92.5%, DFS 82.2 vs 83.8%; lymphedema 13% vs 2%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IBCSG 23-01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Micromets: no benefit from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074920" y="2907792"/>
            <a:ext cx="3840480" cy="50292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48072" y="2962656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safe in pregnancy with isotope alone; acceptable for T3 (~75% node +) and after neoadjuvant chemo (ASCO)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228600" y="3502152"/>
            <a:ext cx="8686800" cy="114300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1752" y="3520440"/>
            <a:ext cx="85404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SLN not found → ALND • never inject blue dye subdermally (tattoo / skin necrosis); isosulfan allergy ~1:10,000; warn of blue urine • false-negatives rise with lateral tumours, prior excisional biopsy and fewer nodes removed • Z0011 limits: half the planned accrual, non-standardised tangent coverage • with Z0011, intra-operative node assessment is often skipped; nomograms estimate non-SLN risk.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Axilla Around Neoadjuvant Chemotherapy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Biopsy-proven node-positive (cN1) → CLIP the node → neoadjuvant chemotherapy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07899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143000"/>
            <a:ext cx="2468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" y="1207008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25296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clinically N0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1207008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225296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nodes / progression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1618488"/>
            <a:ext cx="0" cy="11887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86200" y="1618488"/>
            <a:ext cx="0" cy="11887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173736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755648"/>
            <a:ext cx="2286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 surgery: dual tracer, ≥3 SLNs, retrieve the clipped node (targeted axillary dissection) → FNR 1.4–6.8% (target ≤10%)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97480" y="173736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1755648"/>
            <a:ext cx="2286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lymph node dissection (levels I–III)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17320" y="28346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28346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7320" y="2898648"/>
            <a:ext cx="2468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28986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28600" y="2962656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80944"/>
            <a:ext cx="4754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 at presentation: SLNB after chemo accepted (14 studies, 818 pts: FNR 11%, accuracy 94%) — or SLNB before chemo</a:t>
            </a:r>
            <a:endParaRPr lang="en-US" sz="9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303520" y="658368"/>
          <a:ext cx="36118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228600" y="3566160"/>
            <a:ext cx="8686800" cy="10789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1752" y="3584448"/>
            <a:ext cx="8540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randomised trial and no long-term data yet on omitting ALND after cN1 → cN0 • if SLN not found → ALND • single-tracer mapping or &lt;3 SLNs raises FNR (Z1071 12.6% &gt; 10% target; SENTINA and SN-FNAC agree) • biopsy-proven nodes should not go straight to SLNB — use ALND or neoadjuvant therapy first.</a:t>
            </a:r>
            <a:endParaRPr lang="en-US" sz="96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IIIA / IIIB — Locally Advanced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12064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IIIA/IIIB — high risk of occult distant disease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005840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097280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15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systemically (PET/CT or CT + bone scan) • core biopsy: ER/PR/HER2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788920" y="142646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3619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CHEMO</a:t>
            </a:r>
            <a:r>
              <a:rPr lang="en-US" sz="8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anthracycline ± taxane (HER2+: + trastuzumab ± pertuzumab)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Indolent ER+ with comorbidity → neoadjuvant / primary endocrine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88920" y="197510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" y="2066544"/>
            <a:ext cx="5120640" cy="274320"/>
          </a:xfrm>
          <a:prstGeom prst="roundRect">
            <a:avLst>
              <a:gd name="adj" fmla="val 20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848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RESPONSE — review with the oncologist at intervals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2788920" y="2340864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2395728"/>
            <a:ext cx="265176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239572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14800" y="239572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8600" y="2450592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68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/ partial response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880360" y="2450592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468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/ progression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1463040" y="2724912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14800" y="2724912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28600" y="2816352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83464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MRM, or BCS + ALND in selected IIIA responders (5-y ipsilateral control ≈95%)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2880360" y="2816352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283464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ALTERNATIVE systemic therapy (different class)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1463040" y="352958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114800" y="352958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3621024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6393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RT (breast/chest wall + supraclavicular) → complete systemic/endocrine → follow-up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2880360" y="3621024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6393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Individualise local therapy; minimal response → MRM, always followed by RT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5532120" y="694944"/>
            <a:ext cx="3383280" cy="1847088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749808"/>
            <a:ext cx="320040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fields after neoadjuvant chemo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5605272" y="968172"/>
            <a:ext cx="3255264" cy="1546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Segmental mastectomy ± ALND → breast + supraclavicular RT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± ALND → chest wall + supraclavicular RT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+ ALND then adjuvant chemo → chest wall + supraclavicular RT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Grossly involved IMNs → chemo + RT; no consensus for clinically negative IMNs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532120" y="2615184"/>
            <a:ext cx="3383280" cy="157276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670048"/>
            <a:ext cx="3200400" cy="183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5605272" y="2880919"/>
            <a:ext cx="3255264" cy="127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maximises distant control; RT maximises local control</a:t>
            </a:r>
            <a:endParaRPr lang="en-US" sz="8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endocrine (Z1031; PEPI score guides chemo): series 5-y OS 76%</a:t>
            </a:r>
            <a:endParaRPr lang="en-US" sz="8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local recurrence after BCS: cN2–N3, residual &gt;2 cm, multifocal residual, LVI</a:t>
            </a:r>
            <a:endParaRPr lang="en-US" sz="8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 RT machines (LINAC/Cobalt-60) exist only at tertiary/highly-specialised centres — the RT phase of this pathway is where most LABC patients need referral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228600" y="4261104"/>
            <a:ext cx="8686800" cy="402336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4279392"/>
            <a:ext cx="8540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"cure by local therapy" • RT alone without resection → more local failure (HR 1.3–1.5) • do not wait passively — some progress on chemo.</a:t>
            </a:r>
            <a:endParaRPr lang="en-US" sz="93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Inflammatory Breast Carcinoma (T4d, Stage IIIB)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846320" cy="329184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carcinoma</a:t>
            </a:r>
            <a:r>
              <a:rPr lang="en-US" sz="8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&lt;3% of breast cancers; clinical stage IIIB (T4d)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2651760" y="1024128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133856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5214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erythema with raised edge, brawny induration, peau d'orange; mimics infection. Skin biopsy → dermal lymphatic invasion. ER/HER2 status; PET-CT (25% M1 at diagnosis)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651760" y="1700784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" y="181051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288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anthracycline-based chemotherapy (dramatic regression in up to 75%); HER2/ER-directed therapy as indicated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651760" y="2267712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" y="2377440"/>
            <a:ext cx="4846320" cy="329184"/>
          </a:xfrm>
          <a:prstGeom prst="roundRect">
            <a:avLst>
              <a:gd name="adj" fmla="val 16667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95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RADICAL MASTECTOMY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documented response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651760" y="2706624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281635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346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therapy + RT to chest wall, supraclavicular, internal mammary and axillary basins → 5-y survival ≈30%; offer trials</a:t>
            </a:r>
            <a:endParaRPr lang="en-US" sz="96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694944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Neglected LABC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Dermal lymphatic invasion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Delineation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Erythema / oedema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&gt;⅓ of skin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Confined to lesion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involvement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at presentation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common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neglected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257800" y="3017520"/>
            <a:ext cx="3657600" cy="162763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30952" y="3035808"/>
            <a:ext cx="3511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Treating it as mastitis/abscess delays diagnosis — biopsy any "infection" that fails antibiotics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SLNB (unreliable) • no breast conservation or skin-/nipple-sparing mastectomy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operate first: surgery alone or with RT is disappointing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systemically before treatment (25% already metastatic)</a:t>
            </a:r>
            <a:endParaRPr lang="en-US" sz="97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IV — Metastatic Disease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 — not curable: prolong survival, palliate, protect quality of life. RE-BIOPSY the metastasis (ER/PR/HER2 can change)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07899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8488" y="1143000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25512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207008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2529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HR+, NO visceral crisis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(bone, soft tissue, limited visceral)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618488" y="173736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82112" y="1207008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22529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HR−, visceral crisis, or hormone-refractory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572000" y="173736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35624" y="1207008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122529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Anatomically localised problem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525512" y="173736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" y="1847088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865376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FIRST (± CDK4/6 inhibitor). Symptoms alone ≠ chemo: drain a pleural effusion first → relief → endocrine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82112" y="1847088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1865376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(HER2+: with anti-HER2 agents); lymphangitic spread → chemo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35624" y="1847088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865376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Individualised surgery / RT: brain mets, effusions, biliary/ureteric obstruction, (impending) fracture, cord compression, painful mets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618488" y="2715768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715768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25512" y="2715768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18488" y="2775204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2775204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2834640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85292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metastases: add bisphosphonate or denosumab (anti-RANKL) • Resection of primary: retrospective benefit (selection bias), ECOG E2108 randomised — decide in MDT with patient goals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228600" y="3383280"/>
            <a:ext cx="8686800" cy="126187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401568"/>
            <a:ext cx="85404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Visceral metastasis ≠ visceral crisis (crisis = immediately life-threatening organ dysfunction) • do not start chemotherapy just for symptoms — find the cause (effusion vs lymphangitic spread; same logic for pain) • do not assume receptor status of the primary — re-biopsy • clinical benefit on endocrine therapy → another endocrine line; primary progression → &lt;20% benefit from the next endocrine agent, weigh chemo • ESR1 mutations (20–30% after AI) → AI resistance.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Recurrence — Types &amp; Management Flowchart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89788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recurrence after BCT or mastectomy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1005840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097280"/>
            <a:ext cx="5897880" cy="384048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15568"/>
            <a:ext cx="5806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biopsy + re-test ER/PR/HER2 (may change) • RESTAGE (systemic imaging; MRI for the treated breast)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172968" y="148132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1536192"/>
            <a:ext cx="301752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536192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63440" y="1536192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" y="1591056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09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only</a:t>
            </a:r>
            <a:r>
              <a:rPr lang="en-US" sz="9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(up to 20%)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3246120" y="1591056"/>
            <a:ext cx="2880360" cy="384048"/>
          </a:xfrm>
          <a:prstGeom prst="roundRect">
            <a:avLst>
              <a:gd name="adj" fmla="val 1428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60934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± local</a:t>
            </a:r>
            <a:r>
              <a:rPr lang="en-US" sz="9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(&gt;60% distant; ~20% both)</a:t>
            </a:r>
            <a:endParaRPr lang="en-US" sz="990" dirty="0"/>
          </a:p>
        </p:txBody>
      </p:sp>
      <p:sp>
        <p:nvSpPr>
          <p:cNvPr id="20" name="Shape 18"/>
          <p:cNvSpPr/>
          <p:nvPr/>
        </p:nvSpPr>
        <p:spPr>
          <a:xfrm>
            <a:off x="1645920" y="1975104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029968"/>
            <a:ext cx="14630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202996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77440" y="202996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28600" y="2084832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mastectomy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91640" y="2084832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lumpectomy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2395728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377440" y="2395728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28600" y="2487168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505456"/>
            <a:ext cx="1280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Resect the recurrence + reconstruction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if chest wall not irradiated (palliative if scope remains)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/ endocrine by receptors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1691640" y="2487168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2505456"/>
            <a:ext cx="1280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+ reconstruction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and antiestrogen therapy by ER/PR and HER2 status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4663440" y="1975104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46120" y="2084832"/>
            <a:ext cx="2880360" cy="1636776"/>
          </a:xfrm>
          <a:prstGeom prst="roundRect">
            <a:avLst>
              <a:gd name="adj" fmla="val 335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10312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Treat as </a:t>
            </a: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HR+, no crisis → endocrine (± CDK4/6)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HR− / crisis / refractory → chemo (HER2+: + anti-HER2)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problem → surgery / RT; bone → bisphosphonate / denosumab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progression: prior benefit → next endocrine line; primary progression → consider chemo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6309360" y="694944"/>
            <a:ext cx="2606040" cy="302666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749808"/>
            <a:ext cx="2423160" cy="18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risk of recurrence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382512" y="966673"/>
            <a:ext cx="2478024" cy="2727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ER− relapse early (3–5 y); ER+ risk persists well beyond 5 y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metastases within 5 y — some at 20–30 y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Node-neg. &lt;30% vs node-pos. up to 75% recurrence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In-breast recurrence 20 y: 39.2% lumpectomy alone vs 14.3% + RT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4 local recurrences → prevent ~1 BC death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nodes best predict LATE recurrence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228600" y="3794760"/>
            <a:ext cx="8686800" cy="8503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3813048"/>
            <a:ext cx="85404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treat a "recurrence" without histology and fresh receptors • restage before local salvage — isolated local disease may be the first sign of distant spread • after BCT the salvage is mastectomy (not re-lumpectomy) • after neoadjuvant BCS, recurrence is higher with cN2–N3, residual &gt;2 cm, multifocal residual or LVI.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Stage/Type → Modes of Management → Follow-up Schedule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58368"/>
          <a:ext cx="8686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74520"/>
                <a:gridCol w="1783080"/>
                <a:gridCol w="2103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/ 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Radiotherapy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Systemic therapy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Follow-up: frequency &amp; methods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(bilateral mastectomy optional)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/ raloxifene / AI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bilateral mammogram + CBE; MRI if high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limited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Lumpectomy ≥2 mm; no SLNB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WBI (omit only low-grade selected)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5 y if ER+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mammogram 6–12 mo after RT then yearly (ipsilateral recurrence ~half invasive)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extensive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 + SLNB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tamoxifen after bilateral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contralateral mammogram yearly; no routine imaging of reconstruction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I–IIB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BCT or mastectomy; SLNB (cN0) /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WBI after BCS; PMRT if ≥4 nodes, +ve margin, 1–3 nodes premenopausal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ER/PR/HER2, size, nodes, grade, 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endocrine adherence; BMD on AI; gynae review on tamoxifen; lymphedema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IIIA/IIIB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neoadjuvant: MRM or BCS +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Always: chest wall/breast + supraclavicular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chemo ± anti-HER2; complete adjuvant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cardiac monitoring after anthracycline / anti-HER2 / left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MRM after response only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+ all nodal basins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anthracycline-based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high M1 risk → symptom-directed imaging early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IV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Palliative / for complications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Palliative (bone, brain, cord)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 first (HR+, no crisis); chemo; anti-HER2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+ imaging response each line; re-biopsy at progression; palliative care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Resect (post-mastectomy) / mastectomy (post-BCT)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field not irradiated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receptors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Restage for distant disease, then STD*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 carrier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RRM; RRSO at 35–40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(BRCA2)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CBE 6-monthly; mammogram + MRI yearly from 25; TVUS + CA-125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529584"/>
            <a:ext cx="8686800" cy="51206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3547872"/>
            <a:ext cx="8540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</a:t>
            </a: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*STD = H&amp;P every 3–6 mo for 3 y, 6–12 mo in years 4–5, then yearly; monthly BSE; annual mammogram; no routine blood tests, tumour markers, bone scan, CT/PET or breast MRI when asymptomatic. Ethiopia: first 2–3 y at an oncologist-led centre, then at the nearest lower-level facility with a named focal point.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Surgery &amp; Adjuvant Therapy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per operation • techniques • reconstruction • radiotherapy • chemotherapy • endocrine • anti-HER2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Indications for Each Type of Surgery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76656"/>
          <a:ext cx="8686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206240"/>
                <a:gridCol w="2880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Indicated for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/ caution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/ vacuum biopsy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of every palpable or non-palpable lesion (preferred)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core ≠ no cancer; clip the site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Excisional biopsy (wire/seed)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Discordant needle result; radial scar/atypia needing excision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first-line diagnosis; plan incision for later surgery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Breast-conserving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0–II unifocal disease in non-carriers; selected IIIA after neoadjuvant response; limited 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chest RT, persistent +ve margins, multicentric, lupus/scleroderma, BRCA carrier, 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Oncoplastic BCS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must be removed; large parenchymal volume; tumour between nipple and IMF; closure would malposition nipple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Skin-sparing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Tis–T3 with immediate reconstruction (recurrence &lt;6–8%)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Nipple-sparing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reduction; cancer &gt;2–3 cm from areola, small breast, minimal ptosis, BMI &lt;40, non-smoker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PMRT, prior RT or periareolar surgery, collagen-vascular disease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(simple)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choice (avoid RT); not excisable with good cosmesis; extensive calcifications; large central/subareolar; multicentric; extensive DCIS; risk reduction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 (Patey)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Node-positive needing ALND; stage III after neoadjuvant; inflammatory after response; male breast cancer; non-responders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Pregnancy: MRM feasible 1st–2nd trimester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Radical (Halsted)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never needed today (systemic therapy + 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cN0 invasive (incl. T3); mastectomy for DCIS; cN0 after neoadjuvant; pregnancy (isotope only)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Inflammatory, proven nodes, DCIS with BCS, prior axillary surgery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ALND (I–III)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 nodes (FNA/core); SLN not found; persistent nodes after neoadjuvant; outside Z0011; 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Lymphedema risk ↑ with RT, obesity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axillary dissection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cN1 converting to cN0 after neoadjuvant (clipped node + SLNs)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dual tracer, ≥3 SLNs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Risk-reducing mastectomy / RRSO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 carriers (RRSO 35–40 y after childbearing); very-high-risk LCIS by choice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benefit unproven in non-carriers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4553712"/>
            <a:ext cx="8686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mastectomy over indicated BCS+RT does not by itself improve survival • risk-reducing surgery has no single numeric threshold — always individualised.</a:t>
            </a:r>
            <a:endParaRPr lang="en-US" sz="6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— Localised Excision &amp; Breast-Conserving Surgery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583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Breast-conserving surgery — step sequence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SLNB first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assessment can run while tumour is excised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1600200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682496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82496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Incision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682496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28216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to NAC above; radial below; excise skin only if involved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054096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136392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Excise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136392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+ envelope of normal tissue; localise non-palpable lesion (wire, radioactive/magnetic seed, US)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4507992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90288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Specimen X-ray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90288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lesion + margins before leaving theatre; orient (sutures, clips, dyes)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5961888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44184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Margins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044184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extra cavity shaves if close; send ER/PR/HER2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415784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98080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Close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498080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Cautery/ligatures; 3-0 absorbable deep; 4-0/5-0 subcuticular; drain rarely</a:t>
            </a:r>
            <a:endParaRPr lang="en-US" sz="94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95728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Adequate margin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 stage I–II + WBI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tumour on ink" — wider margins do not lower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+ WBI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obtain negative margin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4572000" y="2395728"/>
            <a:ext cx="4343400" cy="137160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63440" y="2450592"/>
            <a:ext cx="416052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Incision rules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645152" y="2671953"/>
            <a:ext cx="4215384" cy="106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Circumareolar for subareolar / near-NAC lesions; elsewhere along skin tension lines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radial incisions in upper half (NAC pulled up) and curvilinear in lower half (NAC pulled down)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remote biopsy scar can be excised separately at mastectomy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28600" y="3401568"/>
            <a:ext cx="4206240" cy="1243584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0040" y="3456432"/>
            <a:ext cx="402336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301752" y="3677793"/>
            <a:ext cx="4078224" cy="93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 = excision with margin + adjuvant RT + nodal assessment (segmental/partial mastectomy, lumpectomy, WLE, tylectomy)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DCIS: excision + RT, no nodal assessment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572000" y="3840480"/>
            <a:ext cx="4343400" cy="80467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45152" y="3858768"/>
            <a:ext cx="4197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Excisional biopsy is for discordant needle results only • never do a "one-step" frozen-section mastectomy • always confirm the target on specimen radiography.</a:t>
            </a:r>
            <a:endParaRPr lang="en-US" sz="97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— Sentinel Lymph Node Biopsy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9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" y="69494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713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tracer:</a:t>
            </a:r>
            <a:r>
              <a:rPr lang="en-US" sz="8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Tc-99m sulfur colloid (0.5 mCi same day / 2.5 mCi day before; peritumoral, around cavity, subareolar or subdermal) + blue dye 3–5 mL (parenchymal/subareolar)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28600" y="129844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" y="124358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261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Gamma probe transcutaneously; lymphoscintigraphy optional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228600" y="184708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" y="179222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1810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Incise: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3–4 cm, in line with a future ALND incision, low axilla below hairline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228600" y="239572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" y="234086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3591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node: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Divide axillary fascia, follow blue lymphatics; signal rises near node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28600" y="294436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4088" y="288950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9077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10-s in-vivo count → remove → 10-s ex-vivo count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228600" y="349300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" y="343814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rule: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 all blue nodes + all nodes &gt;10% of hottest ex-vivo count; re-check bed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669280" y="694944"/>
            <a:ext cx="3246120" cy="96012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749808"/>
            <a:ext cx="306324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5742432" y="968172"/>
            <a:ext cx="3118104" cy="65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tracer &gt; either alone; meta-analysis: sensitivity 93%, FNR 7%, NPV 94%, accuracy 95%</a:t>
            </a:r>
            <a:endParaRPr lang="en-US" sz="88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5669280" y="1709928"/>
          <a:ext cx="324612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5669280" y="2999232"/>
            <a:ext cx="3246120" cy="1014984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60720" y="3054096"/>
            <a:ext cx="3063240" cy="18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rise with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5742432" y="3270961"/>
            <a:ext cx="3118104" cy="71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nodes removed: 1 → 17.7%, 2 → 10%, 3 → 6.9%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tumours; prior excisional biopsy</a:t>
            </a:r>
            <a:endParaRPr lang="en-US" sz="870" dirty="0"/>
          </a:p>
        </p:txBody>
      </p:sp>
      <p:sp>
        <p:nvSpPr>
          <p:cNvPr id="38" name="Shape 35"/>
          <p:cNvSpPr/>
          <p:nvPr/>
        </p:nvSpPr>
        <p:spPr>
          <a:xfrm>
            <a:off x="228600" y="4050792"/>
            <a:ext cx="8686800" cy="59436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01752" y="4069080"/>
            <a:ext cx="85404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inject blue dye subdermally (tattooing/skin necrosis) or into the biopsy cavity • allergy ~1 in 10,000; warn of blue urine • routine IHC of negative SLNs is not warranted.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Mastectomy — What Each Operation Removes &amp; MRM Landmarks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572000" cy="914400"/>
        </p:xfrm>
        <a:graphic>
          <a:graphicData uri="http://schemas.openxmlformats.org/drawingml/2006/table">
            <a:tbl>
              <a:tblPr/>
              <a:tblGrid>
                <a:gridCol w="1116938"/>
                <a:gridCol w="536130"/>
                <a:gridCol w="446775"/>
                <a:gridCol w="536130"/>
                <a:gridCol w="491453"/>
                <a:gridCol w="521238"/>
                <a:gridCol w="461668"/>
                <a:gridCol w="4616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tissue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Nipple–areola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I nodes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Levels II–III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Pec. minor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Pec. major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Skin-sparing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Nipple-sparing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(simple)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simple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 (Patey)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 †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Halsted radical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761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removed  •  ✓ preserved  •  – not part of the operation (axilla staged separately: SLNB or ALND)  •  ÷ † Patey removed pectoralis minor; most surgeons now divide only its tendon</a:t>
            </a:r>
            <a:endParaRPr lang="en-US" sz="730" dirty="0"/>
          </a:p>
        </p:txBody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694944"/>
          <a:ext cx="397764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29535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 (Patey) mastectomy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Latissimus (lateral), sternal midline, subclavius, 2–3 cm below IMF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flaps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 mm (skin + tela subcutanea)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Raised with pectoralis major fascia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lateral axillary vein; clear anterior/inferior surfaces; level I → II → III lateral to medial; divide pec. minor tendon near coracoid for apex; medial limit = Halsted's ligament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Thoracodorsal bundle; long thoracic nerve (winged scapula); pectoral nerves. Intercostobrachial often sacrificed → arm numbness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28600" y="3154680"/>
            <a:ext cx="4572000" cy="149047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3209544"/>
            <a:ext cx="438912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Nipple-sparing — select carefully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01752" y="3430905"/>
            <a:ext cx="4443984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risk reduction; for cancer: tumour &gt;2–3 cm from areola, small breast, minimal ptosis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periareolar surgery or RT, BMI &lt;40, non-smoker, no collagen-vascular disease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does not go with NAC preservation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937760" y="4059936"/>
            <a:ext cx="3977640" cy="585216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10912" y="4078224"/>
            <a:ext cx="3831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7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Skin-sparing mastectomy: recurrence &lt;6–8% for Tis–T3 — similar to standard. Ethiopia: MRM suits a trained general surgeon at general-hospital level; skin/nipple-sparing technique and reconstruction concentrate at tertiary centres.</a:t>
            </a:r>
            <a:endParaRPr lang="en-US" sz="7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Complications &amp; Reconstruction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251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 / prevention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Commonest, up to 30%; closed suction drains; remove at &lt;30 mL/day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 infection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Infrequent, mostly flap necrosis → culture, debride, antibiotics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Haemorrhage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Rare; early re-exploration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Lymphedema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 after MRM (50–60% with RT); risk: extensive ALND, RT, +ve nodes, obesity → physio, sleeves, decongestive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SLNB alone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 1%, seroma 7.1%, haematoma 1.4%; paresthesia 8.6%, ↓ motion 3.8%, arm &gt;2 cm 6.9%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694944"/>
            <a:ext cx="425196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713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— timing follows the need for RT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6784848" y="10058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49240" y="1069848"/>
            <a:ext cx="288036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4924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784848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22960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663440" y="1133856"/>
            <a:ext cx="1371600" cy="1298448"/>
          </a:xfrm>
          <a:prstGeom prst="roundRect">
            <a:avLst>
              <a:gd name="adj" fmla="val 422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115214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 / risk-reducing: skin-sparing, one operation, cheaper, psychological benefit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99048" y="1133856"/>
            <a:ext cx="1371600" cy="1298448"/>
          </a:xfrm>
          <a:prstGeom prst="roundRect">
            <a:avLst>
              <a:gd name="adj" fmla="val 422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4768" y="115214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PMRT EXPECTED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expander (deflate for RT) → definitive 6–12 mo after RT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534656" y="1133856"/>
            <a:ext cx="1371600" cy="1298448"/>
          </a:xfrm>
          <a:prstGeom prst="roundRect">
            <a:avLst>
              <a:gd name="adj" fmla="val 422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0376" y="115214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advanced → after adjuvant RT (RT to reconstruction = worse cosmesis)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2523744"/>
            <a:ext cx="4251960" cy="2121408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2578608"/>
            <a:ext cx="40690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4736592" y="2804465"/>
            <a:ext cx="4123944" cy="1813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 / expander, or autologous: pedicled TRAM, free TRAM / DIEP (deep inferior epigastric), latissimus ± implant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defect: pedicled latissimus (thoracodorsal); skin graft tolerates RT but poor take may delay RT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228600" y="2788920"/>
            <a:ext cx="4251960" cy="91440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2843784"/>
            <a:ext cx="406908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Chest-wall resection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01752" y="3065145"/>
            <a:ext cx="4123944" cy="61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ribs → soft-tissue cover only (scar stabilises)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 ribs → prosthetic stabilisation + latissimus or TRAM flap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8600" y="3794760"/>
            <a:ext cx="4251960" cy="8503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1752" y="3813048"/>
            <a:ext cx="41056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place a definitive implant reconstruction when PMRT is likely • plan the mastectomy incision around a future ALND/reconstruction.</a:t>
            </a:r>
            <a:endParaRPr lang="en-US" sz="97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Radiotherapy — General &amp; Special Indications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76656"/>
          <a:ext cx="5577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251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 /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BCS (invasive)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Whole-breast RT ± boost for all — halves recurrence, improves 15-y survival (~⅙); 50 Gy over 5–6 wk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BCS (DCIS)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WBI in all subgroups; omit only selected low/intermediate grade (margin ≥3 mm)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Post-mastectomy (PMRT)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+ve margin; ≥4 +ve nodes; 1–3 nodes in premenopausal → chest wall + supraclavicular (EBCTCG supports 1–3 nodes; SLN-era → MDT)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IIIA/IIIB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after surgery: breast or chest wall + supraclavicular; grossly involved IMN →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+ supraclavicular + internal mammary + axillary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 axilla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Tangential WBI (covers low axilla) replaces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if not previously irradiated (palliative if scope remains)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IV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Palliation: brain, cord compression, painful/unstable bone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676656"/>
            <a:ext cx="2926080" cy="201168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731520"/>
            <a:ext cx="2743200" cy="18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conditions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6062472" y="946887"/>
            <a:ext cx="2798064" cy="1714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Pregnancy:</a:t>
            </a: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during pregnancy — defer until after delivery</a:t>
            </a:r>
            <a:endParaRPr lang="en-US" sz="86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chest RT, lupus, scleroderma:</a:t>
            </a: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relative contraindication to BCT</a:t>
            </a:r>
            <a:endParaRPr lang="en-US" sz="86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/ reconstruction:</a:t>
            </a: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 harms NAC and cosmesis</a:t>
            </a:r>
            <a:endParaRPr lang="en-US" sz="86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BC:</a:t>
            </a: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 for high local-regional risk</a:t>
            </a:r>
            <a:endParaRPr lang="en-US" sz="86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</a:t>
            </a: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 (LINAC/Cobalt-60) exists only at tertiary/highly-specialised centres — a major bottleneck to completing multimodality treatment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5989320" y="2761488"/>
            <a:ext cx="2926080" cy="1883664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816352"/>
            <a:ext cx="274320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omission after BCS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6062472" y="3034716"/>
            <a:ext cx="2798064" cy="158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≥70 y, T1N0, ER+ on tamoxifen (CALGB 9343): 2% vs 10% at 10 y, no survival difference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PRIME-2 (≥65 y, ER+, N0, ≤3 cm): 1.3% vs 4.1%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continue endocrine therapy</a:t>
            </a:r>
            <a:endParaRPr lang="en-US" sz="8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Accelerated Partial Breast Irradiation (APBI) — Selection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2788920" cy="384048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6128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≥60 y • unifocal T1 • ER-positive • no LVI • margins ≥2 mm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731520"/>
            <a:ext cx="2788920" cy="38404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731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14300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6128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lobular • 2.1–3 cm • ER-negative • focal LVI • margins &lt;2 mm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731520"/>
            <a:ext cx="2788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731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UNSUITABLE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6128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T3/T4 • multifocal or multicentric • extensive LVI • positive margins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240280"/>
            <a:ext cx="4251960" cy="13716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95144"/>
            <a:ext cx="40690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01752" y="2521001"/>
            <a:ext cx="4123944" cy="1063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twice daily, lower total dose (vs 50 Gy ± boost over 5–6 wk)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Brachytherapy, 3D-conformal external beam or IMRT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Recurrences mostly at/near the tumour bed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663440" y="2240280"/>
            <a:ext cx="4251960" cy="137160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295144"/>
            <a:ext cx="40690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736592" y="2521001"/>
            <a:ext cx="4123944" cy="1063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TARGIT (n = 3,451, intra-operative RT): 3.3% vs 1.3% recurrence at 2.4 y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NSABP B-39 / RTOG 04-13 (WBI vs APBI) awaited at time of writing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helps select patients for partial-breast RT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28600" y="3703320"/>
            <a:ext cx="8686800" cy="86868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3721608"/>
            <a:ext cx="85404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APBI only for highly selected low-risk patients, per guidelines or within trials • do not offer it outside Z0011-type settings where the tangents are relied on to treat the low axilla.</a:t>
            </a:r>
            <a:endParaRPr lang="en-US" sz="9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Chemotherapy — General &amp; Special Indications (Adjuvant)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577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55448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 / nodes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HR-positive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HR-negative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types*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N0, ≤0.5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Endocrine; no chemo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benefit — no chemo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N0, 0.6–1.0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Endocrine; chemo only with adverse features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if adverse features (HR− counts)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N0, &gt;1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 ± chemo — 21-gene score decides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Endocrine; chemo if &gt;3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Node-positive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+ endocrine (RS may guide 1–3 nodes, postmenopausal)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+ endocrine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743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*Tubular, mucinous, medullary (usually strongly ER+). Adverse features = LVI, high nuclear/histologic grade, HER2 overexpression, HR-negative. HER2+ → add trastuzumab-based regimen.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5989320" y="694944"/>
            <a:ext cx="2926080" cy="243230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749808"/>
            <a:ext cx="274320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 — consider chemo if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6062472" y="969670"/>
            <a:ext cx="2798064" cy="2130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Node-positive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ER-negative / triple-negative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HER2-positive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N0 &gt;5 mm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LVI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Adjuvant! mortality &gt;10%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21-gene distant relapse &gt;15% at 10 y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228600" y="3200400"/>
            <a:ext cx="2834640" cy="1444752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3255264"/>
            <a:ext cx="265176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indications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301752" y="3473628"/>
            <a:ext cx="2706624" cy="114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III, esp. ER-negative; inflammatory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for lumpectomy (B-18: more BCS)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 / TNBC — pCR highest; cN1 to downstage axilla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3154680" y="3200400"/>
            <a:ext cx="2834640" cy="144475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3255264"/>
            <a:ext cx="2651760" cy="18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9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conditions</a:t>
            </a:r>
            <a:endParaRPr lang="en-US" sz="990" dirty="0"/>
          </a:p>
        </p:txBody>
      </p:sp>
      <p:sp>
        <p:nvSpPr>
          <p:cNvPr id="17" name="Text 14"/>
          <p:cNvSpPr/>
          <p:nvPr/>
        </p:nvSpPr>
        <p:spPr>
          <a:xfrm>
            <a:off x="3227832" y="3467633"/>
            <a:ext cx="2706624" cy="1150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&gt;70:</a:t>
            </a:r>
            <a:r>
              <a:rPr lang="en-US" sz="8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definitive data (benefit proven ≤70 y)</a:t>
            </a:r>
            <a:endParaRPr lang="en-US" sz="8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Pregnancy:</a:t>
            </a:r>
            <a:r>
              <a:rPr lang="en-US" sz="8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avoid 1st trimester (12% defects); 2nd–3rd safe</a:t>
            </a:r>
            <a:endParaRPr lang="en-US" sz="8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</a:t>
            </a:r>
            <a:r>
              <a:rPr lang="en-US" sz="8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HR−, large, many nodes, locally advanced</a:t>
            </a:r>
            <a:endParaRPr lang="en-US" sz="8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</a:t>
            </a:r>
            <a:r>
              <a:rPr lang="en-US" sz="8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chemotherapy delivered from secondary-hospital level with MDT oversight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6080760" y="3200400"/>
            <a:ext cx="2834640" cy="144475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255264"/>
            <a:ext cx="265176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disease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6153912" y="3473628"/>
            <a:ext cx="2706624" cy="114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HR-negative; visceral crisis; hormone-refractory; lymphangitic spread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single agents by response</a:t>
            </a:r>
            <a:endParaRPr lang="en-US" sz="8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Chemotherapy Regimens &amp; Neoadjuvant Response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931920"/>
                <a:gridCol w="3931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HER2-negative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HER2-positive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Dose-dense AC → paclitaxel 2-weekly; dose-dense AC → weekly paclitaxel; TC (docetaxel + cyclophosphamide)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→ paclitaxel + trastuzumab ± pertuzumab; TCH (docetaxel, carboplatin, trastuzumab ± pertuzumab)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CMF; AC → 3-weekly docetaxel; AC → weekly paclitaxel; TAC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→ docetaxel + trastuzumab ± pertuzumab; TC + trastuzumab; FEC → taxane + trastuzumab + pertuzumab; paclitaxel + 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190195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doxorubicin, C = cyclophosphamide, E = epirubicin, F = 5-FU, M = methotrexate, T = taxane; → = followed by. Current lists differ — check guidelines.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228600" y="2194560"/>
            <a:ext cx="2834640" cy="2450592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249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vs adjuvant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301752" y="2469286"/>
            <a:ext cx="2706624" cy="2148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(T3/T4): best with surgery between courses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B-18: same DFS/OS, more lumpectomies, fewer +ve nodes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recurrence ↑ only when RT replaced surgery; biology &amp; stage drive recurrence, not timing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3154680" y="2194560"/>
            <a:ext cx="2834640" cy="245059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2249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response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3227832" y="2469286"/>
            <a:ext cx="2706624" cy="2148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→ better survival; RCB-0 to 3 predicts 10-y RFS in TNBC, ER+, HER2+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on treatment = worst prognosis → switch class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used for accelerated approval — not proven surrogate for DFS/OS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6080760" y="2194560"/>
            <a:ext cx="2834640" cy="245059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249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responds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6153912" y="2469286"/>
            <a:ext cx="2706624" cy="2148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pCR &lt;10%; lobular &lt;3%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ER− pCR ≈3× ER+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HER2+: trastuzumab + pertuzumab ↑ pCR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 advanced: anthracycline ± taxane → surgery → RT</a:t>
            </a:r>
            <a:endParaRPr lang="en-US" sz="89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Hormonal (Endocrine) Therapy — Indications &amp; Choice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ER/PR-positive invasive cancer (response &gt;60% vs &lt;10% if HR-negative)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71800" y="102412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088136"/>
            <a:ext cx="37490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08813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108813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108813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52144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28600" y="1444752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463040"/>
            <a:ext cx="1645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× 5 y (↓ mortality ⅓, carry-over benefit; ↓ contralateral 39%)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(&lt;40 y, node+, needed chemo): ovarian suppression + exemestane (SOFT/TEXT DFS 93 vs 89%)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2103120" y="1152144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POSTMENOPAUSAL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103120" y="1444752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1463040"/>
            <a:ext cx="1645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Aromatase inhibitor first-line (anastrozole, letrozole, exemestane): −30% recurrence, −15% 10-y mortality vs tamoxifen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bone; arthralgia common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3977640" y="1152144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977640" y="1444752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1463040"/>
            <a:ext cx="1645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10 y (ATLAS, aTTom) or extended letrozole (MA-17R, B-42: ↑DFS, no OS gain) — best for node+, chemo-treated</a:t>
            </a:r>
            <a:endParaRPr lang="en-US" sz="91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694944"/>
          <a:ext cx="30175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05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flashes, thrombosis (&lt;3%), cataract, endometrial cancer (long use), bone pain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loss/fracture (bisphosphonate), arthralgia; less endometrial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897880" y="2194560"/>
            <a:ext cx="3017520" cy="2450592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89320" y="2249424"/>
            <a:ext cx="283464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indications</a:t>
            </a:r>
            <a:endParaRPr lang="en-US" sz="1030" dirty="0"/>
          </a:p>
        </p:txBody>
      </p:sp>
      <p:sp>
        <p:nvSpPr>
          <p:cNvPr id="29" name="Text 26"/>
          <p:cNvSpPr/>
          <p:nvPr/>
        </p:nvSpPr>
        <p:spPr>
          <a:xfrm>
            <a:off x="5971032" y="2467788"/>
            <a:ext cx="2889504" cy="2149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DCIS: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tamoxifen 5 y (not after bilateral mastectomy)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Gail ≥1.66%, LCIS, ADH/ALH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elderly/unfit, indolent ER+ LABC, lobular (IMPACT BCS 44% AI vs 31% tamoxifen)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BC: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~80% HR+ → tamoxifen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HR+ without crisis: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endocrine first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 is the prioritised IHC test at secondary-hospital level when the panel is limited; full HER2/ER confirmation to guide endocrine vs targeted therapy is routine at tertiary level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228600" y="3108960"/>
            <a:ext cx="5486400" cy="15361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1752" y="3127248"/>
            <a:ext cx="5340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endocrine therapy if ER AND PR negative • AIs alone are not for premenopausal women (need ovarian suppression) • re-biopsy metastases — receptors change • ovarian suppression adds little without chemotherapy-level risk • sources disagree on stopping at 5 y: older data found no gain beyond 5 y (the basis for the old fixed-5-year rule) — ATLAS/aTTom (13,000 women) later showed lower recurrence/mortality from years 10–15; treat "stop at 5 y" as superseded, not wrong-then-right.</a:t>
            </a:r>
            <a:endParaRPr lang="en-US" sz="93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Endocrine Therapy in Metastatic Disease &amp; Ovarian Suppression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251960" cy="237744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06908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(postmenopausal ER+/HER2−)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301752" y="969670"/>
            <a:ext cx="4123944" cy="207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line: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AI, or palbociclib + letrozole (ribociclib, abemaciclib also approved)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progression: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palbociclib + fulvestrant (premenopausal + goserelin); abemaciclib ± fulvestrant; everolimus + exemestane (mTOR)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Premenopausal, endocrine-naive: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tamoxifen, or ovarian suppression/ablation + AI ± CDK4/6i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tamoxifen/toremifene, fulvestrant, megestrol, fluoxymesterone, high-dose ethinyl estradiol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228600" y="3145536"/>
            <a:ext cx="4251960" cy="1499616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200400"/>
            <a:ext cx="406908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ablation / suppression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301752" y="3420262"/>
            <a:ext cx="4123944" cy="119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Oophorectomy, ovarian RT or GnRH agonist (goserelin, leuprolide)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Goserelin + tamoxifen beat CMF in ER+ premenopausal early cancer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SOFT/TEXT: benefit mainly &lt;40 y, node+, chemo-treated; no OS difference</a:t>
            </a:r>
            <a:endParaRPr lang="en-US" sz="89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663440" y="658368"/>
          <a:ext cx="4251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663440" y="3566160"/>
            <a:ext cx="4251960" cy="10789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621024"/>
            <a:ext cx="406908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4736592" y="3839388"/>
            <a:ext cx="4123944" cy="778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benefit → next endocrine line likely works; de-novo progression → &lt;20% benefit, weigh chemo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ESR1 mutation (20–30% after AI) → AI resistance; bevacizumab indication revoked</a:t>
            </a:r>
            <a:endParaRPr lang="en-US" sz="8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Anti-HER2 Therapy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669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480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B-31/N9831: 3-y DFS 75 → 87% (HR 0.48), mortality −33%.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year = standard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PHARE: 6 months not shown non-inferior to 12. The 2-year question is unsettled between sources: DeVita's era reports the HERA 1-vs-2-year data as "not yet available"; later teaching notes describe 2 years as more effective but more toxic — treat this as an evolving answer, not a settled one. With taxane, NOT with anthracycline (cardiotoxicity). BCIRG 006: TCH ≈ AC-TH (less leukaemia/heart failure)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pCR 25 → 66.7% with paclitaxel → FEC-75; cardiac function preserved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HER2–HER3 dimerisation. Metastatic 1st line + trastuzumab + docetaxel; neoadjuvant HER2+ &gt;2 cm or N+ (NeoSphere ↑pCR ~17%; TRYPHAENA 57–66%); APHINITY iDFS events 7.1 vs 8.7%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Lapatinib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HER2/EGFR TKI; + capecitabine metastatic; adjuvant inferior to 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T-DM1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Antibody–drug conjugate for metastatic disease after trastuzumab + taxane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Neratinib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ExteNET: 1 y after trastuzumab → 2-y iDFS 94.2 vs 91.9%; HER2-mutant tumours benefit 36%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6080760" y="658368"/>
          <a:ext cx="2834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080760" y="3337560"/>
            <a:ext cx="2834640" cy="130759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72200" y="3392424"/>
            <a:ext cx="2651760" cy="18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9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990" dirty="0"/>
          </a:p>
        </p:txBody>
      </p:sp>
      <p:sp>
        <p:nvSpPr>
          <p:cNvPr id="11" name="Text 7"/>
          <p:cNvSpPr/>
          <p:nvPr/>
        </p:nvSpPr>
        <p:spPr>
          <a:xfrm>
            <a:off x="6153912" y="3604793"/>
            <a:ext cx="2706624" cy="1012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HER2-positive invasive cancer (IHC 3+ / FISH amplified) — record the actual IHC/ISH result; "HER2-low" is not a separate treatment category</a:t>
            </a:r>
            <a:endParaRPr lang="en-US" sz="8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 biologic/targeted (anti-HER2) therapy is a highly-specialised-level service</a:t>
            </a:r>
            <a:endParaRPr lang="en-US" sz="84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Situations &amp; Review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• male breast cancer • phyllodes • rare cancers • prognosis • pitfalls &amp; rapid recall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 in Pregnancy &amp; Lactation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Pregnancy-associated cancer — 1 in 3,000 pregnancies; mean age 34; nodes positive in up to 75%; presents late (hormone-rich breast masks it)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0" y="1042416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152144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704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ultrasound + needle biopsy (&lt;25% of nodules are cancer; ~30% of benign = galactocele, lobular hyperplasia, lactating adenoma, mastitis). Mammography rarely (shield). Work-up: CBC, chest X-ray (shielded), LFTs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572000" y="160934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1673352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18488" y="167335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167335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25512" y="167335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75564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1st–2nd TRIMESTER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radical mastectomy (1st-trimester anaesthesia ↑ abortion risk)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182112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75564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TRIMESTER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Lumpectomy + axillary dissection; radiation after delivery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135624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75564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1st trimester (12% birth defects); 2nd/3rd: no teratogenicity → neoadjuvant approach possible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4251960" cy="91440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71216"/>
            <a:ext cx="406908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301752" y="3094076"/>
            <a:ext cx="4123944" cy="6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with isotope alone is safe • suppress lactation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for stage, prognosis equals non-pregnant women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4663440" y="2816352"/>
            <a:ext cx="4251960" cy="91440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71216"/>
            <a:ext cx="406908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4736592" y="3094076"/>
            <a:ext cx="4123944" cy="6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is NEVER given during pregnancy; no chemo in 1st trimester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delay core biopsy of a pregnancy "lump"; isotope-only SLNB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228600" y="3803904"/>
            <a:ext cx="8686800" cy="84124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858768"/>
            <a:ext cx="850392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presentation is late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301752" y="4081628"/>
            <a:ext cx="8558784" cy="5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engorgement and density mask early cancers — any persistent mass needs imaging and core biopsy</a:t>
            </a:r>
            <a:endParaRPr lang="en-US" sz="91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 Breast Cancer, Phyllodes &amp; Rare Tumours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251960" cy="210312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06908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breast cancer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301752" y="968172"/>
            <a:ext cx="4123944" cy="180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of breast cancers; peak 6th decade; gynecomastia precedes in 20%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radiation, estrogen, testicular feminisation, Klinefelter, BRCA2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&gt;85%, DCIS &lt;15%; presents later (II–IV); stage-for-stage same survival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usually MRM; SLNB accurate; RT if high local risk; ~80% HR+ → tamoxifen; chemo if HR−, large, many nodes, LABC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663440" y="694944"/>
            <a:ext cx="4251960" cy="210312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49808"/>
            <a:ext cx="406908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Phyllodes tumour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736592" y="968172"/>
            <a:ext cx="4123944" cy="180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/ borderline / malignant; leaf-like cut surface; cellular monoclonal stroma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Calcification and necrosis do not grade; malignant: sarcomatous elements, mitoses, invasive margins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wide excision with normal margin; malignant → re-excise to 1 cm; large → mastectomy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axillary dissection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(nodal mets rare)</a:t>
            </a:r>
            <a:endParaRPr lang="en-US" sz="88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871216"/>
          <a:ext cx="8686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tumour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Squamous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 metaplasia; regional mets 25%, distant rare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Adenoid cystic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&lt;0.1%; salivary-like, 1–3 cm, circumscribed; axillary spread rare, lung mets can kill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Apocrine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 differentiated, vesicular nuclei; can be aggressive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Sarcoma / angiosarcoma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painless rapid mass → core/incisional biopsy; wide excision (may need mastectomy); no ALND unless nodes proven. Angiosarcoma: de novo, post-RT, Stewart–Treves (post-mastectomy lymphedema, 7–10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≤39 y Burkitt-like, bilateral; ≥40 y B-cell; stage-based therapy; 5/10-y 74/51%. Implant ALCL: remove capsule + mass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Prognosis &amp; High-Yield Numbers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658368"/>
          <a:ext cx="36576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89.2% (white 90.4% vs black 78.7%); gains reflect screening + better local and systemic therapy.</a:t>
            </a:r>
            <a:endParaRPr lang="en-US" sz="79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90672"/>
          <a:ext cx="3657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Morbidity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Seroma / lymphedema after MRM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≤30% / ~20% (50–60% + 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 lymphedema: ALND vs SLN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 vs 2%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Inflammatory: M1 at Dx / 5-y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/ ~30%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694944"/>
          <a:ext cx="48463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ADH/ALH • LCIS/DCIS • ADH in ducts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• 10× • 7×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tamoxifen threshold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 ≥1.66%, age 35–59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P-1 / MAP.3 / IBIS-II reduction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/ 65% / ~50%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 / BRCA2 ovarian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≤40% / ~20%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 ≥50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−25% mortality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 → invasive; DCIS ipsilateral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 (bilateral); 25–70%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 median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 y; 5-y 18%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TAILORx RS 0–10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5-y OS, endocrine alone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excision alone: low/int vs high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 vs 15.3%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B-24 tamoxifen + RT vs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 vs 13.4%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B-06 in-breast recurrence 20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 vs 14.3% (+RT)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B-32 SLN identification / FNR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 / 9.7%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 OS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91.9% vs 92.5%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3-y DFS / mortality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→ 87%; −33%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MRM skin flaps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High-Yield Distinctions &amp; Rapid Management Recall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5720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 vs 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marker, bilateral, no calcification, E-cadherin lost vs precursor, ipsilateral, calcifies → excise +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 vs BRCA2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TNBC/medullary, ovary 40% vs HR+, male BC, pancreas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 vs phyllodes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Phyllodes: leaf-like, cellular monoclonal stroma, 1-cm margin, no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scar vs CSL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 cm vs &gt;1 cm — both need tissue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 vs 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≤2–3 mm vs &gt;3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Multicentric vs multifocal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quadrant vs same quadrant / &lt;4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vs neglected LABC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Dermal lymphatics, rapid, poorly defined, more M1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Fistulectomy vs duct excision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Localised vs diffuse / multiple fistulae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vs adjuvant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OS; more BCS with neoadjuvant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983480" y="694944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69494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5961888" y="694944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07608" y="71323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/ tamoxifen / bilateral mastectomy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4983480" y="1193292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119329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5961888" y="1193292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07608" y="121158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mm + RT; extensive → mastectomy + SLNB; ER+ → tamoxifen 5 y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4983480" y="1691640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169164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961888" y="1691640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07608" y="1709928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(dual tracer, 10% rule); 1–2 +SLN + BCS + WBI → no ALND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4983480" y="2189988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83480" y="2189988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cN+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5961888" y="2189988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07608" y="220827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 or neoadjuvant → TAD if converts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4983480" y="2688336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83480" y="268833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961888" y="2688336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07608" y="2706624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→ response → surgery → RT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4983480" y="3186684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83480" y="318668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5961888" y="3186684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07608" y="320497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first if HR+ no crisis; chemo HR−/crisis; bone agent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4983480" y="3685032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83480" y="368503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5961888" y="3685032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07608" y="37033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tamoxifen (± OFS + exemestane high risk); post: AI; extend if node+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4983480" y="4183380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83480" y="418338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5961888" y="4183380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07608" y="4201668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1 y with taxane (not anthracycline) ± pertuzumab; neratinib after</a:t>
            </a:r>
            <a:endParaRPr lang="en-US" sz="92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40664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0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713232"/>
            <a:ext cx="8202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Brunicardi FC, et al. Schwartz's Principles of Surgery, 11th edition — Chapter 17, "The Breast." McGraw-Hill.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1271016"/>
            <a:ext cx="8202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Burstein HJ, Harris JR, Morrow M. "Malignant Tumors of the Breast," in DeVita, Hellman &amp; Rosenberg's Cancer: Principles &amp; Practice of Oncology.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228600" y="185623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1828800"/>
            <a:ext cx="8202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Comprehensive Cancer Network. NCCN Clinical Practice Guidelines in Oncology: Breast Cancer, v6.2026, and Breast Cancer Risk Reduction, v1.2026.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228600" y="2414016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2386584"/>
            <a:ext cx="8202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JNCCN Guidelines Insights: Genetic/Familial High-Risk Assessment — Breast, Ovarian, Pancreatic and Prostate, v2.2026. J Natl Compr Canc Netw. 2026;24(2):2–10.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2944368"/>
            <a:ext cx="8202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Ministry of Health, Ethiopia. National Breast Cancer Guideline 2024–2028.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228600" y="3529584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3502152"/>
            <a:ext cx="8202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GLOBOCAN 2020, IARC — cited within the Ethiopian national guideline for Ethiopia-specific incidence and mortality estimates.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228600" y="413308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names used throughout (NSABP B-06, ACOSOG Z0011, ATLAS, PALOMA, HERA, BCIRG, etc.) are as reported in the sources above; figures and tables are original redraws for on-screen display, not reproductions.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Management — Visual Study Deck</dc:title>
  <dc:subject>PptxGenJS Presentation</dc:subject>
  <dc:creator>Dr. Muluamlak — GSR-3</dc:creator>
  <cp:lastModifiedBy>Dr. Muluamlak — GSR-3</cp:lastModifiedBy>
  <cp:revision>1</cp:revision>
  <dcterms:created xsi:type="dcterms:W3CDTF">2026-09-28T05:36:44Z</dcterms:created>
  <dcterms:modified xsi:type="dcterms:W3CDTF">2026-09-28T05:36:44Z</dcterms:modified>
</cp:coreProperties>
</file>