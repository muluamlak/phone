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2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3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5-year survival by era &amp; race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</c:v>
                </c:pt>
                <c:pt idx="1">
                  <c:v>78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African American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46</c:v>
                </c:pt>
                <c:pt idx="1">
                  <c:v>64</c:v>
                </c:pt>
                <c:pt idx="2">
                  <c:v>78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Schwartz's Principles of Surgery (11th ed.) — The Breast; study notes with illustrations, graphs and flowcharts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4300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4–14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in situ &amp; invasive types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3212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15–25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4300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26–35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3212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36–47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4300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48–60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61–65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perforators + lateral branches of posterior intercostals + axillary branches (highest thoracic, lateral thoracic, pectoral branch of thoracoacromial)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64286"/>
            <a:ext cx="4343400" cy="177124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11" name="Text 8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natom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70377"/>
            <a:ext cx="4892040" cy="196937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6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3" name="Text 8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xlev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51288"/>
            <a:ext cx="3749040" cy="2631679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pearl: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neuroen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59985"/>
            <a:ext cx="4160520" cy="2099885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12" name="Text 8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17" name="Text 11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8" name="Text 15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1" name="Text 18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2" name="Shape 19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4" name="Text 21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20" name="Shape 18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2" name="Text 8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2" name="Text 8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8" name="Shape 15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3" name="Shape 11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2" name="Shape 30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37560" y="749808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3319272" y="972668"/>
            <a:ext cx="5541264" cy="16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Commonest female cancer; leading cancer death age 20–59; US 2018: 266,120 cases, 40,920 deaths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1 in 13 (1970s) → 1 in 8 (2004) — screening detection; incidence falling since ~2000 (less HRT)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less industrialised nations, early multiple pregnancies + long lactation; high: nulliparous, Ashkenazi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American &amp; West/sub-Saharan African women: younger, more ER-negative, higher mortality; poorer settings lack screening &amp; MDT care</a:t>
            </a:r>
            <a:endParaRPr lang="en-US" sz="91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5" name="Text 11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4" name="Text 11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5" name="Shape 12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7" name="Text 14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dcis_patter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80316"/>
            <a:ext cx="5394960" cy="2242104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12" name="Text 8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13" name="Shape 9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15" name="Text 11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 (≈100% accurate)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7" name="Text 45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2" name="Text 39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3" name="Shape 40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5" name="Text 42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t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796" y="658368"/>
            <a:ext cx="3853848" cy="1828800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13" name="Text 8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stage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78598"/>
            <a:ext cx="4343400" cy="206266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pearls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3" name="Shape 9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 screen-detected cancers: &gt;90% cure, often by local therapy; locally advanced disease needs all three modalities (surgery + RT + systemic).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267004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30" dirty="0"/>
          </a:p>
        </p:txBody>
      </p:sp>
      <p:sp>
        <p:nvSpPr>
          <p:cNvPr id="44" name="Text 42"/>
          <p:cNvSpPr/>
          <p:nvPr/>
        </p:nvSpPr>
        <p:spPr>
          <a:xfrm>
            <a:off x="5605272" y="2888412"/>
            <a:ext cx="3255264" cy="1272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10" name="Shape 8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9" name="Shape 17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Focus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74520"/>
                <a:gridCol w="1920240"/>
                <a:gridCol w="187452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focus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recurrence (~half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relapse (ER+ &gt;5 y); endocrine toxicity;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during chemo; distant relapse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M1 risk; trials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each line; re-biopsy at progression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6-mo; mammo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5669280" y="694944"/>
            <a:ext cx="3246120" cy="146304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749808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42432" y="971169"/>
            <a:ext cx="3118104" cy="1159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Meta-analysis: sensitivity 93%, FNR 7%, NPV 94%, accuracy 95%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SLNs find 98% of positive SLNs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0" y="2231136"/>
            <a:ext cx="3246120" cy="17830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2286000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742432" y="2507361"/>
            <a:ext cx="3118104" cy="1479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nodes: 1 → 17.7%, 2 → 10%, 3 → 6.9%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Extra-axillary SLN 1.4%: 0% subareolar vs 20% peritumoral injection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drainage predicts worse distant DFS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mastectom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1683"/>
            <a:ext cx="4572000" cy="2256530"/>
          </a:xfrm>
          <a:prstGeom prst="rect">
            <a:avLst/>
          </a:prstGeom>
        </p:spPr>
      </p:pic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 mastectomy.</a:t>
            </a:r>
            <a:endParaRPr lang="en-US" sz="97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31520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1" name="Text 8"/>
          <p:cNvSpPr/>
          <p:nvPr/>
        </p:nvSpPr>
        <p:spPr>
          <a:xfrm>
            <a:off x="6062472" y="949884"/>
            <a:ext cx="2798064" cy="171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4612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322783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1" name="Text 18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9" name="Shape 17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30" name="Text 27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B-14: &gt;5 y tamoxifen showed no gain (short follow-up) — later ATLAS showed benefit from years 10–15.</a:t>
            </a:r>
            <a:endParaRPr lang="en-US" sz="97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10" name="Text 8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 y more toxic; 6 mo not non-inferior).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3392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153912" y="3612286"/>
            <a:ext cx="2706624" cy="1005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HER2+ adjuvant: add pertuzumab</a:t>
            </a:r>
            <a:endParaRPr lang="en-US" sz="89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6" name="Text 24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7" name="Shape 25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9" name="Text 27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30" name="Shape 28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2" name="Text 30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10" name="Text 8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9" name="Shape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1" name="Shape 28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3" name="Shape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5" name="Shape 32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2026-09-28T00:32:27Z</dcterms:created>
  <dcterms:modified xsi:type="dcterms:W3CDTF">2026-09-28T00:32:27Z</dcterms:modified>
</cp:coreProperties>
</file>