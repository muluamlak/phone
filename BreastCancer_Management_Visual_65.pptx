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2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charts/chart5.xml" ContentType="application/vnd.openxmlformats-officedocument.drawingml.chart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charts/chart8.xml" ContentType="application/vnd.openxmlformats-officedocument.drawingml.chart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charts/chart9.xml" ContentType="application/vnd.openxmlformats-officedocument.drawingml.chart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charts/chart10.xml" ContentType="application/vnd.openxmlformats-officedocument.drawingml.chart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charts/chart11.xml" ContentType="application/vnd.openxmlformats-officedocument.drawingml.chart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charts/chart12.xml" ContentType="application/vnd.openxmlformats-officedocument.drawingml.chart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charts/chart13.xml" ContentType="application/vnd.openxmlformats-officedocument.drawingml.chart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charts/chart14.xml" ContentType="application/vnd.openxmlformats-officedocument.drawingml.chart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</p:sldIdLst>
  <p:notesMasterIdLst>
    <p:notesMasterId r:id="rId6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notesMaster" Target="notesMasters/notesMaster1.xml"/><Relationship Id="rId68" Type="http://schemas.openxmlformats.org/officeDocument/2006/relationships/presProps" Target="presProps.xml"/><Relationship Id="rId69" Type="http://schemas.openxmlformats.org/officeDocument/2006/relationships/viewProps" Target="viewProps.xml"/><Relationship Id="rId70" Type="http://schemas.openxmlformats.org/officeDocument/2006/relationships/theme" Target="theme/theme1.xml"/><Relationship Id="rId7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950" b="0" i="0" u="none" strike="noStrike">
                <a:solidFill>
                  <a:srgbClr val="1B3A6B"/>
                </a:solidFill>
                <a:latin typeface="Arial"/>
              </a:defRPr>
            </a:pPr>
            <a:r>
              <a:rPr sz="950" b="0" i="0" u="none" strike="noStrike">
                <a:solidFill>
                  <a:srgbClr val="1B3A6B"/>
                </a:solidFill>
                <a:latin typeface="Arial"/>
              </a:rPr>
              <a:t>Lymph flow: &gt;75% to axilla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Drainage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B3A6B"/>
              </a:solidFill>
              <a:effectLst/>
            </c:spPr>
          </c:dPt>
          <c:dPt>
            <c:idx val="1"/>
            <c:bubble3D val="0"/>
            <c:spPr>
              <a:solidFill>
                <a:srgbClr val="AFC3DE"/>
              </a:solidFill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Axillary nodes</c:v>
                </c:pt>
                <c:pt idx="1">
                  <c:v>Internal mammary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75</c:v>
                </c:pt>
                <c:pt idx="1">
                  <c:v>25</c:v>
                </c:pt>
              </c:numCache>
            </c:numRef>
          </c:val>
        </c:ser>
        <c:firstSliceAng val="0"/>
        <c:holeSize val="58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900" b="0" i="0" u="none" strike="noStrike">
                <a:solidFill>
                  <a:srgbClr val="1B3A6B"/>
                </a:solidFill>
                <a:latin typeface="Calibri"/>
              </a:defRPr>
            </a:pPr>
            <a:r>
              <a:rPr sz="900" b="0" i="0" u="none" strike="noStrike">
                <a:solidFill>
                  <a:srgbClr val="1B3A6B"/>
                </a:solidFill>
                <a:latin typeface="Calibri"/>
              </a:rPr>
              <a:t>Relative risk of later breast cancer (×)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Relative risk</c:v>
                </c:pt>
              </c:strCache>
            </c:strRef>
          </c:tx>
          <c:spPr>
            <a:solidFill>
              <a:srgbClr val="1B3A6B"/>
            </a:solidFill>
            <a:effectLst/>
          </c:spPr>
          <c:invertIfNegative val="0"/>
          <c:dLbls>
            <c:numFmt formatCode="0.0#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1A252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Nonproliferative</c:v>
                  </c:pt>
                  <c:pt idx="1">
                    <c:v>Sclerosing adenosis</c:v>
                  </c:pt>
                  <c:pt idx="2">
                    <c:v>Papilloma (no atypia)</c:v>
                  </c:pt>
                  <c:pt idx="3">
                    <c:v>Florid hyperplasia</c:v>
                  </c:pt>
                  <c:pt idx="4">
                    <c:v>ALH</c:v>
                  </c:pt>
                  <c:pt idx="5">
                    <c:v>ADH</c:v>
                  </c:pt>
                  <c:pt idx="6">
                    <c:v>Ductal involvement by ADH</c:v>
                  </c:pt>
                  <c:pt idx="7">
                    <c:v>LCIS</c:v>
                  </c:pt>
                  <c:pt idx="8">
                    <c:v>DCIS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</c:v>
                </c:pt>
                <c:pt idx="1">
                  <c:v>1</c:v>
                </c:pt>
                <c:pt idx="2">
                  <c:v>1</c:v>
                </c:pt>
                <c:pt idx="3">
                  <c:v>1.75</c:v>
                </c:pt>
                <c:pt idx="4">
                  <c:v>4</c:v>
                </c:pt>
                <c:pt idx="5">
                  <c:v>4</c:v>
                </c:pt>
                <c:pt idx="6">
                  <c:v>7</c:v>
                </c:pt>
                <c:pt idx="7">
                  <c:v>10</c:v>
                </c:pt>
                <c:pt idx="8">
                  <c:v>10</c:v>
                </c:pt>
              </c:numCache>
            </c:numRef>
          </c:val>
        </c:ser>
        <c:dLbls>
          <c:numFmt formatCode="0.0#" sourceLinked="0"/>
          <c:txPr>
            <a:bodyPr/>
            <a:lstStyle/>
            <a:p>
              <a:pPr>
                <a:defRPr b="0" i="0" strike="noStrike" sz="750" u="none">
                  <a:solidFill>
                    <a:srgbClr val="1A252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1A252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900" b="0" i="0" u="none" strike="noStrike">
                <a:solidFill>
                  <a:srgbClr val="1B3A6B"/>
                </a:solidFill>
                <a:latin typeface="Calibri"/>
              </a:defRPr>
            </a:pPr>
            <a:r>
              <a:rPr sz="900" b="0" i="0" u="none" strike="noStrike">
                <a:solidFill>
                  <a:srgbClr val="1B3A6B"/>
                </a:solidFill>
                <a:latin typeface="Calibri"/>
              </a:rPr>
              <a:t>US lifetime risk over time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Lifetime risk %</c:v>
                </c:pt>
              </c:strCache>
            </c:strRef>
          </c:tx>
          <c:spPr>
            <a:solidFill>
              <a:srgbClr val="1B3A6B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1A252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1970s (1/13)</c:v>
                  </c:pt>
                  <c:pt idx="1">
                    <c:v>1980 (1/11)</c:v>
                  </c:pt>
                  <c:pt idx="2">
                    <c:v>2004 (1/8)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7.7</c:v>
                </c:pt>
                <c:pt idx="1">
                  <c:v>9.1</c:v>
                </c:pt>
                <c:pt idx="2">
                  <c:v>12.5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750" u="none">
                  <a:solidFill>
                    <a:srgbClr val="1A252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1A252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900" b="0" i="0" u="none" strike="noStrike">
                <a:solidFill>
                  <a:srgbClr val="1B3A6B"/>
                </a:solidFill>
                <a:latin typeface="Calibri"/>
              </a:defRPr>
            </a:pPr>
            <a:r>
              <a:rPr sz="900" b="0" i="0" u="none" strike="noStrike">
                <a:solidFill>
                  <a:srgbClr val="1B3A6B"/>
                </a:solidFill>
                <a:latin typeface="Calibri"/>
              </a:rPr>
              <a:t>Remaining lifetime risk by age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Remaining risk %</c:v>
                </c:pt>
              </c:strCache>
            </c:strRef>
          </c:tx>
          <c:spPr>
            <a:solidFill>
              <a:srgbClr val="8FA9CC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1A252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Newborn</c:v>
                  </c:pt>
                  <c:pt idx="1">
                    <c:v>Age 50</c:v>
                  </c:pt>
                  <c:pt idx="2">
                    <c:v>Age 70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12</c:v>
                </c:pt>
                <c:pt idx="1">
                  <c:v>11</c:v>
                </c:pt>
                <c:pt idx="2">
                  <c:v>7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750" u="none">
                  <a:solidFill>
                    <a:srgbClr val="1A252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1A252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900" b="0" i="0" u="none" strike="noStrike">
                <a:solidFill>
                  <a:srgbClr val="1B3A6B"/>
                </a:solidFill>
                <a:latin typeface="Calibri"/>
              </a:defRPr>
            </a:pPr>
            <a:r>
              <a:rPr sz="900" b="0" i="0" u="none" strike="noStrike">
                <a:solidFill>
                  <a:srgbClr val="1B3A6B"/>
                </a:solidFill>
                <a:latin typeface="Calibri"/>
              </a:rPr>
              <a:t>Reduction in invasive cancer vs placebo (%)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% reduction</c:v>
                </c:pt>
              </c:strCache>
            </c:strRef>
          </c:tx>
          <c:spPr>
            <a:solidFill>
              <a:srgbClr val="1B3A6B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1A252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Tamoxifen — NSABP P-1</c:v>
                  </c:pt>
                  <c:pt idx="1">
                    <c:v>Anastrozole — IBIS-II</c:v>
                  </c:pt>
                  <c:pt idx="2">
                    <c:v>Exemestane — MAP.3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49</c:v>
                </c:pt>
                <c:pt idx="1">
                  <c:v>50</c:v>
                </c:pt>
                <c:pt idx="2">
                  <c:v>65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750" u="none">
                  <a:solidFill>
                    <a:srgbClr val="1A252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1A252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900" b="0" i="0" u="none" strike="noStrike">
                <a:solidFill>
                  <a:srgbClr val="1B3A6B"/>
                </a:solidFill>
                <a:latin typeface="Calibri"/>
              </a:defRPr>
            </a:pPr>
            <a:r>
              <a:rPr sz="900" b="0" i="0" u="none" strike="noStrike">
                <a:solidFill>
                  <a:srgbClr val="1B3A6B"/>
                </a:solidFill>
                <a:latin typeface="Calibri"/>
              </a:rPr>
              <a:t>5-year survival by era &amp; race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White</c:v>
                </c:pt>
              </c:strCache>
            </c:strRef>
          </c:tx>
          <c:spPr>
            <a:solidFill>
              <a:srgbClr val="1B3A6B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1A252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1960–63</c:v>
                  </c:pt>
                  <c:pt idx="1">
                    <c:v>1981–83</c:v>
                  </c:pt>
                  <c:pt idx="2">
                    <c:v>2002–08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63</c:v>
                </c:pt>
                <c:pt idx="1">
                  <c:v>78</c:v>
                </c:pt>
                <c:pt idx="2">
                  <c:v>92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African American</c:v>
                </c:pt>
              </c:strCache>
            </c:strRef>
          </c:tx>
          <c:spPr>
            <a:solidFill>
              <a:srgbClr val="8FA9CC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1A252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1960–63</c:v>
                  </c:pt>
                  <c:pt idx="1">
                    <c:v>1981–83</c:v>
                  </c:pt>
                  <c:pt idx="2">
                    <c:v>2002–08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46</c:v>
                </c:pt>
                <c:pt idx="1">
                  <c:v>64</c:v>
                </c:pt>
                <c:pt idx="2">
                  <c:v>78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750" u="none">
                  <a:solidFill>
                    <a:srgbClr val="1A252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1A252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900" b="0" i="0" u="none" strike="noStrike">
                <a:solidFill>
                  <a:srgbClr val="1B3A6B"/>
                </a:solidFill>
                <a:latin typeface="Calibri"/>
              </a:defRPr>
            </a:pPr>
            <a:r>
              <a:rPr sz="900" b="0" i="0" u="none" strike="noStrike">
                <a:solidFill>
                  <a:srgbClr val="1B3A6B"/>
                </a:solidFill>
                <a:latin typeface="Calibri"/>
              </a:rPr>
              <a:t>Pattern of recurrence (%)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 of recurrences %</c:v>
                </c:pt>
              </c:strCache>
            </c:strRef>
          </c:tx>
          <c:spPr>
            <a:solidFill>
              <a:srgbClr val="6C8EBF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1A252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Distant only</c:v>
                  </c:pt>
                  <c:pt idx="1">
                    <c:v>Local-regional only</c:v>
                  </c:pt>
                  <c:pt idx="2">
                    <c:v>Both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60</c:v>
                </c:pt>
                <c:pt idx="1">
                  <c:v>20</c:v>
                </c:pt>
                <c:pt idx="2">
                  <c:v>20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750" u="none">
                  <a:solidFill>
                    <a:srgbClr val="1A252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1A252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900" b="0" i="0" u="none" strike="noStrike">
                <a:solidFill>
                  <a:srgbClr val="1B3A6B"/>
                </a:solidFill>
                <a:latin typeface="Calibri"/>
              </a:defRPr>
            </a:pPr>
            <a:r>
              <a:rPr sz="900" b="0" i="0" u="none" strike="noStrike">
                <a:solidFill>
                  <a:srgbClr val="1B3A6B"/>
                </a:solidFill>
                <a:latin typeface="Calibri"/>
              </a:rPr>
              <a:t>Share of invasive cancers (%)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 %</c:v>
                </c:pt>
              </c:strCache>
            </c:strRef>
          </c:tx>
          <c:spPr>
            <a:solidFill>
              <a:srgbClr val="1B3A6B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1A252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NST</c:v>
                  </c:pt>
                  <c:pt idx="1">
                    <c:v>Lobular</c:v>
                  </c:pt>
                  <c:pt idx="2">
                    <c:v>Medullary</c:v>
                  </c:pt>
                  <c:pt idx="3">
                    <c:v>Mucinous</c:v>
                  </c:pt>
                  <c:pt idx="4">
                    <c:v>Papillary</c:v>
                  </c:pt>
                  <c:pt idx="5">
                    <c:v>Tubular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80</c:v>
                </c:pt>
                <c:pt idx="1">
                  <c:v>10</c:v>
                </c:pt>
                <c:pt idx="2">
                  <c:v>4</c:v>
                </c:pt>
                <c:pt idx="3">
                  <c:v>2</c:v>
                </c:pt>
                <c:pt idx="4">
                  <c:v>2</c:v>
                </c:pt>
                <c:pt idx="5">
                  <c:v>2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750" u="none">
                  <a:solidFill>
                    <a:srgbClr val="1A252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1A252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900" b="0" i="0" u="none" strike="noStrike">
                <a:solidFill>
                  <a:srgbClr val="1B3A6B"/>
                </a:solidFill>
                <a:latin typeface="Calibri"/>
              </a:defRPr>
            </a:pPr>
            <a:r>
              <a:rPr sz="900" b="0" i="0" u="none" strike="noStrike">
                <a:solidFill>
                  <a:srgbClr val="1B3A6B"/>
                </a:solidFill>
                <a:latin typeface="Calibri"/>
              </a:rPr>
              <a:t>DCIS trial event rates (%)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%</c:v>
                </c:pt>
              </c:strCache>
            </c:strRef>
          </c:tx>
          <c:spPr>
            <a:solidFill>
              <a:srgbClr val="4A6FA5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1A252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ECOG 5194 low/int (excision)</c:v>
                  </c:pt>
                  <c:pt idx="1">
                    <c:v>ECOG 5194 high grade</c:v>
                  </c:pt>
                  <c:pt idx="2">
                    <c:v>B-24 RT + tamoxifen</c:v>
                  </c:pt>
                  <c:pt idx="3">
                    <c:v>B-24 RT alone</c:v>
                  </c:pt>
                  <c:pt idx="4">
                    <c:v>RTOG 9804 + RT (5 y)</c:v>
                  </c:pt>
                  <c:pt idx="5">
                    <c:v>RTOG 9804 no RT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6.1</c:v>
                </c:pt>
                <c:pt idx="1">
                  <c:v>15.3</c:v>
                </c:pt>
                <c:pt idx="2">
                  <c:v>8.2</c:v>
                </c:pt>
                <c:pt idx="3">
                  <c:v>13.4</c:v>
                </c:pt>
                <c:pt idx="4">
                  <c:v>0.4</c:v>
                </c:pt>
                <c:pt idx="5">
                  <c:v>3.2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750" u="none">
                  <a:solidFill>
                    <a:srgbClr val="1A252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1A252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900" b="0" i="0" u="none" strike="noStrike">
                <a:solidFill>
                  <a:srgbClr val="1B3A6B"/>
                </a:solidFill>
                <a:latin typeface="Calibri"/>
              </a:defRPr>
            </a:pPr>
            <a:r>
              <a:rPr sz="900" b="0" i="0" u="none" strike="noStrike">
                <a:solidFill>
                  <a:srgbClr val="1B3A6B"/>
                </a:solidFill>
                <a:latin typeface="Calibri"/>
              </a:rPr>
              <a:t>In-breast recurrence with vs without RT (%)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%</c:v>
                </c:pt>
              </c:strCache>
            </c:strRef>
          </c:tx>
          <c:spPr>
            <a:solidFill>
              <a:srgbClr val="4A6FA5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1A252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B-06 lumpectomy + RT (20 y)</c:v>
                  </c:pt>
                  <c:pt idx="1">
                    <c:v>B-06 lumpectomy alone</c:v>
                  </c:pt>
                  <c:pt idx="2">
                    <c:v>CALGB ≥70 y + RT (10 y)</c:v>
                  </c:pt>
                  <c:pt idx="3">
                    <c:v>CALGB no RT</c:v>
                  </c:pt>
                  <c:pt idx="4">
                    <c:v>Canadian ≥50 y + RT</c:v>
                  </c:pt>
                  <c:pt idx="5">
                    <c:v>Canadian no RT</c:v>
                  </c:pt>
                  <c:pt idx="6">
                    <c:v>PRIME-2 ≥65 y + RT</c:v>
                  </c:pt>
                  <c:pt idx="7">
                    <c:v>PRIME-2 no RT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14.3</c:v>
                </c:pt>
                <c:pt idx="1">
                  <c:v>39.2</c:v>
                </c:pt>
                <c:pt idx="2">
                  <c:v>2</c:v>
                </c:pt>
                <c:pt idx="3">
                  <c:v>10</c:v>
                </c:pt>
                <c:pt idx="4">
                  <c:v>0.6</c:v>
                </c:pt>
                <c:pt idx="5">
                  <c:v>7.7</c:v>
                </c:pt>
                <c:pt idx="6">
                  <c:v>1.3</c:v>
                </c:pt>
                <c:pt idx="7">
                  <c:v>4.1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750" u="none">
                  <a:solidFill>
                    <a:srgbClr val="1A252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1A252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900" b="0" i="0" u="none" strike="noStrike">
                <a:solidFill>
                  <a:srgbClr val="1B3A6B"/>
                </a:solidFill>
                <a:latin typeface="Calibri"/>
              </a:defRPr>
            </a:pPr>
            <a:r>
              <a:rPr sz="900" b="0" i="0" u="none" strike="noStrike">
                <a:solidFill>
                  <a:srgbClr val="1B3A6B"/>
                </a:solidFill>
                <a:latin typeface="Calibri"/>
              </a:rPr>
              <a:t>False-negative rate of SLN surgery (%)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FNR %</c:v>
                </c:pt>
              </c:strCache>
            </c:strRef>
          </c:tx>
          <c:spPr>
            <a:solidFill>
              <a:srgbClr val="4A6FA5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1A252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1 SLN removed (B-32)</c:v>
                  </c:pt>
                  <c:pt idx="1">
                    <c:v>2 SLNs</c:v>
                  </c:pt>
                  <c:pt idx="2">
                    <c:v>3 SLNs</c:v>
                  </c:pt>
                  <c:pt idx="3">
                    <c:v>Z1071 SLN after NAC (cN1)</c:v>
                  </c:pt>
                  <c:pt idx="4">
                    <c:v>Clipped node in SLN, ≥2 SLNs</c:v>
                  </c:pt>
                  <c:pt idx="5">
                    <c:v>SLN alone (MD Anderson)</c:v>
                  </c:pt>
                  <c:pt idx="6">
                    <c:v>TAD: SLN + clipped node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17.7</c:v>
                </c:pt>
                <c:pt idx="1">
                  <c:v>10</c:v>
                </c:pt>
                <c:pt idx="2">
                  <c:v>6.9</c:v>
                </c:pt>
                <c:pt idx="3">
                  <c:v>12.6</c:v>
                </c:pt>
                <c:pt idx="4">
                  <c:v>6.8</c:v>
                </c:pt>
                <c:pt idx="5">
                  <c:v>10.1</c:v>
                </c:pt>
                <c:pt idx="6">
                  <c:v>1.4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750" u="none">
                  <a:solidFill>
                    <a:srgbClr val="1A252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1A252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900" b="0" i="0" u="none" strike="noStrike">
                <a:solidFill>
                  <a:srgbClr val="1B3A6B"/>
                </a:solidFill>
                <a:latin typeface="Calibri"/>
              </a:defRPr>
            </a:pPr>
            <a:r>
              <a:rPr sz="900" b="0" i="0" u="none" strike="noStrike">
                <a:solidFill>
                  <a:srgbClr val="1B3A6B"/>
                </a:solidFill>
                <a:latin typeface="Calibri"/>
              </a:rPr>
              <a:t>Median PFS in metastatic trials (months)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Combination</c:v>
                </c:pt>
              </c:strCache>
            </c:strRef>
          </c:tx>
          <c:spPr>
            <a:solidFill>
              <a:srgbClr val="1B3A6B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1A252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PALOMA-1</c:v>
                  </c:pt>
                  <c:pt idx="1">
                    <c:v>PALOMA-2</c:v>
                  </c:pt>
                  <c:pt idx="2">
                    <c:v>PALOMA-3</c:v>
                  </c:pt>
                  <c:pt idx="3">
                    <c:v>BOLERO-2</c:v>
                  </c:pt>
                  <c:pt idx="4">
                    <c:v>E2100 (bevacizumab)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20.2</c:v>
                </c:pt>
                <c:pt idx="1">
                  <c:v>24.8</c:v>
                </c:pt>
                <c:pt idx="2">
                  <c:v>9.2</c:v>
                </c:pt>
                <c:pt idx="3">
                  <c:v>11</c:v>
                </c:pt>
                <c:pt idx="4">
                  <c:v>11.3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Control</c:v>
                </c:pt>
              </c:strCache>
            </c:strRef>
          </c:tx>
          <c:spPr>
            <a:solidFill>
              <a:srgbClr val="8FA9CC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1A252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PALOMA-1</c:v>
                  </c:pt>
                  <c:pt idx="1">
                    <c:v>PALOMA-2</c:v>
                  </c:pt>
                  <c:pt idx="2">
                    <c:v>PALOMA-3</c:v>
                  </c:pt>
                  <c:pt idx="3">
                    <c:v>BOLERO-2</c:v>
                  </c:pt>
                  <c:pt idx="4">
                    <c:v>E2100 (bevacizumab)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10.2</c:v>
                </c:pt>
                <c:pt idx="1">
                  <c:v>14.5</c:v>
                </c:pt>
                <c:pt idx="2">
                  <c:v>3.8</c:v>
                </c:pt>
                <c:pt idx="3">
                  <c:v>4.1</c:v>
                </c:pt>
                <c:pt idx="4">
                  <c:v>5.8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750" u="none">
                  <a:solidFill>
                    <a:srgbClr val="1A252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1A252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900" b="0" i="0" u="none" strike="noStrike">
                <a:solidFill>
                  <a:srgbClr val="1B3A6B"/>
                </a:solidFill>
                <a:latin typeface="Calibri"/>
              </a:defRPr>
            </a:pPr>
            <a:r>
              <a:rPr sz="900" b="0" i="0" u="none" strike="noStrike">
                <a:solidFill>
                  <a:srgbClr val="1B3A6B"/>
                </a:solidFill>
                <a:latin typeface="Calibri"/>
              </a:rPr>
              <a:t>Effect of anti-HER2 therapy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Without</c:v>
                </c:pt>
              </c:strCache>
            </c:strRef>
          </c:tx>
          <c:spPr>
            <a:solidFill>
              <a:srgbClr val="9AA5B1"/>
            </a:solidFill>
            <a:effectLst/>
          </c:spPr>
          <c:invertIfNegative val="0"/>
          <c:dLbls>
            <c:numFmt formatCode="0.#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1A252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Adjuvant 3-y DFS</c:v>
                  </c:pt>
                  <c:pt idx="1">
                    <c:v>Neoadjuvant pCR</c:v>
                  </c:pt>
                  <c:pt idx="2">
                    <c:v>ExteNET 2-y iDFS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75</c:v>
                </c:pt>
                <c:pt idx="1">
                  <c:v>25</c:v>
                </c:pt>
                <c:pt idx="2">
                  <c:v>91.9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With anti-HER2</c:v>
                </c:pt>
              </c:strCache>
            </c:strRef>
          </c:tx>
          <c:spPr>
            <a:solidFill>
              <a:srgbClr val="1B3A6B"/>
            </a:solidFill>
            <a:effectLst/>
          </c:spPr>
          <c:invertIfNegative val="0"/>
          <c:dLbls>
            <c:numFmt formatCode="0.#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1A252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Adjuvant 3-y DFS</c:v>
                  </c:pt>
                  <c:pt idx="1">
                    <c:v>Neoadjuvant pCR</c:v>
                  </c:pt>
                  <c:pt idx="2">
                    <c:v>ExteNET 2-y iDFS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87</c:v>
                </c:pt>
                <c:pt idx="1">
                  <c:v>66.7</c:v>
                </c:pt>
                <c:pt idx="2">
                  <c:v>94.2</c:v>
                </c:pt>
              </c:numCache>
            </c:numRef>
          </c:val>
        </c:ser>
        <c:dLbls>
          <c:numFmt formatCode="0.#" sourceLinked="0"/>
          <c:txPr>
            <a:bodyPr/>
            <a:lstStyle/>
            <a:p>
              <a:pPr>
                <a:defRPr b="0" i="0" strike="noStrike" sz="750" u="none">
                  <a:solidFill>
                    <a:srgbClr val="1A252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1A252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900" b="0" i="0" u="none" strike="noStrike">
                <a:solidFill>
                  <a:srgbClr val="1B3A6B"/>
                </a:solidFill>
                <a:latin typeface="Calibri"/>
              </a:defRPr>
            </a:pPr>
            <a:r>
              <a:rPr sz="900" b="0" i="0" u="none" strike="noStrike">
                <a:solidFill>
                  <a:srgbClr val="1B3A6B"/>
                </a:solidFill>
                <a:latin typeface="Calibri"/>
              </a:rPr>
              <a:t>SEER 5-year relative survival by stage (%)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5-y survival %</c:v>
                </c:pt>
              </c:strCache>
            </c:strRef>
          </c:tx>
          <c:spPr>
            <a:solidFill>
              <a:srgbClr val="1B3A6B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1A252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Localized (61%)</c:v>
                  </c:pt>
                  <c:pt idx="1">
                    <c:v>Regional (32%)</c:v>
                  </c:pt>
                  <c:pt idx="2">
                    <c:v>Distant (5%)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98.6</c:v>
                </c:pt>
                <c:pt idx="1">
                  <c:v>84.4</c:v>
                </c:pt>
                <c:pt idx="2">
                  <c:v>24.3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750" u="none">
                  <a:solidFill>
                    <a:srgbClr val="1A252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1A252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chart" Target="/ppt/charts/chart4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chart" Target="/ppt/charts/chart7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0" y="868680"/>
            <a:ext cx="91440" cy="2651760"/>
          </a:xfrm>
          <a:prstGeom prst="rect">
            <a:avLst/>
          </a:prstGeom>
          <a:solidFill>
            <a:srgbClr val="21618C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14400" y="914400"/>
            <a:ext cx="7772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BREAST CANCER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914400" y="1536192"/>
            <a:ext cx="7772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161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MANAGEMENT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914400" y="233172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40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 Study Deck — Triple Assessment, Stage-wise Algorithms, Adjuvant Therapy &amp; Recurrence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297180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Schwartz's Principles of Surgery (11th ed.) — The Breast; study notes with illustrations, graphs and flowcharts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914400" y="356616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Parker CC, Damodaran S, Bland KI, Hunt KK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14400" y="388620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40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for: Dr. Muluamlak — GSR-3  |  EBS Unit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914400" y="422452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Breast Cancer Management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Table of Contents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Breast Cancer Management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28600" y="731520"/>
            <a:ext cx="4297680" cy="1188720"/>
          </a:xfrm>
          <a:prstGeom prst="rect">
            <a:avLst/>
          </a:prstGeom>
          <a:solidFill>
            <a:srgbClr val="F7F9FC"/>
          </a:solidFill>
          <a:ln w="9525">
            <a:solidFill>
              <a:srgbClr val="BFC9C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28600" y="731520"/>
            <a:ext cx="777240" cy="11887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28600" y="731520"/>
            <a:ext cx="777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1143000" y="82296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Foundations &amp; Benign Disease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143000" y="1133856"/>
            <a:ext cx="3291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 • anatomy • axilla • physiology • gynecomastia • infections • ANDI • benign lesions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1143000" y="1645920"/>
            <a:ext cx="3291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Slides 4–14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617720" y="731520"/>
            <a:ext cx="4297680" cy="1188720"/>
          </a:xfrm>
          <a:prstGeom prst="rect">
            <a:avLst/>
          </a:prstGeom>
          <a:solidFill>
            <a:srgbClr val="F7F9FC"/>
          </a:solidFill>
          <a:ln w="9525">
            <a:solidFill>
              <a:srgbClr val="BFC9C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617720" y="731520"/>
            <a:ext cx="777240" cy="11887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617720" y="731520"/>
            <a:ext cx="777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II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5532120" y="82296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Risk, Genetics &amp; Pathology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532120" y="1133856"/>
            <a:ext cx="3291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factors &amp; models • screening • chemoprevention • BRCA • epidemiology • in situ &amp; invasive types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5532120" y="1645920"/>
            <a:ext cx="3291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Slides 15–25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228600" y="2029968"/>
            <a:ext cx="4297680" cy="1188720"/>
          </a:xfrm>
          <a:prstGeom prst="rect">
            <a:avLst/>
          </a:prstGeom>
          <a:solidFill>
            <a:srgbClr val="F7F9FC"/>
          </a:solidFill>
          <a:ln w="9525">
            <a:solidFill>
              <a:srgbClr val="BFC9C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28600" y="2029968"/>
            <a:ext cx="777240" cy="11887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28600" y="2029968"/>
            <a:ext cx="777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III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1143000" y="2121408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Diagnosis &amp; Staging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143000" y="2432304"/>
            <a:ext cx="3291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Triple assessment • imaging • biopsy • nipple discharge • TNM • work-up • biomarkers • gene assays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1143000" y="2944368"/>
            <a:ext cx="3291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Slides 26–35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617720" y="2029968"/>
            <a:ext cx="4297680" cy="1188720"/>
          </a:xfrm>
          <a:prstGeom prst="rect">
            <a:avLst/>
          </a:prstGeom>
          <a:solidFill>
            <a:srgbClr val="F7F9FC"/>
          </a:solidFill>
          <a:ln w="9525">
            <a:solidFill>
              <a:srgbClr val="BFC9C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617720" y="2029968"/>
            <a:ext cx="777240" cy="11887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617720" y="2029968"/>
            <a:ext cx="777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IV</a:t>
            </a:r>
            <a:endParaRPr lang="en-US" sz="2400" dirty="0"/>
          </a:p>
        </p:txBody>
      </p:sp>
      <p:sp>
        <p:nvSpPr>
          <p:cNvPr id="29" name="Text 27"/>
          <p:cNvSpPr/>
          <p:nvPr/>
        </p:nvSpPr>
        <p:spPr>
          <a:xfrm>
            <a:off x="5532120" y="2121408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Management by Stage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5532120" y="2432304"/>
            <a:ext cx="3291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 map • LCIS • DCIS • stage I–II • axilla • stage III • inflammatory • stage IV • recurrence • summary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5532120" y="2944368"/>
            <a:ext cx="3291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Slides 36–47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228600" y="3328416"/>
            <a:ext cx="4297680" cy="1188720"/>
          </a:xfrm>
          <a:prstGeom prst="rect">
            <a:avLst/>
          </a:prstGeom>
          <a:solidFill>
            <a:srgbClr val="F7F9FC"/>
          </a:solidFill>
          <a:ln w="9525">
            <a:solidFill>
              <a:srgbClr val="BFC9CA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8600" y="3328416"/>
            <a:ext cx="777240" cy="11887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8600" y="3328416"/>
            <a:ext cx="777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</a:t>
            </a:r>
            <a:endParaRPr lang="en-US" sz="2400" dirty="0"/>
          </a:p>
        </p:txBody>
      </p:sp>
      <p:sp>
        <p:nvSpPr>
          <p:cNvPr id="35" name="Text 33"/>
          <p:cNvSpPr/>
          <p:nvPr/>
        </p:nvSpPr>
        <p:spPr>
          <a:xfrm>
            <a:off x="1143000" y="3419856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Surgery &amp; Adjuvant Therapy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1143000" y="3730752"/>
            <a:ext cx="3291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Indications per operation • techniques • reconstruction • radiotherapy • chemotherapy • endocrine • anti-HER2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1143000" y="4242816"/>
            <a:ext cx="3291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Slides 48–60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617720" y="3328416"/>
            <a:ext cx="4297680" cy="1188720"/>
          </a:xfrm>
          <a:prstGeom prst="rect">
            <a:avLst/>
          </a:prstGeom>
          <a:solidFill>
            <a:srgbClr val="F7F9FC"/>
          </a:solidFill>
          <a:ln w="9525">
            <a:solidFill>
              <a:srgbClr val="BFC9CA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617720" y="3328416"/>
            <a:ext cx="777240" cy="11887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617720" y="3328416"/>
            <a:ext cx="777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</a:t>
            </a:r>
            <a:endParaRPr lang="en-US" sz="2400" dirty="0"/>
          </a:p>
        </p:txBody>
      </p:sp>
      <p:sp>
        <p:nvSpPr>
          <p:cNvPr id="41" name="Text 39"/>
          <p:cNvSpPr/>
          <p:nvPr/>
        </p:nvSpPr>
        <p:spPr>
          <a:xfrm>
            <a:off x="5532120" y="3419856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Special Situations &amp; Review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5532120" y="3730752"/>
            <a:ext cx="3291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Pregnancy • male • phyllodes • rare cancers • prognosis • pitfalls &amp; rapid recall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5532120" y="4242816"/>
            <a:ext cx="3291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Slides 61–65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Ten Key Points at a Glance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Breast Cancer Management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28600" y="713232"/>
            <a:ext cx="4297680" cy="713232"/>
          </a:xfrm>
          <a:prstGeom prst="rect">
            <a:avLst/>
          </a:prstGeom>
          <a:solidFill>
            <a:srgbClr val="E8F4FD"/>
          </a:solidFill>
          <a:ln w="6350">
            <a:solidFill>
              <a:srgbClr val="BFC9C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" y="868680"/>
            <a:ext cx="402336" cy="402336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0040" y="8686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822960" y="749808"/>
            <a:ext cx="36393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Blood supply:</a:t>
            </a:r>
            <a:r>
              <a:rPr lang="en-US" sz="950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mammary perforators + lateral branches of posterior intercostals + axillary branches (highest thoracic, lateral thoracic, pectoral branch of thoracoacromial)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617720" y="713232"/>
            <a:ext cx="4297680" cy="713232"/>
          </a:xfrm>
          <a:prstGeom prst="rect">
            <a:avLst/>
          </a:prstGeom>
          <a:solidFill>
            <a:srgbClr val="E8F4FD"/>
          </a:solidFill>
          <a:ln w="6350">
            <a:solidFill>
              <a:srgbClr val="BFC9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709160" y="868680"/>
            <a:ext cx="402336" cy="402336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09160" y="8686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212080" y="749808"/>
            <a:ext cx="36393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Lymph drainage:</a:t>
            </a:r>
            <a:r>
              <a:rPr lang="en-US" sz="950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5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&gt;75%</a:t>
            </a: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axillary nodes; remainder (mainly medial breast) → internal mammary (parasternal) nodes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228600" y="1499616"/>
            <a:ext cx="4297680" cy="713232"/>
          </a:xfrm>
          <a:prstGeom prst="rect">
            <a:avLst/>
          </a:prstGeom>
          <a:solidFill>
            <a:srgbClr val="F7F9FC"/>
          </a:solidFill>
          <a:ln w="6350">
            <a:solidFill>
              <a:srgbClr val="BFC9C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20040" y="1655064"/>
            <a:ext cx="402336" cy="402336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20040" y="16550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22960" y="1536192"/>
            <a:ext cx="36393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Trophic hormones:</a:t>
            </a:r>
            <a:r>
              <a:rPr lang="en-US" sz="950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Estrogen (ducts), progesterone (lobules), prolactin (lactogenesis) are essential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4617720" y="1499616"/>
            <a:ext cx="4297680" cy="713232"/>
          </a:xfrm>
          <a:prstGeom prst="rect">
            <a:avLst/>
          </a:prstGeom>
          <a:solidFill>
            <a:srgbClr val="F7F9FC"/>
          </a:solidFill>
          <a:ln w="6350">
            <a:solidFill>
              <a:srgbClr val="BFC9C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709160" y="1655064"/>
            <a:ext cx="402336" cy="402336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709160" y="16550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212080" y="1536192"/>
            <a:ext cx="36393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Benign disease:</a:t>
            </a:r>
            <a:r>
              <a:rPr lang="en-US" sz="950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ANDI spectrum: normal → disorder → disease, tracking reproductive life and involution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228600" y="2286000"/>
            <a:ext cx="4297680" cy="713232"/>
          </a:xfrm>
          <a:prstGeom prst="rect">
            <a:avLst/>
          </a:prstGeom>
          <a:solidFill>
            <a:srgbClr val="E8F4FD"/>
          </a:solidFill>
          <a:ln w="6350">
            <a:solidFill>
              <a:srgbClr val="BFC9C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20040" y="2441448"/>
            <a:ext cx="402336" cy="402336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0040" y="24414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822960" y="2322576"/>
            <a:ext cx="36393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models:</a:t>
            </a:r>
            <a:r>
              <a:rPr lang="en-US" sz="950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Gail: 5-y + lifetime risk vs population — NOT for BRCA carriers or LCIS/DCIS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617720" y="2286000"/>
            <a:ext cx="4297680" cy="713232"/>
          </a:xfrm>
          <a:prstGeom prst="rect">
            <a:avLst/>
          </a:prstGeom>
          <a:solidFill>
            <a:srgbClr val="E8F4FD"/>
          </a:solidFill>
          <a:ln w="6350">
            <a:solidFill>
              <a:srgbClr val="BFC9C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709160" y="2441448"/>
            <a:ext cx="402336" cy="402336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709160" y="24414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212080" y="2322576"/>
            <a:ext cx="36393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Screening:</a:t>
            </a:r>
            <a:r>
              <a:rPr lang="en-US" sz="950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Mammography ≥50 y → </a:t>
            </a:r>
            <a:r>
              <a:rPr lang="en-US" sz="95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−25%</a:t>
            </a: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mortality; MRI for BRCA carriers / lifetime risk &gt;20–25%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228600" y="3072384"/>
            <a:ext cx="4297680" cy="713232"/>
          </a:xfrm>
          <a:prstGeom prst="rect">
            <a:avLst/>
          </a:prstGeom>
          <a:solidFill>
            <a:srgbClr val="F7F9FC"/>
          </a:solidFill>
          <a:ln w="6350">
            <a:solidFill>
              <a:srgbClr val="BFC9CA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20040" y="3227832"/>
            <a:ext cx="402336" cy="402336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20040" y="32278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822960" y="3108960"/>
            <a:ext cx="36393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Diagnosis:</a:t>
            </a:r>
            <a:r>
              <a:rPr lang="en-US" sz="950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Core-needle biopsy is preferred — palpable or non-palpable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4617720" y="3072384"/>
            <a:ext cx="4297680" cy="713232"/>
          </a:xfrm>
          <a:prstGeom prst="rect">
            <a:avLst/>
          </a:prstGeom>
          <a:solidFill>
            <a:srgbClr val="F7F9FC"/>
          </a:solidFill>
          <a:ln w="6350">
            <a:solidFill>
              <a:srgbClr val="BFC9CA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709160" y="3227832"/>
            <a:ext cx="402336" cy="402336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709160" y="32278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212080" y="3108960"/>
            <a:ext cx="36393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local therapy:</a:t>
            </a:r>
            <a:r>
              <a:rPr lang="en-US" sz="950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 clinical stage + histology + biomarkers (ER, PR, HER2)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228600" y="3858768"/>
            <a:ext cx="4297680" cy="713232"/>
          </a:xfrm>
          <a:prstGeom prst="rect">
            <a:avLst/>
          </a:prstGeom>
          <a:solidFill>
            <a:srgbClr val="E8F4FD"/>
          </a:solidFill>
          <a:ln w="6350">
            <a:solidFill>
              <a:srgbClr val="BFC9CA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20040" y="4014216"/>
            <a:ext cx="402336" cy="402336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20040" y="40142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822960" y="3895344"/>
            <a:ext cx="36393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Axilla:</a:t>
            </a:r>
            <a:r>
              <a:rPr lang="en-US" sz="950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SLNB for cN0; ALND avoidable with 1–2 +SLNs + BCS + whole-breast RT + systemic therapy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4617720" y="3858768"/>
            <a:ext cx="4297680" cy="713232"/>
          </a:xfrm>
          <a:prstGeom prst="rect">
            <a:avLst/>
          </a:prstGeom>
          <a:solidFill>
            <a:srgbClr val="E8F4FD"/>
          </a:solidFill>
          <a:ln w="6350">
            <a:solidFill>
              <a:srgbClr val="BFC9CA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4709160" y="4014216"/>
            <a:ext cx="402336" cy="402336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709160" y="40142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1400" dirty="0"/>
          </a:p>
        </p:txBody>
      </p:sp>
      <p:sp>
        <p:nvSpPr>
          <p:cNvPr id="47" name="Text 45"/>
          <p:cNvSpPr/>
          <p:nvPr/>
        </p:nvSpPr>
        <p:spPr>
          <a:xfrm>
            <a:off x="5212080" y="3895344"/>
            <a:ext cx="36393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Multidisciplinary:</a:t>
            </a:r>
            <a:r>
              <a:rPr lang="en-US" sz="950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MDT decides local-regional and systemic therapy; sequence by patient, tumour and subtype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21618C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629400" y="91440"/>
            <a:ext cx="82296" cy="4663440"/>
          </a:xfrm>
          <a:prstGeom prst="rect">
            <a:avLst/>
          </a:prstGeom>
          <a:solidFill>
            <a:srgbClr val="21618C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711696" y="91440"/>
            <a:ext cx="2432304" cy="46634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" y="548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 E C T I O 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74320" y="914400"/>
            <a:ext cx="3657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8800" dirty="0"/>
          </a:p>
        </p:txBody>
      </p:sp>
      <p:sp>
        <p:nvSpPr>
          <p:cNvPr id="7" name="Text 5"/>
          <p:cNvSpPr/>
          <p:nvPr/>
        </p:nvSpPr>
        <p:spPr>
          <a:xfrm>
            <a:off x="320040" y="2514600"/>
            <a:ext cx="6126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Foundations &amp; Benign Disease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320040" y="3931920"/>
            <a:ext cx="6126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E40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 • anatomy &amp; axilla • physiology • gynecomastia • infections • ANDI • benign lesions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711696" y="1828800"/>
            <a:ext cx="24323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4800" dirty="0"/>
          </a:p>
        </p:txBody>
      </p:sp>
      <p:sp>
        <p:nvSpPr>
          <p:cNvPr id="10" name="Shape 8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 &amp; Benign Disease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History of Therapy — From Halsted to Biology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 &amp; Benign Disease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20040" y="1559052"/>
            <a:ext cx="4160520" cy="0"/>
          </a:xfrm>
          <a:prstGeom prst="line">
            <a:avLst/>
          </a:prstGeom>
          <a:noFill/>
          <a:ln w="31750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498348" y="1508760"/>
            <a:ext cx="100584" cy="100584"/>
          </a:xfrm>
          <a:prstGeom prst="ellipse">
            <a:avLst/>
          </a:prstGeom>
          <a:solidFill>
            <a:srgbClr val="1B3A6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1431036"/>
            <a:ext cx="0" cy="73152"/>
          </a:xfrm>
          <a:prstGeom prst="line">
            <a:avLst/>
          </a:prstGeom>
          <a:noFill/>
          <a:ln w="12700">
            <a:solidFill>
              <a:srgbClr val="1B3A6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82880" y="1248156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1894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94983" y="676656"/>
            <a:ext cx="907313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7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Halsted &amp; Meyer: radical mastectomy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961263" y="1508760"/>
            <a:ext cx="100584" cy="100584"/>
          </a:xfrm>
          <a:prstGeom prst="ellipse">
            <a:avLst/>
          </a:prstGeom>
          <a:solidFill>
            <a:srgbClr val="1B3A6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11555" y="1613916"/>
            <a:ext cx="0" cy="73152"/>
          </a:xfrm>
          <a:prstGeom prst="line">
            <a:avLst/>
          </a:prstGeom>
          <a:noFill/>
          <a:ln w="12700">
            <a:solidFill>
              <a:srgbClr val="1B3A6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5795" y="1687068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1937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557898" y="1879092"/>
            <a:ext cx="907313" cy="5623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Keynes: breast conservation + radium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1424178" y="1508760"/>
            <a:ext cx="100584" cy="100584"/>
          </a:xfrm>
          <a:prstGeom prst="ellipse">
            <a:avLst/>
          </a:prstGeom>
          <a:solidFill>
            <a:srgbClr val="1B3A6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474470" y="1431036"/>
            <a:ext cx="0" cy="73152"/>
          </a:xfrm>
          <a:prstGeom prst="line">
            <a:avLst/>
          </a:prstGeom>
          <a:noFill/>
          <a:ln w="12700">
            <a:solidFill>
              <a:srgbClr val="1B3A6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108710" y="1248156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1943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1020813" y="676656"/>
            <a:ext cx="907313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7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Haagensen &amp; Stout: "grave signs"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1887093" y="1508760"/>
            <a:ext cx="100584" cy="100584"/>
          </a:xfrm>
          <a:prstGeom prst="ellipse">
            <a:avLst/>
          </a:prstGeom>
          <a:solidFill>
            <a:srgbClr val="1B3A6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937385" y="1613916"/>
            <a:ext cx="0" cy="73152"/>
          </a:xfrm>
          <a:prstGeom prst="line">
            <a:avLst/>
          </a:prstGeom>
          <a:noFill/>
          <a:ln w="12700">
            <a:solidFill>
              <a:srgbClr val="1B3A6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571625" y="1687068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1948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1483728" y="1879092"/>
            <a:ext cx="907313" cy="5623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Patey &amp; Dyson: modified radical mastectomy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2350008" y="1508760"/>
            <a:ext cx="100584" cy="100584"/>
          </a:xfrm>
          <a:prstGeom prst="ellipse">
            <a:avLst/>
          </a:prstGeom>
          <a:solidFill>
            <a:srgbClr val="1B3A6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400300" y="1431036"/>
            <a:ext cx="0" cy="73152"/>
          </a:xfrm>
          <a:prstGeom prst="line">
            <a:avLst/>
          </a:prstGeom>
          <a:noFill/>
          <a:ln w="12700">
            <a:solidFill>
              <a:srgbClr val="1B3A6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034540" y="1248156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1971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946643" y="676656"/>
            <a:ext cx="907313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7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NSABP B-04: radical vs total mastectomy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2812923" y="1508760"/>
            <a:ext cx="100584" cy="100584"/>
          </a:xfrm>
          <a:prstGeom prst="ellipse">
            <a:avLst/>
          </a:prstGeom>
          <a:solidFill>
            <a:srgbClr val="1B3A6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863215" y="1613916"/>
            <a:ext cx="0" cy="73152"/>
          </a:xfrm>
          <a:prstGeom prst="line">
            <a:avLst/>
          </a:prstGeom>
          <a:noFill/>
          <a:ln w="12700">
            <a:solidFill>
              <a:srgbClr val="1B3A6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497455" y="1687068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1991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2409558" y="1879092"/>
            <a:ext cx="907313" cy="5623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Giuliano: blue-dye SLN</a:t>
            </a:r>
            <a:endParaRPr lang="en-US" sz="750" dirty="0"/>
          </a:p>
        </p:txBody>
      </p:sp>
      <p:sp>
        <p:nvSpPr>
          <p:cNvPr id="33" name="Shape 31"/>
          <p:cNvSpPr/>
          <p:nvPr/>
        </p:nvSpPr>
        <p:spPr>
          <a:xfrm>
            <a:off x="3275838" y="1508760"/>
            <a:ext cx="100584" cy="100584"/>
          </a:xfrm>
          <a:prstGeom prst="ellipse">
            <a:avLst/>
          </a:prstGeom>
          <a:solidFill>
            <a:srgbClr val="1B3A6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326130" y="1431036"/>
            <a:ext cx="0" cy="73152"/>
          </a:xfrm>
          <a:prstGeom prst="line">
            <a:avLst/>
          </a:prstGeom>
          <a:noFill/>
          <a:ln w="12700">
            <a:solidFill>
              <a:srgbClr val="1B3A6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960370" y="1248156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2002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2872473" y="676656"/>
            <a:ext cx="907313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7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WHI: HRT raises breast cancer risk</a:t>
            </a:r>
            <a:endParaRPr lang="en-US" sz="750" dirty="0"/>
          </a:p>
        </p:txBody>
      </p:sp>
      <p:sp>
        <p:nvSpPr>
          <p:cNvPr id="37" name="Shape 35"/>
          <p:cNvSpPr/>
          <p:nvPr/>
        </p:nvSpPr>
        <p:spPr>
          <a:xfrm>
            <a:off x="3738753" y="1508760"/>
            <a:ext cx="100584" cy="100584"/>
          </a:xfrm>
          <a:prstGeom prst="ellipse">
            <a:avLst/>
          </a:prstGeom>
          <a:solidFill>
            <a:srgbClr val="1B3A6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789045" y="1613916"/>
            <a:ext cx="0" cy="73152"/>
          </a:xfrm>
          <a:prstGeom prst="line">
            <a:avLst/>
          </a:prstGeom>
          <a:noFill/>
          <a:ln w="12700">
            <a:solidFill>
              <a:srgbClr val="1B3A6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423285" y="1687068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2006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3335388" y="1879092"/>
            <a:ext cx="907313" cy="5623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Trastuzumab approved (adjuvant)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4201668" y="1508760"/>
            <a:ext cx="100584" cy="100584"/>
          </a:xfrm>
          <a:prstGeom prst="ellipse">
            <a:avLst/>
          </a:prstGeom>
          <a:solidFill>
            <a:srgbClr val="1B3A6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251960" y="1431036"/>
            <a:ext cx="0" cy="73152"/>
          </a:xfrm>
          <a:prstGeom prst="line">
            <a:avLst/>
          </a:prstGeom>
          <a:noFill/>
          <a:ln w="12700">
            <a:solidFill>
              <a:srgbClr val="1B3A6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886200" y="1248156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2011</a:t>
            </a:r>
            <a:endParaRPr lang="en-US" sz="850" dirty="0"/>
          </a:p>
        </p:txBody>
      </p:sp>
      <p:sp>
        <p:nvSpPr>
          <p:cNvPr id="44" name="Text 42"/>
          <p:cNvSpPr/>
          <p:nvPr/>
        </p:nvSpPr>
        <p:spPr>
          <a:xfrm>
            <a:off x="3798303" y="676656"/>
            <a:ext cx="907313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7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Tomosynthesis (3D) approved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4663440" y="676656"/>
            <a:ext cx="4251960" cy="1764792"/>
          </a:xfrm>
          <a:prstGeom prst="rect">
            <a:avLst/>
          </a:prstGeom>
          <a:solidFill>
            <a:srgbClr val="E8F4FD"/>
          </a:solidFill>
          <a:ln w="9525">
            <a:solidFill>
              <a:srgbClr val="21618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754880" y="731520"/>
            <a:ext cx="4069080" cy="1901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5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Surgical Evolution</a:t>
            </a:r>
            <a:endParaRPr lang="en-US" sz="1025" dirty="0"/>
          </a:p>
        </p:txBody>
      </p:sp>
      <p:sp>
        <p:nvSpPr>
          <p:cNvPr id="47" name="Text 45"/>
          <p:cNvSpPr/>
          <p:nvPr/>
        </p:nvSpPr>
        <p:spPr>
          <a:xfrm>
            <a:off x="4736592" y="949135"/>
            <a:ext cx="4123944" cy="1464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75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Halsted &amp; Meyer (1894):</a:t>
            </a:r>
            <a:r>
              <a:rPr lang="en-US" sz="875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radical mastectomy + ALND I–III → superior local control, became standard</a:t>
            </a:r>
            <a:endParaRPr lang="en-US" sz="875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75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Grave signs (1943):</a:t>
            </a:r>
            <a:r>
              <a:rPr lang="en-US" sz="875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skin oedema, ulceration, chest-wall fixation, node &gt;2.5 cm, fixed nodes → ≥2 signs = 42% local recurrence, 2% 5-y DFS → beyond cure by surgery</a:t>
            </a:r>
            <a:endParaRPr lang="en-US" sz="875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75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Patey &amp; Dyson (1948):</a:t>
            </a:r>
            <a:r>
              <a:rPr lang="en-US" sz="875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MRM keeps pectoralis major; replaced Halsted in 1970s (no gain from removing it in stage I–II; stage III needed RT)</a:t>
            </a:r>
            <a:endParaRPr lang="en-US" sz="875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75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Fisher:</a:t>
            </a:r>
            <a:r>
              <a:rPr lang="en-US" sz="875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cancer is systemic at diagnosis — nodes are a marker, not a barrier</a:t>
            </a:r>
            <a:endParaRPr lang="en-US" sz="875" dirty="0"/>
          </a:p>
        </p:txBody>
      </p:sp>
      <p:graphicFrame>
        <p:nvGraphicFramePr>
          <p:cNvPr id="5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2542032"/>
          <a:ext cx="86868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017520"/>
                <a:gridCol w="420624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5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Trial / evidence</a:t>
                      </a:r>
                      <a:endParaRPr lang="en-US" sz="87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5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Design</a:t>
                      </a:r>
                      <a:endParaRPr lang="en-US" sz="87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5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result</a:t>
                      </a:r>
                      <a:endParaRPr lang="en-US" sz="87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5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NSABP B-04 (n = 1,665)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cN0: Halsted vs total mastectomy ± RT; cN+: Halsted vs total mastectomy + RT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survival difference in any arm — still equal at 25 years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5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NSABP B-06 (n = 1,851)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mastectomy vs lumpectomy vs lumpectomy + RT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Same DFS, distant DFS, OS; lumpectomy alone → far more in-breast recurrence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5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EBCTCG overviews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Meta-analyses of local and systemic therapy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Avoid 4 local recurrences → prevent ~1 breast-cancer death (15 y). Anthracycline &gt; CMF; taxane ↓ mortality by ⅓; tamoxifen ↓ mortality up to 30% (ER+ only)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5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Biology era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IHC (1980s) → gene arrays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≥5 intrinsic subtypes; proportional benefit constant → treat by absolute risk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</a:tbl>
          </a:graphicData>
        </a:graphic>
      </p:graphicFrame>
      <p:sp>
        <p:nvSpPr>
          <p:cNvPr id="49" name="Shape 46"/>
          <p:cNvSpPr/>
          <p:nvPr/>
        </p:nvSpPr>
        <p:spPr>
          <a:xfrm>
            <a:off x="228600" y="4224528"/>
            <a:ext cx="8686800" cy="420624"/>
          </a:xfrm>
          <a:prstGeom prst="rect">
            <a:avLst/>
          </a:prstGeom>
          <a:solidFill>
            <a:srgbClr val="FDFCF0"/>
          </a:solidFill>
          <a:ln w="9525">
            <a:solidFill>
              <a:srgbClr val="7D6608"/>
            </a:solidFill>
            <a:prstDash val="solid"/>
          </a:ln>
        </p:spPr>
      </p:sp>
      <p:sp>
        <p:nvSpPr>
          <p:cNvPr id="50" name="Text 47"/>
          <p:cNvSpPr/>
          <p:nvPr/>
        </p:nvSpPr>
        <p:spPr>
          <a:xfrm>
            <a:off x="301752" y="4242816"/>
            <a:ext cx="85404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5" b="1" dirty="0">
                <a:solidFill>
                  <a:srgbClr val="7D66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Pearl:</a:t>
            </a:r>
            <a:r>
              <a:rPr lang="en-US" sz="925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B-06 caveats — palpable axillary nodes excluded; positive frozen-section margins converted to mastectomy yet analysed as BCS; in-breast recurrences were non-events for DFS. Perspective: 50% of women see a surgeon for breast disease, 25% are biopsied, 12% develop cancer.</a:t>
            </a:r>
            <a:endParaRPr lang="en-US" sz="925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Embryology &amp; Gross Anatomy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 &amp; Benign Disease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pic>
        <p:nvPicPr>
          <p:cNvPr id="8" name="Image 0" descr="/tmp/claude-0/-home-user-Phone/c7f42cbc-61a1-5785-9117-fab275c9b64e/scratchpad/rebuild65/pics/anatomy_h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8252" y="658368"/>
            <a:ext cx="4872736" cy="1993392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212080" y="676656"/>
            <a:ext cx="3703320" cy="1975104"/>
          </a:xfrm>
          <a:prstGeom prst="rect">
            <a:avLst/>
          </a:prstGeom>
          <a:solidFill>
            <a:srgbClr val="E8F4FD"/>
          </a:solidFill>
          <a:ln w="9525">
            <a:solidFill>
              <a:srgbClr val="21618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303520" y="731520"/>
            <a:ext cx="3520440" cy="1969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7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Anatomy &amp; Nipple–Areola Complex</a:t>
            </a:r>
            <a:endParaRPr lang="en-US" sz="1070" dirty="0"/>
          </a:p>
        </p:txBody>
      </p:sp>
      <p:sp>
        <p:nvSpPr>
          <p:cNvPr id="11" name="Text 8"/>
          <p:cNvSpPr/>
          <p:nvPr/>
        </p:nvSpPr>
        <p:spPr>
          <a:xfrm>
            <a:off x="5285232" y="955878"/>
            <a:ext cx="3575304" cy="1668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15–20 lobes; Cooper's ligaments insert perpendicularly into dermis</a:t>
            </a:r>
            <a:endParaRPr lang="en-US" sz="92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Extent: 2nd/3rd rib → IMF (6th/7th rib); sternal edge → anterior axillary line; base 10–12 cm</a:t>
            </a:r>
            <a:endParaRPr lang="en-US" sz="92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Lies on pectoralis major, serratus, ext. oblique, rectus sheath; retromammary bursa behind</a:t>
            </a:r>
            <a:endParaRPr lang="en-US" sz="92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Axillary tail of Spence; </a:t>
            </a:r>
            <a:r>
              <a:rPr lang="en-US" sz="92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UOQ has most tissue</a:t>
            </a:r>
            <a:endParaRPr lang="en-US" sz="92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Duct 2–4 mm (orifice 0.4–0.7 mm) → lactiferous sinus (squamous); Montgomery tubercles; smooth muscle → erection</a:t>
            </a:r>
            <a:endParaRPr lang="en-US" sz="92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2724912"/>
          <a:ext cx="868680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4023360"/>
                <a:gridCol w="338328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Anomaly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is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note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Inverted nipple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Mammary pit fails to elevate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4% of infants; congenital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Amastia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Absent breast — ridge arrest in 6th fetal week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Rare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Poland's syndrome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Hypoplasia/absence of breast + costal cartilage/rib defects + chest-wall subcutaneous hypoplasia + brachysyndactyly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Hypoplasia can also be iatrogenic (trauma, infection, RT before puberty)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Symmastia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Webbing across the midline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Rare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Polythelia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Accessory nipple on the milk line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&lt;1% of infants; may accompany urinary/cardiovascular anomalies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Polymastia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Supernumerary breast on the milk line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Commonest nipple → pubis; Turner/Fleischer syndromes; axillary tissue usually bilateral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</a:tbl>
          </a:graphicData>
        </a:graphic>
      </p:graphicFrame>
      <p:sp>
        <p:nvSpPr>
          <p:cNvPr id="13" name="Text 9"/>
          <p:cNvSpPr/>
          <p:nvPr/>
        </p:nvSpPr>
        <p:spPr>
          <a:xfrm>
            <a:off x="228600" y="4416552"/>
            <a:ext cx="8686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Milk lines appear at 5–6 weeks (axilla → groin) and mostly regress; breasts identical at birth ("witch's milk"); female breast completes only in pregnancy.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Blood Supply, Nerves &amp; Lymphatic Drainage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 &amp; Benign Disease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713232"/>
          <a:ext cx="576072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66344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System</a:t>
                      </a:r>
                      <a:endParaRPr lang="en-US" sz="92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facts</a:t>
                      </a:r>
                      <a:endParaRPr lang="en-US" sz="92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5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Arteries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Internal mammary perforators (2nd–4th = medial mammary arteries); lateral branches of posterior intercostals; axillary branches — highest thoracic, </a:t>
                      </a:r>
                      <a:r>
                        <a:rPr lang="en-US" sz="875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lateral thoracic</a:t>
                      </a:r>
                      <a:r>
                        <a:rPr lang="en-US" sz="87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(lateral mammary branches), pectoral branch of thoracoacromial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5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Veins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Follow arteries toward axilla: internal thoracic perforators, posterior intercostals, axillary tributaries. </a:t>
                      </a:r>
                      <a:r>
                        <a:rPr lang="en-US" sz="875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Batson's vertebral plexus</a:t>
                      </a:r>
                      <a:r>
                        <a:rPr lang="en-US" sz="87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→ vertebrae, skull, pelvis, CNS metastases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5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Sensory nerves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Lateral cutaneous branches of intercostals 3–6; supraclavicular nerve (upper skin). </a:t>
                      </a:r>
                      <a:r>
                        <a:rPr lang="en-US" sz="875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Intercostobrachial n.</a:t>
                      </a:r>
                      <a:r>
                        <a:rPr lang="en-US" sz="87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(T2) cut in ALND → medial upper-arm numbness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5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Lymphatics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Interlobular + ductal plexus → subareolar plexus → round lateral pectoralis major, through clavipectoral fascia → external mammary nodes (some direct to subscapular/apical)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3090672"/>
          <a:ext cx="576072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66344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75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Breast state</a:t>
                      </a:r>
                      <a:endParaRPr lang="en-US" sz="97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75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Histology / function</a:t>
                      </a:r>
                      <a:endParaRPr lang="en-US" sz="97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Inactive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Sparse, mostly ductal epithelium in loose stroma; dense tissue around TDLUs; alveolar height rises at ovulation then regresses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Pregnancy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Minor ducts branch, alveoli develop; lymphocytes, plasma cells, eosinophils gather in stroma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Lactation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Alveolar cells rich in ER, mitochondria, Golgi: protein by merocrine, lipid by apocrine secretion; colostrum (low fat, antibody-rich) → lipid-rich milk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Chart 0" descr=""/>
          <p:cNvGraphicFramePr/>
          <p:nvPr/>
        </p:nvGraphicFramePr>
        <p:xfrm>
          <a:off x="6172200" y="685800"/>
          <a:ext cx="2743200" cy="2148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1" name="Shape 6"/>
          <p:cNvSpPr/>
          <p:nvPr/>
        </p:nvSpPr>
        <p:spPr>
          <a:xfrm>
            <a:off x="6172200" y="2907792"/>
            <a:ext cx="2743200" cy="1737360"/>
          </a:xfrm>
          <a:prstGeom prst="rect">
            <a:avLst/>
          </a:prstGeom>
          <a:solidFill>
            <a:srgbClr val="FDFCF0"/>
          </a:solidFill>
          <a:ln w="9525">
            <a:solidFill>
              <a:srgbClr val="7D6608"/>
            </a:solidFill>
            <a:prstDash val="solid"/>
          </a:ln>
        </p:spPr>
      </p:sp>
      <p:sp>
        <p:nvSpPr>
          <p:cNvPr id="12" name="Text 7"/>
          <p:cNvSpPr/>
          <p:nvPr/>
        </p:nvSpPr>
        <p:spPr>
          <a:xfrm>
            <a:off x="6263640" y="2962656"/>
            <a:ext cx="2560320" cy="198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b="1" dirty="0">
                <a:solidFill>
                  <a:srgbClr val="7D66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080" dirty="0"/>
          </a:p>
        </p:txBody>
      </p:sp>
      <p:sp>
        <p:nvSpPr>
          <p:cNvPr id="13" name="Text 8"/>
          <p:cNvSpPr/>
          <p:nvPr/>
        </p:nvSpPr>
        <p:spPr>
          <a:xfrm>
            <a:off x="6245352" y="3188513"/>
            <a:ext cx="2615184" cy="14292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Medial tumours may drain to internal mammary nodes</a:t>
            </a:r>
            <a:endParaRPr lang="en-US" sz="93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Spread is usually sequential: level I → II → III</a:t>
            </a:r>
            <a:endParaRPr lang="en-US" sz="93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Veins explain lung (axillary/intercostal) and spine (Batson) metastases</a:t>
            </a:r>
            <a:endParaRPr lang="en-US" sz="93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Axillary Lymph Node Groups → Surgical Levels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 &amp; Benign Disease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pic>
        <p:nvPicPr>
          <p:cNvPr id="8" name="Image 0" descr="/tmp/claude-0/-home-user-Phone/c7f42cbc-61a1-5785-9117-fab275c9b64e/scratchpad/rebuild65/pics/axlevels_h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749808"/>
            <a:ext cx="3749040" cy="2834640"/>
          </a:xfrm>
          <a:prstGeom prst="rect">
            <a:avLst/>
          </a:prstGeom>
        </p:spPr>
      </p:pic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0" y="713232"/>
          <a:ext cx="480060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600200"/>
                <a:gridCol w="1325880"/>
                <a:gridCol w="32004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Group (n)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Position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Drains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Lvl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Axillary vein (4–6)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Medial/posterior to vein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Most of upper limb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External mammary (5–6)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Lower border pec. minor, with lateral thoracic vessels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Lateral breast (most)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Scapular (5–7)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Posterior wall, lateral scapular border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Posterior neck, trunk, shoulder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Central (3–4)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fat behind pec. minor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Three groups above + breast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Interpectoral / Rotter's (1–4)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Between pec. major &amp; minor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Breast direct → central, subclavicular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Subclavicular / apical (6–12)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Above upper border of pec. minor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other groups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III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228600" y="3767328"/>
            <a:ext cx="8686800" cy="868680"/>
          </a:xfrm>
          <a:prstGeom prst="rect">
            <a:avLst/>
          </a:prstGeom>
          <a:solidFill>
            <a:srgbClr val="FDFCF0"/>
          </a:solidFill>
          <a:ln w="9525">
            <a:solidFill>
              <a:srgbClr val="7D6608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301752" y="3785616"/>
            <a:ext cx="8540496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D66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 pearl:</a:t>
            </a:r>
            <a:r>
              <a:rPr lang="en-US" sz="10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Level I = lateral/below the lower border of pectoralis minor; Level II = deep to it; Level III = medial/above its upper border. Metastasis is usually sequential I → II → III. Clinical examination of the axilla is only ~33% accurate — stage the axilla surgically or by imaging-guided biopsy.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Physiology of the Breast &amp; Gynecomastia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 &amp; Benign Disease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28600" y="694944"/>
            <a:ext cx="4160520" cy="310896"/>
          </a:xfrm>
          <a:prstGeom prst="roundRect">
            <a:avLst>
              <a:gd name="adj" fmla="val 17647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4320" y="713232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Hypothalamus → GnRH (and other releasing factors)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2308860" y="1005840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91540" y="1069848"/>
            <a:ext cx="2834640" cy="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91540" y="1069848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2308860" y="1069848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3726180" y="1069848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228600" y="1133856"/>
            <a:ext cx="1325880" cy="402336"/>
          </a:xfrm>
          <a:prstGeom prst="roundRect">
            <a:avLst>
              <a:gd name="adj" fmla="val 13636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74320" y="1152144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Anterior pituitary</a:t>
            </a:r>
            <a:endParaRPr lang="en-US" sz="780" dirty="0"/>
          </a:p>
          <a:p>
            <a:pPr algn="ctr" indent="0" marL="0">
              <a:buNone/>
            </a:pPr>
            <a:r>
              <a:rPr lang="en-US" sz="7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LH + FSH</a:t>
            </a:r>
            <a:endParaRPr lang="en-US" sz="780" dirty="0"/>
          </a:p>
        </p:txBody>
      </p:sp>
      <p:sp>
        <p:nvSpPr>
          <p:cNvPr id="17" name="Shape 15"/>
          <p:cNvSpPr/>
          <p:nvPr/>
        </p:nvSpPr>
        <p:spPr>
          <a:xfrm>
            <a:off x="891540" y="1536192"/>
            <a:ext cx="0" cy="12801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228600" y="1664208"/>
            <a:ext cx="1325880" cy="822960"/>
          </a:xfrm>
          <a:prstGeom prst="roundRect">
            <a:avLst>
              <a:gd name="adj" fmla="val 6667"/>
            </a:avLst>
          </a:prstGeom>
          <a:solidFill>
            <a:srgbClr val="F5EEF8"/>
          </a:solidFill>
          <a:ln w="12700">
            <a:solidFill>
              <a:srgbClr val="6C348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74320" y="1682496"/>
            <a:ext cx="12344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Ovary → estrogen (ductal development) + progesterone (lobular development, differentiation)</a:t>
            </a:r>
            <a:endParaRPr lang="en-US" sz="780" dirty="0"/>
          </a:p>
        </p:txBody>
      </p:sp>
      <p:sp>
        <p:nvSpPr>
          <p:cNvPr id="20" name="Shape 18"/>
          <p:cNvSpPr/>
          <p:nvPr/>
        </p:nvSpPr>
        <p:spPr>
          <a:xfrm>
            <a:off x="1645920" y="1133856"/>
            <a:ext cx="1325880" cy="402336"/>
          </a:xfrm>
          <a:prstGeom prst="roundRect">
            <a:avLst>
              <a:gd name="adj" fmla="val 13636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691640" y="1152144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Anterior pituitary</a:t>
            </a:r>
            <a:endParaRPr lang="en-US" sz="780" dirty="0"/>
          </a:p>
          <a:p>
            <a:pPr algn="ctr" indent="0" marL="0">
              <a:buNone/>
            </a:pPr>
            <a:r>
              <a:rPr lang="en-US" sz="7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Prolactin</a:t>
            </a:r>
            <a:endParaRPr lang="en-US" sz="780" dirty="0"/>
          </a:p>
        </p:txBody>
      </p:sp>
      <p:sp>
        <p:nvSpPr>
          <p:cNvPr id="22" name="Shape 20"/>
          <p:cNvSpPr/>
          <p:nvPr/>
        </p:nvSpPr>
        <p:spPr>
          <a:xfrm>
            <a:off x="2308860" y="1536192"/>
            <a:ext cx="0" cy="12801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1645920" y="1664208"/>
            <a:ext cx="1325880" cy="822960"/>
          </a:xfrm>
          <a:prstGeom prst="roundRect">
            <a:avLst>
              <a:gd name="adj" fmla="val 6667"/>
            </a:avLst>
          </a:prstGeom>
          <a:solidFill>
            <a:srgbClr val="F5EEF8"/>
          </a:solidFill>
          <a:ln w="12700">
            <a:solidFill>
              <a:srgbClr val="6C348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691640" y="1682496"/>
            <a:ext cx="12344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Lactogenesis (late pregnancy, postpartum); epithelial development</a:t>
            </a:r>
            <a:endParaRPr lang="en-US" sz="780" dirty="0"/>
          </a:p>
        </p:txBody>
      </p:sp>
      <p:sp>
        <p:nvSpPr>
          <p:cNvPr id="25" name="Shape 23"/>
          <p:cNvSpPr/>
          <p:nvPr/>
        </p:nvSpPr>
        <p:spPr>
          <a:xfrm>
            <a:off x="3063240" y="1133856"/>
            <a:ext cx="1325880" cy="402336"/>
          </a:xfrm>
          <a:prstGeom prst="roundRect">
            <a:avLst>
              <a:gd name="adj" fmla="val 13636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108960" y="1152144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Posterior pituitary</a:t>
            </a:r>
            <a:endParaRPr lang="en-US" sz="780" dirty="0"/>
          </a:p>
          <a:p>
            <a:pPr algn="ctr" indent="0" marL="0">
              <a:buNone/>
            </a:pPr>
            <a:r>
              <a:rPr lang="en-US" sz="7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Oxytocin</a:t>
            </a:r>
            <a:endParaRPr lang="en-US" sz="780" dirty="0"/>
          </a:p>
        </p:txBody>
      </p:sp>
      <p:sp>
        <p:nvSpPr>
          <p:cNvPr id="27" name="Shape 25"/>
          <p:cNvSpPr/>
          <p:nvPr/>
        </p:nvSpPr>
        <p:spPr>
          <a:xfrm>
            <a:off x="3726180" y="1536192"/>
            <a:ext cx="0" cy="12801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3063240" y="1664208"/>
            <a:ext cx="1325880" cy="822960"/>
          </a:xfrm>
          <a:prstGeom prst="roundRect">
            <a:avLst>
              <a:gd name="adj" fmla="val 6667"/>
            </a:avLst>
          </a:prstGeom>
          <a:solidFill>
            <a:srgbClr val="F5EEF8"/>
          </a:solidFill>
          <a:ln w="12700">
            <a:solidFill>
              <a:srgbClr val="6C348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108960" y="1682496"/>
            <a:ext cx="12344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Milk let-down: myoepithelial contraction expels milk into sinuses</a:t>
            </a:r>
            <a:endParaRPr lang="en-US" sz="780" dirty="0"/>
          </a:p>
        </p:txBody>
      </p:sp>
      <p:sp>
        <p:nvSpPr>
          <p:cNvPr id="30" name="Text 28"/>
          <p:cNvSpPr/>
          <p:nvPr/>
        </p:nvSpPr>
        <p:spPr>
          <a:xfrm>
            <a:off x="228600" y="2505456"/>
            <a:ext cx="4160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E/P feed back on hypothalamus–pituitary; suckling → nipple nerves → prolactin + oxytocin release</a:t>
            </a:r>
            <a:endParaRPr lang="en-US" sz="750" dirty="0"/>
          </a:p>
        </p:txBody>
      </p:sp>
      <p:graphicFrame>
        <p:nvGraphicFramePr>
          <p:cNvPr id="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2816352"/>
          <a:ext cx="41605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315468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Changes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Pregnancy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Ductal + lobular proliferation; T1–2 ducts branch; T3 colostrum; prolactin drives milk synthesis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Lactation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E/P fall at delivery → prolactin acts; nipple reflex; oxytocin expels milk; weaning → atrophy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Menopause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Involution of ducts/alveoli; fibrous stroma → fat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Shape 29"/>
          <p:cNvSpPr/>
          <p:nvPr/>
        </p:nvSpPr>
        <p:spPr>
          <a:xfrm>
            <a:off x="4572000" y="676656"/>
            <a:ext cx="4343400" cy="1188720"/>
          </a:xfrm>
          <a:prstGeom prst="rect">
            <a:avLst/>
          </a:prstGeom>
          <a:solidFill>
            <a:srgbClr val="E8F4FD"/>
          </a:solidFill>
          <a:ln w="9525">
            <a:solidFill>
              <a:srgbClr val="21618C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4663440" y="731520"/>
            <a:ext cx="4160520" cy="193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45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Gynecomastia — Physiological Peaks</a:t>
            </a:r>
            <a:endParaRPr lang="en-US" sz="1045" dirty="0"/>
          </a:p>
        </p:txBody>
      </p:sp>
      <p:sp>
        <p:nvSpPr>
          <p:cNvPr id="34" name="Text 31"/>
          <p:cNvSpPr/>
          <p:nvPr/>
        </p:nvSpPr>
        <p:spPr>
          <a:xfrm>
            <a:off x="4645152" y="952132"/>
            <a:ext cx="4215384" cy="885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5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Neonatal</a:t>
            </a:r>
            <a:r>
              <a:rPr lang="en-US" sz="895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(placental estrogen) • </a:t>
            </a:r>
            <a:r>
              <a:rPr lang="en-US" sz="895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Adolescent</a:t>
            </a:r>
            <a:r>
              <a:rPr lang="en-US" sz="895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12–15 y, often unilateral • </a:t>
            </a:r>
            <a:r>
              <a:rPr lang="en-US" sz="895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Senescent</a:t>
            </a:r>
            <a:r>
              <a:rPr lang="en-US" sz="895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50–70 y, often bilateral</a:t>
            </a:r>
            <a:endParaRPr lang="en-US" sz="895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5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≥2 cm tissue in non-obese man; mammography/US separate it from cancer — dominant, irregular or asymmetric mass → suspect cancer</a:t>
            </a:r>
            <a:endParaRPr lang="en-US" sz="895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5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itself a cancer risk — but Klinefelter (XXY) is</a:t>
            </a:r>
            <a:endParaRPr lang="en-US" sz="895" dirty="0"/>
          </a:p>
        </p:txBody>
      </p:sp>
      <p:graphicFrame>
        <p:nvGraphicFramePr>
          <p:cNvPr id="4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0" y="1920240"/>
          <a:ext cx="43434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868680"/>
                <a:gridCol w="914400"/>
                <a:gridCol w="914400"/>
                <a:gridCol w="9144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1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Grade</a:t>
                      </a:r>
                      <a:endParaRPr lang="en-US" sz="81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1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</a:t>
                      </a:r>
                      <a:endParaRPr lang="en-US" sz="81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1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IIa</a:t>
                      </a:r>
                      <a:endParaRPr lang="en-US" sz="81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1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IIb</a:t>
                      </a:r>
                      <a:endParaRPr lang="en-US" sz="81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1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III</a:t>
                      </a:r>
                      <a:endParaRPr lang="en-US" sz="81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Size / skin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Mild, no redundancy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Moderate, no redundancy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Moderate + redundancy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Marked + redundancy + ptosis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2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0" y="2487168"/>
          <a:ext cx="4343400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32004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1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Cause</a:t>
                      </a:r>
                      <a:endParaRPr lang="en-US" sz="81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1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Examples</a:t>
                      </a:r>
                      <a:endParaRPr lang="en-US" sz="81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Estrogen excess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Testicular (Leydig, Sertoli, germ-cell), adrenal, lung, HCC; thyroid; cirrhosis; re-feeding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Androgen deficiency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Senescence; Klinefelter, Kallmann, Reifenstein; orchitis, trauma, RT; renal failure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Drugs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Digitalis, estrogens, steroids, marijuana, hCG; cimetidine, ketoconazole, phenytoin, spironolactone, chemo; tricyclics, verapamil…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7" name="Shape 32"/>
          <p:cNvSpPr/>
          <p:nvPr/>
        </p:nvSpPr>
        <p:spPr>
          <a:xfrm>
            <a:off x="4572000" y="3959352"/>
            <a:ext cx="4343400" cy="685800"/>
          </a:xfrm>
          <a:prstGeom prst="rect">
            <a:avLst/>
          </a:prstGeom>
          <a:solidFill>
            <a:srgbClr val="EAFAF1"/>
          </a:solidFill>
          <a:ln w="9525">
            <a:solidFill>
              <a:srgbClr val="196F3D"/>
            </a:solidFill>
            <a:prstDash val="solid"/>
          </a:ln>
        </p:spPr>
      </p:sp>
      <p:sp>
        <p:nvSpPr>
          <p:cNvPr id="38" name="Text 33"/>
          <p:cNvSpPr/>
          <p:nvPr/>
        </p:nvSpPr>
        <p:spPr>
          <a:xfrm>
            <a:off x="4663440" y="4014216"/>
            <a:ext cx="4160520" cy="1796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5" b="1" dirty="0">
                <a:solidFill>
                  <a:srgbClr val="196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</a:t>
            </a:r>
            <a:endParaRPr lang="en-US" sz="955" dirty="0"/>
          </a:p>
        </p:txBody>
      </p:sp>
      <p:sp>
        <p:nvSpPr>
          <p:cNvPr id="39" name="Text 34"/>
          <p:cNvSpPr/>
          <p:nvPr/>
        </p:nvSpPr>
        <p:spPr>
          <a:xfrm>
            <a:off x="4645152" y="4221340"/>
            <a:ext cx="4215384" cy="396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75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 cause (testosterone, stop drug) → progressive/unresponsive: excision, liposuction or subcutaneous mastectomy; danazol works but androgenic</a:t>
            </a:r>
            <a:endParaRPr lang="en-US" sz="875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Infectious &amp; Inflammatory Disorders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 &amp; Benign Disease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694944"/>
          <a:ext cx="8686800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3200400"/>
                <a:gridCol w="406908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Condition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features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Treatment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Staphylococcal abscess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S. aureus; point tenderness, erythema, heat; lactational in first weeks; may be deep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Antibiotics + repeated US-guided aspiration; drain if fails / thin necrotic skin; biopsy wall if non-resolving; chronic → culture AFB, anaerobes, fungi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Streptococcal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Diffuse, superficial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Warm compresses, IV penicillin/cephalosporin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Puerperal — epidemic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MRSA spread by suckling neonate; purulent discharge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Stop breastfeeding, antibiotics, surgery as needed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Puerperal — sporadic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Nipple fissure + milk stasis → retrograde infection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Empty breast (pump) + antibiotics → &gt;95% success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Zuska's disease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Recurrent retro-areolar abscess; smoking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Antibiotics + drainage; terminal duct resection can cure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Fungal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Blastomycosis, sporotrichosis near NAC; Candida in folds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Antifungals; Candida: remove maceration + nystatin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Hidradenitis suppurativa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Montgomery/axillary sebaceous glands; mimics Paget's/cancer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Antibiotics + I&amp;D; excision ± flaps/grafts if extensive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Mondor's disease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Thrombophlebitis of lateral thoracic / thoracoepigastric vein: tender cord; benign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NSAIDs + warm compresses (4–6 wk); biopsy if doubt; excise if refractory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228600" y="4224528"/>
            <a:ext cx="8686800" cy="420624"/>
          </a:xfrm>
          <a:prstGeom prst="rect">
            <a:avLst/>
          </a:prstGeom>
          <a:solidFill>
            <a:srgbClr val="FDEDEC"/>
          </a:solidFill>
          <a:ln w="9525">
            <a:solidFill>
              <a:srgbClr val="C0392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301752" y="4242816"/>
            <a:ext cx="85404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Pitfalls:</a:t>
            </a: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non-resolving or recurrent "abscess" may be cancer — biopsy the wall. Postpartum remains the commonest time for breast infection; non-lactational infection is intrinsic (periductal mastitis) or extrinsic (infected sebaceous cyst).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ANDI — Aberrations of Normal Development &amp; Involution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 &amp; Benign Disease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694944"/>
          <a:ext cx="868680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2103120"/>
                <a:gridCol w="2560320"/>
                <a:gridCol w="246888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Period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Disorder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Disease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Early reproductive (15–25 y)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Lobular &amp; stromal development; nipple eversion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Fibroadenoma; adolescent hypertrophy; nipple inversion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Giant fibroadenoma; gigantomastia; subareolar abscess; duct fistula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Later reproductive (25–40 y)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Cyclical change; pregnancy hyperplasia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Cyclical mastalgia; nodularity; bloody discharge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Incapacitating mastalgia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Involution (35–55 y)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Lobular &amp; duct involution; epithelial turnover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Macrocysts; sclerosing lesions; duct ectasia; nipple retraction; hyperplasia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Periductal mastitis; epithelial hyperplasia with atypia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228600" y="2331720"/>
            <a:ext cx="8686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Fibroadenoma — size defines the category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228600" y="2615184"/>
            <a:ext cx="2834640" cy="566928"/>
          </a:xfrm>
          <a:prstGeom prst="chevron">
            <a:avLst/>
          </a:prstGeom>
          <a:solidFill>
            <a:srgbClr val="196F3D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02920" y="2615184"/>
            <a:ext cx="2331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 </a:t>
            </a: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≤1 cm</a:t>
            </a:r>
            <a:endParaRPr lang="en-US" sz="950" dirty="0"/>
          </a:p>
        </p:txBody>
      </p:sp>
      <p:sp>
        <p:nvSpPr>
          <p:cNvPr id="25" name="Shape 9"/>
          <p:cNvSpPr/>
          <p:nvPr/>
        </p:nvSpPr>
        <p:spPr>
          <a:xfrm>
            <a:off x="3136392" y="2615184"/>
            <a:ext cx="2834640" cy="566928"/>
          </a:xfrm>
          <a:prstGeom prst="chevron">
            <a:avLst/>
          </a:prstGeom>
          <a:solidFill>
            <a:srgbClr val="7D6608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3410712" y="2615184"/>
            <a:ext cx="2331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Disorder  </a:t>
            </a: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1–3 cm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6044184" y="2615184"/>
            <a:ext cx="2834640" cy="566928"/>
          </a:xfrm>
          <a:prstGeom prst="chevron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318504" y="2615184"/>
            <a:ext cx="2331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Disease  </a:t>
            </a: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&gt;3 cm (giant) or &gt;5 lesions/breast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228600" y="3310128"/>
            <a:ext cx="2834640" cy="1344168"/>
          </a:xfrm>
          <a:prstGeom prst="rect">
            <a:avLst/>
          </a:prstGeom>
          <a:solidFill>
            <a:srgbClr val="E8F4FD"/>
          </a:solidFill>
          <a:ln w="9525">
            <a:solidFill>
              <a:srgbClr val="21618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320040" y="3364992"/>
            <a:ext cx="2651760" cy="1969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7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Principles</a:t>
            </a:r>
            <a:endParaRPr lang="en-US" sz="1070" dirty="0"/>
          </a:p>
        </p:txBody>
      </p:sp>
      <p:sp>
        <p:nvSpPr>
          <p:cNvPr id="18" name="Text 15"/>
          <p:cNvSpPr/>
          <p:nvPr/>
        </p:nvSpPr>
        <p:spPr>
          <a:xfrm>
            <a:off x="301752" y="3589350"/>
            <a:ext cx="2706624" cy="10375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Benign conditions follow reproductive life &amp; involution</a:t>
            </a:r>
            <a:endParaRPr lang="en-US" sz="92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Spectrum: normal → disorder → disease</a:t>
            </a:r>
            <a:endParaRPr lang="en-US" sz="92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Covers pathogenesis + degree of abnormality</a:t>
            </a:r>
            <a:endParaRPr lang="en-US" sz="920" dirty="0"/>
          </a:p>
        </p:txBody>
      </p:sp>
      <p:sp>
        <p:nvSpPr>
          <p:cNvPr id="19" name="Shape 16"/>
          <p:cNvSpPr/>
          <p:nvPr/>
        </p:nvSpPr>
        <p:spPr>
          <a:xfrm>
            <a:off x="3154680" y="3310128"/>
            <a:ext cx="2834640" cy="1344168"/>
          </a:xfrm>
          <a:prstGeom prst="rect">
            <a:avLst/>
          </a:prstGeom>
          <a:solidFill>
            <a:srgbClr val="FDFCF0"/>
          </a:solidFill>
          <a:ln w="9525">
            <a:solidFill>
              <a:srgbClr val="7D6608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3246120" y="3364992"/>
            <a:ext cx="2651760" cy="193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45" b="1" dirty="0">
                <a:solidFill>
                  <a:srgbClr val="7D66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Mastalgia &amp; Discharge</a:t>
            </a:r>
            <a:endParaRPr lang="en-US" sz="1045" dirty="0"/>
          </a:p>
        </p:txBody>
      </p:sp>
      <p:sp>
        <p:nvSpPr>
          <p:cNvPr id="21" name="Text 18"/>
          <p:cNvSpPr/>
          <p:nvPr/>
        </p:nvSpPr>
        <p:spPr>
          <a:xfrm>
            <a:off x="3227832" y="3585604"/>
            <a:ext cx="2706624" cy="1041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5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Premenstrual pain/nodularity = normal; &gt;1 week of cycle = disorder</a:t>
            </a:r>
            <a:endParaRPr lang="en-US" sz="895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5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Bilateral bloody discharge may come from pregnancy epithelium</a:t>
            </a:r>
            <a:endParaRPr lang="en-US" sz="895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5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Fibroadenoma age 15–25; screening now finds them in older women</a:t>
            </a:r>
            <a:endParaRPr lang="en-US" sz="895" dirty="0"/>
          </a:p>
        </p:txBody>
      </p:sp>
      <p:sp>
        <p:nvSpPr>
          <p:cNvPr id="22" name="Shape 19"/>
          <p:cNvSpPr/>
          <p:nvPr/>
        </p:nvSpPr>
        <p:spPr>
          <a:xfrm>
            <a:off x="6080760" y="3310128"/>
            <a:ext cx="2834640" cy="1344168"/>
          </a:xfrm>
          <a:prstGeom prst="rect">
            <a:avLst/>
          </a:prstGeom>
          <a:solidFill>
            <a:srgbClr val="EAFAF1"/>
          </a:solidFill>
          <a:ln w="9525">
            <a:solidFill>
              <a:srgbClr val="196F3D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172200" y="3364992"/>
            <a:ext cx="2651760" cy="1969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70" b="1" dirty="0">
                <a:solidFill>
                  <a:srgbClr val="196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Involution</a:t>
            </a:r>
            <a:endParaRPr lang="en-US" sz="1070" dirty="0"/>
          </a:p>
        </p:txBody>
      </p:sp>
      <p:sp>
        <p:nvSpPr>
          <p:cNvPr id="24" name="Text 21"/>
          <p:cNvSpPr/>
          <p:nvPr/>
        </p:nvSpPr>
        <p:spPr>
          <a:xfrm>
            <a:off x="6153912" y="3589350"/>
            <a:ext cx="2706624" cy="10375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Stroma involutes too fast → micro → macrocysts (common, no treatment)</a:t>
            </a:r>
            <a:endParaRPr lang="en-US" sz="92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Periductal fibrosis → nipple retraction</a:t>
            </a:r>
            <a:endParaRPr lang="en-US" sz="92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~60% of women ≥70 y show some hyperplasia</a:t>
            </a:r>
            <a:endParaRPr lang="en-US" sz="92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Benign Breast Disease — Histology Decides Cancer Risk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 &amp; Benign Disease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28600" y="713232"/>
            <a:ext cx="4206240" cy="384048"/>
          </a:xfrm>
          <a:prstGeom prst="roundRect">
            <a:avLst>
              <a:gd name="adj" fmla="val 14286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4320" y="731520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classification of benign lesions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331720" y="1097280"/>
            <a:ext cx="0" cy="100584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1197864"/>
            <a:ext cx="2834640" cy="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14400" y="1197864"/>
            <a:ext cx="0" cy="100584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2331720" y="1197864"/>
            <a:ext cx="0" cy="100584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3749040" y="1197864"/>
            <a:ext cx="0" cy="100584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228600" y="1298448"/>
            <a:ext cx="1325880" cy="1828800"/>
          </a:xfrm>
          <a:prstGeom prst="roundRect">
            <a:avLst>
              <a:gd name="adj" fmla="val 4138"/>
            </a:avLst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74320" y="1316736"/>
            <a:ext cx="1234440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NONPROLIFERATIVE (70%)</a:t>
            </a:r>
            <a:endParaRPr lang="en-US" sz="820" dirty="0"/>
          </a:p>
          <a:p>
            <a:pPr algn="ctr" indent="0" marL="0">
              <a:buNone/>
            </a:pPr>
            <a:r>
              <a:rPr lang="en-US" sz="8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Cysts, apocrine metaplasia, duct ectasia, mild hyperplasia, calcifications, fibroadenoma</a:t>
            </a:r>
            <a:endParaRPr lang="en-US" sz="820" dirty="0"/>
          </a:p>
        </p:txBody>
      </p:sp>
      <p:sp>
        <p:nvSpPr>
          <p:cNvPr id="17" name="Shape 15"/>
          <p:cNvSpPr/>
          <p:nvPr/>
        </p:nvSpPr>
        <p:spPr>
          <a:xfrm>
            <a:off x="891540" y="3127248"/>
            <a:ext cx="0" cy="18288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228600" y="3310128"/>
            <a:ext cx="1325880" cy="658368"/>
          </a:xfrm>
          <a:prstGeom prst="roundRect">
            <a:avLst>
              <a:gd name="adj" fmla="val 8333"/>
            </a:avLst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74320" y="3328416"/>
            <a:ext cx="1234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increased risk</a:t>
            </a:r>
            <a:endParaRPr lang="en-US" sz="970" dirty="0"/>
          </a:p>
        </p:txBody>
      </p:sp>
      <p:sp>
        <p:nvSpPr>
          <p:cNvPr id="20" name="Shape 18"/>
          <p:cNvSpPr/>
          <p:nvPr/>
        </p:nvSpPr>
        <p:spPr>
          <a:xfrm>
            <a:off x="1645920" y="1298448"/>
            <a:ext cx="1325880" cy="1828800"/>
          </a:xfrm>
          <a:prstGeom prst="roundRect">
            <a:avLst>
              <a:gd name="adj" fmla="val 4138"/>
            </a:avLst>
          </a:prstGeom>
          <a:solidFill>
            <a:srgbClr val="FDFCF0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691640" y="1316736"/>
            <a:ext cx="1234440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PROLIFERATIVE, NO ATYPIA</a:t>
            </a:r>
            <a:endParaRPr lang="en-US" sz="820" dirty="0"/>
          </a:p>
          <a:p>
            <a:pPr algn="ctr" indent="0" marL="0">
              <a:buNone/>
            </a:pPr>
            <a:r>
              <a:rPr lang="en-US" sz="8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Sclerosing adenosis, radial scar/CSL, florid ductal hyperplasia, intraductal papilloma</a:t>
            </a:r>
            <a:endParaRPr lang="en-US" sz="820" dirty="0"/>
          </a:p>
        </p:txBody>
      </p:sp>
      <p:sp>
        <p:nvSpPr>
          <p:cNvPr id="22" name="Shape 20"/>
          <p:cNvSpPr/>
          <p:nvPr/>
        </p:nvSpPr>
        <p:spPr>
          <a:xfrm>
            <a:off x="2308860" y="3127248"/>
            <a:ext cx="0" cy="18288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1645920" y="3310128"/>
            <a:ext cx="1325880" cy="658368"/>
          </a:xfrm>
          <a:prstGeom prst="roundRect">
            <a:avLst>
              <a:gd name="adj" fmla="val 8333"/>
            </a:avLst>
          </a:prstGeom>
          <a:solidFill>
            <a:srgbClr val="FDFCF0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691640" y="3328416"/>
            <a:ext cx="1234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Florid hyperplasia 1.5–2×</a:t>
            </a:r>
            <a:endParaRPr lang="en-US" sz="970" dirty="0"/>
          </a:p>
        </p:txBody>
      </p:sp>
      <p:sp>
        <p:nvSpPr>
          <p:cNvPr id="25" name="Shape 23"/>
          <p:cNvSpPr/>
          <p:nvPr/>
        </p:nvSpPr>
        <p:spPr>
          <a:xfrm>
            <a:off x="3063240" y="1298448"/>
            <a:ext cx="1325880" cy="1828800"/>
          </a:xfrm>
          <a:prstGeom prst="roundRect">
            <a:avLst>
              <a:gd name="adj" fmla="val 4138"/>
            </a:avLst>
          </a:prstGeom>
          <a:solidFill>
            <a:srgbClr val="FDEDEC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108960" y="1316736"/>
            <a:ext cx="1234440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ATYPICAL PROLIFERATIVE</a:t>
            </a:r>
            <a:endParaRPr lang="en-US" sz="820" dirty="0"/>
          </a:p>
          <a:p>
            <a:pPr algn="ctr" indent="0" marL="0">
              <a:buNone/>
            </a:pPr>
            <a:r>
              <a:rPr lang="en-US" sz="8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ADH, ALH (low-grade DCIS / LCIS look-alikes)</a:t>
            </a:r>
            <a:endParaRPr lang="en-US" sz="820" dirty="0"/>
          </a:p>
        </p:txBody>
      </p:sp>
      <p:sp>
        <p:nvSpPr>
          <p:cNvPr id="27" name="Shape 25"/>
          <p:cNvSpPr/>
          <p:nvPr/>
        </p:nvSpPr>
        <p:spPr>
          <a:xfrm>
            <a:off x="3726180" y="3127248"/>
            <a:ext cx="0" cy="18288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3063240" y="3310128"/>
            <a:ext cx="1325880" cy="658368"/>
          </a:xfrm>
          <a:prstGeom prst="roundRect">
            <a:avLst>
              <a:gd name="adj" fmla="val 8333"/>
            </a:avLst>
          </a:prstGeom>
          <a:solidFill>
            <a:srgbClr val="FDEDEC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108960" y="3328416"/>
            <a:ext cx="1234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≈4× → counsel on risk reduction</a:t>
            </a:r>
            <a:endParaRPr lang="en-US" sz="970" dirty="0"/>
          </a:p>
        </p:txBody>
      </p:sp>
      <p:sp>
        <p:nvSpPr>
          <p:cNvPr id="30" name="Text 28"/>
          <p:cNvSpPr/>
          <p:nvPr/>
        </p:nvSpPr>
        <p:spPr>
          <a:xfrm>
            <a:off x="228600" y="4069080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i="1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ADH vs DCIS: ≤2–3 mm = ADH; &gt;3 mm = DCIS. E-cadherin is lost in lobular neoplasia, kept in most ductal lesions.</a:t>
            </a:r>
            <a:endParaRPr lang="en-US" sz="820" dirty="0"/>
          </a:p>
        </p:txBody>
      </p:sp>
      <p:graphicFrame>
        <p:nvGraphicFramePr>
          <p:cNvPr id="31" name="Chart 0" descr=""/>
          <p:cNvGraphicFramePr/>
          <p:nvPr/>
        </p:nvGraphicFramePr>
        <p:xfrm>
          <a:off x="4617720" y="685800"/>
          <a:ext cx="429768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Benign Lesions — Features &amp; What To Do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 &amp; Benign Disease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694944"/>
          <a:ext cx="8686800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3840480"/>
                <a:gridCol w="315468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Defining features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Action / risk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Cysts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Involutional, often multiple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Simple: rarely concerning; complex may hide cancer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Duct ectasia / periductal mastitis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Dilated subareolar ducts, thick discharge; stasis → irritant leakage → inflammation → fibrosis → retraction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Spectrum: discharge, retraction, mass, abscess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Calcifications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Mostly benign (secretions, debris, trauma)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Suspicious: &lt;0.5 mm, varied shape/density, fine linear branching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Fibroadenoma / adenoma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FA: abundant stroma, hormone-dependent; adenoma: sparse stroma (tubular, lactating); hamartoma 2–4 cm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Benign; see treatment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Sclerosing adenosis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Distorted lobules ± mass; mimics cancer on exam, imaging, gross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Observe only if imaging–pathology concordant; else excise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Radial scar / complex sclerosing lesion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≤1 cm vs &gt;1 cm; spiculated, cancer-like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"Benign" core = discordant → vacuum-assisted or open excision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Ductal hyperplasia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Mild 3–4 layers; moderate ≥5; florid fills ≥70% of lumen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Florid: risk 1.5–2×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Intraductal papilloma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Major ducts, usually &lt;0.5 cm; serous/bloody discharge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added risk unless atypia; multiple papillomas can transform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ADH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Resembles low-grade DCIS; ≤2–3 mm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Often excise after core; risk 4× → risk-reduction counselling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ALH / LCIS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Lobular units distended by monomorphic cells; E-cadherin lost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 marker — see LCIS algorithm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228600" y="4434840"/>
            <a:ext cx="868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i="1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"Fibrocystic disease" is a non-specific label — name the actual histology.</a:t>
            </a:r>
            <a:endParaRPr lang="en-US" sz="82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Treating Common Benign Problems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 &amp; Benign Disease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694944"/>
          <a:ext cx="5394960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Problem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Approach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Cyst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21-G needle + 10 mL syringe (image first; most US-guided). Non-bloody → aspirate to dryness, discard, re-palpate. </a:t>
                      </a: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Bloody → cytology.</a:t>
                      </a: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Residual mass / mass on US → core biopsy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Fibroadenoma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 + core biopsy (may skip biopsy &lt;25 y). Excision, cryoablation, vacuum excision (&lt;3 cm) or observe; &gt;2 cm often stay palpable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Sclerosing lesions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Excision or large-volume (stereotactic/vacuum) sampling to exclude cancer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Periductal mastitis / subareolar abscess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Aspirate (21-G), culture incl. anaerobes, polymicrobial antibiotics, repeat US aspiration; young → simple drainage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Nipple inversion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Short ducts → complete duct division; warn: altered sensation, necrosis, re-retraction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694944"/>
          <a:ext cx="3154680" cy="914400"/>
        </p:xfrm>
        <a:graphic>
          <a:graphicData uri="http://schemas.openxmlformats.org/drawingml/2006/table">
            <a:tbl>
              <a:tblPr/>
              <a:tblGrid>
                <a:gridCol w="1577340"/>
                <a:gridCol w="157734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Fistulectomy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duct excision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Small abscess, one segment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Abscess &gt;50% of areola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Recurrence same segment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Recurrence different segment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Mild/no inversion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Marked inversion / wants correction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Younger; no other discharge; no prior fistulectomy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Older; purulent discharge other ducts; recurrence after fistulectomy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5760720" y="3200400"/>
            <a:ext cx="3154680" cy="1444752"/>
          </a:xfrm>
          <a:prstGeom prst="rect">
            <a:avLst/>
          </a:prstGeom>
          <a:solidFill>
            <a:srgbClr val="FDFCF0"/>
          </a:solidFill>
          <a:ln w="9525">
            <a:solidFill>
              <a:srgbClr val="7D6608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5852160" y="3255264"/>
            <a:ext cx="2971800" cy="1969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70" b="1" dirty="0">
                <a:solidFill>
                  <a:srgbClr val="7D66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of thumb</a:t>
            </a:r>
            <a:endParaRPr lang="en-US" sz="1070" dirty="0"/>
          </a:p>
        </p:txBody>
      </p:sp>
      <p:sp>
        <p:nvSpPr>
          <p:cNvPr id="12" name="Text 8"/>
          <p:cNvSpPr/>
          <p:nvPr/>
        </p:nvSpPr>
        <p:spPr>
          <a:xfrm>
            <a:off x="5833872" y="3479622"/>
            <a:ext cx="3026664" cy="11380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Localized sepsis → fistulectomy at any age</a:t>
            </a:r>
            <a:endParaRPr lang="en-US" sz="92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Diffuse sepsis or &gt;1 fistula → total duct excision</a:t>
            </a:r>
            <a:endParaRPr lang="en-US" sz="92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2–4 weeks of antibiotics before total duct excision</a:t>
            </a:r>
            <a:endParaRPr lang="en-US" sz="92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21618C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629400" y="91440"/>
            <a:ext cx="82296" cy="4663440"/>
          </a:xfrm>
          <a:prstGeom prst="rect">
            <a:avLst/>
          </a:prstGeom>
          <a:solidFill>
            <a:srgbClr val="21618C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711696" y="91440"/>
            <a:ext cx="2432304" cy="46634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" y="548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 E C T I O 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74320" y="914400"/>
            <a:ext cx="3657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8800" dirty="0"/>
          </a:p>
        </p:txBody>
      </p:sp>
      <p:sp>
        <p:nvSpPr>
          <p:cNvPr id="7" name="Text 5"/>
          <p:cNvSpPr/>
          <p:nvPr/>
        </p:nvSpPr>
        <p:spPr>
          <a:xfrm>
            <a:off x="320040" y="2514600"/>
            <a:ext cx="6126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Risk, Genetics &amp; Pathology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320040" y="3931920"/>
            <a:ext cx="6126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E40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factors &amp; models • screening • chemoprevention • BRCA • epidemiology • natural history • histopathology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711696" y="1828800"/>
            <a:ext cx="24323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4800" dirty="0"/>
          </a:p>
        </p:txBody>
      </p:sp>
      <p:sp>
        <p:nvSpPr>
          <p:cNvPr id="10" name="Shape 8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Risk, Genetics &amp; Pathology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Risk Factors &amp; Hormone Replacement Therapy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Risk, Genetics &amp; Pathology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694944"/>
          <a:ext cx="5394960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2148840"/>
                <a:gridCol w="237744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Factors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Mechanism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Hormonal ↑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Early menarche, nulliparity, late menopause, late first birth, obesity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More cycles = more estrogen; term pregnancy differentiates; post-menopause fat aromatises androstenedione → estrone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Hormonal 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Moderate exercise, longer lactation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Fewer cycles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Radiation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Mantle RT for Hodgkin (75×), atomic-bomb survivors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Worst during adolescence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Lifestyle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Alcohol (dose-related), long-term high-fat diet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 estradiol / serum estrogen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HRT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WHI: 3–4× after &gt;4 y combined; E + P ↑ 26% vs placebo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 in current users, rises with duration, not past users; falling HRT use → falling incidence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228600" y="3749040"/>
            <a:ext cx="5394960" cy="896112"/>
          </a:xfrm>
          <a:prstGeom prst="rect">
            <a:avLst/>
          </a:prstGeom>
          <a:solidFill>
            <a:srgbClr val="FDFCF0"/>
          </a:solidFill>
          <a:ln w="9525">
            <a:solidFill>
              <a:srgbClr val="7D660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301752" y="3767328"/>
            <a:ext cx="5248656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7D66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Remember:</a:t>
            </a:r>
            <a:r>
              <a:rPr lang="en-US" sz="9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Baseline US lifetime risk: 12% at birth, 11% at 50 y, 7% at 70 y — the longer you live cancer-free, the lower the remaining risk. HRT gave no significant coronary or cerebrovascular protection; estrogen + progesterone is worse than other regimens.</a:t>
            </a:r>
            <a:endParaRPr lang="en-US" sz="98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5806440" y="685800"/>
          <a:ext cx="310896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2" name="Chart 1" descr=""/>
          <p:cNvGraphicFramePr/>
          <p:nvPr/>
        </p:nvGraphicFramePr>
        <p:xfrm>
          <a:off x="5806440" y="2697480"/>
          <a:ext cx="310896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Risk Assessment Models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Risk, Genetics &amp; Pathology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694944"/>
          <a:ext cx="544068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2103120"/>
                <a:gridCol w="224028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Inputs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Output / limits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Gail (BCDDP)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Age, menarche, age at 1st birth, biopsies, atypia, 1st-degree relatives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5-y &amp; lifetime risk; adapted for African American, Asian/Pacific; </a:t>
                      </a: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excludes BRCA; not for LCIS/DCIS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Claus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1st/2nd-degree relatives + ages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 by decade; ignores other factors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BRCAPRO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Detailed breast/ovarian family history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Mutation probability → age-specific risk; laborious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Tyrer–Cuzick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Family history + menarche, parity, menopause, atypia/LCIS, height, BMI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Mutation probability adjusted for personal factors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Manchester, BOADICEA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Family history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Carrier probability → genetic referral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52160" y="694944"/>
          <a:ext cx="3063240" cy="914400"/>
        </p:xfrm>
        <a:graphic>
          <a:graphicData uri="http://schemas.openxmlformats.org/drawingml/2006/table">
            <a:tbl>
              <a:tblPr/>
              <a:tblGrid>
                <a:gridCol w="1783080"/>
                <a:gridCol w="128016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Gail relative risk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Menarche ≥14 / 12–13 / &lt;12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 / 1.10 / 1.21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Biopsies &lt;50 y: 0 / 1 / ≥2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 / 1.70 / 2.88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Biopsies ≥50 y: 0 / 1 / ≥2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1.02 / 1.27 / 1.62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1st birth &lt;20 y (0/1/≥2 rel.)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 / 2.61 / 6.80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1st birth 20–24 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1.24 / 2.68 / 5.78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1st birth 25–29 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1.55 / 2.76 / 4.91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1st birth ≥30 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1.93 / 2.83 / 4.17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228600" y="3794760"/>
            <a:ext cx="8686800" cy="850392"/>
          </a:xfrm>
          <a:prstGeom prst="rect">
            <a:avLst/>
          </a:prstGeom>
          <a:solidFill>
            <a:srgbClr val="EAFAF1"/>
          </a:solidFill>
          <a:ln w="9525">
            <a:solidFill>
              <a:srgbClr val="196F3D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320040" y="3849624"/>
            <a:ext cx="8503920" cy="198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b="1" dirty="0">
                <a:solidFill>
                  <a:srgbClr val="196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Decisions that depend on estimated risk</a:t>
            </a:r>
            <a:endParaRPr lang="en-US" sz="1080" dirty="0"/>
          </a:p>
        </p:txBody>
      </p:sp>
      <p:sp>
        <p:nvSpPr>
          <p:cNvPr id="12" name="Text 8"/>
          <p:cNvSpPr/>
          <p:nvPr/>
        </p:nvSpPr>
        <p:spPr>
          <a:xfrm>
            <a:off x="301752" y="4075481"/>
            <a:ext cx="8558784" cy="5422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HRT use • age to start mammography / add MRI • tamoxifen chemoprevention • prophylactic mastectomy — communicate risk against competing risks and comorbidity</a:t>
            </a:r>
            <a:endParaRPr lang="en-US" sz="93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Screening — Who, When &amp; With What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Risk, Genetics &amp; Pathology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694944"/>
          <a:ext cx="512064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38862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Body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Average-risk recommendation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USPSTF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Biennial mammography 50–74 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ACS (2015)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Annual 45–54 (option 40–44); ≥55 biennial or annual while life expectancy ≥10 y; no routine CBE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NCCN (as cited)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Annual mammography ≥40 y + annual CBE + breast awareness; CBE ≥3-yearly from 20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agree "high risk"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Prior breast cancer, chest RT at young age, known/suspected pathogenic mutation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228600" y="2743200"/>
            <a:ext cx="2514600" cy="1901952"/>
          </a:xfrm>
          <a:prstGeom prst="rect">
            <a:avLst/>
          </a:prstGeom>
          <a:solidFill>
            <a:srgbClr val="E8F4FD"/>
          </a:solidFill>
          <a:ln w="9525">
            <a:solidFill>
              <a:srgbClr val="21618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320040" y="2798064"/>
            <a:ext cx="2331720" cy="1969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7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Benefit vs harm</a:t>
            </a:r>
            <a:endParaRPr lang="en-US" sz="1070" dirty="0"/>
          </a:p>
        </p:txBody>
      </p:sp>
      <p:sp>
        <p:nvSpPr>
          <p:cNvPr id="11" name="Text 8"/>
          <p:cNvSpPr/>
          <p:nvPr/>
        </p:nvSpPr>
        <p:spPr>
          <a:xfrm>
            <a:off x="301752" y="3022422"/>
            <a:ext cx="2386584" cy="15952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≥50 y: </a:t>
            </a:r>
            <a:r>
              <a:rPr lang="en-US" sz="92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−25% mortality</a:t>
            </a: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(HIP/BCDDP 33%)</a:t>
            </a:r>
            <a:endParaRPr lang="en-US" sz="92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Overdiagnosis ~11% vs ~20% mortality reduction → screening continues</a:t>
            </a:r>
            <a:endParaRPr lang="en-US" sz="920" dirty="0"/>
          </a:p>
        </p:txBody>
      </p:sp>
      <p:sp>
        <p:nvSpPr>
          <p:cNvPr id="12" name="Shape 9"/>
          <p:cNvSpPr/>
          <p:nvPr/>
        </p:nvSpPr>
        <p:spPr>
          <a:xfrm>
            <a:off x="2834640" y="2743200"/>
            <a:ext cx="2514600" cy="1901952"/>
          </a:xfrm>
          <a:prstGeom prst="rect">
            <a:avLst/>
          </a:prstGeom>
          <a:solidFill>
            <a:srgbClr val="FDFCF0"/>
          </a:solidFill>
          <a:ln w="9525">
            <a:solidFill>
              <a:srgbClr val="7D6608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2926080" y="2798064"/>
            <a:ext cx="2331720" cy="1969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70" b="1" dirty="0">
                <a:solidFill>
                  <a:srgbClr val="7D66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&lt;50 y is debated</a:t>
            </a:r>
            <a:endParaRPr lang="en-US" sz="1070" dirty="0"/>
          </a:p>
        </p:txBody>
      </p:sp>
      <p:sp>
        <p:nvSpPr>
          <p:cNvPr id="14" name="Text 11"/>
          <p:cNvSpPr/>
          <p:nvPr/>
        </p:nvSpPr>
        <p:spPr>
          <a:xfrm>
            <a:off x="2907792" y="3022422"/>
            <a:ext cx="2386584" cy="15952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Denser breasts → ↓ sensitivity</a:t>
            </a:r>
            <a:endParaRPr lang="en-US" sz="92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false positives; lower incidence</a:t>
            </a:r>
            <a:endParaRPr lang="en-US" sz="92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Family history → abnormal mammogram 3× likelier cancer at 40–49</a:t>
            </a:r>
            <a:endParaRPr lang="en-US" sz="920" dirty="0"/>
          </a:p>
        </p:txBody>
      </p:sp>
      <p:sp>
        <p:nvSpPr>
          <p:cNvPr id="15" name="Shape 12"/>
          <p:cNvSpPr/>
          <p:nvPr/>
        </p:nvSpPr>
        <p:spPr>
          <a:xfrm>
            <a:off x="5486400" y="694944"/>
            <a:ext cx="3429000" cy="2395728"/>
          </a:xfrm>
          <a:prstGeom prst="rect">
            <a:avLst/>
          </a:prstGeom>
          <a:solidFill>
            <a:srgbClr val="F5EEF8"/>
          </a:solidFill>
          <a:ln w="9525">
            <a:solidFill>
              <a:srgbClr val="6C348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577840" y="749808"/>
            <a:ext cx="3246120" cy="198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b="1" dirty="0">
                <a:solidFill>
                  <a:srgbClr val="6C3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MRI screening (ACS)</a:t>
            </a:r>
            <a:endParaRPr lang="en-US" sz="1080" dirty="0"/>
          </a:p>
        </p:txBody>
      </p:sp>
      <p:sp>
        <p:nvSpPr>
          <p:cNvPr id="17" name="Text 14"/>
          <p:cNvSpPr/>
          <p:nvPr/>
        </p:nvSpPr>
        <p:spPr>
          <a:xfrm>
            <a:off x="5559552" y="975665"/>
            <a:ext cx="3300984" cy="2087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Lifetime risk ≥20–25% (family-history models)</a:t>
            </a:r>
            <a:endParaRPr lang="en-US" sz="93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BRCA carrier or untested 1st-degree relative of carrier</a:t>
            </a:r>
            <a:endParaRPr lang="en-US" sz="93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Chest RT between ages 10–30</a:t>
            </a:r>
            <a:endParaRPr lang="en-US" sz="93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Li-Fraumeni, Cowden, Bannayan-Riley-Ruvalcaba (or 1st-degree relative)</a:t>
            </a:r>
            <a:endParaRPr lang="en-US" sz="93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 sensitive, density-independent; moderate specificity → more biopsies</a:t>
            </a:r>
            <a:endParaRPr lang="en-US" sz="930" dirty="0"/>
          </a:p>
        </p:txBody>
      </p:sp>
      <p:sp>
        <p:nvSpPr>
          <p:cNvPr id="18" name="Shape 15"/>
          <p:cNvSpPr/>
          <p:nvPr/>
        </p:nvSpPr>
        <p:spPr>
          <a:xfrm>
            <a:off x="5486400" y="3163824"/>
            <a:ext cx="3429000" cy="1481328"/>
          </a:xfrm>
          <a:prstGeom prst="rect">
            <a:avLst/>
          </a:prstGeom>
          <a:solidFill>
            <a:srgbClr val="EAFAF1"/>
          </a:solidFill>
          <a:ln w="9525">
            <a:solidFill>
              <a:srgbClr val="196F3D"/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5577840" y="3218688"/>
            <a:ext cx="3246120" cy="198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b="1" dirty="0">
                <a:solidFill>
                  <a:srgbClr val="196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Density</a:t>
            </a:r>
            <a:endParaRPr lang="en-US" sz="1080" dirty="0"/>
          </a:p>
        </p:txBody>
      </p:sp>
      <p:sp>
        <p:nvSpPr>
          <p:cNvPr id="20" name="Text 17"/>
          <p:cNvSpPr/>
          <p:nvPr/>
        </p:nvSpPr>
        <p:spPr>
          <a:xfrm>
            <a:off x="5559552" y="3444545"/>
            <a:ext cx="3300984" cy="1173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Density independently predicts risk</a:t>
            </a:r>
            <a:endParaRPr lang="en-US" sz="93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Ultrasound can supplement dense breasts — no proven mortality benefit</a:t>
            </a:r>
            <a:endParaRPr lang="en-US" sz="93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Chemoprevention &amp; Risk-Reducing Surgery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Risk, Genetics &amp; Pathology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28600" y="685800"/>
          <a:ext cx="3931920" cy="1783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4297680" y="694944"/>
            <a:ext cx="4617720" cy="1773936"/>
          </a:xfrm>
          <a:prstGeom prst="rect">
            <a:avLst/>
          </a:prstGeom>
          <a:solidFill>
            <a:srgbClr val="E8F4FD"/>
          </a:solidFill>
          <a:ln w="9525">
            <a:solidFill>
              <a:srgbClr val="21618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389120" y="749808"/>
            <a:ext cx="4434840" cy="195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Tamoxifen (SERM) — first proven preventive drug</a:t>
            </a:r>
            <a:endParaRPr lang="en-US" sz="1060" dirty="0"/>
          </a:p>
        </p:txBody>
      </p:sp>
      <p:sp>
        <p:nvSpPr>
          <p:cNvPr id="11" name="Text 8"/>
          <p:cNvSpPr/>
          <p:nvPr/>
        </p:nvSpPr>
        <p:spPr>
          <a:xfrm>
            <a:off x="4370832" y="972668"/>
            <a:ext cx="4489704" cy="14687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1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P-1</a:t>
            </a: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(&gt;13,000; Gail ≥1.66% or LCIS): −49% invasive cancer — ER+ only; no mortality effect shown</a:t>
            </a:r>
            <a:endParaRPr lang="en-US" sz="91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1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Indication:</a:t>
            </a: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Gail 5-y risk ≥1.66% age 35–59 (and older), or LCIS / ADH / ALH</a:t>
            </a:r>
            <a:endParaRPr lang="en-US" sz="91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1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Harms:</a:t>
            </a: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DVT ×1.6, PE ×3.0, endometrial cancer ×2.5, cataract ~2×, hot flashes</a:t>
            </a:r>
            <a:endParaRPr lang="en-US" sz="910" dirty="0"/>
          </a:p>
        </p:txBody>
      </p:sp>
      <p:sp>
        <p:nvSpPr>
          <p:cNvPr id="12" name="Shape 9"/>
          <p:cNvSpPr/>
          <p:nvPr/>
        </p:nvSpPr>
        <p:spPr>
          <a:xfrm>
            <a:off x="228600" y="2560320"/>
            <a:ext cx="3931920" cy="2084832"/>
          </a:xfrm>
          <a:prstGeom prst="rect">
            <a:avLst/>
          </a:prstGeom>
          <a:solidFill>
            <a:srgbClr val="EAFAF1"/>
          </a:solidFill>
          <a:ln w="9525">
            <a:solidFill>
              <a:srgbClr val="196F3D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320040" y="2615184"/>
            <a:ext cx="3749040" cy="1969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70" b="1" dirty="0">
                <a:solidFill>
                  <a:srgbClr val="196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Alternatives after menopause</a:t>
            </a:r>
            <a:endParaRPr lang="en-US" sz="1070" dirty="0"/>
          </a:p>
        </p:txBody>
      </p:sp>
      <p:sp>
        <p:nvSpPr>
          <p:cNvPr id="14" name="Text 11"/>
          <p:cNvSpPr/>
          <p:nvPr/>
        </p:nvSpPr>
        <p:spPr>
          <a:xfrm>
            <a:off x="301752" y="2839542"/>
            <a:ext cx="3803904" cy="17781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2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Raloxifene (STAR, n = 19,747):</a:t>
            </a: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76% of tamoxifen efficacy, fewer adverse events, less endometrial cancer; does NOT reduce LCIS/DCIS</a:t>
            </a:r>
            <a:endParaRPr lang="en-US" sz="92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2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Aromatase inhibitors:</a:t>
            </a: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MAP.3 −65%; IBIS-II ~−50%; arthralgia, hot flashes</a:t>
            </a:r>
            <a:endParaRPr lang="en-US" sz="92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2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ASCO:</a:t>
            </a: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tamoxifen pre/post-menopause; raloxifene or exemestane post-menopause</a:t>
            </a:r>
            <a:endParaRPr lang="en-US" sz="920" dirty="0"/>
          </a:p>
        </p:txBody>
      </p:sp>
      <p:sp>
        <p:nvSpPr>
          <p:cNvPr id="15" name="Shape 12"/>
          <p:cNvSpPr/>
          <p:nvPr/>
        </p:nvSpPr>
        <p:spPr>
          <a:xfrm>
            <a:off x="4297680" y="2560320"/>
            <a:ext cx="4617720" cy="2084832"/>
          </a:xfrm>
          <a:prstGeom prst="rect">
            <a:avLst/>
          </a:prstGeom>
          <a:solidFill>
            <a:srgbClr val="F5EEF8"/>
          </a:solidFill>
          <a:ln w="9525">
            <a:solidFill>
              <a:srgbClr val="6C348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389120" y="2615184"/>
            <a:ext cx="4434840" cy="1969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70" b="1" dirty="0">
                <a:solidFill>
                  <a:srgbClr val="6C3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Risk-reducing surgery</a:t>
            </a:r>
            <a:endParaRPr lang="en-US" sz="1070" dirty="0"/>
          </a:p>
        </p:txBody>
      </p:sp>
      <p:sp>
        <p:nvSpPr>
          <p:cNvPr id="17" name="Text 14"/>
          <p:cNvSpPr/>
          <p:nvPr/>
        </p:nvSpPr>
        <p:spPr>
          <a:xfrm>
            <a:off x="4370832" y="2839542"/>
            <a:ext cx="4489704" cy="17781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Prophylactic mastectomy: &gt;90% risk reduction (retrospective); poor QoL data; some regret cosmetic results</a:t>
            </a:r>
            <a:endParaRPr lang="en-US" sz="92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BRCA carriers: ~3 years of life gained; highly effective in BRCA1 and 2</a:t>
            </a:r>
            <a:endParaRPr lang="en-US" sz="92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Salpingo-oophorectomy ↓ ovarian + breast cancer and breast/ovarian/all-cause mortality</a:t>
            </a:r>
            <a:endParaRPr lang="en-US" sz="92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Survival benefit unproven in non-carriers</a:t>
            </a:r>
            <a:endParaRPr lang="en-US" sz="92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Hereditary Breast Cancer — BRCA1 vs BRCA2 &amp; Other Genes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Risk, Genetics &amp; Pathology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694944"/>
          <a:ext cx="557784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2194560"/>
                <a:gridCol w="210312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Feature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BRCA1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BRCA2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17q; 22 exons; &gt;500 variants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13q; 26 exons; &gt;250 mutations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 of hereditary BC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45% (≥80% of hereditary ovarian)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Lifetime breast risk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 to 85%; average 60–70%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Close to 85%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Lifetime ovarian risk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 to 40%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~20%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Tumour type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Poorly differentiated, mostly triple-negative/basal, medullary; ~66% of DCIS ER−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Better differentiated, HR+ more often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Other cancers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Ovary; possibly colon, prostate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Ovary, colon, prostate, pancreas, biliary, stomach, melanoma; </a:t>
                      </a: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male BC 6%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Founder mutations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185delAG, 5382insC (Ashkenazi)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6174delT (Ashkenazi); 999del5 (Iceland)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0" y="694944"/>
          <a:ext cx="2971800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192024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Associated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PALB2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BC 33–58% by 70 y (≈BRCA2); mammogram + MRI from 30; consider RRM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PTEN (Cowden)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Thyroid, GI cancers, skin nodules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TP53 (Li-Fraumeni)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Sarcoma, lymphoma, adrenocortical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CDH1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Diffuse gastric + lobular BC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STK11, MLH1/MSH2, ATM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Panel testing — use a genetic counsellor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228600" y="4069080"/>
            <a:ext cx="8686800" cy="576072"/>
          </a:xfrm>
          <a:prstGeom prst="rect">
            <a:avLst/>
          </a:prstGeom>
          <a:solidFill>
            <a:srgbClr val="FDFCF0"/>
          </a:solidFill>
          <a:ln w="9525">
            <a:solidFill>
              <a:srgbClr val="7D6608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301752" y="4087368"/>
            <a:ext cx="8540496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0" b="1" dirty="0">
                <a:solidFill>
                  <a:srgbClr val="7D66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Pearl:</a:t>
            </a:r>
            <a:r>
              <a:rPr lang="en-US" sz="97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Up to 5% of breast cancers are BRCA-driven: autosomal dominant, variable penetrance, tumour-suppressor genes needing loss of both alleles (DNA repair, transcription, cell-cycle control). Sporadic 65–75%, familial 20–30%, hereditary 5–10%.</a:t>
            </a:r>
            <a:endParaRPr lang="en-US" sz="97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Genetic Testing Pathway &amp; Managing BRCA Carriers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Risk, Genetics &amp; Pathology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28600" y="713232"/>
            <a:ext cx="4160520" cy="868680"/>
          </a:xfrm>
          <a:prstGeom prst="roundRect">
            <a:avLst>
              <a:gd name="adj" fmla="val 6316"/>
            </a:avLst>
          </a:prstGeom>
          <a:solidFill>
            <a:srgbClr val="EEF2F8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4320" y="731520"/>
            <a:ext cx="40690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7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Suspect hereditary risk:</a:t>
            </a:r>
            <a:r>
              <a:rPr lang="en-US" sz="97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Ashkenazi ancestry • 1st-degree relative &lt;50 y • ovarian cancer (any age) • breast + ovarian in one person • ≥2 affected relatives • bilateral BC • male BC in family</a:t>
            </a:r>
            <a:endParaRPr lang="en-US" sz="970" dirty="0"/>
          </a:p>
        </p:txBody>
      </p:sp>
      <p:sp>
        <p:nvSpPr>
          <p:cNvPr id="10" name="Shape 8"/>
          <p:cNvSpPr/>
          <p:nvPr/>
        </p:nvSpPr>
        <p:spPr>
          <a:xfrm>
            <a:off x="2304288" y="1581912"/>
            <a:ext cx="0" cy="13716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228600" y="1719072"/>
            <a:ext cx="4160520" cy="502920"/>
          </a:xfrm>
          <a:prstGeom prst="roundRect">
            <a:avLst>
              <a:gd name="adj" fmla="val 10909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4320" y="1737360"/>
            <a:ext cx="406908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5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Counselling → test an </a:t>
            </a:r>
            <a:r>
              <a:rPr lang="en-US" sz="945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affected</a:t>
            </a:r>
            <a:r>
              <a:rPr lang="en-US" sz="945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relative first (Ashkenazi: 3 founder mutations first) → relatives tested for that mutation only</a:t>
            </a:r>
            <a:endParaRPr lang="en-US" sz="945" dirty="0"/>
          </a:p>
        </p:txBody>
      </p:sp>
      <p:sp>
        <p:nvSpPr>
          <p:cNvPr id="13" name="Shape 11"/>
          <p:cNvSpPr/>
          <p:nvPr/>
        </p:nvSpPr>
        <p:spPr>
          <a:xfrm>
            <a:off x="2304288" y="2221992"/>
            <a:ext cx="0" cy="11430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86968" y="2336292"/>
            <a:ext cx="2843784" cy="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86968" y="2336292"/>
            <a:ext cx="0" cy="11430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2304288" y="2336292"/>
            <a:ext cx="0" cy="11430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3730752" y="2336292"/>
            <a:ext cx="0" cy="11430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228600" y="2450592"/>
            <a:ext cx="1325880" cy="841248"/>
          </a:xfrm>
          <a:prstGeom prst="roundRect">
            <a:avLst>
              <a:gd name="adj" fmla="val 6522"/>
            </a:avLst>
          </a:prstGeom>
          <a:solidFill>
            <a:srgbClr val="FDEDEC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74320" y="2468880"/>
            <a:ext cx="1234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Carrier strategies →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1645920" y="2450592"/>
            <a:ext cx="1325880" cy="841248"/>
          </a:xfrm>
          <a:prstGeom prst="roundRect">
            <a:avLst>
              <a:gd name="adj" fmla="val 6522"/>
            </a:avLst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691640" y="2468880"/>
            <a:ext cx="1234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False-negative &lt;5%; phenocopy if affected ≥60 y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3063240" y="2450592"/>
            <a:ext cx="1325880" cy="841248"/>
          </a:xfrm>
          <a:prstGeom prst="roundRect">
            <a:avLst>
              <a:gd name="adj" fmla="val 6522"/>
            </a:avLst>
          </a:prstGeom>
          <a:solidFill>
            <a:srgbClr val="FDFCF0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108960" y="2468880"/>
            <a:ext cx="1234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INDETERMINATE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~12% (missense variants)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228600" y="3383280"/>
            <a:ext cx="4160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the testing threshold in high-prevalence ethnic groups. US HIPAA (1996) bars treating genetic information as a pre-existing condition.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4572000" y="694944"/>
            <a:ext cx="4343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risk-management strategies for carriers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572000" y="960120"/>
            <a:ext cx="4343400" cy="859536"/>
          </a:xfrm>
          <a:prstGeom prst="rect">
            <a:avLst/>
          </a:prstGeom>
          <a:solidFill>
            <a:srgbClr val="E8F4FD"/>
          </a:solidFill>
          <a:ln w="9525">
            <a:solidFill>
              <a:srgbClr val="21618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663440" y="1014984"/>
            <a:ext cx="4160520" cy="1864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Surveillance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645152" y="1228852"/>
            <a:ext cx="4215384" cy="5633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250"/>
              </a:spcAft>
              <a:buNone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CBE every 6 mo + mammogram yearly from 25 y; annual MRI (young dense breasts)</a:t>
            </a:r>
            <a:endParaRPr lang="en-US" sz="910" dirty="0"/>
          </a:p>
        </p:txBody>
      </p:sp>
      <p:sp>
        <p:nvSpPr>
          <p:cNvPr id="29" name="Shape 27"/>
          <p:cNvSpPr/>
          <p:nvPr/>
        </p:nvSpPr>
        <p:spPr>
          <a:xfrm>
            <a:off x="4572000" y="1874520"/>
            <a:ext cx="4343400" cy="859536"/>
          </a:xfrm>
          <a:prstGeom prst="rect">
            <a:avLst/>
          </a:prstGeom>
          <a:solidFill>
            <a:srgbClr val="FDFCF0"/>
          </a:solidFill>
          <a:ln w="9525">
            <a:solidFill>
              <a:srgbClr val="7D660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663440" y="1929384"/>
            <a:ext cx="4160520" cy="1864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7D66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Chemoprevention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645152" y="2143252"/>
            <a:ext cx="4215384" cy="5633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250"/>
              </a:spcAft>
              <a:buNone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Tamoxifen −62% in BRCA2; no benefit in BRCA1 started ≥35 y — not uniformly advised</a:t>
            </a:r>
            <a:endParaRPr lang="en-US" sz="910" dirty="0"/>
          </a:p>
        </p:txBody>
      </p:sp>
      <p:sp>
        <p:nvSpPr>
          <p:cNvPr id="32" name="Shape 30"/>
          <p:cNvSpPr/>
          <p:nvPr/>
        </p:nvSpPr>
        <p:spPr>
          <a:xfrm>
            <a:off x="4572000" y="2788920"/>
            <a:ext cx="4343400" cy="859536"/>
          </a:xfrm>
          <a:prstGeom prst="rect">
            <a:avLst/>
          </a:prstGeom>
          <a:solidFill>
            <a:srgbClr val="F5EEF8"/>
          </a:solidFill>
          <a:ln w="9525">
            <a:solidFill>
              <a:srgbClr val="6C348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663440" y="2843784"/>
            <a:ext cx="4160520" cy="1864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6C3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Risk-reducing mastectomy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645152" y="3057652"/>
            <a:ext cx="4215384" cy="5633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250"/>
              </a:spcAft>
              <a:buNone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&gt;90% reduction; some tissue + the germline defect remain</a:t>
            </a:r>
            <a:endParaRPr lang="en-US" sz="910" dirty="0"/>
          </a:p>
        </p:txBody>
      </p:sp>
      <p:sp>
        <p:nvSpPr>
          <p:cNvPr id="35" name="Shape 33"/>
          <p:cNvSpPr/>
          <p:nvPr/>
        </p:nvSpPr>
        <p:spPr>
          <a:xfrm>
            <a:off x="4572000" y="3703320"/>
            <a:ext cx="4343400" cy="859536"/>
          </a:xfrm>
          <a:prstGeom prst="rect">
            <a:avLst/>
          </a:prstGeom>
          <a:solidFill>
            <a:srgbClr val="EAFAF1"/>
          </a:solidFill>
          <a:ln w="9525">
            <a:solidFill>
              <a:srgbClr val="196F3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663440" y="3758184"/>
            <a:ext cx="4160520" cy="1864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96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Salpingo-oophorectomy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4645152" y="3972052"/>
            <a:ext cx="4215384" cy="5633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250"/>
              </a:spcAft>
              <a:buNone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35–40 y after childbearing (ovarian risk 20–40%); ↓ ovarian + breast cancer &amp; mortality. Deferred → yearly TVUS + CA-125 from 25</a:t>
            </a:r>
            <a:endParaRPr lang="en-US" sz="910" dirty="0"/>
          </a:p>
        </p:txBody>
      </p:sp>
      <p:sp>
        <p:nvSpPr>
          <p:cNvPr id="38" name="Shape 36"/>
          <p:cNvSpPr/>
          <p:nvPr/>
        </p:nvSpPr>
        <p:spPr>
          <a:xfrm>
            <a:off x="228600" y="3886200"/>
            <a:ext cx="4160520" cy="758952"/>
          </a:xfrm>
          <a:prstGeom prst="rect">
            <a:avLst/>
          </a:prstGeom>
          <a:solidFill>
            <a:srgbClr val="FDEDEC"/>
          </a:solidFill>
          <a:ln w="9525">
            <a:solidFill>
              <a:srgbClr val="C0392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1752" y="3904488"/>
            <a:ext cx="4014216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Pitfalls:</a:t>
            </a: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Do not use Gail in carriers • avoid HRT if breasts retained (no data) • a negative test in an unaffected person is uninformative unless the family mutation is known.</a:t>
            </a:r>
            <a:endParaRPr lang="en-US" sz="9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Epidemiology &amp; Natural History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Risk, Genetics &amp; Pathology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28600" y="685800"/>
          <a:ext cx="292608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3246120" y="694944"/>
            <a:ext cx="5669280" cy="1956816"/>
          </a:xfrm>
          <a:prstGeom prst="rect">
            <a:avLst/>
          </a:prstGeom>
          <a:solidFill>
            <a:srgbClr val="E8F4FD"/>
          </a:solidFill>
          <a:ln w="9525">
            <a:solidFill>
              <a:srgbClr val="21618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3337560" y="749808"/>
            <a:ext cx="5486400" cy="195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Epidemiology</a:t>
            </a:r>
            <a:endParaRPr lang="en-US" sz="1060" dirty="0"/>
          </a:p>
        </p:txBody>
      </p:sp>
      <p:sp>
        <p:nvSpPr>
          <p:cNvPr id="11" name="Text 8"/>
          <p:cNvSpPr/>
          <p:nvPr/>
        </p:nvSpPr>
        <p:spPr>
          <a:xfrm>
            <a:off x="3319272" y="972668"/>
            <a:ext cx="5541264" cy="1651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Commonest female cancer; leading cancer death age 20–59; US 2018: 266,120 cases, 40,920 deaths</a:t>
            </a:r>
            <a:endParaRPr lang="en-US" sz="91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Lifetime risk 1 in 13 (1970s) → 1 in 8 (2004) — screening detection; incidence falling since ~2000 (less HRT)</a:t>
            </a:r>
            <a:endParaRPr lang="en-US" sz="91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Low: less industrialised nations, early multiple pregnancies + long lactation; high: nulliparous, Ashkenazi</a:t>
            </a:r>
            <a:endParaRPr lang="en-US" sz="91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African American &amp; West/sub-Saharan African women: younger, more ER-negative, higher mortality; poorer settings lack screening &amp; MDT care</a:t>
            </a:r>
            <a:endParaRPr lang="en-US" sz="910" dirty="0"/>
          </a:p>
        </p:txBody>
      </p:sp>
      <p:graphicFrame>
        <p:nvGraphicFramePr>
          <p:cNvPr id="12" name="Chart 1" descr=""/>
          <p:cNvGraphicFramePr/>
          <p:nvPr/>
        </p:nvGraphicFramePr>
        <p:xfrm>
          <a:off x="228600" y="2724912"/>
          <a:ext cx="2926080" cy="1920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Shape 9"/>
          <p:cNvSpPr/>
          <p:nvPr/>
        </p:nvSpPr>
        <p:spPr>
          <a:xfrm>
            <a:off x="3246120" y="2724912"/>
            <a:ext cx="5669280" cy="1920240"/>
          </a:xfrm>
          <a:prstGeom prst="rect">
            <a:avLst/>
          </a:prstGeom>
          <a:solidFill>
            <a:srgbClr val="F5EEF8"/>
          </a:solidFill>
          <a:ln w="9525">
            <a:solidFill>
              <a:srgbClr val="6C348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3337560" y="2779776"/>
            <a:ext cx="5486400" cy="195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b="1" dirty="0">
                <a:solidFill>
                  <a:srgbClr val="6C3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 history</a:t>
            </a:r>
            <a:endParaRPr lang="en-US" sz="1060" dirty="0"/>
          </a:p>
        </p:txBody>
      </p:sp>
      <p:sp>
        <p:nvSpPr>
          <p:cNvPr id="15" name="Text 11"/>
          <p:cNvSpPr/>
          <p:nvPr/>
        </p:nvSpPr>
        <p:spPr>
          <a:xfrm>
            <a:off x="3319272" y="3002636"/>
            <a:ext cx="5541264" cy="16150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Untreated: median survival 2.7 y; 5-y 18%, 10-y 3.6%</a:t>
            </a:r>
            <a:endParaRPr lang="en-US" sz="91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Desmoplasia shortens Cooper's ligaments → dimpling; lymphatic block → peau d'orange → ulceration, satellites</a:t>
            </a:r>
            <a:endParaRPr lang="en-US" sz="91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Node-negative &lt;30% vs node-positive up to 75% recurrence; ~95% of deaths have distant disease</a:t>
            </a:r>
            <a:endParaRPr lang="en-US" sz="91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Angiogenesis at 20th doubling; implantation &gt;0.5 cm (27th); 60% of metastases within 5 y, some at 20–30 y</a:t>
            </a:r>
            <a:endParaRPr lang="en-US" sz="91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Sites: bone &gt; lung &gt; pleura &gt; soft tissue &gt; liver; brain more in TNBC/HER2+</a:t>
            </a:r>
            <a:endParaRPr lang="en-US" sz="91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Carcinoma In Situ — LCIS vs DCIS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Risk, Genetics &amp; Pathology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9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694944"/>
          <a:ext cx="594360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2194560"/>
                <a:gridCol w="219456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Feature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LCIS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DCIS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 age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44–47 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54–58 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biopsies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2–5%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5–10%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Clinical signs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 — incidental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Mass, pain, discharge, microcalcification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Premenopausal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2/3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1/3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Synchronous invasion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2–46%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Multicentric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60–90%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40–80%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Bilateral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50–70%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10–20%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Axillary metastasis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1–2%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Later invasive cancer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25–35%, </a:t>
                      </a: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either breast</a:t>
                      </a: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, 15–20 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25–70%, </a:t>
                      </a: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same breast/quadrant</a:t>
                      </a: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, 5–10 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 that follows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 to 65% ductal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Ductal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Concept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 marker</a:t>
                      </a: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; female only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Precursor</a:t>
                      </a: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of IDC (RR ≈5×); ~5% of male BC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6355080" y="694944"/>
            <a:ext cx="2560320" cy="1371600"/>
          </a:xfrm>
          <a:prstGeom prst="rect">
            <a:avLst/>
          </a:prstGeom>
          <a:solidFill>
            <a:srgbClr val="E8F4FD"/>
          </a:solidFill>
          <a:ln w="9525">
            <a:solidFill>
              <a:srgbClr val="21618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46520" y="749808"/>
            <a:ext cx="2377440" cy="195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Definitions</a:t>
            </a:r>
            <a:endParaRPr lang="en-US" sz="1060" dirty="0"/>
          </a:p>
        </p:txBody>
      </p:sp>
      <p:sp>
        <p:nvSpPr>
          <p:cNvPr id="11" name="Text 8"/>
          <p:cNvSpPr/>
          <p:nvPr/>
        </p:nvSpPr>
        <p:spPr>
          <a:xfrm>
            <a:off x="6428232" y="972668"/>
            <a:ext cx="2432304" cy="10664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situ = within basement membrane</a:t>
            </a:r>
            <a:endParaRPr lang="en-US" sz="91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1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Multicentric</a:t>
            </a: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other quadrant (≥4 cm away)</a:t>
            </a:r>
            <a:endParaRPr lang="en-US" sz="91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1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Multifocal</a:t>
            </a: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same quadrant / &lt;4 cm</a:t>
            </a:r>
            <a:endParaRPr lang="en-US" sz="910" dirty="0"/>
          </a:p>
        </p:txBody>
      </p:sp>
      <p:sp>
        <p:nvSpPr>
          <p:cNvPr id="12" name="Shape 9"/>
          <p:cNvSpPr/>
          <p:nvPr/>
        </p:nvSpPr>
        <p:spPr>
          <a:xfrm>
            <a:off x="6355080" y="2139696"/>
            <a:ext cx="2560320" cy="1234440"/>
          </a:xfrm>
          <a:prstGeom prst="rect">
            <a:avLst/>
          </a:prstGeom>
          <a:solidFill>
            <a:srgbClr val="F5EEF8"/>
          </a:solidFill>
          <a:ln w="9525">
            <a:solidFill>
              <a:srgbClr val="6C3483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446520" y="2194560"/>
            <a:ext cx="2377440" cy="195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b="1" dirty="0">
                <a:solidFill>
                  <a:srgbClr val="6C3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LCIS histology</a:t>
            </a:r>
            <a:endParaRPr lang="en-US" sz="1060" dirty="0"/>
          </a:p>
        </p:txBody>
      </p:sp>
      <p:sp>
        <p:nvSpPr>
          <p:cNvPr id="14" name="Text 11"/>
          <p:cNvSpPr/>
          <p:nvPr/>
        </p:nvSpPr>
        <p:spPr>
          <a:xfrm>
            <a:off x="6428232" y="2417420"/>
            <a:ext cx="2432304" cy="929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TDLUs distended by uniform cells; mucoid globules; E-cadherin lost</a:t>
            </a:r>
            <a:endParaRPr lang="en-US" sz="91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Pleomorphic LCIS: calcifies, mimics high-grade DCIS</a:t>
            </a:r>
            <a:endParaRPr lang="en-US" sz="910" dirty="0"/>
          </a:p>
        </p:txBody>
      </p:sp>
      <p:sp>
        <p:nvSpPr>
          <p:cNvPr id="15" name="Shape 12"/>
          <p:cNvSpPr/>
          <p:nvPr/>
        </p:nvSpPr>
        <p:spPr>
          <a:xfrm>
            <a:off x="6355080" y="3447288"/>
            <a:ext cx="2560320" cy="1197864"/>
          </a:xfrm>
          <a:prstGeom prst="rect">
            <a:avLst/>
          </a:prstGeom>
          <a:solidFill>
            <a:srgbClr val="FDFCF0"/>
          </a:solidFill>
          <a:ln w="9525">
            <a:solidFill>
              <a:srgbClr val="7D6608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446520" y="3502152"/>
            <a:ext cx="2377440" cy="195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b="1" dirty="0">
                <a:solidFill>
                  <a:srgbClr val="7D66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Screening effect</a:t>
            </a:r>
            <a:endParaRPr lang="en-US" sz="1060" dirty="0"/>
          </a:p>
        </p:txBody>
      </p:sp>
      <p:sp>
        <p:nvSpPr>
          <p:cNvPr id="17" name="Text 14"/>
          <p:cNvSpPr/>
          <p:nvPr/>
        </p:nvSpPr>
        <p:spPr>
          <a:xfrm>
            <a:off x="6428232" y="3725012"/>
            <a:ext cx="2432304" cy="892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situ: &lt;6% → 45% of cancers</a:t>
            </a:r>
            <a:endParaRPr lang="en-US" sz="91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Ratio flipped: LCIS&gt;DCIS 2:1 → DCIS&gt;LCIS 2:1</a:t>
            </a:r>
            <a:endParaRPr lang="en-US" sz="91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DCIS — Growth Patterns, Grade &amp; Progression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Risk, Genetics &amp; Pathology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28600" y="658368"/>
            <a:ext cx="5394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Rising nuclear grade and necrosis  →  higher risk of recurrence / progression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502920" y="896112"/>
            <a:ext cx="4846320" cy="0"/>
          </a:xfrm>
          <a:prstGeom prst="line">
            <a:avLst/>
          </a:prstGeom>
          <a:noFill/>
          <a:ln w="25400">
            <a:solidFill>
              <a:srgbClr val="21618C"/>
            </a:solidFill>
            <a:prstDash val="solid"/>
            <a:tailEnd type="triangle"/>
          </a:ln>
        </p:spPr>
      </p:sp>
      <p:sp>
        <p:nvSpPr>
          <p:cNvPr id="10" name="Text 8"/>
          <p:cNvSpPr/>
          <p:nvPr/>
        </p:nvSpPr>
        <p:spPr>
          <a:xfrm>
            <a:off x="265176" y="932688"/>
            <a:ext cx="12755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3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finger-like growths into the lumen</a:t>
            </a:r>
            <a:endParaRPr lang="en-US" sz="730" dirty="0"/>
          </a:p>
        </p:txBody>
      </p:sp>
      <p:sp>
        <p:nvSpPr>
          <p:cNvPr id="11" name="Shape 9"/>
          <p:cNvSpPr/>
          <p:nvPr/>
        </p:nvSpPr>
        <p:spPr>
          <a:xfrm rot="5400000">
            <a:off x="1131753" y="1552103"/>
            <a:ext cx="64008" cy="260787"/>
          </a:xfrm>
          <a:prstGeom prst="roundRect">
            <a:avLst>
              <a:gd name="adj" fmla="val 42857"/>
            </a:avLst>
          </a:prstGeom>
          <a:solidFill>
            <a:srgbClr val="AFC3DE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rot="8100000">
            <a:off x="1055370" y="1736507"/>
            <a:ext cx="64008" cy="260787"/>
          </a:xfrm>
          <a:prstGeom prst="roundRect">
            <a:avLst>
              <a:gd name="adj" fmla="val 42857"/>
            </a:avLst>
          </a:prstGeom>
          <a:solidFill>
            <a:srgbClr val="AFC3DE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rot="10800000">
            <a:off x="870966" y="1812889"/>
            <a:ext cx="64008" cy="260787"/>
          </a:xfrm>
          <a:prstGeom prst="roundRect">
            <a:avLst>
              <a:gd name="adj" fmla="val 42857"/>
            </a:avLst>
          </a:prstGeom>
          <a:solidFill>
            <a:srgbClr val="AFC3DE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rot="13500000">
            <a:off x="686562" y="1736507"/>
            <a:ext cx="64008" cy="260787"/>
          </a:xfrm>
          <a:prstGeom prst="roundRect">
            <a:avLst>
              <a:gd name="adj" fmla="val 42857"/>
            </a:avLst>
          </a:prstGeom>
          <a:solidFill>
            <a:srgbClr val="AFC3DE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rot="16200000">
            <a:off x="610179" y="1552103"/>
            <a:ext cx="64008" cy="260787"/>
          </a:xfrm>
          <a:prstGeom prst="roundRect">
            <a:avLst>
              <a:gd name="adj" fmla="val 42857"/>
            </a:avLst>
          </a:prstGeom>
          <a:solidFill>
            <a:srgbClr val="AFC3DE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rot="18900000">
            <a:off x="686562" y="1367698"/>
            <a:ext cx="64008" cy="260787"/>
          </a:xfrm>
          <a:prstGeom prst="roundRect">
            <a:avLst>
              <a:gd name="adj" fmla="val 42857"/>
            </a:avLst>
          </a:prstGeom>
          <a:solidFill>
            <a:srgbClr val="AFC3DE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rot="21600000">
            <a:off x="870966" y="1291316"/>
            <a:ext cx="64008" cy="260787"/>
          </a:xfrm>
          <a:prstGeom prst="roundRect">
            <a:avLst>
              <a:gd name="adj" fmla="val 42857"/>
            </a:avLst>
          </a:prstGeom>
          <a:solidFill>
            <a:srgbClr val="AFC3DE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rot="2700000">
            <a:off x="1055370" y="1367698"/>
            <a:ext cx="64008" cy="260787"/>
          </a:xfrm>
          <a:prstGeom prst="roundRect">
            <a:avLst>
              <a:gd name="adj" fmla="val 42857"/>
            </a:avLst>
          </a:prstGeom>
          <a:solidFill>
            <a:srgbClr val="AFC3DE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45770" y="1225296"/>
            <a:ext cx="914400" cy="914400"/>
          </a:xfrm>
          <a:prstGeom prst="ellipse">
            <a:avLst/>
          </a:prstGeom>
          <a:ln w="28575">
            <a:solidFill>
              <a:srgbClr val="8A8A8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28600" y="2176272"/>
            <a:ext cx="13487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Papillary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265176" y="2395728"/>
            <a:ext cx="12755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30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Non-comedo → LOW grade (no necrosis)</a:t>
            </a:r>
            <a:endParaRPr lang="en-US" sz="730" dirty="0"/>
          </a:p>
        </p:txBody>
      </p:sp>
      <p:sp>
        <p:nvSpPr>
          <p:cNvPr id="22" name="Text 20"/>
          <p:cNvSpPr/>
          <p:nvPr/>
        </p:nvSpPr>
        <p:spPr>
          <a:xfrm>
            <a:off x="1613916" y="932688"/>
            <a:ext cx="12755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3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lumen filled; punched-out round spaces</a:t>
            </a:r>
            <a:endParaRPr lang="en-US" sz="730" dirty="0"/>
          </a:p>
        </p:txBody>
      </p:sp>
      <p:sp>
        <p:nvSpPr>
          <p:cNvPr id="23" name="Shape 21"/>
          <p:cNvSpPr/>
          <p:nvPr/>
        </p:nvSpPr>
        <p:spPr>
          <a:xfrm>
            <a:off x="1831086" y="1261872"/>
            <a:ext cx="841248" cy="841248"/>
          </a:xfrm>
          <a:prstGeom prst="ellipse">
            <a:avLst/>
          </a:prstGeom>
          <a:solidFill>
            <a:srgbClr val="AFC3DE"/>
          </a:solidFill>
          <a:ln/>
        </p:spPr>
      </p:sp>
      <p:sp>
        <p:nvSpPr>
          <p:cNvPr id="24" name="Shape 22"/>
          <p:cNvSpPr/>
          <p:nvPr/>
        </p:nvSpPr>
        <p:spPr>
          <a:xfrm>
            <a:off x="2183130" y="1427304"/>
            <a:ext cx="137160" cy="13716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B3A6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60412" y="1548602"/>
            <a:ext cx="137160" cy="13716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B3A6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295097" y="1763206"/>
            <a:ext cx="137160" cy="13716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B3A6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071163" y="1763206"/>
            <a:ext cx="137160" cy="13716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B3A6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005848" y="1548602"/>
            <a:ext cx="137160" cy="13716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B3A6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183130" y="1632577"/>
            <a:ext cx="137160" cy="13716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B3A6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794510" y="1225296"/>
            <a:ext cx="914400" cy="914400"/>
          </a:xfrm>
          <a:prstGeom prst="ellipse">
            <a:avLst/>
          </a:prstGeom>
          <a:ln w="28575">
            <a:solidFill>
              <a:srgbClr val="8A8A8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577340" y="2176272"/>
            <a:ext cx="13487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Cribriform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1613916" y="2395728"/>
            <a:ext cx="12755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30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Non-comedo → LOW grade (no necrosis)</a:t>
            </a:r>
            <a:endParaRPr lang="en-US" sz="730" dirty="0"/>
          </a:p>
        </p:txBody>
      </p:sp>
      <p:sp>
        <p:nvSpPr>
          <p:cNvPr id="33" name="Text 31"/>
          <p:cNvSpPr/>
          <p:nvPr/>
        </p:nvSpPr>
        <p:spPr>
          <a:xfrm>
            <a:off x="2962656" y="932688"/>
            <a:ext cx="12755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3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pleomorphic cells obliterate the lumen</a:t>
            </a:r>
            <a:endParaRPr lang="en-US" sz="730" dirty="0"/>
          </a:p>
        </p:txBody>
      </p:sp>
      <p:sp>
        <p:nvSpPr>
          <p:cNvPr id="34" name="Shape 32"/>
          <p:cNvSpPr/>
          <p:nvPr/>
        </p:nvSpPr>
        <p:spPr>
          <a:xfrm>
            <a:off x="3179826" y="1261872"/>
            <a:ext cx="841248" cy="841248"/>
          </a:xfrm>
          <a:prstGeom prst="ellipse">
            <a:avLst/>
          </a:prstGeom>
          <a:solidFill>
            <a:srgbClr val="2E5C8A"/>
          </a:solidFill>
          <a:ln/>
        </p:spPr>
      </p:sp>
      <p:sp>
        <p:nvSpPr>
          <p:cNvPr id="35" name="Shape 33"/>
          <p:cNvSpPr/>
          <p:nvPr/>
        </p:nvSpPr>
        <p:spPr>
          <a:xfrm>
            <a:off x="3615741" y="1648206"/>
            <a:ext cx="68580" cy="68580"/>
          </a:xfrm>
          <a:prstGeom prst="ellipse">
            <a:avLst/>
          </a:prstGeom>
          <a:solidFill>
            <a:srgbClr val="6F8FC0"/>
          </a:solidFill>
          <a:ln w="6350">
            <a:solidFill>
              <a:srgbClr val="1B3A6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502894" y="1706275"/>
            <a:ext cx="68580" cy="68580"/>
          </a:xfrm>
          <a:prstGeom prst="ellipse">
            <a:avLst/>
          </a:prstGeom>
          <a:solidFill>
            <a:srgbClr val="6F8FC0"/>
          </a:solidFill>
          <a:ln w="6350">
            <a:solidFill>
              <a:srgbClr val="1B3A6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575640" y="1537747"/>
            <a:ext cx="68580" cy="68580"/>
          </a:xfrm>
          <a:prstGeom prst="ellipse">
            <a:avLst/>
          </a:prstGeom>
          <a:solidFill>
            <a:srgbClr val="6F8FC0"/>
          </a:solidFill>
          <a:ln w="6350">
            <a:solidFill>
              <a:srgbClr val="1B3A6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646274" y="1752078"/>
            <a:ext cx="68580" cy="68580"/>
          </a:xfrm>
          <a:prstGeom prst="ellipse">
            <a:avLst/>
          </a:prstGeom>
          <a:solidFill>
            <a:srgbClr val="6F8FC0"/>
          </a:solidFill>
          <a:ln w="6350">
            <a:solidFill>
              <a:srgbClr val="1B3A6B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419593" y="1622862"/>
            <a:ext cx="68580" cy="68580"/>
          </a:xfrm>
          <a:prstGeom prst="ellipse">
            <a:avLst/>
          </a:prstGeom>
          <a:solidFill>
            <a:srgbClr val="6F8FC0"/>
          </a:solidFill>
          <a:ln w="6350">
            <a:solidFill>
              <a:srgbClr val="1B3A6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704480" y="1559279"/>
            <a:ext cx="68580" cy="68580"/>
          </a:xfrm>
          <a:prstGeom prst="ellipse">
            <a:avLst/>
          </a:prstGeom>
          <a:solidFill>
            <a:srgbClr val="6F8FC0"/>
          </a:solidFill>
          <a:ln w="6350">
            <a:solidFill>
              <a:srgbClr val="1B3A6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520750" y="1821108"/>
            <a:ext cx="68580" cy="68580"/>
          </a:xfrm>
          <a:prstGeom prst="ellipse">
            <a:avLst/>
          </a:prstGeom>
          <a:solidFill>
            <a:srgbClr val="6F8FC0"/>
          </a:solidFill>
          <a:ln w="6350">
            <a:solidFill>
              <a:srgbClr val="1B3A6B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476507" y="1478395"/>
            <a:ext cx="68580" cy="68580"/>
          </a:xfrm>
          <a:prstGeom prst="ellipse">
            <a:avLst/>
          </a:prstGeom>
          <a:solidFill>
            <a:srgbClr val="6F8FC0"/>
          </a:solidFill>
          <a:ln w="6350">
            <a:solidFill>
              <a:srgbClr val="1B3A6B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758716" y="1716850"/>
            <a:ext cx="68580" cy="68580"/>
          </a:xfrm>
          <a:prstGeom prst="ellipse">
            <a:avLst/>
          </a:prstGeom>
          <a:solidFill>
            <a:srgbClr val="6F8FC0"/>
          </a:solidFill>
          <a:ln w="6350">
            <a:solidFill>
              <a:srgbClr val="1B3A6B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367116" y="1732395"/>
            <a:ext cx="68580" cy="68580"/>
          </a:xfrm>
          <a:prstGeom prst="ellipse">
            <a:avLst/>
          </a:prstGeom>
          <a:solidFill>
            <a:srgbClr val="6F8FC0"/>
          </a:solidFill>
          <a:ln w="6350">
            <a:solidFill>
              <a:srgbClr val="1B3A6B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660474" y="1441499"/>
            <a:ext cx="68580" cy="68580"/>
          </a:xfrm>
          <a:prstGeom prst="ellipse">
            <a:avLst/>
          </a:prstGeom>
          <a:solidFill>
            <a:srgbClr val="6F8FC0"/>
          </a:solidFill>
          <a:ln w="6350">
            <a:solidFill>
              <a:srgbClr val="1B3A6B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3639724" y="1874320"/>
            <a:ext cx="68580" cy="68580"/>
          </a:xfrm>
          <a:prstGeom prst="ellipse">
            <a:avLst/>
          </a:prstGeom>
          <a:solidFill>
            <a:srgbClr val="6F8FC0"/>
          </a:solidFill>
          <a:ln w="6350">
            <a:solidFill>
              <a:srgbClr val="1B3A6B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3350249" y="1526393"/>
            <a:ext cx="68580" cy="68580"/>
          </a:xfrm>
          <a:prstGeom prst="ellipse">
            <a:avLst/>
          </a:prstGeom>
          <a:solidFill>
            <a:srgbClr val="6F8FC0"/>
          </a:solidFill>
          <a:ln w="6350">
            <a:solidFill>
              <a:srgbClr val="1B3A6B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3817067" y="1589742"/>
            <a:ext cx="68580" cy="68580"/>
          </a:xfrm>
          <a:prstGeom prst="ellipse">
            <a:avLst/>
          </a:prstGeom>
          <a:solidFill>
            <a:srgbClr val="6F8FC0"/>
          </a:solidFill>
          <a:ln w="6350">
            <a:solidFill>
              <a:srgbClr val="1B3A6B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415560" y="1868679"/>
            <a:ext cx="68580" cy="68580"/>
          </a:xfrm>
          <a:prstGeom prst="ellipse">
            <a:avLst/>
          </a:prstGeom>
          <a:solidFill>
            <a:srgbClr val="6F8FC0"/>
          </a:solidFill>
          <a:ln w="6350">
            <a:solidFill>
              <a:srgbClr val="1B3A6B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526733" y="1374983"/>
            <a:ext cx="68580" cy="68580"/>
          </a:xfrm>
          <a:prstGeom prst="ellipse">
            <a:avLst/>
          </a:prstGeom>
          <a:solidFill>
            <a:srgbClr val="6F8FC0"/>
          </a:solidFill>
          <a:ln w="6350">
            <a:solidFill>
              <a:srgbClr val="1B3A6B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3786749" y="1828378"/>
            <a:ext cx="68580" cy="68580"/>
          </a:xfrm>
          <a:prstGeom prst="ellipse">
            <a:avLst/>
          </a:prstGeom>
          <a:solidFill>
            <a:srgbClr val="6F8FC0"/>
          </a:solidFill>
          <a:ln w="6350">
            <a:solidFill>
              <a:srgbClr val="1B3A6B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3273326" y="1665123"/>
            <a:ext cx="68580" cy="68580"/>
          </a:xfrm>
          <a:prstGeom prst="ellipse">
            <a:avLst/>
          </a:prstGeom>
          <a:solidFill>
            <a:srgbClr val="6F8FC0"/>
          </a:solidFill>
          <a:ln w="6350">
            <a:solidFill>
              <a:srgbClr val="1B3A6B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3776213" y="1431799"/>
            <a:ext cx="68580" cy="68580"/>
          </a:xfrm>
          <a:prstGeom prst="ellipse">
            <a:avLst/>
          </a:prstGeom>
          <a:solidFill>
            <a:srgbClr val="6F8FC0"/>
          </a:solidFill>
          <a:ln w="6350">
            <a:solidFill>
              <a:srgbClr val="1B3A6B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3557520" y="1957716"/>
            <a:ext cx="68580" cy="68580"/>
          </a:xfrm>
          <a:prstGeom prst="ellipse">
            <a:avLst/>
          </a:prstGeom>
          <a:solidFill>
            <a:srgbClr val="6F8FC0"/>
          </a:solidFill>
          <a:ln w="6350">
            <a:solidFill>
              <a:srgbClr val="1B3A6B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3358096" y="1408421"/>
            <a:ext cx="68580" cy="68580"/>
          </a:xfrm>
          <a:prstGeom prst="ellipse">
            <a:avLst/>
          </a:prstGeom>
          <a:solidFill>
            <a:srgbClr val="6F8FC0"/>
          </a:solidFill>
          <a:ln w="6350">
            <a:solidFill>
              <a:srgbClr val="1B3A6B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3889189" y="1685034"/>
            <a:ext cx="68580" cy="68580"/>
          </a:xfrm>
          <a:prstGeom prst="ellipse">
            <a:avLst/>
          </a:prstGeom>
          <a:solidFill>
            <a:srgbClr val="6F8FC0"/>
          </a:solidFill>
          <a:ln w="6350">
            <a:solidFill>
              <a:srgbClr val="1B3A6B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3297232" y="1843905"/>
            <a:ext cx="68580" cy="68580"/>
          </a:xfrm>
          <a:prstGeom prst="ellipse">
            <a:avLst/>
          </a:prstGeom>
          <a:solidFill>
            <a:srgbClr val="6F8FC0"/>
          </a:solidFill>
          <a:ln w="6350">
            <a:solidFill>
              <a:srgbClr val="1B3A6B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3633399" y="1315016"/>
            <a:ext cx="68580" cy="68580"/>
          </a:xfrm>
          <a:prstGeom prst="ellipse">
            <a:avLst/>
          </a:prstGeom>
          <a:solidFill>
            <a:srgbClr val="6F8FC0"/>
          </a:solidFill>
          <a:ln w="6350">
            <a:solidFill>
              <a:srgbClr val="1B3A6B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3745628" y="1945266"/>
            <a:ext cx="68580" cy="68580"/>
          </a:xfrm>
          <a:prstGeom prst="ellipse">
            <a:avLst/>
          </a:prstGeom>
          <a:solidFill>
            <a:srgbClr val="6F8FC0"/>
          </a:solidFill>
          <a:ln w="6350">
            <a:solidFill>
              <a:srgbClr val="1B3A6B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3226341" y="1548743"/>
            <a:ext cx="68580" cy="68580"/>
          </a:xfrm>
          <a:prstGeom prst="ellipse">
            <a:avLst/>
          </a:prstGeom>
          <a:solidFill>
            <a:srgbClr val="6F8FC0"/>
          </a:solidFill>
          <a:ln w="6350">
            <a:solidFill>
              <a:srgbClr val="1B3A6B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3143250" y="1225296"/>
            <a:ext cx="914400" cy="914400"/>
          </a:xfrm>
          <a:prstGeom prst="ellipse">
            <a:avLst/>
          </a:prstGeom>
          <a:ln w="28575">
            <a:solidFill>
              <a:srgbClr val="8A8A8A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2926080" y="2176272"/>
            <a:ext cx="13487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Solid</a:t>
            </a:r>
            <a:endParaRPr lang="en-US" sz="950" dirty="0"/>
          </a:p>
        </p:txBody>
      </p:sp>
      <p:sp>
        <p:nvSpPr>
          <p:cNvPr id="63" name="Text 61"/>
          <p:cNvSpPr/>
          <p:nvPr/>
        </p:nvSpPr>
        <p:spPr>
          <a:xfrm>
            <a:off x="2962656" y="2395728"/>
            <a:ext cx="12755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30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INTERMEDIATE grade (focal / no necrosis)</a:t>
            </a:r>
            <a:endParaRPr lang="en-US" sz="730" dirty="0"/>
          </a:p>
        </p:txBody>
      </p:sp>
      <p:sp>
        <p:nvSpPr>
          <p:cNvPr id="64" name="Text 62"/>
          <p:cNvSpPr/>
          <p:nvPr/>
        </p:nvSpPr>
        <p:spPr>
          <a:xfrm>
            <a:off x="4311396" y="932688"/>
            <a:ext cx="12755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3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necrosis + calcification</a:t>
            </a:r>
            <a:endParaRPr lang="en-US" sz="730" dirty="0"/>
          </a:p>
        </p:txBody>
      </p:sp>
      <p:sp>
        <p:nvSpPr>
          <p:cNvPr id="65" name="Shape 63"/>
          <p:cNvSpPr/>
          <p:nvPr/>
        </p:nvSpPr>
        <p:spPr>
          <a:xfrm>
            <a:off x="4528566" y="1261872"/>
            <a:ext cx="841248" cy="841248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66" name="Shape 64"/>
          <p:cNvSpPr/>
          <p:nvPr/>
        </p:nvSpPr>
        <p:spPr>
          <a:xfrm>
            <a:off x="4728362" y="1461668"/>
            <a:ext cx="441655" cy="441655"/>
          </a:xfrm>
          <a:prstGeom prst="ellipse">
            <a:avLst/>
          </a:prstGeom>
          <a:solidFill>
            <a:srgbClr val="E8DDB5"/>
          </a:solidFill>
          <a:ln w="12700">
            <a:solidFill>
              <a:srgbClr val="8A7A4A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5017770" y="1568196"/>
            <a:ext cx="45720" cy="45720"/>
          </a:xfrm>
          <a:prstGeom prst="ellipse">
            <a:avLst/>
          </a:prstGeom>
          <a:solidFill>
            <a:srgbClr val="222222"/>
          </a:solidFill>
          <a:ln/>
        </p:spPr>
      </p:sp>
      <p:sp>
        <p:nvSpPr>
          <p:cNvPr id="68" name="Shape 66"/>
          <p:cNvSpPr/>
          <p:nvPr/>
        </p:nvSpPr>
        <p:spPr>
          <a:xfrm>
            <a:off x="4816602" y="1677924"/>
            <a:ext cx="45720" cy="45720"/>
          </a:xfrm>
          <a:prstGeom prst="ellipse">
            <a:avLst/>
          </a:prstGeom>
          <a:solidFill>
            <a:srgbClr val="222222"/>
          </a:solidFill>
          <a:ln/>
        </p:spPr>
      </p:sp>
      <p:sp>
        <p:nvSpPr>
          <p:cNvPr id="69" name="Shape 67"/>
          <p:cNvSpPr/>
          <p:nvPr/>
        </p:nvSpPr>
        <p:spPr>
          <a:xfrm>
            <a:off x="4972050" y="1769364"/>
            <a:ext cx="45720" cy="45720"/>
          </a:xfrm>
          <a:prstGeom prst="ellipse">
            <a:avLst/>
          </a:prstGeom>
          <a:solidFill>
            <a:srgbClr val="222222"/>
          </a:solidFill>
          <a:ln/>
        </p:spPr>
      </p:sp>
      <p:sp>
        <p:nvSpPr>
          <p:cNvPr id="70" name="Shape 68"/>
          <p:cNvSpPr/>
          <p:nvPr/>
        </p:nvSpPr>
        <p:spPr>
          <a:xfrm>
            <a:off x="4898898" y="1531620"/>
            <a:ext cx="45720" cy="45720"/>
          </a:xfrm>
          <a:prstGeom prst="ellipse">
            <a:avLst/>
          </a:prstGeom>
          <a:solidFill>
            <a:srgbClr val="222222"/>
          </a:solidFill>
          <a:ln/>
        </p:spPr>
      </p:sp>
      <p:sp>
        <p:nvSpPr>
          <p:cNvPr id="71" name="Shape 69"/>
          <p:cNvSpPr/>
          <p:nvPr/>
        </p:nvSpPr>
        <p:spPr>
          <a:xfrm>
            <a:off x="5054346" y="1714500"/>
            <a:ext cx="45720" cy="45720"/>
          </a:xfrm>
          <a:prstGeom prst="ellipse">
            <a:avLst/>
          </a:prstGeom>
          <a:solidFill>
            <a:srgbClr val="222222"/>
          </a:solidFill>
          <a:ln/>
        </p:spPr>
      </p:sp>
      <p:sp>
        <p:nvSpPr>
          <p:cNvPr id="72" name="Shape 70"/>
          <p:cNvSpPr/>
          <p:nvPr/>
        </p:nvSpPr>
        <p:spPr>
          <a:xfrm>
            <a:off x="4853178" y="1778508"/>
            <a:ext cx="45720" cy="45720"/>
          </a:xfrm>
          <a:prstGeom prst="ellipse">
            <a:avLst/>
          </a:prstGeom>
          <a:solidFill>
            <a:srgbClr val="222222"/>
          </a:solidFill>
          <a:ln/>
        </p:spPr>
      </p:sp>
      <p:sp>
        <p:nvSpPr>
          <p:cNvPr id="73" name="Shape 71"/>
          <p:cNvSpPr/>
          <p:nvPr/>
        </p:nvSpPr>
        <p:spPr>
          <a:xfrm>
            <a:off x="4491990" y="1225296"/>
            <a:ext cx="914400" cy="914400"/>
          </a:xfrm>
          <a:prstGeom prst="ellipse">
            <a:avLst/>
          </a:prstGeom>
          <a:ln w="28575">
            <a:solidFill>
              <a:srgbClr val="8A8A8A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4274820" y="2176272"/>
            <a:ext cx="13487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Comedo</a:t>
            </a:r>
            <a:endParaRPr lang="en-US" sz="950" dirty="0"/>
          </a:p>
        </p:txBody>
      </p:sp>
      <p:sp>
        <p:nvSpPr>
          <p:cNvPr id="75" name="Text 73"/>
          <p:cNvSpPr/>
          <p:nvPr/>
        </p:nvSpPr>
        <p:spPr>
          <a:xfrm>
            <a:off x="4311396" y="2395728"/>
            <a:ext cx="12755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30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Comedo → HIGH grade (extensive necrosis)</a:t>
            </a:r>
            <a:endParaRPr lang="en-US" sz="730" dirty="0"/>
          </a:p>
        </p:txBody>
      </p:sp>
      <p:graphicFrame>
        <p:nvGraphicFramePr>
          <p:cNvPr id="8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3017520"/>
          <a:ext cx="53949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005840"/>
                <a:gridCol w="1005840"/>
                <a:gridCol w="100584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Subtype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Nuclear grade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Necrosis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DCIS grade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Comedo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Extensive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Intermediate (mixed)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Intermediate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Focal / absent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Intermediate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Non-comedo (solid, cribriform, papillary, micropapillary)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Absent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7" name="Shape 74"/>
          <p:cNvSpPr/>
          <p:nvPr/>
        </p:nvSpPr>
        <p:spPr>
          <a:xfrm>
            <a:off x="5806440" y="694944"/>
            <a:ext cx="3108960" cy="2249424"/>
          </a:xfrm>
          <a:prstGeom prst="rect">
            <a:avLst/>
          </a:prstGeom>
          <a:solidFill>
            <a:srgbClr val="E8F4FD"/>
          </a:solidFill>
          <a:ln w="9525">
            <a:solidFill>
              <a:srgbClr val="21618C"/>
            </a:solidFill>
            <a:prstDash val="solid"/>
          </a:ln>
        </p:spPr>
      </p:sp>
      <p:sp>
        <p:nvSpPr>
          <p:cNvPr id="78" name="Text 75"/>
          <p:cNvSpPr/>
          <p:nvPr/>
        </p:nvSpPr>
        <p:spPr>
          <a:xfrm>
            <a:off x="5897880" y="749808"/>
            <a:ext cx="2926080" cy="1969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7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Sequence</a:t>
            </a:r>
            <a:endParaRPr lang="en-US" sz="1070" dirty="0"/>
          </a:p>
        </p:txBody>
      </p:sp>
      <p:sp>
        <p:nvSpPr>
          <p:cNvPr id="79" name="Text 76"/>
          <p:cNvSpPr/>
          <p:nvPr/>
        </p:nvSpPr>
        <p:spPr>
          <a:xfrm>
            <a:off x="5879592" y="974166"/>
            <a:ext cx="2980944" cy="1942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250"/>
              </a:spcAft>
              <a:buSzPct val="100000"/>
              <a:buFont typeface="+mj-lt"/>
              <a:buAutoNum type="arabicPeriod" startAt="1"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Proliferation lines minor ducts (papillary)</a:t>
            </a:r>
            <a:endParaRPr lang="en-US" sz="920" dirty="0"/>
          </a:p>
          <a:p>
            <a:pPr marL="342900" indent="-342900">
              <a:lnSpc>
                <a:spcPct val="100000"/>
              </a:lnSpc>
              <a:spcAft>
                <a:spcPts val="250"/>
              </a:spcAft>
              <a:buSzPct val="100000"/>
              <a:buFont typeface="+mj-lt"/>
              <a:buAutoNum type="arabicPeriod" startAt="1"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Coalescence leaves round spaces; atypia, loss of polarity (cribriform)</a:t>
            </a:r>
            <a:endParaRPr lang="en-US" sz="920" dirty="0"/>
          </a:p>
          <a:p>
            <a:pPr marL="342900" indent="-342900">
              <a:lnSpc>
                <a:spcPct val="100000"/>
              </a:lnSpc>
              <a:spcAft>
                <a:spcPts val="250"/>
              </a:spcAft>
              <a:buSzPct val="100000"/>
              <a:buFont typeface="+mj-lt"/>
              <a:buAutoNum type="arabicPeriod" startAt="1"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Pleomorphic cells with mitoses fill lumen (solid)</a:t>
            </a:r>
            <a:endParaRPr lang="en-US" sz="920" dirty="0"/>
          </a:p>
          <a:p>
            <a:pPr marL="342900" indent="-342900">
              <a:lnSpc>
                <a:spcPct val="100000"/>
              </a:lnSpc>
              <a:spcAft>
                <a:spcPts val="250"/>
              </a:spcAft>
              <a:buSzPct val="100000"/>
              <a:buFont typeface="+mj-lt"/>
              <a:buAutoNum type="arabicPeriod" startAt="1"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 outstrips blood supply → necrosis + calcification seen on mammogram (comedo)</a:t>
            </a:r>
            <a:endParaRPr lang="en-US" sz="920" dirty="0"/>
          </a:p>
        </p:txBody>
      </p:sp>
      <p:sp>
        <p:nvSpPr>
          <p:cNvPr id="80" name="Shape 77"/>
          <p:cNvSpPr/>
          <p:nvPr/>
        </p:nvSpPr>
        <p:spPr>
          <a:xfrm>
            <a:off x="5806440" y="3017520"/>
            <a:ext cx="3108960" cy="1627632"/>
          </a:xfrm>
          <a:prstGeom prst="rect">
            <a:avLst/>
          </a:prstGeom>
          <a:solidFill>
            <a:srgbClr val="FDEDEC"/>
          </a:solidFill>
          <a:ln w="9525">
            <a:solidFill>
              <a:srgbClr val="C0392B"/>
            </a:solidFill>
            <a:prstDash val="solid"/>
          </a:ln>
        </p:spPr>
      </p:sp>
      <p:sp>
        <p:nvSpPr>
          <p:cNvPr id="81" name="Text 78"/>
          <p:cNvSpPr/>
          <p:nvPr/>
        </p:nvSpPr>
        <p:spPr>
          <a:xfrm>
            <a:off x="5897880" y="3072384"/>
            <a:ext cx="2926080" cy="1969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7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070" dirty="0"/>
          </a:p>
        </p:txBody>
      </p:sp>
      <p:sp>
        <p:nvSpPr>
          <p:cNvPr id="82" name="Text 79"/>
          <p:cNvSpPr/>
          <p:nvPr/>
        </p:nvSpPr>
        <p:spPr>
          <a:xfrm>
            <a:off x="5879592" y="3296742"/>
            <a:ext cx="2980944" cy="13209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grade + necrosis → more recurrence/progression</a:t>
            </a:r>
            <a:endParaRPr lang="en-US" sz="92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DCIS lacks atypia — hard to separate from hyperplasia</a:t>
            </a:r>
            <a:endParaRPr lang="en-US" sz="92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Minute invasion is easily missed → examine multiple sections</a:t>
            </a:r>
            <a:endParaRPr lang="en-US" sz="920" dirty="0"/>
          </a:p>
        </p:txBody>
      </p:sp>
      <p:sp>
        <p:nvSpPr>
          <p:cNvPr id="83" name="Text 80"/>
          <p:cNvSpPr/>
          <p:nvPr/>
        </p:nvSpPr>
        <p:spPr>
          <a:xfrm>
            <a:off x="228600" y="4224528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drives local therapy: high-grade DCIS is not suitable for excision alone.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Invasive Breast Cancer — Histologic Types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Risk, Genetics &amp; Pathology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9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694944"/>
          <a:ext cx="640080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502920"/>
                <a:gridCol w="466344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 (share)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ER+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features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Ductal NST (80%)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Hard stellate mass, chalky streaks; nodes + in ≤25% screen-detected, ≤60% symptomatic; worse than special types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Lobular (10%)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&gt;90%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Single-file cells, signet-ring; multifocal, multicentric, bilateral; subtle on mammogram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Medullary (4%)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&lt;10%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Soft, bulky, haemorrhagic; lymphoplasmacytic infiltrate; BRCA1 phenotype; reactive nodes mislead; better 5-y survival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Mucinous (2%)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&gt;90%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Older women; gelatinous; nodes 33%; 5/10-y survival 73/59%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Papillary (2%)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7th decade; &lt;3 cm; low nodal rate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Tubular (2%)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 to 20% of screen-detected; nodes ~10%; survival ≈100%; cribriform related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Paget's of nipple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Eczema → ulcerated nipple; Paget cells; with DCIS ± invasion; nipple biopsy; CEA+ (melanoma S-100+)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Chart 0" descr=""/>
          <p:cNvGraphicFramePr/>
          <p:nvPr/>
        </p:nvGraphicFramePr>
        <p:xfrm>
          <a:off x="6766560" y="685800"/>
          <a:ext cx="214884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Text 6"/>
          <p:cNvSpPr/>
          <p:nvPr/>
        </p:nvSpPr>
        <p:spPr>
          <a:xfrm>
            <a:off x="228600" y="4297680"/>
            <a:ext cx="8686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i="1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 types (~10%) need ≥90% of tumour showing the defining feature. Rare types: adenoid cystic, squamous, apocrine (see Section VI).</a:t>
            </a:r>
            <a:endParaRPr lang="en-US" sz="82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21618C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629400" y="91440"/>
            <a:ext cx="82296" cy="4663440"/>
          </a:xfrm>
          <a:prstGeom prst="rect">
            <a:avLst/>
          </a:prstGeom>
          <a:solidFill>
            <a:srgbClr val="21618C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711696" y="91440"/>
            <a:ext cx="2432304" cy="46634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" y="548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 E C T I O 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74320" y="914400"/>
            <a:ext cx="3657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8800" dirty="0"/>
          </a:p>
        </p:txBody>
      </p:sp>
      <p:sp>
        <p:nvSpPr>
          <p:cNvPr id="7" name="Text 5"/>
          <p:cNvSpPr/>
          <p:nvPr/>
        </p:nvSpPr>
        <p:spPr>
          <a:xfrm>
            <a:off x="320040" y="2514600"/>
            <a:ext cx="6126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Diagnosis &amp; Staging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320040" y="3931920"/>
            <a:ext cx="6126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E40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Triple assessment • clinical exam • imaging • tissue diagnosis • discharge &amp; occult primary • TNM • work-up • biomarkers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711696" y="1828800"/>
            <a:ext cx="24323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4800" dirty="0"/>
          </a:p>
        </p:txBody>
      </p:sp>
      <p:sp>
        <p:nvSpPr>
          <p:cNvPr id="10" name="Shape 8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 &amp; Staging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Triple Assessment — The Diagnostic Algorithm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 &amp; Staging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28600" y="676656"/>
            <a:ext cx="8686800" cy="329184"/>
          </a:xfrm>
          <a:prstGeom prst="roundRect">
            <a:avLst>
              <a:gd name="adj" fmla="val 16667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4320" y="694944"/>
            <a:ext cx="8595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Lump / abnormal imaging / nipple or skin change → TRIPLE ASSESSMENT (image before any needle)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572000" y="1005840"/>
            <a:ext cx="0" cy="73152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618488" y="1078992"/>
            <a:ext cx="5907024" cy="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1078992"/>
            <a:ext cx="0" cy="73152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4572000" y="1078992"/>
            <a:ext cx="0" cy="73152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7525512" y="1078992"/>
            <a:ext cx="0" cy="73152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228600" y="1152144"/>
            <a:ext cx="2788920" cy="256032"/>
          </a:xfrm>
          <a:prstGeom prst="roundRect">
            <a:avLst>
              <a:gd name="adj" fmla="val 21429"/>
            </a:avLst>
          </a:prstGeom>
          <a:solidFill>
            <a:srgbClr val="21618C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74320" y="1170432"/>
            <a:ext cx="2697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CLINICAL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228600" y="1426464"/>
            <a:ext cx="2788920" cy="1371600"/>
          </a:xfrm>
          <a:prstGeom prst="roundRect">
            <a:avLst>
              <a:gd name="adj" fmla="val 4000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74320" y="1444752"/>
            <a:ext cx="2697480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History: lump (~30%), nipple change/discharge, skin change, axillary mass, risk factors</a:t>
            </a:r>
            <a:endParaRPr lang="en-US" sz="930" dirty="0"/>
          </a:p>
          <a:p>
            <a:pPr algn="l" indent="0" marL="0">
              <a:buNone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Inspect seated in 4 positions; palpate supine, all 3 axillary levels + supraclavicular + parasternal</a:t>
            </a:r>
            <a:endParaRPr lang="en-US" sz="930" dirty="0"/>
          </a:p>
          <a:p>
            <a:pPr algn="l" indent="0" marL="0">
              <a:buNone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site, size, consistency, shape, mobility, fixation</a:t>
            </a:r>
            <a:endParaRPr lang="en-US" sz="930" dirty="0"/>
          </a:p>
        </p:txBody>
      </p:sp>
      <p:sp>
        <p:nvSpPr>
          <p:cNvPr id="19" name="Shape 17"/>
          <p:cNvSpPr/>
          <p:nvPr/>
        </p:nvSpPr>
        <p:spPr>
          <a:xfrm>
            <a:off x="3182112" y="1152144"/>
            <a:ext cx="2788920" cy="256032"/>
          </a:xfrm>
          <a:prstGeom prst="roundRect">
            <a:avLst>
              <a:gd name="adj" fmla="val 21429"/>
            </a:avLst>
          </a:prstGeom>
          <a:solidFill>
            <a:srgbClr val="6C3483"/>
          </a:solidFill>
          <a:ln w="12700">
            <a:solidFill>
              <a:srgbClr val="6C348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27832" y="1170432"/>
            <a:ext cx="2697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IMAGING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182112" y="1426464"/>
            <a:ext cx="2788920" cy="1371600"/>
          </a:xfrm>
          <a:prstGeom prst="roundRect">
            <a:avLst>
              <a:gd name="adj" fmla="val 4000"/>
            </a:avLst>
          </a:prstGeom>
          <a:solidFill>
            <a:srgbClr val="F5EEF8"/>
          </a:solidFill>
          <a:ln w="12700">
            <a:solidFill>
              <a:srgbClr val="6C348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227832" y="1444752"/>
            <a:ext cx="2697480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Diagnostic mammogram (CC + MLO ± spot/magnification) + ultrasound</a:t>
            </a:r>
            <a:endParaRPr lang="en-US" sz="930" dirty="0"/>
          </a:p>
          <a:p>
            <a:pPr algn="l" indent="0" marL="0">
              <a:buNone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US: cyst vs solid; guides biopsy; axillary node look</a:t>
            </a:r>
            <a:endParaRPr lang="en-US" sz="930" dirty="0"/>
          </a:p>
          <a:p>
            <a:pPr algn="l" indent="0" marL="0">
              <a:buNone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 ≤45 + palpable mass + equivocal mammogram → US + biopsy (avoid delay)</a:t>
            </a:r>
            <a:endParaRPr lang="en-US" sz="930" dirty="0"/>
          </a:p>
          <a:p>
            <a:pPr algn="l" indent="0" marL="0">
              <a:buNone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MRI: selected problems only</a:t>
            </a:r>
            <a:endParaRPr lang="en-US" sz="930" dirty="0"/>
          </a:p>
        </p:txBody>
      </p:sp>
      <p:sp>
        <p:nvSpPr>
          <p:cNvPr id="23" name="Shape 21"/>
          <p:cNvSpPr/>
          <p:nvPr/>
        </p:nvSpPr>
        <p:spPr>
          <a:xfrm>
            <a:off x="6135624" y="1152144"/>
            <a:ext cx="2788920" cy="256032"/>
          </a:xfrm>
          <a:prstGeom prst="roundRect">
            <a:avLst>
              <a:gd name="adj" fmla="val 21429"/>
            </a:avLst>
          </a:prstGeom>
          <a:solidFill>
            <a:srgbClr val="196F3D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181344" y="1170432"/>
            <a:ext cx="2697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PATHOLOGY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135624" y="1426464"/>
            <a:ext cx="2788920" cy="1371600"/>
          </a:xfrm>
          <a:prstGeom prst="roundRect">
            <a:avLst>
              <a:gd name="adj" fmla="val 4000"/>
            </a:avLst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181344" y="1444752"/>
            <a:ext cx="2697480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Core-needle biopsy PREFERRED (14-G; architecture, invasion, ER/PR/HER2)</a:t>
            </a:r>
            <a:endParaRPr lang="en-US" sz="930" dirty="0"/>
          </a:p>
          <a:p>
            <a:pPr algn="l" indent="0" marL="0">
              <a:buNone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FNA (22-G) if clinically + radiologically suspicious (≈100% accurate)</a:t>
            </a:r>
            <a:endParaRPr lang="en-US" sz="930" dirty="0"/>
          </a:p>
          <a:p>
            <a:pPr algn="l" indent="0" marL="0">
              <a:buNone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Vacuum core (8–10 G) for calcifications; ALWAYS leave a clip</a:t>
            </a:r>
            <a:endParaRPr lang="en-US" sz="930" dirty="0"/>
          </a:p>
        </p:txBody>
      </p:sp>
      <p:sp>
        <p:nvSpPr>
          <p:cNvPr id="27" name="Shape 25"/>
          <p:cNvSpPr/>
          <p:nvPr/>
        </p:nvSpPr>
        <p:spPr>
          <a:xfrm>
            <a:off x="1618488" y="2798064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572000" y="2798064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525512" y="2798064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618488" y="2862072"/>
            <a:ext cx="5907024" cy="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572000" y="2862072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2377440" y="2926080"/>
            <a:ext cx="4389120" cy="292608"/>
          </a:xfrm>
          <a:prstGeom prst="roundRect">
            <a:avLst>
              <a:gd name="adj" fmla="val 18750"/>
            </a:avLst>
          </a:prstGeom>
          <a:solidFill>
            <a:srgbClr val="FDFCF0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423160" y="2944368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CONCORDANCE?</a:t>
            </a: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do clinical, imaging and pathology findings agree?</a:t>
            </a:r>
            <a:endParaRPr lang="en-US" sz="880" dirty="0"/>
          </a:p>
        </p:txBody>
      </p:sp>
      <p:sp>
        <p:nvSpPr>
          <p:cNvPr id="34" name="Shape 32"/>
          <p:cNvSpPr/>
          <p:nvPr/>
        </p:nvSpPr>
        <p:spPr>
          <a:xfrm>
            <a:off x="4572000" y="3218688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618488" y="3282696"/>
            <a:ext cx="5907024" cy="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618488" y="3282696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37" name="Shape 35"/>
          <p:cNvSpPr/>
          <p:nvPr/>
        </p:nvSpPr>
        <p:spPr>
          <a:xfrm>
            <a:off x="4572000" y="3282696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7525512" y="3282696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39" name="Shape 37"/>
          <p:cNvSpPr/>
          <p:nvPr/>
        </p:nvSpPr>
        <p:spPr>
          <a:xfrm>
            <a:off x="228600" y="3346704"/>
            <a:ext cx="2788920" cy="658368"/>
          </a:xfrm>
          <a:prstGeom prst="roundRect">
            <a:avLst>
              <a:gd name="adj" fmla="val 8333"/>
            </a:avLst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74320" y="3364992"/>
            <a:ext cx="2697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Concordant BENIGN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Follow-up / treat benign condition (cyst: aspirate; FA: observe or excise)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3182112" y="3346704"/>
            <a:ext cx="2788920" cy="658368"/>
          </a:xfrm>
          <a:prstGeom prst="roundRect">
            <a:avLst>
              <a:gd name="adj" fmla="val 8333"/>
            </a:avLst>
          </a:prstGeom>
          <a:solidFill>
            <a:srgbClr val="FDEDEC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227832" y="3364992"/>
            <a:ext cx="2697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Concordant MALIGNANT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(clinical + imaging) + ER/PR/HER2 → MDT → one definitive operation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6135624" y="3346704"/>
            <a:ext cx="2788920" cy="658368"/>
          </a:xfrm>
          <a:prstGeom prst="roundRect">
            <a:avLst>
              <a:gd name="adj" fmla="val 8333"/>
            </a:avLst>
          </a:prstGeom>
          <a:solidFill>
            <a:srgbClr val="FDFCF0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181344" y="3364992"/>
            <a:ext cx="2697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DISCORDANT / atypia / radial scar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MDT review → vacuum-assisted or open (excisional) biopsy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228600" y="4078224"/>
            <a:ext cx="8686800" cy="585216"/>
          </a:xfrm>
          <a:prstGeom prst="rect">
            <a:avLst/>
          </a:prstGeom>
          <a:solidFill>
            <a:srgbClr val="FDEDEC"/>
          </a:solidFill>
          <a:ln w="9525">
            <a:solidFill>
              <a:srgbClr val="C0392B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01752" y="4096512"/>
            <a:ext cx="85404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Pitfalls:</a:t>
            </a: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benign core does NOT exclude cancer (sampling error) • needling before imaging creates artefact • clinical axillary exam is only ~33% accurate • up to 50% with breast complaints have no physical sign and pain usually means benign disease — yet missed cancer (often young women) is the commonest diagnostic malpractice claim.</a:t>
            </a:r>
            <a:endParaRPr lang="en-US" sz="93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Clinical Assessment — History &amp; Examination Sequence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 &amp; Staging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28600" y="731520"/>
            <a:ext cx="2743200" cy="1243584"/>
          </a:xfrm>
          <a:prstGeom prst="rect">
            <a:avLst/>
          </a:prstGeom>
          <a:solidFill>
            <a:srgbClr val="E8F4FD"/>
          </a:solidFill>
          <a:ln w="9525">
            <a:solidFill>
              <a:srgbClr val="21618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01752" y="804672"/>
            <a:ext cx="347472" cy="347472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1752" y="8046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31520" y="804672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338328" y="1207008"/>
            <a:ext cx="25420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Lump, asymmetry, nipple retraction/discharge, skin ulcer/erythema, axillary mass, pain; risk factors</a:t>
            </a:r>
            <a:endParaRPr lang="en-US" sz="880" dirty="0"/>
          </a:p>
        </p:txBody>
      </p:sp>
      <p:sp>
        <p:nvSpPr>
          <p:cNvPr id="13" name="Shape 11"/>
          <p:cNvSpPr/>
          <p:nvPr/>
        </p:nvSpPr>
        <p:spPr>
          <a:xfrm>
            <a:off x="2971800" y="1353312"/>
            <a:ext cx="182880" cy="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3154680" y="731520"/>
            <a:ext cx="2743200" cy="1243584"/>
          </a:xfrm>
          <a:prstGeom prst="rect">
            <a:avLst/>
          </a:prstGeom>
          <a:solidFill>
            <a:srgbClr val="E8F4FD"/>
          </a:solidFill>
          <a:ln w="9525">
            <a:solidFill>
              <a:srgbClr val="21618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27832" y="804672"/>
            <a:ext cx="347472" cy="347472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227832" y="8046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657600" y="804672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Inspection (seated)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3264408" y="1207008"/>
            <a:ext cx="25420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Arms at sides • arms raised • hands on hips ± pectoral contraction • leaning forward</a:t>
            </a:r>
            <a:endParaRPr lang="en-US" sz="880" dirty="0"/>
          </a:p>
        </p:txBody>
      </p:sp>
      <p:sp>
        <p:nvSpPr>
          <p:cNvPr id="19" name="Shape 17"/>
          <p:cNvSpPr/>
          <p:nvPr/>
        </p:nvSpPr>
        <p:spPr>
          <a:xfrm>
            <a:off x="5897880" y="1353312"/>
            <a:ext cx="182880" cy="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6080760" y="731520"/>
            <a:ext cx="2743200" cy="1243584"/>
          </a:xfrm>
          <a:prstGeom prst="rect">
            <a:avLst/>
          </a:prstGeom>
          <a:solidFill>
            <a:srgbClr val="E8F4FD"/>
          </a:solidFill>
          <a:ln w="9525">
            <a:solidFill>
              <a:srgbClr val="21618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153912" y="804672"/>
            <a:ext cx="347472" cy="347472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153912" y="8046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583680" y="804672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for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6190488" y="1207008"/>
            <a:ext cx="25420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Symmetry, size, shape, peau d'orange, nipple or skin retraction, erythema</a:t>
            </a:r>
            <a:endParaRPr lang="en-US" sz="880" dirty="0"/>
          </a:p>
        </p:txBody>
      </p:sp>
      <p:sp>
        <p:nvSpPr>
          <p:cNvPr id="25" name="Shape 23"/>
          <p:cNvSpPr/>
          <p:nvPr/>
        </p:nvSpPr>
        <p:spPr>
          <a:xfrm>
            <a:off x="228600" y="2103120"/>
            <a:ext cx="2743200" cy="1243584"/>
          </a:xfrm>
          <a:prstGeom prst="rect">
            <a:avLst/>
          </a:prstGeom>
          <a:solidFill>
            <a:srgbClr val="F5EEF8"/>
          </a:solidFill>
          <a:ln w="9525">
            <a:solidFill>
              <a:srgbClr val="6C348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01752" y="2176272"/>
            <a:ext cx="347472" cy="347472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01752" y="21762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731520" y="2176272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Palpation (supine)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338328" y="2578608"/>
            <a:ext cx="25420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Palmar surface of fingers, no pinching; sternum → latissimus, clavicle → rectus sheath; mould breast to show retraction</a:t>
            </a:r>
            <a:endParaRPr lang="en-US" sz="880" dirty="0"/>
          </a:p>
        </p:txBody>
      </p:sp>
      <p:sp>
        <p:nvSpPr>
          <p:cNvPr id="30" name="Shape 28"/>
          <p:cNvSpPr/>
          <p:nvPr/>
        </p:nvSpPr>
        <p:spPr>
          <a:xfrm>
            <a:off x="2971800" y="2724912"/>
            <a:ext cx="182880" cy="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3154680" y="2103120"/>
            <a:ext cx="2743200" cy="1243584"/>
          </a:xfrm>
          <a:prstGeom prst="rect">
            <a:avLst/>
          </a:prstGeom>
          <a:solidFill>
            <a:srgbClr val="F5EEF8"/>
          </a:solidFill>
          <a:ln w="9525">
            <a:solidFill>
              <a:srgbClr val="6C348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227832" y="2176272"/>
            <a:ext cx="347472" cy="347472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227832" y="21762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3657600" y="2176272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Nodal basins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3264408" y="2578608"/>
            <a:ext cx="25420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Axillary levels I–III (support the arm), supraclavicular, parasternal</a:t>
            </a:r>
            <a:endParaRPr lang="en-US" sz="880" dirty="0"/>
          </a:p>
        </p:txBody>
      </p:sp>
      <p:sp>
        <p:nvSpPr>
          <p:cNvPr id="36" name="Shape 34"/>
          <p:cNvSpPr/>
          <p:nvPr/>
        </p:nvSpPr>
        <p:spPr>
          <a:xfrm>
            <a:off x="5897880" y="2724912"/>
            <a:ext cx="182880" cy="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37" name="Shape 35"/>
          <p:cNvSpPr/>
          <p:nvPr/>
        </p:nvSpPr>
        <p:spPr>
          <a:xfrm>
            <a:off x="6080760" y="2103120"/>
            <a:ext cx="2743200" cy="1243584"/>
          </a:xfrm>
          <a:prstGeom prst="rect">
            <a:avLst/>
          </a:prstGeom>
          <a:solidFill>
            <a:srgbClr val="F5EEF8"/>
          </a:solidFill>
          <a:ln w="9525">
            <a:solidFill>
              <a:srgbClr val="6C3483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153912" y="2176272"/>
            <a:ext cx="347472" cy="347472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153912" y="21762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6583680" y="2176272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6190488" y="2578608"/>
            <a:ext cx="25420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Diagram: site, size, consistency, shape, mobility, fixation</a:t>
            </a:r>
            <a:endParaRPr lang="en-US" sz="880" dirty="0"/>
          </a:p>
        </p:txBody>
      </p:sp>
      <p:sp>
        <p:nvSpPr>
          <p:cNvPr id="42" name="Shape 40"/>
          <p:cNvSpPr/>
          <p:nvPr/>
        </p:nvSpPr>
        <p:spPr>
          <a:xfrm>
            <a:off x="228600" y="3529584"/>
            <a:ext cx="4251960" cy="1115568"/>
          </a:xfrm>
          <a:prstGeom prst="rect">
            <a:avLst/>
          </a:prstGeom>
          <a:solidFill>
            <a:srgbClr val="FDFCF0"/>
          </a:solidFill>
          <a:ln w="9525">
            <a:solidFill>
              <a:srgbClr val="7D660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20040" y="3584448"/>
            <a:ext cx="4069080" cy="1999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90" b="1" dirty="0">
                <a:solidFill>
                  <a:srgbClr val="7D66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 facts</a:t>
            </a:r>
            <a:endParaRPr lang="en-US" sz="1090" dirty="0"/>
          </a:p>
        </p:txBody>
      </p:sp>
      <p:sp>
        <p:nvSpPr>
          <p:cNvPr id="44" name="Text 42"/>
          <p:cNvSpPr/>
          <p:nvPr/>
        </p:nvSpPr>
        <p:spPr>
          <a:xfrm>
            <a:off x="301752" y="3811803"/>
            <a:ext cx="4123944" cy="8059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4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~30% of women find a lump themselves</a:t>
            </a:r>
            <a:endParaRPr lang="en-US" sz="94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4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 to 50% with breast complaints have no physical sign</a:t>
            </a:r>
            <a:endParaRPr lang="en-US" sz="94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4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 usually means benign disease</a:t>
            </a:r>
            <a:endParaRPr lang="en-US" sz="940" dirty="0"/>
          </a:p>
        </p:txBody>
      </p:sp>
      <p:sp>
        <p:nvSpPr>
          <p:cNvPr id="45" name="Shape 43"/>
          <p:cNvSpPr/>
          <p:nvPr/>
        </p:nvSpPr>
        <p:spPr>
          <a:xfrm>
            <a:off x="4663440" y="3529584"/>
            <a:ext cx="4251960" cy="1115568"/>
          </a:xfrm>
          <a:prstGeom prst="rect">
            <a:avLst/>
          </a:prstGeom>
          <a:solidFill>
            <a:srgbClr val="FDEDEC"/>
          </a:solidFill>
          <a:ln w="9525">
            <a:solidFill>
              <a:srgbClr val="C0392B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754880" y="3584448"/>
            <a:ext cx="4069080" cy="1999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9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Pitfalls</a:t>
            </a:r>
            <a:endParaRPr lang="en-US" sz="1090" dirty="0"/>
          </a:p>
        </p:txBody>
      </p:sp>
      <p:sp>
        <p:nvSpPr>
          <p:cNvPr id="47" name="Text 45"/>
          <p:cNvSpPr/>
          <p:nvPr/>
        </p:nvSpPr>
        <p:spPr>
          <a:xfrm>
            <a:off x="4736592" y="3811803"/>
            <a:ext cx="4123944" cy="8059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4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Missed cancer = commonest diagnostic malpractice claim (young women)</a:t>
            </a:r>
            <a:endParaRPr lang="en-US" sz="94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4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 ≤45 + palpable mass + equivocal mammogram → US + biopsy</a:t>
            </a:r>
            <a:endParaRPr lang="en-US" sz="94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4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axillary assessment only ~33% accurate</a:t>
            </a:r>
            <a:endParaRPr lang="en-US" sz="94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Imaging Modalities — What Each Adds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 &amp; Staging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9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694944"/>
          <a:ext cx="86868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4480560"/>
                <a:gridCol w="301752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Modality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facts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 use / limits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Mammography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 cGy/study; no measurable risk. Screening CC + MLO (MLO: most tissue incl. UOQ &amp; tail). Diagnostic adds 90° lateral, spot ± magnification. Signs: spiculated mass, asymmetric thickening, clustered fine microcalcifications (≤50% of non-palpable cancers)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True-positive 90%; node mets in 20% non-palpable vs 50% palpable cancers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Digital / DBT / CEDM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Digital = film overall, better &lt;50 y, dense, pre/perimenopausal (DMIST). Tomosynthesis: 0.5-mm slices, ↑ detection ↓ recall; synthetic 2D-3D = less dose. Contrast mammography ≈ MRI detection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CEDM usable with pacemakers/expanders; cheaper, faster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Ultrasound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Cyst: echo-free, smooth. Benign solid: round/oval, weak echoes. Cancer: irregular walls. Abnormal node: cortical thickening, round, &gt;10 mm, lost fatty hilum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Resolves equivocal mammograms, guides biopsy; misses ≤1 cm; axilla sens 35–82%, spec 73–97%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MRI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Dedicated coils + BI-RADS; MRI-only lesion → focused US → MRI-guided biopsy. Finds contralateral cancer in 5.7%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Occult primary, neoadjuvant response, APBI selection, recurrence in treated breast, high-risk screening. COMICE: no fewer re-operations; more mastectomies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Ductography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Cannulate 1 duct, 0.1–0.2 mL contrast, no compression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Papilloma = small filling defect; cancer = irregular mass / multiple defects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Tissue Diagnosis — Non-palpable &amp; Palpable Lesions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 &amp; Staging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28600" y="694944"/>
            <a:ext cx="4846320" cy="310896"/>
          </a:xfrm>
          <a:prstGeom prst="roundRect">
            <a:avLst>
              <a:gd name="adj" fmla="val 17647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4320" y="71323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Non-palpable abnormality (mass, microcalcification, distortion)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651760" y="1005840"/>
            <a:ext cx="0" cy="73152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05840" y="1078992"/>
            <a:ext cx="3291840" cy="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05840" y="1078992"/>
            <a:ext cx="0" cy="73152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2651760" y="1078992"/>
            <a:ext cx="0" cy="73152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4297680" y="1078992"/>
            <a:ext cx="0" cy="73152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228600" y="1152144"/>
            <a:ext cx="1554480" cy="713232"/>
          </a:xfrm>
          <a:prstGeom prst="roundRect">
            <a:avLst>
              <a:gd name="adj" fmla="val 7692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74320" y="1170432"/>
            <a:ext cx="1463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Mass on US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US-guided core biopsy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1874520" y="1152144"/>
            <a:ext cx="1554480" cy="713232"/>
          </a:xfrm>
          <a:prstGeom prst="roundRect">
            <a:avLst>
              <a:gd name="adj" fmla="val 7692"/>
            </a:avLst>
          </a:prstGeom>
          <a:solidFill>
            <a:srgbClr val="F5EEF8"/>
          </a:solidFill>
          <a:ln w="12700">
            <a:solidFill>
              <a:srgbClr val="6C348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920240" y="1170432"/>
            <a:ext cx="1463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Calcification / distortion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stereotactic vacuum core; X-ray the cores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3520440" y="1152144"/>
            <a:ext cx="1554480" cy="713232"/>
          </a:xfrm>
          <a:prstGeom prst="roundRect">
            <a:avLst>
              <a:gd name="adj" fmla="val 7692"/>
            </a:avLst>
          </a:prstGeom>
          <a:solidFill>
            <a:srgbClr val="FDFCF0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566160" y="1170432"/>
            <a:ext cx="1463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radiopaque clip at biopsy site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1005840" y="1865376"/>
            <a:ext cx="0" cy="73152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651760" y="1865376"/>
            <a:ext cx="0" cy="73152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297680" y="1865376"/>
            <a:ext cx="0" cy="73152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005840" y="1938528"/>
            <a:ext cx="3291840" cy="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651760" y="1938528"/>
            <a:ext cx="0" cy="73152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1600200" y="2011680"/>
            <a:ext cx="2103120" cy="274320"/>
          </a:xfrm>
          <a:prstGeom prst="roundRect">
            <a:avLst>
              <a:gd name="adj" fmla="val 20000"/>
            </a:avLst>
          </a:prstGeom>
          <a:solidFill>
            <a:srgbClr val="FDFCF0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645920" y="202996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+ concordance</a:t>
            </a:r>
            <a:endParaRPr lang="en-US" sz="1010" dirty="0"/>
          </a:p>
        </p:txBody>
      </p:sp>
      <p:sp>
        <p:nvSpPr>
          <p:cNvPr id="28" name="Shape 26"/>
          <p:cNvSpPr/>
          <p:nvPr/>
        </p:nvSpPr>
        <p:spPr>
          <a:xfrm>
            <a:off x="2651760" y="2286000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005840" y="2350008"/>
            <a:ext cx="3291840" cy="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005840" y="2350008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2651760" y="2350008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4297680" y="2350008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228600" y="2414016"/>
            <a:ext cx="1554480" cy="896112"/>
          </a:xfrm>
          <a:prstGeom prst="roundRect">
            <a:avLst>
              <a:gd name="adj" fmla="val 6122"/>
            </a:avLst>
          </a:prstGeom>
          <a:solidFill>
            <a:srgbClr val="FDEDEC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74320" y="2432304"/>
            <a:ext cx="146304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Cancer</a:t>
            </a:r>
            <a:r>
              <a:rPr lang="en-US" sz="94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stage + biomarkers → plan ONE operation (wire/seed localisation, specimen X-ray)</a:t>
            </a:r>
            <a:endParaRPr lang="en-US" sz="940" dirty="0"/>
          </a:p>
        </p:txBody>
      </p:sp>
      <p:sp>
        <p:nvSpPr>
          <p:cNvPr id="35" name="Shape 33"/>
          <p:cNvSpPr/>
          <p:nvPr/>
        </p:nvSpPr>
        <p:spPr>
          <a:xfrm>
            <a:off x="1874520" y="2414016"/>
            <a:ext cx="1554480" cy="896112"/>
          </a:xfrm>
          <a:prstGeom prst="roundRect">
            <a:avLst>
              <a:gd name="adj" fmla="val 6122"/>
            </a:avLst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920240" y="2432304"/>
            <a:ext cx="146304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Benign &amp; concordant</a:t>
            </a:r>
            <a:r>
              <a:rPr lang="en-US" sz="94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imaging follow-up</a:t>
            </a:r>
            <a:endParaRPr lang="en-US" sz="940" dirty="0"/>
          </a:p>
        </p:txBody>
      </p:sp>
      <p:sp>
        <p:nvSpPr>
          <p:cNvPr id="37" name="Shape 35"/>
          <p:cNvSpPr/>
          <p:nvPr/>
        </p:nvSpPr>
        <p:spPr>
          <a:xfrm>
            <a:off x="3520440" y="2414016"/>
            <a:ext cx="1554480" cy="896112"/>
          </a:xfrm>
          <a:prstGeom prst="roundRect">
            <a:avLst>
              <a:gd name="adj" fmla="val 6122"/>
            </a:avLst>
          </a:prstGeom>
          <a:solidFill>
            <a:srgbClr val="FDFCF0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566160" y="2432304"/>
            <a:ext cx="146304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Discordant / atypia / radial scar</a:t>
            </a:r>
            <a:r>
              <a:rPr lang="en-US" sz="94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larger sample or excision</a:t>
            </a:r>
            <a:endParaRPr lang="en-US" sz="940" dirty="0"/>
          </a:p>
        </p:txBody>
      </p:sp>
      <p:graphicFrame>
        <p:nvGraphicFramePr>
          <p:cNvPr id="4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257800" y="694944"/>
          <a:ext cx="36576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246888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Technique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Details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FNA (palpable)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22-G, 10-mL syringe; suction while moving; air-dried + 95% ethanol smears; no architecture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Core (14-G)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Tru-Cut/automated; shows invasion + receptors; preferred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Vacuum-assisted (8–10 G)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4–12 cores; calcifications; clip if lesion removed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Excisional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Only for discordant needle results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</a:tbl>
          </a:graphicData>
        </a:graphic>
      </p:graphicFrame>
      <p:sp>
        <p:nvSpPr>
          <p:cNvPr id="40" name="Shape 37"/>
          <p:cNvSpPr/>
          <p:nvPr/>
        </p:nvSpPr>
        <p:spPr>
          <a:xfrm>
            <a:off x="228600" y="3401568"/>
            <a:ext cx="4846320" cy="1243584"/>
          </a:xfrm>
          <a:prstGeom prst="rect">
            <a:avLst/>
          </a:prstGeom>
          <a:solidFill>
            <a:srgbClr val="EAFAF1"/>
          </a:solidFill>
          <a:ln w="9525">
            <a:solidFill>
              <a:srgbClr val="196F3D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320040" y="3456432"/>
            <a:ext cx="4663440" cy="198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b="1" dirty="0">
                <a:solidFill>
                  <a:srgbClr val="196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core beats open biopsy</a:t>
            </a:r>
            <a:endParaRPr lang="en-US" sz="1080" dirty="0"/>
          </a:p>
        </p:txBody>
      </p:sp>
      <p:sp>
        <p:nvSpPr>
          <p:cNvPr id="42" name="Text 39"/>
          <p:cNvSpPr/>
          <p:nvPr/>
        </p:nvSpPr>
        <p:spPr>
          <a:xfrm>
            <a:off x="301752" y="3682289"/>
            <a:ext cx="4718304" cy="9354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complications, minimal scar, cheaper</a:t>
            </a:r>
            <a:endParaRPr lang="en-US" sz="93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definitive cancer operation can be planned from the result</a:t>
            </a:r>
            <a:endParaRPr lang="en-US" sz="93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Diagnostic mammogram + US/stereotactic sampling ≈ 100% accurate</a:t>
            </a:r>
            <a:endParaRPr lang="en-US" sz="930" dirty="0"/>
          </a:p>
        </p:txBody>
      </p:sp>
      <p:sp>
        <p:nvSpPr>
          <p:cNvPr id="43" name="Shape 40"/>
          <p:cNvSpPr/>
          <p:nvPr/>
        </p:nvSpPr>
        <p:spPr>
          <a:xfrm>
            <a:off x="5257800" y="3401568"/>
            <a:ext cx="3657600" cy="1243584"/>
          </a:xfrm>
          <a:prstGeom prst="rect">
            <a:avLst/>
          </a:prstGeom>
          <a:solidFill>
            <a:srgbClr val="FDEDEC"/>
          </a:solidFill>
          <a:ln w="9525">
            <a:solidFill>
              <a:srgbClr val="C0392B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5349240" y="3456432"/>
            <a:ext cx="3474720" cy="198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Caution</a:t>
            </a:r>
            <a:endParaRPr lang="en-US" sz="1080" dirty="0"/>
          </a:p>
        </p:txBody>
      </p:sp>
      <p:sp>
        <p:nvSpPr>
          <p:cNvPr id="45" name="Text 42"/>
          <p:cNvSpPr/>
          <p:nvPr/>
        </p:nvSpPr>
        <p:spPr>
          <a:xfrm>
            <a:off x="5330952" y="3682289"/>
            <a:ext cx="3529584" cy="9354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Benign core ≠ no cancer (sampling error)</a:t>
            </a:r>
            <a:endParaRPr lang="en-US" sz="93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Discordance → MDT → image-guided or open biopsy</a:t>
            </a:r>
            <a:endParaRPr lang="en-US" sz="93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"One-step" consent for mastectomy is obsolete</a:t>
            </a:r>
            <a:endParaRPr lang="en-US" sz="93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Presentation Algorithms — Nipple Discharge &amp; Occult Axillary Primary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 &amp; Staging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28600" y="658368"/>
            <a:ext cx="8686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Nipple discharge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28600" y="914400"/>
            <a:ext cx="4206240" cy="274320"/>
          </a:xfrm>
          <a:prstGeom prst="roundRect">
            <a:avLst>
              <a:gd name="adj" fmla="val 20000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4320" y="932688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Characterise the discharge</a:t>
            </a:r>
            <a:endParaRPr lang="en-US" sz="880" dirty="0"/>
          </a:p>
        </p:txBody>
      </p:sp>
      <p:sp>
        <p:nvSpPr>
          <p:cNvPr id="11" name="Shape 9"/>
          <p:cNvSpPr/>
          <p:nvPr/>
        </p:nvSpPr>
        <p:spPr>
          <a:xfrm>
            <a:off x="2331720" y="1188720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234440" y="1252728"/>
            <a:ext cx="2194560" cy="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234440" y="1252728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3429000" y="1252728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228600" y="1316736"/>
            <a:ext cx="2011680" cy="868680"/>
          </a:xfrm>
          <a:prstGeom prst="roundRect">
            <a:avLst>
              <a:gd name="adj" fmla="val 6316"/>
            </a:avLst>
          </a:prstGeom>
          <a:solidFill>
            <a:srgbClr val="FDEDEC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74320" y="1335024"/>
            <a:ext cx="192024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SUSPICIOUS</a:t>
            </a:r>
            <a:endParaRPr lang="en-US" sz="940" dirty="0"/>
          </a:p>
          <a:p>
            <a:pPr algn="ctr" indent="0" marL="0">
              <a:buNone/>
            </a:pPr>
            <a:r>
              <a:rPr lang="en-US" sz="94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Spontaneous, unilateral, single duct, age ≥40, bloody, or with mass</a:t>
            </a:r>
            <a:endParaRPr lang="en-US" sz="940" dirty="0"/>
          </a:p>
        </p:txBody>
      </p:sp>
      <p:sp>
        <p:nvSpPr>
          <p:cNvPr id="17" name="Shape 15"/>
          <p:cNvSpPr/>
          <p:nvPr/>
        </p:nvSpPr>
        <p:spPr>
          <a:xfrm>
            <a:off x="2423160" y="1316736"/>
            <a:ext cx="2011680" cy="868680"/>
          </a:xfrm>
          <a:prstGeom prst="roundRect">
            <a:avLst>
              <a:gd name="adj" fmla="val 6316"/>
            </a:avLst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468880" y="1335024"/>
            <a:ext cx="192024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USUALLY BENIGN</a:t>
            </a:r>
            <a:endParaRPr lang="en-US" sz="940" dirty="0"/>
          </a:p>
          <a:p>
            <a:pPr algn="ctr" indent="0" marL="0">
              <a:buNone/>
            </a:pPr>
            <a:r>
              <a:rPr lang="en-US" sz="94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Bilateral, multiductal, age ≤39, milky or blue-green</a:t>
            </a:r>
            <a:endParaRPr lang="en-US" sz="940" dirty="0"/>
          </a:p>
        </p:txBody>
      </p:sp>
      <p:sp>
        <p:nvSpPr>
          <p:cNvPr id="19" name="Shape 17"/>
          <p:cNvSpPr/>
          <p:nvPr/>
        </p:nvSpPr>
        <p:spPr>
          <a:xfrm>
            <a:off x="1234440" y="2185416"/>
            <a:ext cx="0" cy="12801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3429000" y="2185416"/>
            <a:ext cx="0" cy="12801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228600" y="2313432"/>
            <a:ext cx="2011680" cy="1417320"/>
          </a:xfrm>
          <a:prstGeom prst="roundRect">
            <a:avLst>
              <a:gd name="adj" fmla="val 3871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74320" y="2331720"/>
            <a:ext cx="1920240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Mammogram + US ± ductogram (papilloma = filling defect)</a:t>
            </a:r>
            <a:endParaRPr lang="en-US" sz="930" dirty="0"/>
          </a:p>
          <a:p>
            <a:pPr algn="ctr" indent="0" marL="0">
              <a:buNone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Excise the offending duct ± mass (lacrimal probe or methylene blue; wire/seed if mass &gt;2–3 cm from nipple)</a:t>
            </a:r>
            <a:endParaRPr lang="en-US" sz="930" dirty="0"/>
          </a:p>
        </p:txBody>
      </p:sp>
      <p:sp>
        <p:nvSpPr>
          <p:cNvPr id="23" name="Shape 21"/>
          <p:cNvSpPr/>
          <p:nvPr/>
        </p:nvSpPr>
        <p:spPr>
          <a:xfrm>
            <a:off x="2423160" y="2313432"/>
            <a:ext cx="2011680" cy="1417320"/>
          </a:xfrm>
          <a:prstGeom prst="roundRect">
            <a:avLst>
              <a:gd name="adj" fmla="val 3871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468880" y="2331720"/>
            <a:ext cx="1920240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prolactin — pituitary adenoma &lt;2% (large: optic compression, field loss, infertility); if raised → sella imaging</a:t>
            </a:r>
            <a:endParaRPr lang="en-US" sz="930" dirty="0"/>
          </a:p>
          <a:p>
            <a:pPr algn="ctr" indent="0" marL="0">
              <a:buNone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drugs; reassure</a:t>
            </a:r>
            <a:endParaRPr lang="en-US" sz="930" dirty="0"/>
          </a:p>
        </p:txBody>
      </p:sp>
      <p:sp>
        <p:nvSpPr>
          <p:cNvPr id="25" name="Text 23"/>
          <p:cNvSpPr/>
          <p:nvPr/>
        </p:nvSpPr>
        <p:spPr>
          <a:xfrm>
            <a:off x="228600" y="379476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i="1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Haemoglobin testing helps but is also positive with papilloma/ectasia; definitive diagnosis = excision.</a:t>
            </a:r>
            <a:endParaRPr lang="en-US" sz="780" dirty="0"/>
          </a:p>
        </p:txBody>
      </p:sp>
      <p:sp>
        <p:nvSpPr>
          <p:cNvPr id="26" name="Text 24"/>
          <p:cNvSpPr/>
          <p:nvPr/>
        </p:nvSpPr>
        <p:spPr>
          <a:xfrm>
            <a:off x="4709160" y="658368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Axillary metastasis, unknown primary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709160" y="914400"/>
            <a:ext cx="4206240" cy="457200"/>
          </a:xfrm>
          <a:prstGeom prst="roundRect">
            <a:avLst>
              <a:gd name="adj" fmla="val 12000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754880" y="932688"/>
            <a:ext cx="4114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90% harbour an occult breast cancer</a:t>
            </a: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(yet only 1% of breast cancers present this way)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6812280" y="1371600"/>
            <a:ext cx="0" cy="12801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4709160" y="1499616"/>
            <a:ext cx="4206240" cy="566928"/>
          </a:xfrm>
          <a:prstGeom prst="roundRect">
            <a:avLst>
              <a:gd name="adj" fmla="val 9677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754880" y="1517904"/>
            <a:ext cx="4114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FNA / core of node; IHC: epithelial vs melanocytic vs lymphoid. ER/PR+ suggests (not proves) breast origin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6812280" y="2066544"/>
            <a:ext cx="0" cy="12801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4709160" y="2194560"/>
            <a:ext cx="4206240" cy="713232"/>
          </a:xfrm>
          <a:prstGeom prst="roundRect">
            <a:avLst>
              <a:gd name="adj" fmla="val 7692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754880" y="2212848"/>
            <a:ext cx="4114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Search: thyroid, breast, pelvis + rectum; diagnostic mammogram, US and </a:t>
            </a:r>
            <a:r>
              <a:rPr lang="en-US" sz="95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MRI</a:t>
            </a: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chest X-ray, LFTs (± chest/abdomen/bone imaging if stage III extent)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6812280" y="2907792"/>
            <a:ext cx="0" cy="12801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4709160" y="3035808"/>
            <a:ext cx="4206240" cy="713232"/>
          </a:xfrm>
          <a:prstGeom prst="roundRect">
            <a:avLst>
              <a:gd name="adj" fmla="val 7692"/>
            </a:avLst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754880" y="3054096"/>
            <a:ext cx="4114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Breast lesion found → biopsy → ALND + mastectomy, or BCS + whole-breast RT; consider chemotherapy + endocrine therapy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228600" y="4206240"/>
            <a:ext cx="8686800" cy="438912"/>
          </a:xfrm>
          <a:prstGeom prst="rect">
            <a:avLst/>
          </a:prstGeom>
          <a:solidFill>
            <a:srgbClr val="FDEDEC"/>
          </a:solidFill>
          <a:ln w="9525">
            <a:solidFill>
              <a:srgbClr val="C0392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1752" y="4224528"/>
            <a:ext cx="85404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Pitfalls:</a:t>
            </a: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Do not dismiss a single-duct, spontaneous or bloody discharge in a woman ≥40 as benign; do not treat an occult-primary axilla as lymphoma/unknown primary before breast MRI.</a:t>
            </a:r>
            <a:endParaRPr lang="en-US" sz="9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AJCC 8th Edition TNM — T, N and M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 &amp; Staging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20493" y="1472184"/>
            <a:ext cx="27432" cy="27432"/>
          </a:xfrm>
          <a:prstGeom prst="ellipse">
            <a:avLst/>
          </a:prstGeom>
          <a:solidFill>
            <a:srgbClr val="C8D6EA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14169" y="2103120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T1mi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68449" y="2276856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≤1 mm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1198994" y="1455741"/>
            <a:ext cx="60317" cy="60317"/>
          </a:xfrm>
          <a:prstGeom prst="ellipse">
            <a:avLst/>
          </a:prstGeom>
          <a:solidFill>
            <a:srgbClr val="AFC3DE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09113" y="2103120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T1a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63393" y="2276856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&gt;1–5 mm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863780" y="1425583"/>
            <a:ext cx="120634" cy="120634"/>
          </a:xfrm>
          <a:prstGeom prst="ellipse">
            <a:avLst/>
          </a:prstGeom>
          <a:solidFill>
            <a:srgbClr val="8FA9CC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604057" y="2103120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T1b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558337" y="2276856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&gt;5–10 mm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2498407" y="1365266"/>
            <a:ext cx="241269" cy="241269"/>
          </a:xfrm>
          <a:prstGeom prst="ellipse">
            <a:avLst/>
          </a:prstGeom>
          <a:solidFill>
            <a:srgbClr val="6F8FC0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299001" y="2103120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T1c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253281" y="2276856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&gt;10–20 mm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3012399" y="1184314"/>
            <a:ext cx="603172" cy="603172"/>
          </a:xfrm>
          <a:prstGeom prst="ellipse">
            <a:avLst/>
          </a:prstGeom>
          <a:solidFill>
            <a:srgbClr val="3F6699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993945" y="2103120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T2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2948225" y="2276856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&gt;20–50 mm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3707177" y="1123997"/>
            <a:ext cx="723806" cy="723806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749040" y="2103120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T3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703320" y="2276856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&gt;50 mm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228600" y="676656"/>
            <a:ext cx="4206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Diameters drawn to scale • T4 = any size with chest-wall / skin extension</a:t>
            </a:r>
            <a:endParaRPr lang="en-US" sz="75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2542032"/>
          <a:ext cx="4206240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333756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Definition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DCIS; Paget without underlying tumour (LCIS removed — benign)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T1 ≤20 mm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 ≤1 • a &gt;1–5 • b &gt;5–10 • c &gt;10–20 mm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T2 / T3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&gt;20–50 mm / &gt;50 mm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T4a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Chest wall (pectoralis adherence alone ≠ T4)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T4b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Ulceration, satellite skin nodules, peau d'orange (not inflammatory)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T4c / T4d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+ b / inflammatory carcinoma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17720" y="694944"/>
          <a:ext cx="4297680" cy="914400"/>
        </p:xfrm>
        <a:graphic>
          <a:graphicData uri="http://schemas.openxmlformats.org/drawingml/2006/table">
            <a:tbl>
              <a:tblPr/>
              <a:tblGrid>
                <a:gridCol w="365760"/>
                <a:gridCol w="1783080"/>
                <a:gridCol w="214884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Clinical (c)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Pathological (p)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N0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 on exam/imaging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ITC ≤0.2 mm = pN0(i+); PCR-only = pN0(mol+)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N1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Mobile ipsilateral level I–II; N1mi &gt;0.2–2 mm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pN1a 1–3 axillary (≥1 &gt;2 mm); pN1b IMN sentinel; pN1c = a + b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N2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N2a fixed/matted I–II; N2b IMN only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pN2a 4–9 axillary; pN2b clinical IMN, axilla neg.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N3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N3a infraclavicular; N3b IMN + axillary; N3c supraclavicular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pN3a ≥10 axillary or infraclavicular; pN3b IMN + axillary; pN3c supraclavicular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</a:tbl>
          </a:graphicData>
        </a:graphic>
      </p:graphicFrame>
      <p:sp>
        <p:nvSpPr>
          <p:cNvPr id="29" name="Shape 25"/>
          <p:cNvSpPr/>
          <p:nvPr/>
        </p:nvSpPr>
        <p:spPr>
          <a:xfrm>
            <a:off x="4617720" y="3401568"/>
            <a:ext cx="4297680" cy="1243584"/>
          </a:xfrm>
          <a:prstGeom prst="rect">
            <a:avLst/>
          </a:prstGeom>
          <a:solidFill>
            <a:srgbClr val="FDFCF0"/>
          </a:solidFill>
          <a:ln w="9525">
            <a:solidFill>
              <a:srgbClr val="7D6608"/>
            </a:solidFill>
            <a:prstDash val="solid"/>
          </a:ln>
        </p:spPr>
      </p:sp>
      <p:sp>
        <p:nvSpPr>
          <p:cNvPr id="30" name="Text 26"/>
          <p:cNvSpPr/>
          <p:nvPr/>
        </p:nvSpPr>
        <p:spPr>
          <a:xfrm>
            <a:off x="4709160" y="3456432"/>
            <a:ext cx="4114800" cy="192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40" b="1" dirty="0">
                <a:solidFill>
                  <a:srgbClr val="7D66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 and rules</a:t>
            </a:r>
            <a:endParaRPr lang="en-US" sz="1040" dirty="0"/>
          </a:p>
        </p:txBody>
      </p:sp>
      <p:sp>
        <p:nvSpPr>
          <p:cNvPr id="31" name="Text 27"/>
          <p:cNvSpPr/>
          <p:nvPr/>
        </p:nvSpPr>
        <p:spPr>
          <a:xfrm>
            <a:off x="4690872" y="3676294"/>
            <a:ext cx="4169664" cy="9414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M0 incl. cM0(i+) ≤0.2 mm deposits; cM1 clinical/radiologic; pM1 proven &gt;0.2 mm; "pM0" invalid</a:t>
            </a:r>
            <a:endParaRPr lang="en-US" sz="89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Pathological size takes precedence; (sn)/(f) = SLN or FNA/core confirmed</a:t>
            </a:r>
            <a:endParaRPr lang="en-US" sz="89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Supraclavicular = N3c (no longer M1); ≥10 level I–II nodes needed for accurate staging</a:t>
            </a:r>
            <a:endParaRPr lang="en-US" sz="89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Stage Groups &amp; Staging Work-up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 &amp; Staging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90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694944"/>
          <a:ext cx="4343400" cy="914400"/>
        </p:xfrm>
        <a:graphic>
          <a:graphicData uri="http://schemas.openxmlformats.org/drawingml/2006/table">
            <a:tbl>
              <a:tblPr/>
              <a:tblGrid>
                <a:gridCol w="599090"/>
                <a:gridCol w="748862"/>
                <a:gridCol w="748862"/>
                <a:gridCol w="748862"/>
                <a:gridCol w="748862"/>
                <a:gridCol w="748862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N1mi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9AA5B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9AA5B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9AA5B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9AA5B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T0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9AA5B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IB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CD0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B7D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IIIA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FA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IIIC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T1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2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IB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CD0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B7D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IIIA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FA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IIIC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T2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B7D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IIB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F9CC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IIB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F9CC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IIIA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FA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IIIC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T3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IIB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F9CC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IIIA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FA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IIIA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FA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IIIA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FA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IIIC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T4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IIIB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5C8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IIIB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5C8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IIIB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5C8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IIIB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5C8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IIIC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228600" y="2450592"/>
            <a:ext cx="4343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M0. Any T / any N with M1 = stage IV (stays IV whatever the neoadjuvant response). N1mi in T2–T4 is staged as N1.</a:t>
            </a:r>
            <a:endParaRPr lang="en-US" sz="750" dirty="0"/>
          </a:p>
        </p:txBody>
      </p:sp>
      <p:sp>
        <p:nvSpPr>
          <p:cNvPr id="10" name="Shape 7"/>
          <p:cNvSpPr/>
          <p:nvPr/>
        </p:nvSpPr>
        <p:spPr>
          <a:xfrm>
            <a:off x="228600" y="2834640"/>
            <a:ext cx="4343400" cy="1810512"/>
          </a:xfrm>
          <a:prstGeom prst="rect">
            <a:avLst/>
          </a:prstGeom>
          <a:solidFill>
            <a:srgbClr val="FDFCF0"/>
          </a:solidFill>
          <a:ln w="9525">
            <a:solidFill>
              <a:srgbClr val="7D660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320040" y="2889504"/>
            <a:ext cx="4160520" cy="1939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7D66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Staging pearls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301752" y="3110865"/>
            <a:ext cx="4215384" cy="15068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T0–T1 + N1mi = IB; in T2–T4, N1mi staged as N1</a:t>
            </a:r>
            <a:endParaRPr lang="en-US" sz="90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 before neoadjuvant therapy stays stage IV whatever the response</a:t>
            </a:r>
            <a:endParaRPr lang="en-US" sz="90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Post-neoadjuvant: yc / yp prefix; ypT0 ypN0 cM0 (pCR) has no stage group</a:t>
            </a:r>
            <a:endParaRPr lang="en-US" sz="90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Metastases on imaging within 4 months of diagnosis (no progression, no neoadjuvant) can change the stage</a:t>
            </a:r>
            <a:endParaRPr lang="en-US" sz="900" dirty="0"/>
          </a:p>
        </p:txBody>
      </p:sp>
      <p:graphicFrame>
        <p:nvGraphicFramePr>
          <p:cNvPr id="6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54880" y="694944"/>
          <a:ext cx="4160520" cy="914400"/>
        </p:xfrm>
        <a:graphic>
          <a:graphicData uri="http://schemas.openxmlformats.org/drawingml/2006/table">
            <a:tbl>
              <a:tblPr/>
              <a:tblGrid>
                <a:gridCol w="2148840"/>
                <a:gridCol w="402336"/>
                <a:gridCol w="402336"/>
                <a:gridCol w="402336"/>
                <a:gridCol w="402336"/>
                <a:gridCol w="402336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Investigation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IV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History &amp; physical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Bilateral diagnostic mammogram (US as indicated)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Hormone receptor status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HER2/neu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CBC, platelets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LFTs + alkaline phosphatase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Chest radiograph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Bone scan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Abdominal CT / US / MRI (± pelvis)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Shape 10"/>
          <p:cNvSpPr/>
          <p:nvPr/>
        </p:nvSpPr>
        <p:spPr>
          <a:xfrm>
            <a:off x="4754880" y="3794760"/>
            <a:ext cx="4160520" cy="850392"/>
          </a:xfrm>
          <a:prstGeom prst="rect">
            <a:avLst/>
          </a:prstGeom>
          <a:solidFill>
            <a:srgbClr val="FDEDEC"/>
          </a:solidFill>
          <a:ln w="9525">
            <a:solidFill>
              <a:srgbClr val="C0392B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4828032" y="3813048"/>
            <a:ext cx="4014216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Pitfalls:</a:t>
            </a:r>
            <a:r>
              <a:rPr lang="en-US" sz="9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Bone scan and abdominal imaging are indicated at ANY stage for symptoms or abnormal labs; routine scalene/supraclavicular biopsy is not indicated.</a:t>
            </a:r>
            <a:endParaRPr lang="en-US" sz="98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Biomarkers &amp; Prognostic / Predictive Factors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 &amp; Staging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90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694944"/>
          <a:ext cx="5532120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45720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Marker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Clinical meaning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 / PR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 every invasive cancer (core/FNA, IHC). HR+ → endocrine response; HR+ metastatic live 2–3× longer. ER &amp; PR negative → no endocrine therapy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HER2/neu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 all invasive (IHC protein or FISH amplification; not RT-PCR). Overexpression → high grade, node+, poor outcome. Positive → anti-HER2: −40–50% recurrence, ~⅓ lower mortality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Ki-67 / PCNA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Proliferation; high grade, inverse to ER. IHC4 ≈ Recurrence Score but Ki-67 poorly reproducible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EGFR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Correlates with ER-negativity and p53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VEGF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 recurrence node-negative; bevacizumab (E2100) PFS 5.8 → 11.3 mo, not reproduced — indication revoked 2011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bcl-2 / bax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 bcl-2, ↓ bax:bcl-2 → high grade, nodes, poor survival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0" y="694944"/>
          <a:ext cx="2971800" cy="914400"/>
        </p:xfrm>
        <a:graphic>
          <a:graphicData uri="http://schemas.openxmlformats.org/drawingml/2006/table">
            <a:tbl>
              <a:tblPr/>
              <a:tblGrid>
                <a:gridCol w="1485900"/>
                <a:gridCol w="14859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Tumour factors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Host factors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Nodal status, size, grade, LVI, stage, HR status, ploidy/S-phase, EIC, HER2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Age, menopause, family history, prior BC, immunosuppression, nutrition, prior chemo/RT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5943600" y="2240280"/>
            <a:ext cx="2971800" cy="1700784"/>
          </a:xfrm>
          <a:prstGeom prst="rect">
            <a:avLst/>
          </a:prstGeom>
          <a:solidFill>
            <a:srgbClr val="E8F4FD"/>
          </a:solidFill>
          <a:ln w="9525">
            <a:solidFill>
              <a:srgbClr val="21618C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6035040" y="2295144"/>
            <a:ext cx="2788920" cy="192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4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Marker types</a:t>
            </a:r>
            <a:endParaRPr lang="en-US" sz="1040" dirty="0"/>
          </a:p>
        </p:txBody>
      </p:sp>
      <p:sp>
        <p:nvSpPr>
          <p:cNvPr id="12" name="Text 8"/>
          <p:cNvSpPr/>
          <p:nvPr/>
        </p:nvSpPr>
        <p:spPr>
          <a:xfrm>
            <a:off x="6016752" y="2515006"/>
            <a:ext cx="2843784" cy="13986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</a:t>
            </a: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(germline, atypia, density) • </a:t>
            </a:r>
            <a:r>
              <a:rPr lang="en-US" sz="89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exposure</a:t>
            </a: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• </a:t>
            </a:r>
            <a:r>
              <a:rPr lang="en-US" sz="89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surrogate</a:t>
            </a:r>
            <a:endParaRPr lang="en-US" sz="89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Prognostic</a:t>
            </a: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outcome regardless of therapy</a:t>
            </a:r>
            <a:endParaRPr lang="en-US" sz="89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</a:t>
            </a: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response to a therapy</a:t>
            </a:r>
            <a:endParaRPr lang="en-US" sz="89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Therapy-deciding trio: </a:t>
            </a:r>
            <a:r>
              <a:rPr lang="en-US" sz="89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ER, PR, HER2</a:t>
            </a:r>
            <a:endParaRPr lang="en-US" sz="890" dirty="0"/>
          </a:p>
        </p:txBody>
      </p:sp>
      <p:sp>
        <p:nvSpPr>
          <p:cNvPr id="13" name="Shape 9"/>
          <p:cNvSpPr/>
          <p:nvPr/>
        </p:nvSpPr>
        <p:spPr>
          <a:xfrm>
            <a:off x="228600" y="4023360"/>
            <a:ext cx="8686800" cy="621792"/>
          </a:xfrm>
          <a:prstGeom prst="rect">
            <a:avLst/>
          </a:prstGeom>
          <a:solidFill>
            <a:srgbClr val="FDEDEC"/>
          </a:solidFill>
          <a:ln w="9525">
            <a:solidFill>
              <a:srgbClr val="C0392B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301752" y="4041648"/>
            <a:ext cx="854049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Pitfalls:</a:t>
            </a: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Using combined clinicopathologic factors alone, up to 70% of early-cancer patients get unnecessary or ineffective chemotherapy; single markers do not beat combined risk. Tools: Adjuvant! Online, Nottingham Prognostic Index, PREDICT.</a:t>
            </a:r>
            <a:endParaRPr lang="en-US" sz="9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Multigene Assays — Who Really Needs Chemotherapy?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 &amp; Staging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90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694944"/>
          <a:ext cx="8686800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2377440"/>
                <a:gridCol w="516636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Assay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/ for whom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Evidence &amp; use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Oncotype DX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21-gene RT-PCR; node-negative, ER+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 score → chemo benefit; low → endocrine alone. TAILORx: RS 0–10 → 98% 5-y OS on endocrine alone; RS 11–25 randomised. Predicts chemo benefit in postmenopausal ER+ with 1–3 nodes; changes decisions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MammaPrint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70-gene; FDA-approved; stage I–II, N0, ER+ or ER−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RASTER low-risk: 97% 5-y distant-recurrence-free. MINDACT (N0–1–3 nodes): clinical-high/genomic-low → 94.7% 5-y DMFS without chemo (non-inferior), DFS/OS higher with chemo in ITT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DCIS Score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Multigene (ECOG 5194 samples)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 / intermediate / high risk of in-breast DCIS or invasive event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228600" y="2788920"/>
            <a:ext cx="8686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Oncotype DX recurrence score — reading the result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228600" y="3072384"/>
            <a:ext cx="2377440" cy="822960"/>
          </a:xfrm>
          <a:prstGeom prst="rect">
            <a:avLst/>
          </a:prstGeom>
          <a:solidFill>
            <a:srgbClr val="196F3D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301752" y="3072384"/>
            <a:ext cx="22311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 0–10
</a:t>
            </a:r>
            <a:endParaRPr lang="en-US" sz="12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Endocrine therapy alone (98% 5-y OS)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2651760" y="3072384"/>
            <a:ext cx="3291840" cy="822960"/>
          </a:xfrm>
          <a:prstGeom prst="rect">
            <a:avLst/>
          </a:prstGeom>
          <a:solidFill>
            <a:srgbClr val="7D6608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2724912" y="3072384"/>
            <a:ext cx="31455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 11–25
</a:t>
            </a:r>
            <a:endParaRPr lang="en-US" sz="12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Intermediate — randomised endocrine ± chemo (TAILORx)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989320" y="3072384"/>
            <a:ext cx="2834640" cy="82296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062472" y="3072384"/>
            <a:ext cx="26883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RS
</a:t>
            </a:r>
            <a:endParaRPr lang="en-US" sz="12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Chemotherapy benefit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228600" y="4005072"/>
            <a:ext cx="8686800" cy="640080"/>
          </a:xfrm>
          <a:prstGeom prst="rect">
            <a:avLst/>
          </a:prstGeom>
          <a:solidFill>
            <a:srgbClr val="FDFCF0"/>
          </a:solidFill>
          <a:ln w="9525">
            <a:solidFill>
              <a:srgbClr val="7D6608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301752" y="4023360"/>
            <a:ext cx="85404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7D66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Pearl:</a:t>
            </a:r>
            <a:r>
              <a:rPr lang="en-US" sz="9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Size and nodal status remain strong predictors of LATE recurrence (better than IHC4, Recurrence Score or PAM50). Assays add to — never replace — stage, grade and receptor status.</a:t>
            </a:r>
            <a:endParaRPr lang="en-US" sz="98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21618C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629400" y="91440"/>
            <a:ext cx="82296" cy="4663440"/>
          </a:xfrm>
          <a:prstGeom prst="rect">
            <a:avLst/>
          </a:prstGeom>
          <a:solidFill>
            <a:srgbClr val="21618C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711696" y="91440"/>
            <a:ext cx="2432304" cy="46634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" y="548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 E C T I O 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74320" y="914400"/>
            <a:ext cx="3657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8800" dirty="0"/>
          </a:p>
        </p:txBody>
      </p:sp>
      <p:sp>
        <p:nvSpPr>
          <p:cNvPr id="7" name="Text 5"/>
          <p:cNvSpPr/>
          <p:nvPr/>
        </p:nvSpPr>
        <p:spPr>
          <a:xfrm>
            <a:off x="320040" y="2514600"/>
            <a:ext cx="6126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Management by Stage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320040" y="3931920"/>
            <a:ext cx="6126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E40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Step-by-step algorithms with pitfalls: LCIS • DCIS • stage I–II • axilla • stage III • inflammatory • stage IV • recurrence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711696" y="1828800"/>
            <a:ext cx="24323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4800" dirty="0"/>
          </a:p>
        </p:txBody>
      </p:sp>
      <p:sp>
        <p:nvSpPr>
          <p:cNvPr id="10" name="Shape 8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by Stage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9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Master Management Map by Stage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by Stage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28600" y="694944"/>
            <a:ext cx="8686800" cy="457200"/>
          </a:xfrm>
          <a:prstGeom prst="roundRect">
            <a:avLst>
              <a:gd name="adj" fmla="val 12000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4320" y="713232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Confirmed breast cancer → define clinical STAGE + HISTOLOGY + ER/PR/HER2 + general health → multidisciplinary plan shared with the patient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572000" y="1152144"/>
            <a:ext cx="0" cy="8229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252728" y="1234440"/>
            <a:ext cx="6629400" cy="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252728" y="1234440"/>
            <a:ext cx="0" cy="8229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3456432" y="1234440"/>
            <a:ext cx="0" cy="8229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5669280" y="1234440"/>
            <a:ext cx="0" cy="8229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7882128" y="1234440"/>
            <a:ext cx="0" cy="8229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228600" y="1316736"/>
            <a:ext cx="2057400" cy="502920"/>
          </a:xfrm>
          <a:prstGeom prst="roundRect">
            <a:avLst>
              <a:gd name="adj" fmla="val 10909"/>
            </a:avLst>
          </a:prstGeom>
          <a:solidFill>
            <a:srgbClr val="196F3D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74320" y="1335024"/>
            <a:ext cx="196596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0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LCIS / DCIS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257300" y="1819656"/>
            <a:ext cx="0" cy="12801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228600" y="1947672"/>
            <a:ext cx="2057400" cy="1600200"/>
          </a:xfrm>
          <a:prstGeom prst="roundRect">
            <a:avLst>
              <a:gd name="adj" fmla="val 3429"/>
            </a:avLst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74320" y="1965960"/>
            <a:ext cx="1965960" cy="1563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LCIS: observe / chemoprevent / bilateral mastectomy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DCIS: lumpectomy (≥2 mm) + RT, or mastectomy ± SLNB; ER+ → tamoxifen 5 y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2436876" y="1316736"/>
            <a:ext cx="2057400" cy="502920"/>
          </a:xfrm>
          <a:prstGeom prst="roundRect">
            <a:avLst>
              <a:gd name="adj" fmla="val 10909"/>
            </a:avLst>
          </a:prstGeom>
          <a:solidFill>
            <a:srgbClr val="21618C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482596" y="1335024"/>
            <a:ext cx="196596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I–IIB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invasive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465576" y="1819656"/>
            <a:ext cx="0" cy="12801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2436876" y="1947672"/>
            <a:ext cx="2057400" cy="1600200"/>
          </a:xfrm>
          <a:prstGeom prst="roundRect">
            <a:avLst>
              <a:gd name="adj" fmla="val 3429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482596" y="1965960"/>
            <a:ext cx="1965960" cy="1563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BCT (lumpectomy + WBI) or mastectomy ± reconstruction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Axilla: SLNB (cN0) / ALND or neoadjuvant (cN+)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Adjuvant systemic therapy by subtype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4645152" y="1316736"/>
            <a:ext cx="2057400" cy="502920"/>
          </a:xfrm>
          <a:prstGeom prst="roundRect">
            <a:avLst>
              <a:gd name="adj" fmla="val 10909"/>
            </a:avLst>
          </a:prstGeom>
          <a:solidFill>
            <a:srgbClr val="7D6608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690872" y="1335024"/>
            <a:ext cx="196596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IIIA–IIIB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Locally advanced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673852" y="1819656"/>
            <a:ext cx="0" cy="12801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4645152" y="1947672"/>
            <a:ext cx="2057400" cy="1600200"/>
          </a:xfrm>
          <a:prstGeom prst="roundRect">
            <a:avLst>
              <a:gd name="adj" fmla="val 3429"/>
            </a:avLst>
          </a:prstGeom>
          <a:solidFill>
            <a:srgbClr val="FDFCF0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690872" y="1965960"/>
            <a:ext cx="1965960" cy="1563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Systemic staging → neoadjuvant systemic therapy → response → MRM or BCS + ALND → RT (chest wall/breast + nodes) → complete systemic/endocrine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6853428" y="1316736"/>
            <a:ext cx="2057400" cy="502920"/>
          </a:xfrm>
          <a:prstGeom prst="roundRect">
            <a:avLst>
              <a:gd name="adj" fmla="val 10909"/>
            </a:avLst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899148" y="1335024"/>
            <a:ext cx="196596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IV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Metastatic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7882128" y="1819656"/>
            <a:ext cx="0" cy="12801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6853428" y="1947672"/>
            <a:ext cx="2057400" cy="1600200"/>
          </a:xfrm>
          <a:prstGeom prst="roundRect">
            <a:avLst>
              <a:gd name="adj" fmla="val 3429"/>
            </a:avLst>
          </a:prstGeom>
          <a:solidFill>
            <a:srgbClr val="FDEDEC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99148" y="1965960"/>
            <a:ext cx="1965960" cy="1563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Systemic therapy is primary: endocrine first if HR+ and no visceral crisis; chemo if HR−/crisis/refractory; anti-HER2 if HER2+; local surgery/RT for complications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228600" y="3639312"/>
            <a:ext cx="8686800" cy="475488"/>
          </a:xfrm>
          <a:prstGeom prst="rect">
            <a:avLst/>
          </a:prstGeom>
          <a:solidFill>
            <a:srgbClr val="FDFCF0"/>
          </a:solidFill>
          <a:ln w="9525">
            <a:solidFill>
              <a:srgbClr val="7D660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01752" y="3657600"/>
            <a:ext cx="854049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7D66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idea:</a:t>
            </a:r>
            <a:r>
              <a:rPr lang="en-US" sz="9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Small screen-detected cancers: &gt;90% cure, often by local therapy; locally advanced disease needs all three modalities (surgery + RT + systemic).</a:t>
            </a:r>
            <a:endParaRPr lang="en-US" sz="980" dirty="0"/>
          </a:p>
        </p:txBody>
      </p:sp>
      <p:sp>
        <p:nvSpPr>
          <p:cNvPr id="38" name="Shape 36"/>
          <p:cNvSpPr/>
          <p:nvPr/>
        </p:nvSpPr>
        <p:spPr>
          <a:xfrm>
            <a:off x="228600" y="4187952"/>
            <a:ext cx="8686800" cy="457200"/>
          </a:xfrm>
          <a:prstGeom prst="rect">
            <a:avLst/>
          </a:prstGeom>
          <a:solidFill>
            <a:srgbClr val="FDEDEC"/>
          </a:solidFill>
          <a:ln w="9525">
            <a:solidFill>
              <a:srgbClr val="C0392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1752" y="4206240"/>
            <a:ext cx="85404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Pitfalls:</a:t>
            </a:r>
            <a:r>
              <a:rPr lang="en-US" sz="96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Never plan local therapy before stage, histology and receptors are known; systemic therapy follows biology, not stage alone; stage IV is not curable — aims are survival and quality of life.</a:t>
            </a:r>
            <a:endParaRPr lang="en-US" sz="96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Stage 0 — LCIS Management Algorithm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by Stage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28600" y="694944"/>
            <a:ext cx="8686800" cy="457200"/>
          </a:xfrm>
          <a:prstGeom prst="roundRect">
            <a:avLst>
              <a:gd name="adj" fmla="val 12000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4320" y="713232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LCIS — a MARKER of risk (25–35% later invasive cancer in EITHER breast, up to 65% ductal), not an obligate precursor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First: expert pathology review (vs ADH / early invasion) + bilateral mammography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572000" y="1152144"/>
            <a:ext cx="0" cy="8229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600200" y="1234440"/>
            <a:ext cx="5943600" cy="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00200" y="1234440"/>
            <a:ext cx="0" cy="8229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4572000" y="1234440"/>
            <a:ext cx="0" cy="8229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7543800" y="1234440"/>
            <a:ext cx="0" cy="8229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228600" y="1316736"/>
            <a:ext cx="2788920" cy="1005840"/>
          </a:xfrm>
          <a:prstGeom prst="roundRect">
            <a:avLst>
              <a:gd name="adj" fmla="val 5455"/>
            </a:avLst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74320" y="1335024"/>
            <a:ext cx="269748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OBSERVATION</a:t>
            </a:r>
            <a:endParaRPr lang="en-US" sz="1030" dirty="0"/>
          </a:p>
          <a:p>
            <a:pPr algn="ctr" indent="0" marL="0">
              <a:buNone/>
            </a:pPr>
            <a:r>
              <a:rPr lang="en-US" sz="10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Bilateral mammography + clinical exam + risk counselling; MRI in selected high-risk women</a:t>
            </a:r>
            <a:endParaRPr lang="en-US" sz="1030" dirty="0"/>
          </a:p>
        </p:txBody>
      </p:sp>
      <p:sp>
        <p:nvSpPr>
          <p:cNvPr id="17" name="Shape 15"/>
          <p:cNvSpPr/>
          <p:nvPr/>
        </p:nvSpPr>
        <p:spPr>
          <a:xfrm>
            <a:off x="3182112" y="1316736"/>
            <a:ext cx="2788920" cy="1005840"/>
          </a:xfrm>
          <a:prstGeom prst="roundRect">
            <a:avLst>
              <a:gd name="adj" fmla="val 5455"/>
            </a:avLst>
          </a:prstGeom>
          <a:solidFill>
            <a:srgbClr val="FDFCF0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227832" y="1335024"/>
            <a:ext cx="269748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CHEMOPREVENTION</a:t>
            </a:r>
            <a:endParaRPr lang="en-US" sz="1030" dirty="0"/>
          </a:p>
          <a:p>
            <a:pPr algn="ctr" indent="0" marL="0">
              <a:buNone/>
            </a:pPr>
            <a:r>
              <a:rPr lang="en-US" sz="10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Tamoxifen (raloxifene / AI after menopause) — consider in ALL women with LCIS</a:t>
            </a:r>
            <a:endParaRPr lang="en-US" sz="1030" dirty="0"/>
          </a:p>
        </p:txBody>
      </p:sp>
      <p:sp>
        <p:nvSpPr>
          <p:cNvPr id="19" name="Shape 17"/>
          <p:cNvSpPr/>
          <p:nvPr/>
        </p:nvSpPr>
        <p:spPr>
          <a:xfrm>
            <a:off x="6135624" y="1316736"/>
            <a:ext cx="2788920" cy="1005840"/>
          </a:xfrm>
          <a:prstGeom prst="roundRect">
            <a:avLst>
              <a:gd name="adj" fmla="val 5455"/>
            </a:avLst>
          </a:prstGeom>
          <a:solidFill>
            <a:srgbClr val="FDEDEC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181344" y="1335024"/>
            <a:ext cx="269748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BILATERAL TOTAL MASTECTOMY</a:t>
            </a:r>
            <a:endParaRPr lang="en-US" sz="1030" dirty="0"/>
          </a:p>
          <a:p>
            <a:pPr algn="ctr" indent="0" marL="0">
              <a:buNone/>
            </a:pPr>
            <a:r>
              <a:rPr lang="en-US" sz="10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Risk-reducing option for the very high-risk / personal choice</a:t>
            </a:r>
            <a:endParaRPr lang="en-US" sz="1030" dirty="0"/>
          </a:p>
        </p:txBody>
      </p:sp>
      <p:sp>
        <p:nvSpPr>
          <p:cNvPr id="21" name="Shape 19"/>
          <p:cNvSpPr/>
          <p:nvPr/>
        </p:nvSpPr>
        <p:spPr>
          <a:xfrm>
            <a:off x="228600" y="2450592"/>
            <a:ext cx="4251960" cy="1371600"/>
          </a:xfrm>
          <a:prstGeom prst="rect">
            <a:avLst/>
          </a:prstGeom>
          <a:solidFill>
            <a:srgbClr val="E8F4FD"/>
          </a:solidFill>
          <a:ln w="9525">
            <a:solidFill>
              <a:srgbClr val="21618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20040" y="2505456"/>
            <a:ext cx="4069080" cy="201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not excise?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01752" y="2734310"/>
            <a:ext cx="4123944" cy="1060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Disease is diffuse, multicentric (60–90%) and bilateral (50–70%)</a:t>
            </a:r>
            <a:endParaRPr lang="en-US" sz="95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is equal in both breasts → local excision adds nothing</a:t>
            </a:r>
            <a:endParaRPr lang="en-US" sz="95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removed from TNM (considered benign)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4663440" y="2450592"/>
            <a:ext cx="4251960" cy="1371600"/>
          </a:xfrm>
          <a:prstGeom prst="rect">
            <a:avLst/>
          </a:prstGeom>
          <a:solidFill>
            <a:srgbClr val="F5EEF8"/>
          </a:solidFill>
          <a:ln w="9525">
            <a:solidFill>
              <a:srgbClr val="6C348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754880" y="2505456"/>
            <a:ext cx="4069080" cy="201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6C3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 variant — pleomorphic / florid LCIS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736592" y="2734310"/>
            <a:ext cx="4123944" cy="1060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Calcifies and resembles high-grade DCIS</a:t>
            </a:r>
            <a:endParaRPr lang="en-US" sz="95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manage it like DCIS: attention to margins, consider RT with conservation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228600" y="3913632"/>
            <a:ext cx="8686800" cy="731520"/>
          </a:xfrm>
          <a:prstGeom prst="rect">
            <a:avLst/>
          </a:prstGeom>
          <a:solidFill>
            <a:srgbClr val="FDEDEC"/>
          </a:solidFill>
          <a:ln w="9525">
            <a:solidFill>
              <a:srgbClr val="C0392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01752" y="3931920"/>
            <a:ext cx="85404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Pitfalls:</a:t>
            </a:r>
            <a:r>
              <a:rPr lang="en-US" sz="97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Treating classic LCIS like DCIS (re-excision for margins, RT) • unilateral mastectomy (risk is bilateral) • missing ADH or early invasion without expert review • forgetting E-cadherin: lost in lobular, retained in ductal lesions • using Gail in LCIS (not validated).</a:t>
            </a:r>
            <a:endParaRPr lang="en-US" sz="97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Stage 0 — DCIS Management Algorithm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by Stage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28600" y="694944"/>
            <a:ext cx="5760720" cy="384048"/>
          </a:xfrm>
          <a:prstGeom prst="roundRect">
            <a:avLst>
              <a:gd name="adj" fmla="val 14286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4320" y="713232"/>
            <a:ext cx="5669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DCIS — expert pathology review + bilateral mammography: grade, size, extent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108960" y="1078992"/>
            <a:ext cx="0" cy="73152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43000" y="1152144"/>
            <a:ext cx="3931920" cy="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143000" y="1152144"/>
            <a:ext cx="0" cy="73152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3108960" y="1152144"/>
            <a:ext cx="0" cy="73152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5074920" y="1152144"/>
            <a:ext cx="0" cy="73152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228600" y="1225296"/>
            <a:ext cx="1828800" cy="914400"/>
          </a:xfrm>
          <a:prstGeom prst="roundRect">
            <a:avLst>
              <a:gd name="adj" fmla="val 6000"/>
            </a:avLst>
          </a:prstGeom>
          <a:solidFill>
            <a:srgbClr val="FDEDEC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74320" y="1243584"/>
            <a:ext cx="173736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EXTENSIVE</a:t>
            </a: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(&gt;4 cm or &gt;1 quadrant)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Mastectomy ± SLNB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1143000" y="2139696"/>
            <a:ext cx="0" cy="12801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2194560" y="1225296"/>
            <a:ext cx="1828800" cy="914400"/>
          </a:xfrm>
          <a:prstGeom prst="roundRect">
            <a:avLst>
              <a:gd name="adj" fmla="val 6000"/>
            </a:avLst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240280" y="1243584"/>
            <a:ext cx="173736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LIMITED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Lumpectomy (margin ≥2 mm) + whole-breast RT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3108960" y="2139696"/>
            <a:ext cx="0" cy="12801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4160520" y="1225296"/>
            <a:ext cx="1828800" cy="914400"/>
          </a:xfrm>
          <a:prstGeom prst="roundRect">
            <a:avLst>
              <a:gd name="adj" fmla="val 6000"/>
            </a:avLst>
          </a:prstGeom>
          <a:solidFill>
            <a:srgbClr val="FDFCF0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206240" y="1243584"/>
            <a:ext cx="173736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SELECTED LOW RISK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Low/int. grade ≤2.5 cm, margin ≥3 mm → excision alone may be acceptable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5074920" y="2139696"/>
            <a:ext cx="0" cy="12801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228600" y="2267712"/>
            <a:ext cx="1828800" cy="1024128"/>
          </a:xfrm>
          <a:prstGeom prst="roundRect">
            <a:avLst>
              <a:gd name="adj" fmla="val 5357"/>
            </a:avLst>
          </a:prstGeom>
          <a:solidFill>
            <a:srgbClr val="EEF2F8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74320" y="2286000"/>
            <a:ext cx="17373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 standard: local recurrence &amp; mortality &lt;2%; SLNB because ~20% upstage to invasive and SLNB impossible later</a:t>
            </a:r>
            <a:endParaRPr lang="en-US" sz="930" dirty="0"/>
          </a:p>
        </p:txBody>
      </p:sp>
      <p:sp>
        <p:nvSpPr>
          <p:cNvPr id="26" name="Shape 24"/>
          <p:cNvSpPr/>
          <p:nvPr/>
        </p:nvSpPr>
        <p:spPr>
          <a:xfrm>
            <a:off x="2194560" y="2267712"/>
            <a:ext cx="1828800" cy="1024128"/>
          </a:xfrm>
          <a:prstGeom prst="roundRect">
            <a:avLst>
              <a:gd name="adj" fmla="val 5357"/>
            </a:avLst>
          </a:prstGeom>
          <a:solidFill>
            <a:srgbClr val="EEF2F8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240280" y="2286000"/>
            <a:ext cx="17373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 halves recurrence in all subgroups (B-17, EORTC, UK/ANZ, Swedish); ER+ → tamoxifen 5 y (B-24)</a:t>
            </a:r>
            <a:endParaRPr lang="en-US" sz="930" dirty="0"/>
          </a:p>
        </p:txBody>
      </p:sp>
      <p:sp>
        <p:nvSpPr>
          <p:cNvPr id="28" name="Shape 26"/>
          <p:cNvSpPr/>
          <p:nvPr/>
        </p:nvSpPr>
        <p:spPr>
          <a:xfrm>
            <a:off x="4160520" y="2267712"/>
            <a:ext cx="1828800" cy="1024128"/>
          </a:xfrm>
          <a:prstGeom prst="roundRect">
            <a:avLst>
              <a:gd name="adj" fmla="val 5357"/>
            </a:avLst>
          </a:prstGeom>
          <a:solidFill>
            <a:srgbClr val="EEF2F8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206240" y="2286000"/>
            <a:ext cx="17373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ECOG 5194: 6.1% recurrence low/int. vs 15.3% high grade → high grade needs RT</a:t>
            </a:r>
            <a:endParaRPr lang="en-US" sz="930" dirty="0"/>
          </a:p>
        </p:txBody>
      </p:sp>
      <p:graphicFrame>
        <p:nvGraphicFramePr>
          <p:cNvPr id="30" name="Chart 0" descr=""/>
          <p:cNvGraphicFramePr/>
          <p:nvPr/>
        </p:nvGraphicFramePr>
        <p:xfrm>
          <a:off x="6172200" y="658368"/>
          <a:ext cx="2743200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31" name="Shape 28"/>
          <p:cNvSpPr/>
          <p:nvPr/>
        </p:nvSpPr>
        <p:spPr>
          <a:xfrm>
            <a:off x="228600" y="3383280"/>
            <a:ext cx="4251960" cy="914400"/>
          </a:xfrm>
          <a:prstGeom prst="rect">
            <a:avLst/>
          </a:prstGeom>
          <a:solidFill>
            <a:srgbClr val="E8F4FD"/>
          </a:solidFill>
          <a:ln w="9525">
            <a:solidFill>
              <a:srgbClr val="21618C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320040" y="3438144"/>
            <a:ext cx="4069080" cy="1939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Margins</a:t>
            </a:r>
            <a:endParaRPr lang="en-US" sz="1050" dirty="0"/>
          </a:p>
        </p:txBody>
      </p:sp>
      <p:sp>
        <p:nvSpPr>
          <p:cNvPr id="33" name="Text 30"/>
          <p:cNvSpPr/>
          <p:nvPr/>
        </p:nvSpPr>
        <p:spPr>
          <a:xfrm>
            <a:off x="301752" y="3659505"/>
            <a:ext cx="4123944" cy="6107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mm adequate with WBI (SSO-ASTRO-ASCO 2016); &gt;10 mm: no added RT benefit</a:t>
            </a:r>
            <a:endParaRPr lang="en-US" sz="90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Relative recurrence: 1.49 (1–10 mm) vs 2.54 (&lt;1 mm) — Silverstein</a:t>
            </a:r>
            <a:endParaRPr lang="en-US" sz="900" dirty="0"/>
          </a:p>
        </p:txBody>
      </p:sp>
      <p:sp>
        <p:nvSpPr>
          <p:cNvPr id="34" name="Shape 31"/>
          <p:cNvSpPr/>
          <p:nvPr/>
        </p:nvSpPr>
        <p:spPr>
          <a:xfrm>
            <a:off x="4663440" y="3383280"/>
            <a:ext cx="4251960" cy="914400"/>
          </a:xfrm>
          <a:prstGeom prst="rect">
            <a:avLst/>
          </a:prstGeom>
          <a:solidFill>
            <a:srgbClr val="EAFAF1"/>
          </a:solidFill>
          <a:ln w="9525">
            <a:solidFill>
              <a:srgbClr val="196F3D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4754880" y="3438144"/>
            <a:ext cx="4069080" cy="1939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96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Technique</a:t>
            </a:r>
            <a:endParaRPr lang="en-US" sz="1050" dirty="0"/>
          </a:p>
        </p:txBody>
      </p:sp>
      <p:sp>
        <p:nvSpPr>
          <p:cNvPr id="36" name="Text 33"/>
          <p:cNvSpPr/>
          <p:nvPr/>
        </p:nvSpPr>
        <p:spPr>
          <a:xfrm>
            <a:off x="4736592" y="3659505"/>
            <a:ext cx="4123944" cy="6107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Non-palpable: needle/seed localisation + specimen mammography</a:t>
            </a:r>
            <a:endParaRPr lang="en-US" sz="90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RT ~45% of recurrences are invasive</a:t>
            </a:r>
            <a:endParaRPr lang="en-US" sz="900" dirty="0"/>
          </a:p>
        </p:txBody>
      </p:sp>
      <p:sp>
        <p:nvSpPr>
          <p:cNvPr id="37" name="Shape 34"/>
          <p:cNvSpPr/>
          <p:nvPr/>
        </p:nvSpPr>
        <p:spPr>
          <a:xfrm>
            <a:off x="228600" y="4352544"/>
            <a:ext cx="8686800" cy="310896"/>
          </a:xfrm>
          <a:prstGeom prst="rect">
            <a:avLst/>
          </a:prstGeom>
          <a:solidFill>
            <a:srgbClr val="FDEDEC"/>
          </a:solidFill>
          <a:ln w="9525">
            <a:solidFill>
              <a:srgbClr val="C0392B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301752" y="4370832"/>
            <a:ext cx="8540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Pitfalls:</a:t>
            </a: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No SLNB with lumpectomy for DCIS • no tamoxifen after bilateral mastectomy • no RCT compares mastectomy vs BCS • B-24: 15% had +ve margins.</a:t>
            </a:r>
            <a:endParaRPr lang="en-US" sz="88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Stage I–IIB — Early Invasive Cancer Algorithm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by Stage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28600" y="694944"/>
            <a:ext cx="5806440" cy="365760"/>
          </a:xfrm>
          <a:prstGeom prst="roundRect">
            <a:avLst>
              <a:gd name="adj" fmla="val 15000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4320" y="713232"/>
            <a:ext cx="5715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I–IIB: define stage, histology, ER/PR/HER2 BEFORE local therapy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127248" y="1060704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43000" y="1124712"/>
            <a:ext cx="3977640" cy="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143000" y="1124712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3127248" y="1124712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5120640" y="1124712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228600" y="1188720"/>
            <a:ext cx="1847088" cy="896112"/>
          </a:xfrm>
          <a:prstGeom prst="roundRect">
            <a:avLst>
              <a:gd name="adj" fmla="val 6122"/>
            </a:avLst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74320" y="1207008"/>
            <a:ext cx="175564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BCT</a:t>
            </a:r>
            <a:endParaRPr lang="en-US" sz="940" dirty="0"/>
          </a:p>
          <a:p>
            <a:pPr algn="ctr" indent="0" marL="0">
              <a:buNone/>
            </a:pPr>
            <a:r>
              <a:rPr lang="en-US" sz="94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Lumpectomy (no tumour on ink) + whole-breast RT ± boost — equal survival to mastectomy</a:t>
            </a:r>
            <a:endParaRPr lang="en-US" sz="940" dirty="0"/>
          </a:p>
        </p:txBody>
      </p:sp>
      <p:sp>
        <p:nvSpPr>
          <p:cNvPr id="17" name="Shape 15"/>
          <p:cNvSpPr/>
          <p:nvPr/>
        </p:nvSpPr>
        <p:spPr>
          <a:xfrm>
            <a:off x="1143000" y="2084832"/>
            <a:ext cx="0" cy="12801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2212848" y="1188720"/>
            <a:ext cx="1847088" cy="896112"/>
          </a:xfrm>
          <a:prstGeom prst="roundRect">
            <a:avLst>
              <a:gd name="adj" fmla="val 6122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258568" y="1207008"/>
            <a:ext cx="175564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MASTECTOMY</a:t>
            </a:r>
            <a:endParaRPr lang="en-US" sz="940" dirty="0"/>
          </a:p>
          <a:p>
            <a:pPr algn="ctr" indent="0" marL="0">
              <a:buNone/>
            </a:pPr>
            <a:r>
              <a:rPr lang="en-US" sz="94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Skin-/nipple-sparing; immediate reconstruction when appropriate</a:t>
            </a:r>
            <a:endParaRPr lang="en-US" sz="940" dirty="0"/>
          </a:p>
        </p:txBody>
      </p:sp>
      <p:sp>
        <p:nvSpPr>
          <p:cNvPr id="20" name="Shape 18"/>
          <p:cNvSpPr/>
          <p:nvPr/>
        </p:nvSpPr>
        <p:spPr>
          <a:xfrm>
            <a:off x="3127248" y="2084832"/>
            <a:ext cx="0" cy="12801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4197096" y="1188720"/>
            <a:ext cx="1847088" cy="896112"/>
          </a:xfrm>
          <a:prstGeom prst="roundRect">
            <a:avLst>
              <a:gd name="adj" fmla="val 6122"/>
            </a:avLst>
          </a:prstGeom>
          <a:solidFill>
            <a:srgbClr val="FDFCF0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242816" y="1207008"/>
            <a:ext cx="175564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AXILLA</a:t>
            </a:r>
            <a:endParaRPr lang="en-US" sz="940" dirty="0"/>
          </a:p>
          <a:p>
            <a:pPr algn="ctr" indent="0" marL="0">
              <a:buNone/>
            </a:pPr>
            <a:r>
              <a:rPr lang="en-US" sz="94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cN0 → SLNB; FNA/core-proven node → ALND or neoadjuvant therapy</a:t>
            </a:r>
            <a:endParaRPr lang="en-US" sz="940" dirty="0"/>
          </a:p>
        </p:txBody>
      </p:sp>
      <p:sp>
        <p:nvSpPr>
          <p:cNvPr id="23" name="Shape 21"/>
          <p:cNvSpPr/>
          <p:nvPr/>
        </p:nvSpPr>
        <p:spPr>
          <a:xfrm>
            <a:off x="5120640" y="2084832"/>
            <a:ext cx="0" cy="12801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228600" y="2212848"/>
            <a:ext cx="1847088" cy="932688"/>
          </a:xfrm>
          <a:prstGeom prst="roundRect">
            <a:avLst>
              <a:gd name="adj" fmla="val 5882"/>
            </a:avLst>
          </a:prstGeom>
          <a:solidFill>
            <a:srgbClr val="EEF2F8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74320" y="2231136"/>
            <a:ext cx="175564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Relative contraindications: prior chest RT, persistently +ve margins, multicentric disease, lupus/scleroderma; BRCA carriers not advised</a:t>
            </a:r>
            <a:endParaRPr lang="en-US" sz="920" dirty="0"/>
          </a:p>
        </p:txBody>
      </p:sp>
      <p:sp>
        <p:nvSpPr>
          <p:cNvPr id="26" name="Shape 24"/>
          <p:cNvSpPr/>
          <p:nvPr/>
        </p:nvSpPr>
        <p:spPr>
          <a:xfrm>
            <a:off x="2212848" y="2212848"/>
            <a:ext cx="1847088" cy="932688"/>
          </a:xfrm>
          <a:prstGeom prst="roundRect">
            <a:avLst>
              <a:gd name="adj" fmla="val 5882"/>
            </a:avLst>
          </a:prstGeom>
          <a:solidFill>
            <a:srgbClr val="EEF2F8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258568" y="2231136"/>
            <a:ext cx="175564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 when: extensive calcifications, large central/subareolar cancer, multicentric disease, patient choice (avoids RT)</a:t>
            </a:r>
            <a:endParaRPr lang="en-US" sz="920" dirty="0"/>
          </a:p>
        </p:txBody>
      </p:sp>
      <p:sp>
        <p:nvSpPr>
          <p:cNvPr id="28" name="Shape 26"/>
          <p:cNvSpPr/>
          <p:nvPr/>
        </p:nvSpPr>
        <p:spPr>
          <a:xfrm>
            <a:off x="4197096" y="2212848"/>
            <a:ext cx="1847088" cy="932688"/>
          </a:xfrm>
          <a:prstGeom prst="roundRect">
            <a:avLst>
              <a:gd name="adj" fmla="val 5882"/>
            </a:avLst>
          </a:prstGeom>
          <a:solidFill>
            <a:srgbClr val="EEF2F8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242816" y="2231136"/>
            <a:ext cx="175564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Systemic therapy by biology, not stage alone</a:t>
            </a:r>
            <a:endParaRPr lang="en-US" sz="920" dirty="0"/>
          </a:p>
        </p:txBody>
      </p:sp>
      <p:sp>
        <p:nvSpPr>
          <p:cNvPr id="30" name="Shape 28"/>
          <p:cNvSpPr/>
          <p:nvPr/>
        </p:nvSpPr>
        <p:spPr>
          <a:xfrm>
            <a:off x="1143000" y="3145536"/>
            <a:ext cx="0" cy="54864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127248" y="3145536"/>
            <a:ext cx="0" cy="54864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120640" y="3145536"/>
            <a:ext cx="0" cy="54864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143000" y="3200400"/>
            <a:ext cx="3977640" cy="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127248" y="3200400"/>
            <a:ext cx="0" cy="54864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228600" y="3255264"/>
            <a:ext cx="5806440" cy="420624"/>
          </a:xfrm>
          <a:prstGeom prst="roundRect">
            <a:avLst>
              <a:gd name="adj" fmla="val 13043"/>
            </a:avLst>
          </a:prstGeom>
          <a:solidFill>
            <a:srgbClr val="F5EEF8"/>
          </a:solidFill>
          <a:ln w="12700">
            <a:solidFill>
              <a:srgbClr val="6C3483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74320" y="3273552"/>
            <a:ext cx="5715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Adjuvant systemic therapy</a:t>
            </a:r>
            <a:r>
              <a:rPr lang="en-US" sz="9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ER+: endocrine • HER2+: trastuzumab-based • ER−: chemotherapy — chosen by MDT</a:t>
            </a:r>
            <a:endParaRPr lang="en-US" sz="980" dirty="0"/>
          </a:p>
        </p:txBody>
      </p:sp>
      <p:graphicFrame>
        <p:nvGraphicFramePr>
          <p:cNvPr id="37" name="Chart 0" descr=""/>
          <p:cNvGraphicFramePr/>
          <p:nvPr/>
        </p:nvGraphicFramePr>
        <p:xfrm>
          <a:off x="6172200" y="658368"/>
          <a:ext cx="2743200" cy="303580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38" name="Shape 35"/>
          <p:cNvSpPr/>
          <p:nvPr/>
        </p:nvSpPr>
        <p:spPr>
          <a:xfrm>
            <a:off x="228600" y="3749040"/>
            <a:ext cx="8686800" cy="896112"/>
          </a:xfrm>
          <a:prstGeom prst="rect">
            <a:avLst/>
          </a:prstGeom>
          <a:solidFill>
            <a:srgbClr val="FDEDEC"/>
          </a:solidFill>
          <a:ln w="9525">
            <a:solidFill>
              <a:srgbClr val="C0392B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301752" y="3767328"/>
            <a:ext cx="8540496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Pitfalls:</a:t>
            </a: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RT after lumpectomy improves SURVIVAL, not just local control (EBCTCG 15 y: −5.1% N0, −7.1% N+ mortality) • RT omission only for selected older women with small ER+ N0 tumours on endocrine therapy • nipple-sparing mastectomy is a poor choice if PMRT is planned • BCT size limits in trials: 2–2.5 cm (most), 4 cm (B-06), 5 cm (NCI).</a:t>
            </a:r>
            <a:endParaRPr lang="en-US" sz="95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Axilla in cN0 Disease — SLNB &amp; the Z0011 Decision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by Stage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28600" y="694944"/>
            <a:ext cx="4663440" cy="310896"/>
          </a:xfrm>
          <a:prstGeom prst="roundRect">
            <a:avLst>
              <a:gd name="adj" fmla="val 17647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4320" y="71323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Invasive cancer, clinically N0 (exam + ultrasound)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560320" y="1005840"/>
            <a:ext cx="0" cy="10972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228600" y="1115568"/>
            <a:ext cx="4663440" cy="566928"/>
          </a:xfrm>
          <a:prstGeom prst="roundRect">
            <a:avLst>
              <a:gd name="adj" fmla="val 9677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4320" y="1133856"/>
            <a:ext cx="4572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SLNB</a:t>
            </a: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dual tracer (Tc-99m + blue dye); remove all blue nodes + all nodes &gt;10% of hottest ex-vivo count (≤4 nodes find 98% of positive SLNs)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2560320" y="1682496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60120" y="1746504"/>
            <a:ext cx="3200400" cy="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0120" y="1746504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2560320" y="1746504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4160520" y="1746504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228600" y="1810512"/>
            <a:ext cx="1463040" cy="1005840"/>
          </a:xfrm>
          <a:prstGeom prst="roundRect">
            <a:avLst>
              <a:gd name="adj" fmla="val 5455"/>
            </a:avLst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74320" y="1828800"/>
            <a:ext cx="137160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SLN −</a:t>
            </a:r>
            <a:endParaRPr lang="en-US" sz="930" dirty="0"/>
          </a:p>
          <a:p>
            <a:pPr algn="ctr" indent="0" marL="0">
              <a:buNone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ALND (B-32: same DFS/OS, less morbidity)</a:t>
            </a:r>
            <a:endParaRPr lang="en-US" sz="930" dirty="0"/>
          </a:p>
        </p:txBody>
      </p:sp>
      <p:sp>
        <p:nvSpPr>
          <p:cNvPr id="20" name="Shape 18"/>
          <p:cNvSpPr/>
          <p:nvPr/>
        </p:nvSpPr>
        <p:spPr>
          <a:xfrm>
            <a:off x="1828800" y="1810512"/>
            <a:ext cx="1463040" cy="1005840"/>
          </a:xfrm>
          <a:prstGeom prst="roundRect">
            <a:avLst>
              <a:gd name="adj" fmla="val 5455"/>
            </a:avLst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874520" y="1828800"/>
            <a:ext cx="137160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1–2 SLN + with BCS + WBI + systemic</a:t>
            </a:r>
            <a:endParaRPr lang="en-US" sz="930" dirty="0"/>
          </a:p>
          <a:p>
            <a:pPr algn="ctr" indent="0" marL="0">
              <a:buNone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omit ALND (Z0011)</a:t>
            </a:r>
            <a:endParaRPr lang="en-US" sz="930" dirty="0"/>
          </a:p>
        </p:txBody>
      </p:sp>
      <p:sp>
        <p:nvSpPr>
          <p:cNvPr id="22" name="Shape 20"/>
          <p:cNvSpPr/>
          <p:nvPr/>
        </p:nvSpPr>
        <p:spPr>
          <a:xfrm>
            <a:off x="3429000" y="1810512"/>
            <a:ext cx="1463040" cy="1005840"/>
          </a:xfrm>
          <a:prstGeom prst="roundRect">
            <a:avLst>
              <a:gd name="adj" fmla="val 5455"/>
            </a:avLst>
          </a:prstGeom>
          <a:solidFill>
            <a:srgbClr val="FDFCF0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474720" y="1828800"/>
            <a:ext cx="137160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Outside Z0011</a:t>
            </a: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(mastectomy, APBI, neoadjuvant, ≥3 nodes)</a:t>
            </a:r>
            <a:endParaRPr lang="en-US" sz="930" dirty="0"/>
          </a:p>
          <a:p>
            <a:pPr algn="ctr" indent="0" marL="0">
              <a:buNone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completion ALND — MDT</a:t>
            </a:r>
            <a:endParaRPr lang="en-US" sz="930" dirty="0"/>
          </a:p>
        </p:txBody>
      </p:sp>
      <p:sp>
        <p:nvSpPr>
          <p:cNvPr id="24" name="Shape 22"/>
          <p:cNvSpPr/>
          <p:nvPr/>
        </p:nvSpPr>
        <p:spPr>
          <a:xfrm>
            <a:off x="228600" y="2907792"/>
            <a:ext cx="4663440" cy="502920"/>
          </a:xfrm>
          <a:prstGeom prst="roundRect">
            <a:avLst>
              <a:gd name="adj" fmla="val 10909"/>
            </a:avLst>
          </a:prstGeom>
          <a:solidFill>
            <a:srgbClr val="FDEDEC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74320" y="2926080"/>
            <a:ext cx="457200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for SLNB:</a:t>
            </a:r>
            <a:r>
              <a:rPr lang="en-US" sz="94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inflammatory cancer • biopsy-proven nodes (→ ALND or neoadjuvant) • DCIS without mastectomy • prior axillary surgery</a:t>
            </a:r>
            <a:endParaRPr lang="en-US" sz="94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74920" y="694944"/>
          <a:ext cx="384048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292608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finding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ALMANAC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SLNB: ↓ lymphedema, sensory loss, drain use, stay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NSABP B-32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 97%, FNR 9.7%; 26% SLN+ (&gt;60% no other +ve node); same DFS/OS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Z0010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10.5% occult IHC mets → not prognostic → no routine IHC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Z0011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OS 91.9 vs 92.5%, DFS 82.2 vs 83.8%; lymphedema 13% vs 2%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IBCSG 23-01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Micromets: no benefit from ALND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7" name="Shape 24"/>
          <p:cNvSpPr/>
          <p:nvPr/>
        </p:nvSpPr>
        <p:spPr>
          <a:xfrm>
            <a:off x="5074920" y="2907792"/>
            <a:ext cx="3840480" cy="502920"/>
          </a:xfrm>
          <a:prstGeom prst="rect">
            <a:avLst/>
          </a:prstGeom>
          <a:solidFill>
            <a:srgbClr val="FDFCF0"/>
          </a:solidFill>
          <a:ln w="9525">
            <a:solidFill>
              <a:srgbClr val="7D6608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5148072" y="2962656"/>
            <a:ext cx="37124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250"/>
              </a:spcAft>
              <a:buNone/>
            </a:pP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SLNB safe in pregnancy with isotope alone; acceptable for T3 (~75% node +) and after neoadjuvant chemo (ASCO)</a:t>
            </a:r>
            <a:endParaRPr lang="en-US" sz="880" dirty="0"/>
          </a:p>
        </p:txBody>
      </p:sp>
      <p:sp>
        <p:nvSpPr>
          <p:cNvPr id="29" name="Shape 26"/>
          <p:cNvSpPr/>
          <p:nvPr/>
        </p:nvSpPr>
        <p:spPr>
          <a:xfrm>
            <a:off x="228600" y="3502152"/>
            <a:ext cx="8686800" cy="1143000"/>
          </a:xfrm>
          <a:prstGeom prst="rect">
            <a:avLst/>
          </a:prstGeom>
          <a:solidFill>
            <a:srgbClr val="FDEDEC"/>
          </a:solidFill>
          <a:ln w="9525">
            <a:solidFill>
              <a:srgbClr val="C0392B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301752" y="3520440"/>
            <a:ext cx="8540496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Pitfalls:</a:t>
            </a: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SLN not found → ALND • never inject blue dye subdermally (tattoo / skin necrosis); isosulfan allergy ~1:10,000; warn of blue urine • false-negatives rise with lateral tumours, prior excisional biopsy and fewer nodes removed • Z0011 limits: half the planned accrual, non-standardised tangent coverage • with Z0011, intra-operative node assessment is often skipped; nomograms estimate non-SLN risk.</a:t>
            </a:r>
            <a:endParaRPr lang="en-US" sz="95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Axilla Around Neoadjuvant Chemotherapy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by Stage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28600" y="694944"/>
            <a:ext cx="4846320" cy="384048"/>
          </a:xfrm>
          <a:prstGeom prst="roundRect">
            <a:avLst>
              <a:gd name="adj" fmla="val 14286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4320" y="713232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Biopsy-proven node-positive (cN1) → CLIP the node → neoadjuvant chemotherapy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651760" y="1078992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417320" y="1143000"/>
            <a:ext cx="2468880" cy="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17320" y="1143000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3886200" y="1143000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228600" y="1207008"/>
            <a:ext cx="2377440" cy="411480"/>
          </a:xfrm>
          <a:prstGeom prst="roundRect">
            <a:avLst>
              <a:gd name="adj" fmla="val 13333"/>
            </a:avLst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74320" y="1225296"/>
            <a:ext cx="228600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Converts to clinically N0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2697480" y="1207008"/>
            <a:ext cx="2377440" cy="411480"/>
          </a:xfrm>
          <a:prstGeom prst="roundRect">
            <a:avLst>
              <a:gd name="adj" fmla="val 13333"/>
            </a:avLst>
          </a:prstGeom>
          <a:solidFill>
            <a:srgbClr val="FDEDEC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743200" y="1225296"/>
            <a:ext cx="228600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Persistent nodes / progression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1417320" y="1618488"/>
            <a:ext cx="0" cy="118872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3886200" y="1618488"/>
            <a:ext cx="0" cy="118872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228600" y="1737360"/>
            <a:ext cx="2377440" cy="1097280"/>
          </a:xfrm>
          <a:prstGeom prst="roundRect">
            <a:avLst>
              <a:gd name="adj" fmla="val 5000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74320" y="1755648"/>
            <a:ext cx="228600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SLN surgery: dual tracer, ≥3 SLNs, retrieve the clipped node (targeted axillary dissection) → FNR 1.4–6.8% (target ≤10%)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2697480" y="1737360"/>
            <a:ext cx="2377440" cy="1097280"/>
          </a:xfrm>
          <a:prstGeom prst="roundRect">
            <a:avLst>
              <a:gd name="adj" fmla="val 5000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743200" y="1755648"/>
            <a:ext cx="228600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Axillary lymph node dissection (levels I–III)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1417320" y="2834640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886200" y="2834640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417320" y="2898648"/>
            <a:ext cx="2468880" cy="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651760" y="2898648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228600" y="2962656"/>
            <a:ext cx="4846320" cy="502920"/>
          </a:xfrm>
          <a:prstGeom prst="roundRect">
            <a:avLst>
              <a:gd name="adj" fmla="val 10909"/>
            </a:avLst>
          </a:prstGeom>
          <a:solidFill>
            <a:srgbClr val="FDFCF0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74320" y="2980944"/>
            <a:ext cx="475488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cN0 at presentation: SLNB after chemo accepted (14 studies, 818 pts: FNR 11%, accuracy 94%) — or SLNB before chemo</a:t>
            </a:r>
            <a:endParaRPr lang="en-US" sz="950" dirty="0"/>
          </a:p>
        </p:txBody>
      </p:sp>
      <p:graphicFrame>
        <p:nvGraphicFramePr>
          <p:cNvPr id="30" name="Chart 0" descr=""/>
          <p:cNvGraphicFramePr/>
          <p:nvPr/>
        </p:nvGraphicFramePr>
        <p:xfrm>
          <a:off x="5303520" y="658368"/>
          <a:ext cx="3611880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31" name="Shape 28"/>
          <p:cNvSpPr/>
          <p:nvPr/>
        </p:nvSpPr>
        <p:spPr>
          <a:xfrm>
            <a:off x="228600" y="3566160"/>
            <a:ext cx="8686800" cy="1078992"/>
          </a:xfrm>
          <a:prstGeom prst="rect">
            <a:avLst/>
          </a:prstGeom>
          <a:solidFill>
            <a:srgbClr val="FDEDEC"/>
          </a:solidFill>
          <a:ln w="9525">
            <a:solidFill>
              <a:srgbClr val="C0392B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301752" y="3584448"/>
            <a:ext cx="854049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Pitfalls:</a:t>
            </a:r>
            <a:r>
              <a:rPr lang="en-US" sz="96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No randomised trial and no long-term data yet on omitting ALND after cN1 → cN0 • if SLN not found → ALND • single-tracer mapping or &lt;3 SLNs raises FNR (Z1071 12.6% &gt; 10% target; SENTINA and SN-FNAC agree) • biopsy-proven nodes should not go straight to SLNB — use ALND or neoadjuvant therapy first.</a:t>
            </a:r>
            <a:endParaRPr lang="en-US" sz="96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Stage IIIA / IIIB — Locally Advanced Algorithm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by Stage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28600" y="694944"/>
            <a:ext cx="5120640" cy="310896"/>
          </a:xfrm>
          <a:prstGeom prst="roundRect">
            <a:avLst>
              <a:gd name="adj" fmla="val 17647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4320" y="71323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IIIA/IIIB — high risk of occult distant disease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788920" y="1005840"/>
            <a:ext cx="0" cy="9144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228600" y="1097280"/>
            <a:ext cx="5120640" cy="329184"/>
          </a:xfrm>
          <a:prstGeom prst="roundRect">
            <a:avLst>
              <a:gd name="adj" fmla="val 16667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4320" y="1115568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systemically (PET/CT or CT + bone scan) • core biopsy: ER/PR/HER2</a:t>
            </a:r>
            <a:endParaRPr lang="en-US" sz="980" dirty="0"/>
          </a:p>
        </p:txBody>
      </p:sp>
      <p:sp>
        <p:nvSpPr>
          <p:cNvPr id="13" name="Shape 11"/>
          <p:cNvSpPr/>
          <p:nvPr/>
        </p:nvSpPr>
        <p:spPr>
          <a:xfrm>
            <a:off x="2788920" y="1426464"/>
            <a:ext cx="0" cy="9144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228600" y="1517904"/>
            <a:ext cx="5120640" cy="457200"/>
          </a:xfrm>
          <a:prstGeom prst="roundRect">
            <a:avLst>
              <a:gd name="adj" fmla="val 12000"/>
            </a:avLst>
          </a:prstGeom>
          <a:solidFill>
            <a:srgbClr val="F5EEF8"/>
          </a:solidFill>
          <a:ln w="12700">
            <a:solidFill>
              <a:srgbClr val="6C348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74320" y="1536192"/>
            <a:ext cx="5029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NEOADJUVANT CHEMO</a:t>
            </a:r>
            <a:r>
              <a:rPr lang="en-US" sz="8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anthracycline ± taxane (HER2+: + trastuzumab ± pertuzumab)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Indolent ER+ with comorbidity → neoadjuvant / primary endocrine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2788920" y="1975104"/>
            <a:ext cx="0" cy="9144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228600" y="2066544"/>
            <a:ext cx="5120640" cy="274320"/>
          </a:xfrm>
          <a:prstGeom prst="roundRect">
            <a:avLst>
              <a:gd name="adj" fmla="val 20000"/>
            </a:avLst>
          </a:prstGeom>
          <a:solidFill>
            <a:srgbClr val="FDFCF0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74320" y="2084832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 RESPONSE — review with the oncologist at intervals</a:t>
            </a:r>
            <a:endParaRPr lang="en-US" sz="980" dirty="0"/>
          </a:p>
        </p:txBody>
      </p:sp>
      <p:sp>
        <p:nvSpPr>
          <p:cNvPr id="19" name="Shape 17"/>
          <p:cNvSpPr/>
          <p:nvPr/>
        </p:nvSpPr>
        <p:spPr>
          <a:xfrm>
            <a:off x="2788920" y="2340864"/>
            <a:ext cx="0" cy="54864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463040" y="2395728"/>
            <a:ext cx="2651760" cy="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463040" y="2395728"/>
            <a:ext cx="0" cy="54864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4114800" y="2395728"/>
            <a:ext cx="0" cy="54864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228600" y="2450592"/>
            <a:ext cx="2468880" cy="274320"/>
          </a:xfrm>
          <a:prstGeom prst="roundRect">
            <a:avLst>
              <a:gd name="adj" fmla="val 20000"/>
            </a:avLst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74320" y="2468880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/ partial response</a:t>
            </a:r>
            <a:endParaRPr lang="en-US" sz="970" dirty="0"/>
          </a:p>
        </p:txBody>
      </p:sp>
      <p:sp>
        <p:nvSpPr>
          <p:cNvPr id="25" name="Shape 23"/>
          <p:cNvSpPr/>
          <p:nvPr/>
        </p:nvSpPr>
        <p:spPr>
          <a:xfrm>
            <a:off x="2880360" y="2450592"/>
            <a:ext cx="2468880" cy="274320"/>
          </a:xfrm>
          <a:prstGeom prst="roundRect">
            <a:avLst>
              <a:gd name="adj" fmla="val 20000"/>
            </a:avLst>
          </a:prstGeom>
          <a:solidFill>
            <a:srgbClr val="FDEDEC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26080" y="2468880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response / progression</a:t>
            </a:r>
            <a:endParaRPr lang="en-US" sz="970" dirty="0"/>
          </a:p>
        </p:txBody>
      </p:sp>
      <p:sp>
        <p:nvSpPr>
          <p:cNvPr id="27" name="Shape 25"/>
          <p:cNvSpPr/>
          <p:nvPr/>
        </p:nvSpPr>
        <p:spPr>
          <a:xfrm>
            <a:off x="1463040" y="2724912"/>
            <a:ext cx="0" cy="9144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4114800" y="2724912"/>
            <a:ext cx="0" cy="9144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228600" y="2816352"/>
            <a:ext cx="2468880" cy="713232"/>
          </a:xfrm>
          <a:prstGeom prst="roundRect">
            <a:avLst>
              <a:gd name="adj" fmla="val 7692"/>
            </a:avLst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74320" y="2834640"/>
            <a:ext cx="2377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MRM, or BCS + ALND in selected IIIA responders (5-y ipsilateral control ≈95%)</a:t>
            </a:r>
            <a:endParaRPr lang="en-US" sz="940" dirty="0"/>
          </a:p>
        </p:txBody>
      </p:sp>
      <p:sp>
        <p:nvSpPr>
          <p:cNvPr id="31" name="Shape 29"/>
          <p:cNvSpPr/>
          <p:nvPr/>
        </p:nvSpPr>
        <p:spPr>
          <a:xfrm>
            <a:off x="2880360" y="2816352"/>
            <a:ext cx="2468880" cy="713232"/>
          </a:xfrm>
          <a:prstGeom prst="roundRect">
            <a:avLst>
              <a:gd name="adj" fmla="val 7692"/>
            </a:avLst>
          </a:prstGeom>
          <a:solidFill>
            <a:srgbClr val="FDEDEC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926080" y="2834640"/>
            <a:ext cx="2377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to ALTERNATIVE systemic therapy (different class)</a:t>
            </a:r>
            <a:endParaRPr lang="en-US" sz="940" dirty="0"/>
          </a:p>
        </p:txBody>
      </p:sp>
      <p:sp>
        <p:nvSpPr>
          <p:cNvPr id="33" name="Shape 31"/>
          <p:cNvSpPr/>
          <p:nvPr/>
        </p:nvSpPr>
        <p:spPr>
          <a:xfrm>
            <a:off x="1463040" y="3529584"/>
            <a:ext cx="0" cy="9144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4114800" y="3529584"/>
            <a:ext cx="0" cy="9144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228600" y="3621024"/>
            <a:ext cx="2468880" cy="566928"/>
          </a:xfrm>
          <a:prstGeom prst="roundRect">
            <a:avLst>
              <a:gd name="adj" fmla="val 9677"/>
            </a:avLst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74320" y="3639312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Adjuvant RT (breast/chest wall + supraclavicular) → complete systemic/endocrine → follow-up</a:t>
            </a:r>
            <a:endParaRPr lang="en-US" sz="930" dirty="0"/>
          </a:p>
        </p:txBody>
      </p:sp>
      <p:sp>
        <p:nvSpPr>
          <p:cNvPr id="37" name="Shape 35"/>
          <p:cNvSpPr/>
          <p:nvPr/>
        </p:nvSpPr>
        <p:spPr>
          <a:xfrm>
            <a:off x="2880360" y="3621024"/>
            <a:ext cx="2468880" cy="566928"/>
          </a:xfrm>
          <a:prstGeom prst="roundRect">
            <a:avLst>
              <a:gd name="adj" fmla="val 9677"/>
            </a:avLst>
          </a:prstGeom>
          <a:solidFill>
            <a:srgbClr val="FDEDEC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926080" y="3639312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Individualise local therapy; minimal response → MRM, always followed by RT</a:t>
            </a:r>
            <a:endParaRPr lang="en-US" sz="930" dirty="0"/>
          </a:p>
        </p:txBody>
      </p:sp>
      <p:sp>
        <p:nvSpPr>
          <p:cNvPr id="39" name="Shape 37"/>
          <p:cNvSpPr/>
          <p:nvPr/>
        </p:nvSpPr>
        <p:spPr>
          <a:xfrm>
            <a:off x="5532120" y="694944"/>
            <a:ext cx="3383280" cy="1847088"/>
          </a:xfrm>
          <a:prstGeom prst="rect">
            <a:avLst/>
          </a:prstGeom>
          <a:solidFill>
            <a:srgbClr val="E8F4FD"/>
          </a:solidFill>
          <a:ln w="9525">
            <a:solidFill>
              <a:srgbClr val="21618C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623560" y="749808"/>
            <a:ext cx="3200400" cy="190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3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 fields after neoadjuvant chemo</a:t>
            </a:r>
            <a:endParaRPr lang="en-US" sz="1030" dirty="0"/>
          </a:p>
        </p:txBody>
      </p:sp>
      <p:sp>
        <p:nvSpPr>
          <p:cNvPr id="41" name="Text 39"/>
          <p:cNvSpPr/>
          <p:nvPr/>
        </p:nvSpPr>
        <p:spPr>
          <a:xfrm>
            <a:off x="5605272" y="968172"/>
            <a:ext cx="3255264" cy="1546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Segmental mastectomy ± ALND → breast + supraclavicular RT</a:t>
            </a:r>
            <a:endParaRPr lang="en-US" sz="88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Mastectomy ± ALND → chest wall + supraclavicular RT</a:t>
            </a:r>
            <a:endParaRPr lang="en-US" sz="88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Surgery + ALND then adjuvant chemo → chest wall + supraclavicular RT</a:t>
            </a:r>
            <a:endParaRPr lang="en-US" sz="88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Grossly involved IMNs → chemo + RT; no consensus for clinically negative IMNs</a:t>
            </a:r>
            <a:endParaRPr lang="en-US" sz="880" dirty="0"/>
          </a:p>
        </p:txBody>
      </p:sp>
      <p:sp>
        <p:nvSpPr>
          <p:cNvPr id="42" name="Shape 40"/>
          <p:cNvSpPr/>
          <p:nvPr/>
        </p:nvSpPr>
        <p:spPr>
          <a:xfrm>
            <a:off x="5532120" y="2615184"/>
            <a:ext cx="3383280" cy="1572768"/>
          </a:xfrm>
          <a:prstGeom prst="rect">
            <a:avLst/>
          </a:prstGeom>
          <a:solidFill>
            <a:srgbClr val="FDFCF0"/>
          </a:solidFill>
          <a:ln w="9525">
            <a:solidFill>
              <a:srgbClr val="7D660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623560" y="2670048"/>
            <a:ext cx="3200400" cy="190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30" b="1" dirty="0">
                <a:solidFill>
                  <a:srgbClr val="7D66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1030" dirty="0"/>
          </a:p>
        </p:txBody>
      </p:sp>
      <p:sp>
        <p:nvSpPr>
          <p:cNvPr id="44" name="Text 42"/>
          <p:cNvSpPr/>
          <p:nvPr/>
        </p:nvSpPr>
        <p:spPr>
          <a:xfrm>
            <a:off x="5605272" y="2888412"/>
            <a:ext cx="3255264" cy="12721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Chemo maximises distant control; RT maximises local control</a:t>
            </a:r>
            <a:endParaRPr lang="en-US" sz="88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Neoadjuvant endocrine (Z1031; PEPI score guides chemo): series 5-y OS 76%</a:t>
            </a:r>
            <a:endParaRPr lang="en-US" sz="88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local recurrence after BCS: cN2–N3, residual &gt;2 cm, multifocal residual, LVI</a:t>
            </a:r>
            <a:endParaRPr lang="en-US" sz="880" dirty="0"/>
          </a:p>
        </p:txBody>
      </p:sp>
      <p:sp>
        <p:nvSpPr>
          <p:cNvPr id="45" name="Shape 43"/>
          <p:cNvSpPr/>
          <p:nvPr/>
        </p:nvSpPr>
        <p:spPr>
          <a:xfrm>
            <a:off x="228600" y="4261104"/>
            <a:ext cx="8686800" cy="402336"/>
          </a:xfrm>
          <a:prstGeom prst="rect">
            <a:avLst/>
          </a:prstGeom>
          <a:solidFill>
            <a:srgbClr val="FDEDEC"/>
          </a:solidFill>
          <a:ln w="9525">
            <a:solidFill>
              <a:srgbClr val="C0392B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01752" y="4279392"/>
            <a:ext cx="85404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Pitfalls:</a:t>
            </a: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Not "cure by local therapy" • RT alone without resection → more local failure (HR 1.3–1.5) • do not wait passively — some progress on chemo.</a:t>
            </a:r>
            <a:endParaRPr lang="en-US" sz="93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Inflammatory Breast Carcinoma (T4d, Stage IIIB)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by Stage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28600" y="694944"/>
            <a:ext cx="4846320" cy="329184"/>
          </a:xfrm>
          <a:prstGeom prst="roundRect">
            <a:avLst>
              <a:gd name="adj" fmla="val 16667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4320" y="713232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1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Inflammatory carcinoma</a:t>
            </a:r>
            <a:r>
              <a:rPr lang="en-US" sz="81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&lt;3% of breast cancers; clinical stage IIIB (T4d)</a:t>
            </a:r>
            <a:endParaRPr lang="en-US" sz="810" dirty="0"/>
          </a:p>
        </p:txBody>
      </p:sp>
      <p:sp>
        <p:nvSpPr>
          <p:cNvPr id="10" name="Shape 8"/>
          <p:cNvSpPr/>
          <p:nvPr/>
        </p:nvSpPr>
        <p:spPr>
          <a:xfrm>
            <a:off x="2651760" y="1024128"/>
            <a:ext cx="0" cy="10972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228600" y="1133856"/>
            <a:ext cx="4846320" cy="566928"/>
          </a:xfrm>
          <a:prstGeom prst="roundRect">
            <a:avLst>
              <a:gd name="adj" fmla="val 9677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4320" y="1152144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Diagnosis: erythema with raised edge, brawny induration, peau d'orange; mimics infection. Skin biopsy → dermal lymphatic invasion. ER/HER2 status; PET-CT (25% M1 at diagnosis)</a:t>
            </a:r>
            <a:endParaRPr lang="en-US" sz="960" dirty="0"/>
          </a:p>
        </p:txBody>
      </p:sp>
      <p:sp>
        <p:nvSpPr>
          <p:cNvPr id="13" name="Shape 11"/>
          <p:cNvSpPr/>
          <p:nvPr/>
        </p:nvSpPr>
        <p:spPr>
          <a:xfrm>
            <a:off x="2651760" y="1700784"/>
            <a:ext cx="0" cy="10972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228600" y="1810512"/>
            <a:ext cx="4846320" cy="457200"/>
          </a:xfrm>
          <a:prstGeom prst="roundRect">
            <a:avLst>
              <a:gd name="adj" fmla="val 12000"/>
            </a:avLst>
          </a:prstGeom>
          <a:solidFill>
            <a:srgbClr val="FDFCF0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74320" y="1828800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NEOADJUVANT</a:t>
            </a:r>
            <a:r>
              <a:rPr lang="en-US" sz="96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anthracycline-based chemotherapy (dramatic regression in up to 75%); HER2/ER-directed therapy as indicated</a:t>
            </a:r>
            <a:endParaRPr lang="en-US" sz="960" dirty="0"/>
          </a:p>
        </p:txBody>
      </p:sp>
      <p:sp>
        <p:nvSpPr>
          <p:cNvPr id="16" name="Shape 14"/>
          <p:cNvSpPr/>
          <p:nvPr/>
        </p:nvSpPr>
        <p:spPr>
          <a:xfrm>
            <a:off x="2651760" y="2267712"/>
            <a:ext cx="0" cy="10972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228600" y="2377440"/>
            <a:ext cx="4846320" cy="329184"/>
          </a:xfrm>
          <a:prstGeom prst="roundRect">
            <a:avLst>
              <a:gd name="adj" fmla="val 16667"/>
            </a:avLst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74320" y="2395728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MODIFIED RADICAL MASTECTOMY</a:t>
            </a:r>
            <a:r>
              <a:rPr lang="en-US" sz="96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after documented response</a:t>
            </a:r>
            <a:endParaRPr lang="en-US" sz="960" dirty="0"/>
          </a:p>
        </p:txBody>
      </p:sp>
      <p:sp>
        <p:nvSpPr>
          <p:cNvPr id="19" name="Shape 17"/>
          <p:cNvSpPr/>
          <p:nvPr/>
        </p:nvSpPr>
        <p:spPr>
          <a:xfrm>
            <a:off x="2651760" y="2706624"/>
            <a:ext cx="0" cy="10972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228600" y="2816352"/>
            <a:ext cx="4846320" cy="457200"/>
          </a:xfrm>
          <a:prstGeom prst="roundRect">
            <a:avLst>
              <a:gd name="adj" fmla="val 12000"/>
            </a:avLst>
          </a:prstGeom>
          <a:solidFill>
            <a:srgbClr val="FDEDEC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74320" y="2834640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Adjuvant therapy + RT to chest wall, supraclavicular, internal mammary and axillary basins → 5-y survival ≈30%; offer trials</a:t>
            </a:r>
            <a:endParaRPr lang="en-US" sz="960" dirty="0"/>
          </a:p>
        </p:txBody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257800" y="694944"/>
          <a:ext cx="36576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97280"/>
                <a:gridCol w="109728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Feature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Inflammatory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Neglected LABC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Dermal lymphatic invasion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Present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Absent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Delineation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Poor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Better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Erythema / oedema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&gt;⅓ of skin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Confined to lesion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Node involvement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&gt;75%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~50%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M1 at presentation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 common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Onset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Rapid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Slow, neglected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</a:tbl>
          </a:graphicData>
        </a:graphic>
      </p:graphicFrame>
      <p:sp>
        <p:nvSpPr>
          <p:cNvPr id="23" name="Shape 20"/>
          <p:cNvSpPr/>
          <p:nvPr/>
        </p:nvSpPr>
        <p:spPr>
          <a:xfrm>
            <a:off x="5257800" y="3017520"/>
            <a:ext cx="3657600" cy="1627632"/>
          </a:xfrm>
          <a:prstGeom prst="rect">
            <a:avLst/>
          </a:prstGeom>
          <a:solidFill>
            <a:srgbClr val="FDEDEC"/>
          </a:solidFill>
          <a:ln w="9525">
            <a:solidFill>
              <a:srgbClr val="C0392B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5330952" y="3035808"/>
            <a:ext cx="351129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Pitfalls:</a:t>
            </a:r>
            <a:r>
              <a:rPr lang="en-US" sz="97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Treating it as mastitis/abscess delays diagnosis — biopsy any "infection" that fails antibiotics</a:t>
            </a:r>
            <a:endParaRPr lang="en-US" sz="970" dirty="0"/>
          </a:p>
          <a:p>
            <a:pPr indent="0" marL="0">
              <a:buNone/>
            </a:pPr>
            <a:r>
              <a:rPr lang="en-US" sz="97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SLNB (unreliable) • no breast conservation or skin-/nipple-sparing mastectomy</a:t>
            </a:r>
            <a:endParaRPr lang="en-US" sz="970" dirty="0"/>
          </a:p>
          <a:p>
            <a:pPr indent="0" marL="0">
              <a:buNone/>
            </a:pPr>
            <a:r>
              <a:rPr lang="en-US" sz="97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operate first: surgery alone or with RT is disappointing</a:t>
            </a:r>
            <a:endParaRPr lang="en-US" sz="970" dirty="0"/>
          </a:p>
          <a:p>
            <a:pPr indent="0" marL="0">
              <a:buNone/>
            </a:pPr>
            <a:r>
              <a:rPr lang="en-US" sz="97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systemically before treatment (25% already metastatic)</a:t>
            </a:r>
            <a:endParaRPr lang="en-US" sz="97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Stage IV — Metastatic Disease Algorithm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by Stage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28600" y="694944"/>
            <a:ext cx="8686800" cy="384048"/>
          </a:xfrm>
          <a:prstGeom prst="roundRect">
            <a:avLst>
              <a:gd name="adj" fmla="val 14286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4320" y="713232"/>
            <a:ext cx="8595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IV — not curable: prolong survival, palliate, protect quality of life. RE-BIOPSY the metastasis (ER/PR/HER2 can change)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572000" y="1078992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618488" y="1143000"/>
            <a:ext cx="5907024" cy="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1143000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4572000" y="1143000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7525512" y="1143000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228600" y="1207008"/>
            <a:ext cx="2788920" cy="530352"/>
          </a:xfrm>
          <a:prstGeom prst="roundRect">
            <a:avLst>
              <a:gd name="adj" fmla="val 10345"/>
            </a:avLst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74320" y="1225296"/>
            <a:ext cx="2697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HR+, NO visceral crisis</a:t>
            </a:r>
            <a:endParaRPr lang="en-US" sz="980" dirty="0"/>
          </a:p>
          <a:p>
            <a:pPr algn="ctr" indent="0" marL="0">
              <a:buNone/>
            </a:pPr>
            <a:r>
              <a:rPr lang="en-US" sz="9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(bone, soft tissue, limited visceral)</a:t>
            </a:r>
            <a:endParaRPr lang="en-US" sz="980" dirty="0"/>
          </a:p>
        </p:txBody>
      </p:sp>
      <p:sp>
        <p:nvSpPr>
          <p:cNvPr id="17" name="Shape 15"/>
          <p:cNvSpPr/>
          <p:nvPr/>
        </p:nvSpPr>
        <p:spPr>
          <a:xfrm>
            <a:off x="1618488" y="1737360"/>
            <a:ext cx="0" cy="10972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3182112" y="1207008"/>
            <a:ext cx="2788920" cy="530352"/>
          </a:xfrm>
          <a:prstGeom prst="roundRect">
            <a:avLst>
              <a:gd name="adj" fmla="val 10345"/>
            </a:avLst>
          </a:prstGeom>
          <a:solidFill>
            <a:srgbClr val="FDEDEC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227832" y="1225296"/>
            <a:ext cx="2697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HR−, visceral crisis, or hormone-refractory</a:t>
            </a:r>
            <a:endParaRPr lang="en-US" sz="980" dirty="0"/>
          </a:p>
        </p:txBody>
      </p:sp>
      <p:sp>
        <p:nvSpPr>
          <p:cNvPr id="20" name="Shape 18"/>
          <p:cNvSpPr/>
          <p:nvPr/>
        </p:nvSpPr>
        <p:spPr>
          <a:xfrm>
            <a:off x="4572000" y="1737360"/>
            <a:ext cx="0" cy="10972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6135624" y="1207008"/>
            <a:ext cx="2788920" cy="530352"/>
          </a:xfrm>
          <a:prstGeom prst="roundRect">
            <a:avLst>
              <a:gd name="adj" fmla="val 10345"/>
            </a:avLst>
          </a:prstGeom>
          <a:solidFill>
            <a:srgbClr val="FDFCF0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181344" y="1225296"/>
            <a:ext cx="2697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Anatomically localised problem</a:t>
            </a:r>
            <a:endParaRPr lang="en-US" sz="980" dirty="0"/>
          </a:p>
        </p:txBody>
      </p:sp>
      <p:sp>
        <p:nvSpPr>
          <p:cNvPr id="23" name="Shape 21"/>
          <p:cNvSpPr/>
          <p:nvPr/>
        </p:nvSpPr>
        <p:spPr>
          <a:xfrm>
            <a:off x="7525512" y="1737360"/>
            <a:ext cx="0" cy="10972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228600" y="1847088"/>
            <a:ext cx="2788920" cy="868680"/>
          </a:xfrm>
          <a:prstGeom prst="roundRect">
            <a:avLst>
              <a:gd name="adj" fmla="val 6316"/>
            </a:avLst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74320" y="1865376"/>
            <a:ext cx="2697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ENDOCRINE THERAPY FIRST (± CDK4/6 inhibitor). Symptoms alone ≠ chemo: drain a pleural effusion first → relief → endocrine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3182112" y="1847088"/>
            <a:ext cx="2788920" cy="868680"/>
          </a:xfrm>
          <a:prstGeom prst="roundRect">
            <a:avLst>
              <a:gd name="adj" fmla="val 6316"/>
            </a:avLst>
          </a:prstGeom>
          <a:solidFill>
            <a:srgbClr val="FDEDEC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227832" y="1865376"/>
            <a:ext cx="2697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CHEMOTHERAPY (HER2+: with anti-HER2 agents); lymphangitic spread → chemo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6135624" y="1847088"/>
            <a:ext cx="2788920" cy="868680"/>
          </a:xfrm>
          <a:prstGeom prst="roundRect">
            <a:avLst>
              <a:gd name="adj" fmla="val 6316"/>
            </a:avLst>
          </a:prstGeom>
          <a:solidFill>
            <a:srgbClr val="FDFCF0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181344" y="1865376"/>
            <a:ext cx="2697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Individualised surgery / RT: brain mets, effusions, biliary/ureteric obstruction, (impending) fracture, cord compression, painful mets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1618488" y="2715768"/>
            <a:ext cx="0" cy="5943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572000" y="2715768"/>
            <a:ext cx="0" cy="5943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525512" y="2715768"/>
            <a:ext cx="0" cy="5943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618488" y="2775204"/>
            <a:ext cx="5907024" cy="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572000" y="2775204"/>
            <a:ext cx="0" cy="5943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228600" y="2834640"/>
            <a:ext cx="8686800" cy="457200"/>
          </a:xfrm>
          <a:prstGeom prst="roundRect">
            <a:avLst>
              <a:gd name="adj" fmla="val 12000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74320" y="2852928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Bone metastases: add bisphosphonate or denosumab (anti-RANKL) • Resection of primary: retrospective benefit (selection bias), ECOG E2108 randomised — decide in MDT with patient goals</a:t>
            </a:r>
            <a:endParaRPr lang="en-US" sz="960" dirty="0"/>
          </a:p>
        </p:txBody>
      </p:sp>
      <p:sp>
        <p:nvSpPr>
          <p:cNvPr id="37" name="Shape 35"/>
          <p:cNvSpPr/>
          <p:nvPr/>
        </p:nvSpPr>
        <p:spPr>
          <a:xfrm>
            <a:off x="228600" y="3383280"/>
            <a:ext cx="8686800" cy="1261872"/>
          </a:xfrm>
          <a:prstGeom prst="rect">
            <a:avLst/>
          </a:prstGeom>
          <a:solidFill>
            <a:srgbClr val="FDEDEC"/>
          </a:solidFill>
          <a:ln w="9525">
            <a:solidFill>
              <a:srgbClr val="C0392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01752" y="3401568"/>
            <a:ext cx="8540496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Pitfalls:</a:t>
            </a: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Visceral metastasis ≠ visceral crisis (crisis = immediately life-threatening organ dysfunction) • do not start chemotherapy just for symptoms — find the cause (effusion vs lymphangitic spread; same logic for pain) • do not assume receptor status of the primary — re-biopsy • clinical benefit on endocrine therapy → another endocrine line; primary progression → &lt;20% benefit from the next endocrine agent, weigh chemo • ESR1 mutations (20–30% after AI) → AI resistance.</a:t>
            </a:r>
            <a:endParaRPr lang="en-US" sz="95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Recurrence — Types &amp; Management Flowchart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by Stage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28600" y="694944"/>
            <a:ext cx="5897880" cy="310896"/>
          </a:xfrm>
          <a:prstGeom prst="roundRect">
            <a:avLst>
              <a:gd name="adj" fmla="val 17647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4320" y="713232"/>
            <a:ext cx="5806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Suspected recurrence after BCT or mastectomy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172968" y="1005840"/>
            <a:ext cx="0" cy="9144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228600" y="1097280"/>
            <a:ext cx="5897880" cy="384048"/>
          </a:xfrm>
          <a:prstGeom prst="roundRect">
            <a:avLst>
              <a:gd name="adj" fmla="val 14286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4320" y="1115568"/>
            <a:ext cx="5806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CONFIRM: biopsy + re-test ER/PR/HER2 (may change) • RESTAGE (systemic imaging; MRI for the treated breast)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3172968" y="1481328"/>
            <a:ext cx="0" cy="54864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645920" y="1536192"/>
            <a:ext cx="3017520" cy="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645920" y="1536192"/>
            <a:ext cx="0" cy="54864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4663440" y="1536192"/>
            <a:ext cx="0" cy="54864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228600" y="1591056"/>
            <a:ext cx="2834640" cy="384048"/>
          </a:xfrm>
          <a:prstGeom prst="roundRect">
            <a:avLst>
              <a:gd name="adj" fmla="val 14286"/>
            </a:avLst>
          </a:prstGeom>
          <a:solidFill>
            <a:srgbClr val="FDFCF0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74320" y="1609344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9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LOCAL-REGIONAL only</a:t>
            </a:r>
            <a:r>
              <a:rPr lang="en-US" sz="9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(up to 20%)</a:t>
            </a:r>
            <a:endParaRPr lang="en-US" sz="990" dirty="0"/>
          </a:p>
        </p:txBody>
      </p:sp>
      <p:sp>
        <p:nvSpPr>
          <p:cNvPr id="19" name="Shape 17"/>
          <p:cNvSpPr/>
          <p:nvPr/>
        </p:nvSpPr>
        <p:spPr>
          <a:xfrm>
            <a:off x="3246120" y="1591056"/>
            <a:ext cx="2880360" cy="384048"/>
          </a:xfrm>
          <a:prstGeom prst="roundRect">
            <a:avLst>
              <a:gd name="adj" fmla="val 14286"/>
            </a:avLst>
          </a:prstGeom>
          <a:solidFill>
            <a:srgbClr val="FDEDEC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609344"/>
            <a:ext cx="2788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9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DISTANT ± local</a:t>
            </a:r>
            <a:r>
              <a:rPr lang="en-US" sz="9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(&gt;60% distant; ~20% both)</a:t>
            </a:r>
            <a:endParaRPr lang="en-US" sz="990" dirty="0"/>
          </a:p>
        </p:txBody>
      </p:sp>
      <p:sp>
        <p:nvSpPr>
          <p:cNvPr id="21" name="Shape 19"/>
          <p:cNvSpPr/>
          <p:nvPr/>
        </p:nvSpPr>
        <p:spPr>
          <a:xfrm>
            <a:off x="1645920" y="1975104"/>
            <a:ext cx="0" cy="54864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14400" y="2029968"/>
            <a:ext cx="1463040" cy="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14400" y="2029968"/>
            <a:ext cx="0" cy="54864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2377440" y="2029968"/>
            <a:ext cx="0" cy="54864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228600" y="2084832"/>
            <a:ext cx="1371600" cy="310896"/>
          </a:xfrm>
          <a:prstGeom prst="roundRect">
            <a:avLst>
              <a:gd name="adj" fmla="val 17647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74320" y="21031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mastectomy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1691640" y="2084832"/>
            <a:ext cx="1371600" cy="310896"/>
          </a:xfrm>
          <a:prstGeom prst="roundRect">
            <a:avLst>
              <a:gd name="adj" fmla="val 17647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737360" y="21031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lumpectomy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914400" y="2395728"/>
            <a:ext cx="0" cy="9144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2377440" y="2395728"/>
            <a:ext cx="0" cy="9144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228600" y="2487168"/>
            <a:ext cx="1371600" cy="1234440"/>
          </a:xfrm>
          <a:prstGeom prst="roundRect">
            <a:avLst>
              <a:gd name="adj" fmla="val 4444"/>
            </a:avLst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74320" y="2505456"/>
            <a:ext cx="1280160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6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Resect the recurrence + reconstruction</a:t>
            </a:r>
            <a:endParaRPr lang="en-US" sz="860" dirty="0"/>
          </a:p>
          <a:p>
            <a:pPr algn="ctr" indent="0" marL="0">
              <a:buNone/>
            </a:pPr>
            <a:r>
              <a:rPr lang="en-US" sz="86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 if chest wall not irradiated (palliative if scope remains)</a:t>
            </a:r>
            <a:endParaRPr lang="en-US" sz="860" dirty="0"/>
          </a:p>
          <a:p>
            <a:pPr algn="ctr" indent="0" marL="0">
              <a:buNone/>
            </a:pPr>
            <a:r>
              <a:rPr lang="en-US" sz="86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Chemo / endocrine by receptors</a:t>
            </a:r>
            <a:endParaRPr lang="en-US" sz="860" dirty="0"/>
          </a:p>
        </p:txBody>
      </p:sp>
      <p:sp>
        <p:nvSpPr>
          <p:cNvPr id="33" name="Shape 31"/>
          <p:cNvSpPr/>
          <p:nvPr/>
        </p:nvSpPr>
        <p:spPr>
          <a:xfrm>
            <a:off x="1691640" y="2487168"/>
            <a:ext cx="1371600" cy="1234440"/>
          </a:xfrm>
          <a:prstGeom prst="roundRect">
            <a:avLst>
              <a:gd name="adj" fmla="val 4444"/>
            </a:avLst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737360" y="2505456"/>
            <a:ext cx="1280160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Mastectomy + reconstruction</a:t>
            </a:r>
            <a:endParaRPr lang="en-US" sz="910" dirty="0"/>
          </a:p>
          <a:p>
            <a:pPr algn="ctr" indent="0" marL="0">
              <a:buNone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Chemo and antiestrogen therapy by ER/PR and HER2 status</a:t>
            </a:r>
            <a:endParaRPr lang="en-US" sz="910" dirty="0"/>
          </a:p>
        </p:txBody>
      </p:sp>
      <p:sp>
        <p:nvSpPr>
          <p:cNvPr id="35" name="Shape 33"/>
          <p:cNvSpPr/>
          <p:nvPr/>
        </p:nvSpPr>
        <p:spPr>
          <a:xfrm>
            <a:off x="4663440" y="1975104"/>
            <a:ext cx="0" cy="10972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3246120" y="2084832"/>
            <a:ext cx="2880360" cy="1636776"/>
          </a:xfrm>
          <a:prstGeom prst="roundRect">
            <a:avLst>
              <a:gd name="adj" fmla="val 3352"/>
            </a:avLst>
          </a:prstGeom>
          <a:solidFill>
            <a:srgbClr val="FDEDEC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291840" y="2103120"/>
            <a:ext cx="27889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Treat as </a:t>
            </a:r>
            <a:r>
              <a:rPr lang="en-US" sz="91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IV</a:t>
            </a:r>
            <a:endParaRPr lang="en-US" sz="910" dirty="0"/>
          </a:p>
          <a:p>
            <a:pPr algn="l" indent="0" marL="0">
              <a:buNone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HR+, no crisis → endocrine (± CDK4/6)</a:t>
            </a:r>
            <a:endParaRPr lang="en-US" sz="910" dirty="0"/>
          </a:p>
          <a:p>
            <a:pPr algn="l" indent="0" marL="0">
              <a:buNone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HR− / crisis / refractory → chemo (HER2+: + anti-HER2)</a:t>
            </a:r>
            <a:endParaRPr lang="en-US" sz="910" dirty="0"/>
          </a:p>
          <a:p>
            <a:pPr algn="l" indent="0" marL="0">
              <a:buNone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problem → surgery / RT; bone → bisphosphonate / denosumab</a:t>
            </a:r>
            <a:endParaRPr lang="en-US" sz="910" dirty="0"/>
          </a:p>
          <a:p>
            <a:pPr algn="l" indent="0" marL="0">
              <a:buNone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progression: prior benefit → next endocrine line; primary progression → consider chemo</a:t>
            </a:r>
            <a:endParaRPr lang="en-US" sz="910" dirty="0"/>
          </a:p>
        </p:txBody>
      </p:sp>
      <p:sp>
        <p:nvSpPr>
          <p:cNvPr id="38" name="Shape 36"/>
          <p:cNvSpPr/>
          <p:nvPr/>
        </p:nvSpPr>
        <p:spPr>
          <a:xfrm>
            <a:off x="6309360" y="694944"/>
            <a:ext cx="2606040" cy="3026664"/>
          </a:xfrm>
          <a:prstGeom prst="rect">
            <a:avLst/>
          </a:prstGeom>
          <a:solidFill>
            <a:srgbClr val="F5EEF8"/>
          </a:solidFill>
          <a:ln w="9525">
            <a:solidFill>
              <a:srgbClr val="6C3483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0" y="749808"/>
            <a:ext cx="2423160" cy="1894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b="1" dirty="0">
                <a:solidFill>
                  <a:srgbClr val="6C3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 &amp; risk of recurrence</a:t>
            </a:r>
            <a:endParaRPr lang="en-US" sz="1020" dirty="0"/>
          </a:p>
        </p:txBody>
      </p:sp>
      <p:sp>
        <p:nvSpPr>
          <p:cNvPr id="40" name="Text 38"/>
          <p:cNvSpPr/>
          <p:nvPr/>
        </p:nvSpPr>
        <p:spPr>
          <a:xfrm>
            <a:off x="6382512" y="966673"/>
            <a:ext cx="2478024" cy="27275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7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ER− relapse early (3–5 y); ER+ risk persists well beyond 5 y</a:t>
            </a:r>
            <a:endParaRPr lang="en-US" sz="87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7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60% of metastases within 5 y — some at 20–30 y</a:t>
            </a:r>
            <a:endParaRPr lang="en-US" sz="87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7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Node-neg. &lt;30% vs node-pos. up to 75% recurrence</a:t>
            </a:r>
            <a:endParaRPr lang="en-US" sz="87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7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In-breast recurrence 20 y: 39.2% lumpectomy alone vs 14.3% + RT</a:t>
            </a:r>
            <a:endParaRPr lang="en-US" sz="87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7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 4 local recurrences → prevent ~1 BC death</a:t>
            </a:r>
            <a:endParaRPr lang="en-US" sz="87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7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 and nodes best predict LATE recurrence</a:t>
            </a:r>
            <a:endParaRPr lang="en-US" sz="870" dirty="0"/>
          </a:p>
        </p:txBody>
      </p:sp>
      <p:sp>
        <p:nvSpPr>
          <p:cNvPr id="41" name="Shape 39"/>
          <p:cNvSpPr/>
          <p:nvPr/>
        </p:nvSpPr>
        <p:spPr>
          <a:xfrm>
            <a:off x="228600" y="3794760"/>
            <a:ext cx="8686800" cy="850392"/>
          </a:xfrm>
          <a:prstGeom prst="rect">
            <a:avLst/>
          </a:prstGeom>
          <a:solidFill>
            <a:srgbClr val="FDEDEC"/>
          </a:solidFill>
          <a:ln w="9525">
            <a:solidFill>
              <a:srgbClr val="C0392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1752" y="3813048"/>
            <a:ext cx="8540496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Pitfalls:</a:t>
            </a: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Never treat a "recurrence" without histology and fresh receptors • restage before local salvage — isolated local disease may be the first sign of distant spread • after BCT the salvage is mastectomy (not re-lumpectomy) • after neoadjuvant BCS, recurrence is higher with cN2–N3, residual &gt;2 cm, multifocal residual or LVI.</a:t>
            </a:r>
            <a:endParaRPr lang="en-US" sz="95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Summary — Stage/Type → Modes of Management → Follow-up Focus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by Stage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</a:t>
            </a:r>
            <a:endParaRPr lang="en-US" sz="900" dirty="0"/>
          </a:p>
        </p:txBody>
      </p:sp>
      <p:graphicFrame>
        <p:nvGraphicFramePr>
          <p:cNvPr id="4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676656"/>
          <a:ext cx="86868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874520"/>
                <a:gridCol w="1920240"/>
                <a:gridCol w="1874520"/>
                <a:gridCol w="192024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75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Stage / type</a:t>
                      </a:r>
                      <a:endParaRPr lang="en-US" sz="97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75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Surgery</a:t>
                      </a:r>
                      <a:endParaRPr lang="en-US" sz="97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75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Radiotherapy</a:t>
                      </a:r>
                      <a:endParaRPr lang="en-US" sz="97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75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Systemic therapy</a:t>
                      </a:r>
                      <a:endParaRPr lang="en-US" sz="97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75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Follow-up focus</a:t>
                      </a:r>
                      <a:endParaRPr lang="en-US" sz="97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LCIS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 (bilateral mastectomy optional)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Tamoxifen / raloxifene / AI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Bilateral mammogram + CBE; MRI if high risk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DCIS limited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Lumpectomy ≥2 mm; no SLNB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WBI (omit only low-grade selected)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Tamoxifen 5 y if ER+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Ipsilateral recurrence (~half invasive)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DCIS extensive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Mastectomy + SLNB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tamoxifen after bilateral mastectomy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Contralateral breast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Stage I–IIB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BCT or mastectomy; SLNB (cN0) / ALND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WBI after BCS; PMRT if ≥4 nodes, +ve margin, 1–3 nodes premenopausal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By ER/PR/HER2, size, nodes, grade, RS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Late relapse (ER+ &gt;5 y); endocrine toxicity; lymphedema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Stage IIIA/IIIB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After neoadjuvant: MRM or BCS + ALND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Always: chest wall/breast + supraclavicular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Neoadjuvant chemo ± anti-HER2; complete adjuvant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Response during chemo; distant relapse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Inflammatory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MRM after response only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Chest wall + all nodal basins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Neoadjuvant anthracycline-based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 M1 risk; trials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Stage IV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Palliative / for complications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Palliative (bone, brain, cord)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Endocrine first (HR+, no crisis); chemo; anti-HER2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Response each line; re-biopsy at progression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 recurrence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Resect (post-mastectomy) / mastectomy (post-BCT)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If field not irradiated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By receptors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Restage for distant disease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BRCA carrier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RRM; RRSO at 35–40 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Tamoxifen (BRCA2)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CBE 6-mo; mammo + MRI yearly from 25; TVUS + CA-125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21618C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629400" y="91440"/>
            <a:ext cx="82296" cy="4663440"/>
          </a:xfrm>
          <a:prstGeom prst="rect">
            <a:avLst/>
          </a:prstGeom>
          <a:solidFill>
            <a:srgbClr val="21618C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711696" y="91440"/>
            <a:ext cx="2432304" cy="46634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" y="548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 E C T I O 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74320" y="914400"/>
            <a:ext cx="3657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8800" dirty="0"/>
          </a:p>
        </p:txBody>
      </p:sp>
      <p:sp>
        <p:nvSpPr>
          <p:cNvPr id="7" name="Text 5"/>
          <p:cNvSpPr/>
          <p:nvPr/>
        </p:nvSpPr>
        <p:spPr>
          <a:xfrm>
            <a:off x="320040" y="2514600"/>
            <a:ext cx="6126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Surgery &amp; Adjuvant Therapy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320040" y="3931920"/>
            <a:ext cx="6126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E40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Indications per operation • techniques • reconstruction • radiotherapy • chemotherapy • endocrine • anti-HER2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711696" y="1828800"/>
            <a:ext cx="24323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4800" dirty="0"/>
          </a:p>
        </p:txBody>
      </p:sp>
      <p:sp>
        <p:nvSpPr>
          <p:cNvPr id="10" name="Shape 8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Surgery &amp; Adjuvant Therapy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</a:t>
            </a:r>
            <a:endParaRPr lang="en-US" sz="9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Specific Indications for Each Type of Surgery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Surgery &amp; Adjuvant Therapy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</a:t>
            </a:r>
            <a:endParaRPr lang="en-US" sz="900" dirty="0"/>
          </a:p>
        </p:txBody>
      </p:sp>
      <p:graphicFrame>
        <p:nvGraphicFramePr>
          <p:cNvPr id="5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676656"/>
          <a:ext cx="868680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4206240"/>
                <a:gridCol w="288036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Operation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Indicated for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Avoid / caution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Core / vacuum biopsy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Diagnosis of every palpable or non-palpable lesion (preferred)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Benign core ≠ no cancer; clip the site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Excisional biopsy (wire/seed)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Discordant needle result; radial scar/atypia needing excision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first-line diagnosis; plan incision for later surgery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Breast-conserving therapy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Stage 0–II unifocal disease in non-carriers; selected IIIA after neoadjuvant response; limited DCIS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Prior chest RT, persistent +ve margins, multicentric, lupus/scleroderma, BRCA carrier, inflammatory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Oncoplastic BCS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Skin must be removed; large parenchymal volume; tumour between nipple and IMF; closure would malposition nipple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Skin-sparing mastectomy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Tis–T3 with immediate reconstruction (recurrence &lt;6–8%)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Inflammatory cancer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Nipple-sparing mastectomy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 reduction; cancer &gt;2–3 cm from areola, small breast, minimal ptosis, BMI &lt;40, non-smoker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Planned PMRT, prior RT or periareolar surgery, collagen-vascular disease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(simple) mastectomy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Patient choice (avoid RT); not excisable with good cosmesis; extensive calcifications; large central/subareolar; multicentric; extensive DCIS; risk reduction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Modified radical (Patey)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Node-positive needing ALND; stage III after neoadjuvant; inflammatory after response; male breast cancer; non-responders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Pregnancy: MRM feasible 1st–2nd trimester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Radical (Halsted)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Almost never needed today (systemic therapy + RT)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SLNB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cN0 invasive (incl. T3); mastectomy for DCIS; cN0 after neoadjuvant; pregnancy (isotope only)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Inflammatory, proven nodes, DCIS with BCS, prior axillary surgery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ALND (I–III)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Proven nodes (FNA/core); SLN not found; persistent nodes after neoadjuvant; outside Z0011; inflammatory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Lymphedema risk ↑ with RT, obesity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Targeted axillary dissection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cN1 converting to cN0 after neoadjuvant (clipped node + SLNs)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Needs dual tracer, ≥3 SLNs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Risk-reducing mastectomy / RRSO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BRCA carriers (RRSO 35–40 y after childbearing); very-high-risk LCIS by choice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Survival benefit unproven in non-carriers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Technique — Localised Excision &amp; Breast-Conserving Surgery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Surgery &amp; Adjuvant Therapy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28600" y="658368"/>
            <a:ext cx="8686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Breast-conserving surgery — step sequence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28600" y="932688"/>
            <a:ext cx="1371600" cy="329184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28600" y="932688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SLNB first</a:t>
            </a:r>
            <a:endParaRPr lang="en-US" sz="880" dirty="0"/>
          </a:p>
        </p:txBody>
      </p:sp>
      <p:sp>
        <p:nvSpPr>
          <p:cNvPr id="11" name="Shape 9"/>
          <p:cNvSpPr/>
          <p:nvPr/>
        </p:nvSpPr>
        <p:spPr>
          <a:xfrm>
            <a:off x="228600" y="1298448"/>
            <a:ext cx="1371600" cy="987552"/>
          </a:xfrm>
          <a:prstGeom prst="roundRect">
            <a:avLst>
              <a:gd name="adj" fmla="val 5556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4320" y="1316736"/>
            <a:ext cx="128016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 assessment can run while tumour is excised</a:t>
            </a:r>
            <a:endParaRPr lang="en-US" sz="940" dirty="0"/>
          </a:p>
        </p:txBody>
      </p:sp>
      <p:sp>
        <p:nvSpPr>
          <p:cNvPr id="13" name="Shape 11"/>
          <p:cNvSpPr/>
          <p:nvPr/>
        </p:nvSpPr>
        <p:spPr>
          <a:xfrm>
            <a:off x="1600200" y="1097280"/>
            <a:ext cx="82296" cy="0"/>
          </a:xfrm>
          <a:prstGeom prst="line">
            <a:avLst/>
          </a:prstGeom>
          <a:noFill/>
          <a:ln w="15875">
            <a:solidFill>
              <a:srgbClr val="21618C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1682496" y="932688"/>
            <a:ext cx="1371600" cy="329184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682496" y="932688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Incision</a:t>
            </a:r>
            <a:endParaRPr lang="en-US" sz="880" dirty="0"/>
          </a:p>
        </p:txBody>
      </p:sp>
      <p:sp>
        <p:nvSpPr>
          <p:cNvPr id="16" name="Shape 14"/>
          <p:cNvSpPr/>
          <p:nvPr/>
        </p:nvSpPr>
        <p:spPr>
          <a:xfrm>
            <a:off x="1682496" y="1298448"/>
            <a:ext cx="1371600" cy="987552"/>
          </a:xfrm>
          <a:prstGeom prst="roundRect">
            <a:avLst>
              <a:gd name="adj" fmla="val 5556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728216" y="1316736"/>
            <a:ext cx="128016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Concentric to NAC above; radial below; excise skin only if involved</a:t>
            </a:r>
            <a:endParaRPr lang="en-US" sz="940" dirty="0"/>
          </a:p>
        </p:txBody>
      </p:sp>
      <p:sp>
        <p:nvSpPr>
          <p:cNvPr id="18" name="Shape 16"/>
          <p:cNvSpPr/>
          <p:nvPr/>
        </p:nvSpPr>
        <p:spPr>
          <a:xfrm>
            <a:off x="3054096" y="1097280"/>
            <a:ext cx="82296" cy="0"/>
          </a:xfrm>
          <a:prstGeom prst="line">
            <a:avLst/>
          </a:prstGeom>
          <a:noFill/>
          <a:ln w="15875">
            <a:solidFill>
              <a:srgbClr val="21618C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3136392" y="932688"/>
            <a:ext cx="1371600" cy="329184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136392" y="932688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Excise</a:t>
            </a:r>
            <a:endParaRPr lang="en-US" sz="880" dirty="0"/>
          </a:p>
        </p:txBody>
      </p:sp>
      <p:sp>
        <p:nvSpPr>
          <p:cNvPr id="21" name="Shape 19"/>
          <p:cNvSpPr/>
          <p:nvPr/>
        </p:nvSpPr>
        <p:spPr>
          <a:xfrm>
            <a:off x="3136392" y="1298448"/>
            <a:ext cx="1371600" cy="987552"/>
          </a:xfrm>
          <a:prstGeom prst="roundRect">
            <a:avLst>
              <a:gd name="adj" fmla="val 5556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182112" y="1316736"/>
            <a:ext cx="128016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Cancer + envelope of normal tissue; localise non-palpable lesion (wire, radioactive/magnetic seed, US)</a:t>
            </a:r>
            <a:endParaRPr lang="en-US" sz="890" dirty="0"/>
          </a:p>
        </p:txBody>
      </p:sp>
      <p:sp>
        <p:nvSpPr>
          <p:cNvPr id="23" name="Shape 21"/>
          <p:cNvSpPr/>
          <p:nvPr/>
        </p:nvSpPr>
        <p:spPr>
          <a:xfrm>
            <a:off x="4507992" y="1097280"/>
            <a:ext cx="82296" cy="0"/>
          </a:xfrm>
          <a:prstGeom prst="line">
            <a:avLst/>
          </a:prstGeom>
          <a:noFill/>
          <a:ln w="15875">
            <a:solidFill>
              <a:srgbClr val="21618C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4590288" y="932688"/>
            <a:ext cx="1371600" cy="329184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90288" y="932688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Specimen X-ray</a:t>
            </a:r>
            <a:endParaRPr lang="en-US" sz="880" dirty="0"/>
          </a:p>
        </p:txBody>
      </p:sp>
      <p:sp>
        <p:nvSpPr>
          <p:cNvPr id="26" name="Shape 24"/>
          <p:cNvSpPr/>
          <p:nvPr/>
        </p:nvSpPr>
        <p:spPr>
          <a:xfrm>
            <a:off x="4590288" y="1298448"/>
            <a:ext cx="1371600" cy="987552"/>
          </a:xfrm>
          <a:prstGeom prst="roundRect">
            <a:avLst>
              <a:gd name="adj" fmla="val 5556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636008" y="1316736"/>
            <a:ext cx="128016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lesion + margins before leaving theatre; orient (sutures, clips, dyes)</a:t>
            </a:r>
            <a:endParaRPr lang="en-US" sz="940" dirty="0"/>
          </a:p>
        </p:txBody>
      </p:sp>
      <p:sp>
        <p:nvSpPr>
          <p:cNvPr id="28" name="Shape 26"/>
          <p:cNvSpPr/>
          <p:nvPr/>
        </p:nvSpPr>
        <p:spPr>
          <a:xfrm>
            <a:off x="5961888" y="1097280"/>
            <a:ext cx="82296" cy="0"/>
          </a:xfrm>
          <a:prstGeom prst="line">
            <a:avLst/>
          </a:prstGeom>
          <a:noFill/>
          <a:ln w="15875">
            <a:solidFill>
              <a:srgbClr val="21618C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6044184" y="932688"/>
            <a:ext cx="1371600" cy="329184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044184" y="932688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Margins</a:t>
            </a:r>
            <a:endParaRPr lang="en-US" sz="880" dirty="0"/>
          </a:p>
        </p:txBody>
      </p:sp>
      <p:sp>
        <p:nvSpPr>
          <p:cNvPr id="31" name="Shape 29"/>
          <p:cNvSpPr/>
          <p:nvPr/>
        </p:nvSpPr>
        <p:spPr>
          <a:xfrm>
            <a:off x="6044184" y="1298448"/>
            <a:ext cx="1371600" cy="987552"/>
          </a:xfrm>
          <a:prstGeom prst="roundRect">
            <a:avLst>
              <a:gd name="adj" fmla="val 5556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089904" y="1316736"/>
            <a:ext cx="128016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extra cavity shaves if close; send ER/PR/HER2</a:t>
            </a:r>
            <a:endParaRPr lang="en-US" sz="940" dirty="0"/>
          </a:p>
        </p:txBody>
      </p:sp>
      <p:sp>
        <p:nvSpPr>
          <p:cNvPr id="33" name="Shape 31"/>
          <p:cNvSpPr/>
          <p:nvPr/>
        </p:nvSpPr>
        <p:spPr>
          <a:xfrm>
            <a:off x="7415784" y="1097280"/>
            <a:ext cx="82296" cy="0"/>
          </a:xfrm>
          <a:prstGeom prst="line">
            <a:avLst/>
          </a:prstGeom>
          <a:noFill/>
          <a:ln w="15875">
            <a:solidFill>
              <a:srgbClr val="21618C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7498080" y="932688"/>
            <a:ext cx="1371600" cy="329184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498080" y="932688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Close</a:t>
            </a:r>
            <a:endParaRPr lang="en-US" sz="880" dirty="0"/>
          </a:p>
        </p:txBody>
      </p:sp>
      <p:sp>
        <p:nvSpPr>
          <p:cNvPr id="36" name="Shape 34"/>
          <p:cNvSpPr/>
          <p:nvPr/>
        </p:nvSpPr>
        <p:spPr>
          <a:xfrm>
            <a:off x="7498080" y="1298448"/>
            <a:ext cx="1371600" cy="987552"/>
          </a:xfrm>
          <a:prstGeom prst="roundRect">
            <a:avLst>
              <a:gd name="adj" fmla="val 5556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543800" y="1316736"/>
            <a:ext cx="128016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Cautery/ligatures; 3-0 absorbable deep; 4-0/5-0 subcuticular; drain rarely</a:t>
            </a:r>
            <a:endParaRPr lang="en-US" sz="940" dirty="0"/>
          </a:p>
        </p:txBody>
      </p:sp>
      <p:graphicFrame>
        <p:nvGraphicFramePr>
          <p:cNvPr id="5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2395728"/>
          <a:ext cx="420624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256032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5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Setting</a:t>
                      </a:r>
                      <a:endParaRPr lang="en-US" sz="87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5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Adequate margin</a:t>
                      </a:r>
                      <a:endParaRPr lang="en-US" sz="87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5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Invasive stage I–II + WBI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"No tumour on ink" — wider margins do not lower recurrence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5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DCIS + WBI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mm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5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Cannot obtain negative margin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Mastectomy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9" name="Shape 36"/>
          <p:cNvSpPr/>
          <p:nvPr/>
        </p:nvSpPr>
        <p:spPr>
          <a:xfrm>
            <a:off x="4572000" y="2395728"/>
            <a:ext cx="4343400" cy="1371600"/>
          </a:xfrm>
          <a:prstGeom prst="rect">
            <a:avLst/>
          </a:prstGeom>
          <a:solidFill>
            <a:srgbClr val="FDFCF0"/>
          </a:solidFill>
          <a:ln w="9525">
            <a:solidFill>
              <a:srgbClr val="7D6608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4663440" y="2450592"/>
            <a:ext cx="4160520" cy="1939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7D66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Incision rules</a:t>
            </a:r>
            <a:endParaRPr lang="en-US" sz="1050" dirty="0"/>
          </a:p>
        </p:txBody>
      </p:sp>
      <p:sp>
        <p:nvSpPr>
          <p:cNvPr id="41" name="Text 38"/>
          <p:cNvSpPr/>
          <p:nvPr/>
        </p:nvSpPr>
        <p:spPr>
          <a:xfrm>
            <a:off x="4645152" y="2671953"/>
            <a:ext cx="4215384" cy="10679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Circumareolar for subareolar / near-NAC lesions; elsewhere along skin tension lines</a:t>
            </a:r>
            <a:endParaRPr lang="en-US" sz="90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 radial incisions in upper half (NAC pulled up) and curvilinear in lower half (NAC pulled down)</a:t>
            </a:r>
            <a:endParaRPr lang="en-US" sz="90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remote biopsy scar can be excised separately at mastectomy</a:t>
            </a:r>
            <a:endParaRPr lang="en-US" sz="900" dirty="0"/>
          </a:p>
        </p:txBody>
      </p:sp>
      <p:sp>
        <p:nvSpPr>
          <p:cNvPr id="42" name="Shape 39"/>
          <p:cNvSpPr/>
          <p:nvPr/>
        </p:nvSpPr>
        <p:spPr>
          <a:xfrm>
            <a:off x="228600" y="3401568"/>
            <a:ext cx="4206240" cy="1243584"/>
          </a:xfrm>
          <a:prstGeom prst="rect">
            <a:avLst/>
          </a:prstGeom>
          <a:solidFill>
            <a:srgbClr val="EAFAF1"/>
          </a:solidFill>
          <a:ln w="9525">
            <a:solidFill>
              <a:srgbClr val="196F3D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320040" y="3456432"/>
            <a:ext cx="4023360" cy="1939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96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Terminology</a:t>
            </a:r>
            <a:endParaRPr lang="en-US" sz="1050" dirty="0"/>
          </a:p>
        </p:txBody>
      </p:sp>
      <p:sp>
        <p:nvSpPr>
          <p:cNvPr id="44" name="Text 41"/>
          <p:cNvSpPr/>
          <p:nvPr/>
        </p:nvSpPr>
        <p:spPr>
          <a:xfrm>
            <a:off x="301752" y="3677793"/>
            <a:ext cx="4078224" cy="9399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BCT = excision with margin + adjuvant RT + nodal assessment (segmental/partial mastectomy, lumpectomy, WLE, tylectomy)</a:t>
            </a:r>
            <a:endParaRPr lang="en-US" sz="90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DCIS: excision + RT, no nodal assessment</a:t>
            </a:r>
            <a:endParaRPr lang="en-US" sz="900" dirty="0"/>
          </a:p>
        </p:txBody>
      </p:sp>
      <p:sp>
        <p:nvSpPr>
          <p:cNvPr id="45" name="Shape 42"/>
          <p:cNvSpPr/>
          <p:nvPr/>
        </p:nvSpPr>
        <p:spPr>
          <a:xfrm>
            <a:off x="4572000" y="3840480"/>
            <a:ext cx="4343400" cy="804672"/>
          </a:xfrm>
          <a:prstGeom prst="rect">
            <a:avLst/>
          </a:prstGeom>
          <a:solidFill>
            <a:srgbClr val="FDEDEC"/>
          </a:solidFill>
          <a:ln w="9525">
            <a:solidFill>
              <a:srgbClr val="C0392B"/>
            </a:solidFill>
            <a:prstDash val="solid"/>
          </a:ln>
        </p:spPr>
      </p:sp>
      <p:sp>
        <p:nvSpPr>
          <p:cNvPr id="46" name="Text 43"/>
          <p:cNvSpPr/>
          <p:nvPr/>
        </p:nvSpPr>
        <p:spPr>
          <a:xfrm>
            <a:off x="4645152" y="3858768"/>
            <a:ext cx="41970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Pitfalls:</a:t>
            </a:r>
            <a:r>
              <a:rPr lang="en-US" sz="97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Excisional biopsy is for discordant needle results only • never do a "one-step" frozen-section mastectomy • always confirm the target on specimen radiography.</a:t>
            </a:r>
            <a:endParaRPr lang="en-US" sz="97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Technique — Sentinel Lymph Node Biopsy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Surgery &amp; Adjuvant Therapy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28600" y="749808"/>
            <a:ext cx="384048" cy="384048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7498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704088" y="694944"/>
            <a:ext cx="4754880" cy="493776"/>
          </a:xfrm>
          <a:prstGeom prst="roundRect">
            <a:avLst>
              <a:gd name="adj" fmla="val 11111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49808" y="713232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 tracer:</a:t>
            </a:r>
            <a:r>
              <a:rPr lang="en-US" sz="84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Tc-99m sulfur colloid (0.5 mCi same day / 2.5 mCi day before; peritumoral, around cavity, subareolar or subdermal) + blue dye 3–5 mL (parenchymal/subareolar)</a:t>
            </a:r>
            <a:endParaRPr lang="en-US" sz="840" dirty="0"/>
          </a:p>
        </p:txBody>
      </p:sp>
      <p:sp>
        <p:nvSpPr>
          <p:cNvPr id="12" name="Shape 10"/>
          <p:cNvSpPr/>
          <p:nvPr/>
        </p:nvSpPr>
        <p:spPr>
          <a:xfrm>
            <a:off x="228600" y="1298448"/>
            <a:ext cx="384048" cy="384048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28600" y="1298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04088" y="1243584"/>
            <a:ext cx="4754880" cy="493776"/>
          </a:xfrm>
          <a:prstGeom prst="roundRect">
            <a:avLst>
              <a:gd name="adj" fmla="val 11111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49808" y="1261872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4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Localise:</a:t>
            </a:r>
            <a:r>
              <a:rPr lang="en-US" sz="94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Gamma probe transcutaneously; lymphoscintigraphy optional</a:t>
            </a:r>
            <a:endParaRPr lang="en-US" sz="940" dirty="0"/>
          </a:p>
        </p:txBody>
      </p:sp>
      <p:sp>
        <p:nvSpPr>
          <p:cNvPr id="16" name="Shape 14"/>
          <p:cNvSpPr/>
          <p:nvPr/>
        </p:nvSpPr>
        <p:spPr>
          <a:xfrm>
            <a:off x="228600" y="1847088"/>
            <a:ext cx="384048" cy="384048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28600" y="1847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704088" y="1792224"/>
            <a:ext cx="4754880" cy="493776"/>
          </a:xfrm>
          <a:prstGeom prst="roundRect">
            <a:avLst>
              <a:gd name="adj" fmla="val 11111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49808" y="1810512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4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Incise:</a:t>
            </a:r>
            <a:r>
              <a:rPr lang="en-US" sz="94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3–4 cm, in line with a future ALND incision, low axilla below hairline</a:t>
            </a:r>
            <a:endParaRPr lang="en-US" sz="940" dirty="0"/>
          </a:p>
        </p:txBody>
      </p:sp>
      <p:sp>
        <p:nvSpPr>
          <p:cNvPr id="20" name="Shape 18"/>
          <p:cNvSpPr/>
          <p:nvPr/>
        </p:nvSpPr>
        <p:spPr>
          <a:xfrm>
            <a:off x="228600" y="2395728"/>
            <a:ext cx="384048" cy="384048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28600" y="23957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704088" y="2340864"/>
            <a:ext cx="4754880" cy="493776"/>
          </a:xfrm>
          <a:prstGeom prst="roundRect">
            <a:avLst>
              <a:gd name="adj" fmla="val 11111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49808" y="2359152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4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node:</a:t>
            </a:r>
            <a:r>
              <a:rPr lang="en-US" sz="94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Divide axillary fascia, follow blue lymphatics; signal rises near node</a:t>
            </a:r>
            <a:endParaRPr lang="en-US" sz="940" dirty="0"/>
          </a:p>
        </p:txBody>
      </p:sp>
      <p:sp>
        <p:nvSpPr>
          <p:cNvPr id="24" name="Shape 22"/>
          <p:cNvSpPr/>
          <p:nvPr/>
        </p:nvSpPr>
        <p:spPr>
          <a:xfrm>
            <a:off x="228600" y="2944368"/>
            <a:ext cx="384048" cy="384048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28600" y="29443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704088" y="2889504"/>
            <a:ext cx="4754880" cy="493776"/>
          </a:xfrm>
          <a:prstGeom prst="roundRect">
            <a:avLst>
              <a:gd name="adj" fmla="val 11111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49808" y="2907792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4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Count:</a:t>
            </a:r>
            <a:r>
              <a:rPr lang="en-US" sz="94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10-s in-vivo count → remove → 10-s ex-vivo count</a:t>
            </a:r>
            <a:endParaRPr lang="en-US" sz="940" dirty="0"/>
          </a:p>
        </p:txBody>
      </p:sp>
      <p:sp>
        <p:nvSpPr>
          <p:cNvPr id="28" name="Shape 26"/>
          <p:cNvSpPr/>
          <p:nvPr/>
        </p:nvSpPr>
        <p:spPr>
          <a:xfrm>
            <a:off x="228600" y="3493008"/>
            <a:ext cx="384048" cy="384048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28600" y="34930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704088" y="3438144"/>
            <a:ext cx="4754880" cy="493776"/>
          </a:xfrm>
          <a:prstGeom prst="roundRect">
            <a:avLst>
              <a:gd name="adj" fmla="val 11111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49808" y="3456432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4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10% rule:</a:t>
            </a:r>
            <a:r>
              <a:rPr lang="en-US" sz="94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Remove all blue nodes + all nodes &gt;10% of hottest ex-vivo count; re-check bed</a:t>
            </a:r>
            <a:endParaRPr lang="en-US" sz="940" dirty="0"/>
          </a:p>
        </p:txBody>
      </p:sp>
      <p:sp>
        <p:nvSpPr>
          <p:cNvPr id="32" name="Shape 30"/>
          <p:cNvSpPr/>
          <p:nvPr/>
        </p:nvSpPr>
        <p:spPr>
          <a:xfrm>
            <a:off x="5669280" y="694944"/>
            <a:ext cx="3246120" cy="1463040"/>
          </a:xfrm>
          <a:prstGeom prst="rect">
            <a:avLst/>
          </a:prstGeom>
          <a:solidFill>
            <a:srgbClr val="EAFAF1"/>
          </a:solidFill>
          <a:ln w="9525">
            <a:solidFill>
              <a:srgbClr val="196F3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760720" y="749808"/>
            <a:ext cx="3063240" cy="1939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96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5742432" y="971169"/>
            <a:ext cx="3118104" cy="11593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 tracer &gt; either alone</a:t>
            </a:r>
            <a:endParaRPr lang="en-US" sz="90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Meta-analysis: sensitivity 93%, FNR 7%, NPV 94%, accuracy 95%</a:t>
            </a:r>
            <a:endParaRPr lang="en-US" sz="90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SLNs find 98% of positive SLNs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5669280" y="2231136"/>
            <a:ext cx="3246120" cy="1783080"/>
          </a:xfrm>
          <a:prstGeom prst="rect">
            <a:avLst/>
          </a:prstGeom>
          <a:solidFill>
            <a:srgbClr val="FDEDEC"/>
          </a:solidFill>
          <a:ln w="9525">
            <a:solidFill>
              <a:srgbClr val="C0392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760720" y="2286000"/>
            <a:ext cx="3063240" cy="1939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 negatives rise with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5742432" y="2507361"/>
            <a:ext cx="3118104" cy="14794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Lateral tumours; prior excisional biopsy</a:t>
            </a:r>
            <a:endParaRPr lang="en-US" sz="90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nodes: 1 → 17.7%, 2 → 10%, 3 → 6.9%</a:t>
            </a:r>
            <a:endParaRPr lang="en-US" sz="90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Extra-axillary SLN 1.4%: 0% subareolar vs 20% peritumoral injection</a:t>
            </a:r>
            <a:endParaRPr lang="en-US" sz="90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IMN drainage predicts worse distant DFS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28600" y="4050792"/>
            <a:ext cx="8686800" cy="594360"/>
          </a:xfrm>
          <a:prstGeom prst="rect">
            <a:avLst/>
          </a:prstGeom>
          <a:solidFill>
            <a:srgbClr val="FDEDEC"/>
          </a:solidFill>
          <a:ln w="9525">
            <a:solidFill>
              <a:srgbClr val="C0392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1752" y="4069080"/>
            <a:ext cx="8540496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Pitfalls:</a:t>
            </a: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Never inject blue dye subdermally (tattooing/skin necrosis) or into the biopsy cavity • allergy ~1 in 10,000; warn of blue urine • routine IHC of negative SLNs is not warranted.</a:t>
            </a:r>
            <a:endParaRPr lang="en-US" sz="95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Mastectomy — What Each Operation Removes &amp; MRM Landmarks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Surgery &amp; Adjuvant Therapy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</a:t>
            </a:r>
            <a:endParaRPr lang="en-US" sz="900" dirty="0"/>
          </a:p>
        </p:txBody>
      </p:sp>
      <p:graphicFrame>
        <p:nvGraphicFramePr>
          <p:cNvPr id="5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694944"/>
          <a:ext cx="4572000" cy="914400"/>
        </p:xfrm>
        <a:graphic>
          <a:graphicData uri="http://schemas.openxmlformats.org/drawingml/2006/table">
            <a:tbl>
              <a:tblPr/>
              <a:tblGrid>
                <a:gridCol w="1116938"/>
                <a:gridCol w="536130"/>
                <a:gridCol w="446775"/>
                <a:gridCol w="536130"/>
                <a:gridCol w="491453"/>
                <a:gridCol w="521238"/>
                <a:gridCol w="461668"/>
                <a:gridCol w="461668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Operation</a:t>
                      </a:r>
                      <a:endParaRPr lang="en-US" sz="7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Breast tissue</a:t>
                      </a:r>
                      <a:endParaRPr lang="en-US" sz="7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Skin</a:t>
                      </a:r>
                      <a:endParaRPr lang="en-US" sz="7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Nipple–areola</a:t>
                      </a:r>
                      <a:endParaRPr lang="en-US" sz="7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Level I nodes</a:t>
                      </a:r>
                      <a:endParaRPr lang="en-US" sz="7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Levels II–III</a:t>
                      </a:r>
                      <a:endParaRPr lang="en-US" sz="7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Pec. minor</a:t>
                      </a:r>
                      <a:endParaRPr lang="en-US" sz="7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Pec. major</a:t>
                      </a:r>
                      <a:endParaRPr lang="en-US" sz="7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Skin-sparing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96F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5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9AA5B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9AA5B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9AA5B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9AA5B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Nipple-sparing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96F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5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96F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5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9AA5B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9AA5B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9AA5B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9AA5B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(simple)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9AA5B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9AA5B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9AA5B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9AA5B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Extended simple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9AA5B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9AA5B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9AA5B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Modified radical (Patey)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7D660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÷ †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96F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5E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Halsted radical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228600" y="2761488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30" i="1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removed  •  ✓ preserved  •  – not part of the operation (axilla staged separately: SLNB or ALND)  •  ÷ † Patey removed pectoralis minor; most surgeons now divide only its tendon</a:t>
            </a:r>
            <a:endParaRPr lang="en-US" sz="730" dirty="0"/>
          </a:p>
        </p:txBody>
      </p:sp>
      <p:graphicFrame>
        <p:nvGraphicFramePr>
          <p:cNvPr id="10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937760" y="694944"/>
          <a:ext cx="3977640" cy="914400"/>
        </p:xfrm>
        <a:graphic>
          <a:graphicData uri="http://schemas.openxmlformats.org/drawingml/2006/table">
            <a:tbl>
              <a:tblPr/>
              <a:tblGrid>
                <a:gridCol w="1024128"/>
                <a:gridCol w="295351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Element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Modified radical (Patey) mastectomy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Boundaries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Latissimus (lateral), sternal midline, subclavius, 2–3 cm below IMF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Skin flaps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7–8 mm (skin + tela subcutanea)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Breast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Raised with pectoralis major fascia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Axilla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Define lateral axillary vein; clear anterior/inferior surfaces; level I → II → III lateral to medial; divide pec. minor tendon near coracoid for apex; medial limit = Halsted's ligament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Preserve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Thoracodorsal bundle; long thoracic nerve (winged scapula); pectoral nerves. Intercostobrachial often sacrificed → arm numbness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228600" y="3154680"/>
            <a:ext cx="4572000" cy="1490472"/>
          </a:xfrm>
          <a:prstGeom prst="rect">
            <a:avLst/>
          </a:prstGeom>
          <a:solidFill>
            <a:srgbClr val="FDFCF0"/>
          </a:solidFill>
          <a:ln w="9525">
            <a:solidFill>
              <a:srgbClr val="7D6608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320040" y="3209544"/>
            <a:ext cx="4389120" cy="1939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7D66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Nipple-sparing — select carefully</a:t>
            </a:r>
            <a:endParaRPr lang="en-US" sz="1050" dirty="0"/>
          </a:p>
        </p:txBody>
      </p:sp>
      <p:sp>
        <p:nvSpPr>
          <p:cNvPr id="13" name="Text 9"/>
          <p:cNvSpPr/>
          <p:nvPr/>
        </p:nvSpPr>
        <p:spPr>
          <a:xfrm>
            <a:off x="301752" y="3430905"/>
            <a:ext cx="4443984" cy="11868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Mainly risk reduction; for cancer: tumour &gt;2–3 cm from areola, small breast, minimal ptosis</a:t>
            </a:r>
            <a:endParaRPr lang="en-US" sz="90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prior periareolar surgery or RT, BMI &lt;40, non-smoker, no collagen-vascular disease</a:t>
            </a:r>
            <a:endParaRPr lang="en-US" sz="90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Radiation does not go with NAC preservation</a:t>
            </a:r>
            <a:endParaRPr lang="en-US" sz="900" dirty="0"/>
          </a:p>
        </p:txBody>
      </p:sp>
      <p:sp>
        <p:nvSpPr>
          <p:cNvPr id="14" name="Shape 10"/>
          <p:cNvSpPr/>
          <p:nvPr/>
        </p:nvSpPr>
        <p:spPr>
          <a:xfrm>
            <a:off x="4937760" y="4059936"/>
            <a:ext cx="3977640" cy="585216"/>
          </a:xfrm>
          <a:prstGeom prst="rect">
            <a:avLst/>
          </a:prstGeom>
          <a:solidFill>
            <a:srgbClr val="FDFCF0"/>
          </a:solidFill>
          <a:ln w="9525">
            <a:solidFill>
              <a:srgbClr val="7D6608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5010912" y="4078224"/>
            <a:ext cx="3831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0" b="1" dirty="0">
                <a:solidFill>
                  <a:srgbClr val="7D66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Note:</a:t>
            </a:r>
            <a:r>
              <a:rPr lang="en-US" sz="97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Skin-sparing mastectomy: recurrence &lt;6–8% for Tis–T3 — similar to standard mastectomy.</a:t>
            </a:r>
            <a:endParaRPr lang="en-US" sz="97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Complications &amp; Reconstruction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Surgery &amp; Adjuvant Therapy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</a:t>
            </a:r>
            <a:endParaRPr lang="en-US" sz="900" dirty="0"/>
          </a:p>
        </p:txBody>
      </p:sp>
      <p:graphicFrame>
        <p:nvGraphicFramePr>
          <p:cNvPr id="5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694944"/>
          <a:ext cx="4251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315468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Complication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Facts / prevention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Seroma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Commonest, up to 30%; closed suction drains; remove at &lt;30 mL/day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Wound infection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Infrequent, mostly flap necrosis → culture, debride, antibiotics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Haemorrhage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Rare; early re-exploration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Lymphedema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~20% after MRM (50–60% with RT); risk: extensive ALND, RT, +ve nodes, obesity → physio, sleeves, decongestive therapy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After SLNB alone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Infection 1%, seroma 7.1%, haematoma 1.4%; paresthesia 8.6%, ↓ motion 3.8%, arm &gt;2 cm 6.9%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4663440" y="694944"/>
            <a:ext cx="4251960" cy="310896"/>
          </a:xfrm>
          <a:prstGeom prst="roundRect">
            <a:avLst>
              <a:gd name="adj" fmla="val 17647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709160" y="713232"/>
            <a:ext cx="4160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Reconstruction — timing follows the need for RT</a:t>
            </a:r>
            <a:endParaRPr lang="en-US" sz="880" dirty="0"/>
          </a:p>
        </p:txBody>
      </p:sp>
      <p:sp>
        <p:nvSpPr>
          <p:cNvPr id="11" name="Shape 8"/>
          <p:cNvSpPr/>
          <p:nvPr/>
        </p:nvSpPr>
        <p:spPr>
          <a:xfrm>
            <a:off x="6784848" y="1005840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349240" y="1069848"/>
            <a:ext cx="2880360" cy="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5349240" y="1069848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4" name="Shape 11"/>
          <p:cNvSpPr/>
          <p:nvPr/>
        </p:nvSpPr>
        <p:spPr>
          <a:xfrm>
            <a:off x="6784848" y="1069848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5" name="Shape 12"/>
          <p:cNvSpPr/>
          <p:nvPr/>
        </p:nvSpPr>
        <p:spPr>
          <a:xfrm>
            <a:off x="8229600" y="1069848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6" name="Shape 13"/>
          <p:cNvSpPr/>
          <p:nvPr/>
        </p:nvSpPr>
        <p:spPr>
          <a:xfrm>
            <a:off x="4663440" y="1133856"/>
            <a:ext cx="1371600" cy="1298448"/>
          </a:xfrm>
          <a:prstGeom prst="roundRect">
            <a:avLst>
              <a:gd name="adj" fmla="val 4225"/>
            </a:avLst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709160" y="1152144"/>
            <a:ext cx="128016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IMMEDIATE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stage / risk-reducing: skin-sparing, one operation, cheaper, psychological benefit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6099048" y="1133856"/>
            <a:ext cx="1371600" cy="1298448"/>
          </a:xfrm>
          <a:prstGeom prst="roundRect">
            <a:avLst>
              <a:gd name="adj" fmla="val 4225"/>
            </a:avLst>
          </a:prstGeom>
          <a:solidFill>
            <a:srgbClr val="FDFCF0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144768" y="1152144"/>
            <a:ext cx="128016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PMRT EXPECTED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Tissue expander (deflate for RT) → definitive 6–12 mo after RT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7534656" y="1133856"/>
            <a:ext cx="1371600" cy="1298448"/>
          </a:xfrm>
          <a:prstGeom prst="roundRect">
            <a:avLst>
              <a:gd name="adj" fmla="val 4225"/>
            </a:avLst>
          </a:prstGeom>
          <a:solidFill>
            <a:srgbClr val="FDEDEC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580376" y="1152144"/>
            <a:ext cx="128016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DELAYED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Locally advanced → after adjuvant RT (RT to reconstruction = worse cosmesis)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4663440" y="2523744"/>
            <a:ext cx="4251960" cy="2121408"/>
          </a:xfrm>
          <a:prstGeom prst="rect">
            <a:avLst/>
          </a:prstGeom>
          <a:solidFill>
            <a:srgbClr val="E8F4FD"/>
          </a:solidFill>
          <a:ln w="9525">
            <a:solidFill>
              <a:srgbClr val="21618C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754880" y="2578608"/>
            <a:ext cx="4069080" cy="198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Options</a:t>
            </a:r>
            <a:endParaRPr lang="en-US" sz="1080" dirty="0"/>
          </a:p>
        </p:txBody>
      </p:sp>
      <p:sp>
        <p:nvSpPr>
          <p:cNvPr id="24" name="Text 21"/>
          <p:cNvSpPr/>
          <p:nvPr/>
        </p:nvSpPr>
        <p:spPr>
          <a:xfrm>
            <a:off x="4736592" y="2804465"/>
            <a:ext cx="4123944" cy="18132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Implant / expander, or autologous: pedicled TRAM, free TRAM / DIEP (deep inferior epigastric), latissimus ± implant</a:t>
            </a:r>
            <a:endParaRPr lang="en-US" sz="93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defect: pedicled latissimus (thoracodorsal); skin graft tolerates RT but poor take may delay RT</a:t>
            </a:r>
            <a:endParaRPr lang="en-US" sz="930" dirty="0"/>
          </a:p>
        </p:txBody>
      </p:sp>
      <p:sp>
        <p:nvSpPr>
          <p:cNvPr id="25" name="Shape 22"/>
          <p:cNvSpPr/>
          <p:nvPr/>
        </p:nvSpPr>
        <p:spPr>
          <a:xfrm>
            <a:off x="228600" y="2788920"/>
            <a:ext cx="4251960" cy="914400"/>
          </a:xfrm>
          <a:prstGeom prst="rect">
            <a:avLst/>
          </a:prstGeom>
          <a:solidFill>
            <a:srgbClr val="F5EEF8"/>
          </a:solidFill>
          <a:ln w="9525">
            <a:solidFill>
              <a:srgbClr val="6C3483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320040" y="2843784"/>
            <a:ext cx="4069080" cy="1939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6C3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Chest-wall resection</a:t>
            </a:r>
            <a:endParaRPr lang="en-US" sz="1050" dirty="0"/>
          </a:p>
        </p:txBody>
      </p:sp>
      <p:sp>
        <p:nvSpPr>
          <p:cNvPr id="27" name="Text 24"/>
          <p:cNvSpPr/>
          <p:nvPr/>
        </p:nvSpPr>
        <p:spPr>
          <a:xfrm>
            <a:off x="301752" y="3065145"/>
            <a:ext cx="4123944" cy="6107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1–2 ribs → soft-tissue cover only (scar stabilises)</a:t>
            </a:r>
            <a:endParaRPr lang="en-US" sz="90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&gt;2 ribs → prosthetic stabilisation + latissimus or TRAM flap</a:t>
            </a:r>
            <a:endParaRPr lang="en-US" sz="900" dirty="0"/>
          </a:p>
        </p:txBody>
      </p:sp>
      <p:sp>
        <p:nvSpPr>
          <p:cNvPr id="28" name="Shape 25"/>
          <p:cNvSpPr/>
          <p:nvPr/>
        </p:nvSpPr>
        <p:spPr>
          <a:xfrm>
            <a:off x="228600" y="3794760"/>
            <a:ext cx="4251960" cy="850392"/>
          </a:xfrm>
          <a:prstGeom prst="rect">
            <a:avLst/>
          </a:prstGeom>
          <a:solidFill>
            <a:srgbClr val="FDEDEC"/>
          </a:solidFill>
          <a:ln w="9525">
            <a:solidFill>
              <a:srgbClr val="C0392B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301752" y="3813048"/>
            <a:ext cx="4105656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Pitfalls:</a:t>
            </a:r>
            <a:r>
              <a:rPr lang="en-US" sz="97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Do not place a definitive implant reconstruction when PMRT is likely • plan the mastectomy incision around a future ALND/reconstruction.</a:t>
            </a:r>
            <a:endParaRPr lang="en-US" sz="97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Radiotherapy — General &amp; Special Indications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Surgery &amp; Adjuvant Therapy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</a:t>
            </a:r>
            <a:endParaRPr lang="en-US" sz="900" dirty="0"/>
          </a:p>
        </p:txBody>
      </p:sp>
      <p:graphicFrame>
        <p:nvGraphicFramePr>
          <p:cNvPr id="5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676656"/>
          <a:ext cx="5577840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425196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Setting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Indication / field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After BCS (invasive)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Whole-breast RT ± boost for all — halves recurrence, improves 15-y survival (~⅙); 50 Gy over 5–6 wk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After BCS (DCIS)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WBI in all subgroups; omit only selected low/intermediate grade (margin ≥3 mm)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Post-mastectomy (PMRT)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+ve margin; ≥4 +ve nodes; 1–3 nodes in premenopausal → chest wall + supraclavicular (EBCTCG supports 1–3 nodes; SLN-era → MDT)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Stage IIIA/IIIB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Always after surgery: breast or chest wall + supraclavicular; grossly involved IMN → RT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Inflammatory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Chest wall + supraclavicular + internal mammary + axillary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Z0011 axilla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Tangential WBI (covers low axilla) replaces ALND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 recurrence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Chest wall if not previously irradiated (palliative if scope remains)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Stage IV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Palliation: brain, cord compression, painful/unstable bone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5989320" y="676656"/>
            <a:ext cx="2926080" cy="2011680"/>
          </a:xfrm>
          <a:prstGeom prst="rect">
            <a:avLst/>
          </a:prstGeom>
          <a:solidFill>
            <a:srgbClr val="FDEDEC"/>
          </a:solidFill>
          <a:ln w="9525">
            <a:solidFill>
              <a:srgbClr val="C0392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080760" y="731520"/>
            <a:ext cx="2743200" cy="190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3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 conditions</a:t>
            </a:r>
            <a:endParaRPr lang="en-US" sz="1030" dirty="0"/>
          </a:p>
        </p:txBody>
      </p:sp>
      <p:sp>
        <p:nvSpPr>
          <p:cNvPr id="11" name="Text 8"/>
          <p:cNvSpPr/>
          <p:nvPr/>
        </p:nvSpPr>
        <p:spPr>
          <a:xfrm>
            <a:off x="6062472" y="949884"/>
            <a:ext cx="2798064" cy="1711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Pregnancy:</a:t>
            </a: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never during pregnancy — defer until after delivery</a:t>
            </a:r>
            <a:endParaRPr lang="en-US" sz="88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 chest RT, lupus, scleroderma:</a:t>
            </a: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relative contraindication to BCT</a:t>
            </a:r>
            <a:endParaRPr lang="en-US" sz="88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NSM / reconstruction:</a:t>
            </a: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RT harms NAC and cosmesis</a:t>
            </a:r>
            <a:endParaRPr lang="en-US" sz="88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Male BC:</a:t>
            </a: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RT for high local-regional risk</a:t>
            </a:r>
            <a:endParaRPr lang="en-US" sz="880" dirty="0"/>
          </a:p>
        </p:txBody>
      </p:sp>
      <p:sp>
        <p:nvSpPr>
          <p:cNvPr id="12" name="Shape 9"/>
          <p:cNvSpPr/>
          <p:nvPr/>
        </p:nvSpPr>
        <p:spPr>
          <a:xfrm>
            <a:off x="5989320" y="2761488"/>
            <a:ext cx="2926080" cy="1883664"/>
          </a:xfrm>
          <a:prstGeom prst="rect">
            <a:avLst/>
          </a:prstGeom>
          <a:solidFill>
            <a:srgbClr val="EAFAF1"/>
          </a:solidFill>
          <a:ln w="9525">
            <a:solidFill>
              <a:srgbClr val="196F3D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080760" y="2816352"/>
            <a:ext cx="2743200" cy="190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30" b="1" dirty="0">
                <a:solidFill>
                  <a:srgbClr val="196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 omission after BCS</a:t>
            </a:r>
            <a:endParaRPr lang="en-US" sz="1030" dirty="0"/>
          </a:p>
        </p:txBody>
      </p:sp>
      <p:sp>
        <p:nvSpPr>
          <p:cNvPr id="14" name="Text 11"/>
          <p:cNvSpPr/>
          <p:nvPr/>
        </p:nvSpPr>
        <p:spPr>
          <a:xfrm>
            <a:off x="6062472" y="3034716"/>
            <a:ext cx="2798064" cy="15830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≥70 y, T1N0, ER+ on tamoxifen (CALGB 9343): 2% vs 10% at 10 y, no survival difference</a:t>
            </a:r>
            <a:endParaRPr lang="en-US" sz="88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PRIME-2 (≥65 y, ER+, N0, ≤3 cm): 1.3% vs 4.1%</a:t>
            </a:r>
            <a:endParaRPr lang="en-US" sz="88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 continue endocrine therapy</a:t>
            </a:r>
            <a:endParaRPr lang="en-US" sz="88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Accelerated Partial Breast Irradiation (APBI) — Selection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Surgery &amp; Adjuvant Therapy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28600" y="731520"/>
            <a:ext cx="2788920" cy="384048"/>
          </a:xfrm>
          <a:prstGeom prst="rect">
            <a:avLst/>
          </a:prstGeom>
          <a:solidFill>
            <a:srgbClr val="196F3D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731520"/>
            <a:ext cx="2788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SUITABLE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28600" y="1143000"/>
            <a:ext cx="2788920" cy="960120"/>
          </a:xfrm>
          <a:prstGeom prst="roundRect">
            <a:avLst>
              <a:gd name="adj" fmla="val 5714"/>
            </a:avLst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74320" y="1161288"/>
            <a:ext cx="2697480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 ≥60 y • unifocal T1 • ER-positive • no LVI • margins ≥2 mm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154680" y="731520"/>
            <a:ext cx="2788920" cy="384048"/>
          </a:xfrm>
          <a:prstGeom prst="rect">
            <a:avLst/>
          </a:prstGeom>
          <a:solidFill>
            <a:srgbClr val="7D6608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154680" y="731520"/>
            <a:ext cx="2788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CAUTIONARY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154680" y="1143000"/>
            <a:ext cx="2788920" cy="960120"/>
          </a:xfrm>
          <a:prstGeom prst="roundRect">
            <a:avLst>
              <a:gd name="adj" fmla="val 5714"/>
            </a:avLst>
          </a:prstGeom>
          <a:solidFill>
            <a:srgbClr val="FDFCF0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200400" y="1161288"/>
            <a:ext cx="2697480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Invasive lobular • 2.1–3 cm • ER-negative • focal LVI • margins &lt;2 mm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080760" y="731520"/>
            <a:ext cx="2788920" cy="384048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080760" y="731520"/>
            <a:ext cx="2788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UNSUITABLE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080760" y="1143000"/>
            <a:ext cx="2788920" cy="960120"/>
          </a:xfrm>
          <a:prstGeom prst="roundRect">
            <a:avLst>
              <a:gd name="adj" fmla="val 5714"/>
            </a:avLst>
          </a:prstGeom>
          <a:solidFill>
            <a:srgbClr val="FDEDEC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126480" y="1161288"/>
            <a:ext cx="2697480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T3/T4 • multifocal or multicentric • extensive LVI • positive margins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228600" y="2240280"/>
            <a:ext cx="4251960" cy="1371600"/>
          </a:xfrm>
          <a:prstGeom prst="rect">
            <a:avLst/>
          </a:prstGeom>
          <a:solidFill>
            <a:srgbClr val="E8F4FD"/>
          </a:solidFill>
          <a:ln w="9525">
            <a:solidFill>
              <a:srgbClr val="21618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20040" y="2295144"/>
            <a:ext cx="4069080" cy="198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</a:t>
            </a:r>
            <a:endParaRPr lang="en-US" sz="1080" dirty="0"/>
          </a:p>
        </p:txBody>
      </p:sp>
      <p:sp>
        <p:nvSpPr>
          <p:cNvPr id="22" name="Text 20"/>
          <p:cNvSpPr/>
          <p:nvPr/>
        </p:nvSpPr>
        <p:spPr>
          <a:xfrm>
            <a:off x="301752" y="2521001"/>
            <a:ext cx="4123944" cy="10634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days twice daily, lower total dose (vs 50 Gy ± boost over 5–6 wk)</a:t>
            </a:r>
            <a:endParaRPr lang="en-US" sz="93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Brachytherapy, 3D-conformal external beam or IMRT</a:t>
            </a:r>
            <a:endParaRPr lang="en-US" sz="93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Recurrences mostly at/near the tumour bed</a:t>
            </a:r>
            <a:endParaRPr lang="en-US" sz="930" dirty="0"/>
          </a:p>
        </p:txBody>
      </p:sp>
      <p:sp>
        <p:nvSpPr>
          <p:cNvPr id="23" name="Shape 21"/>
          <p:cNvSpPr/>
          <p:nvPr/>
        </p:nvSpPr>
        <p:spPr>
          <a:xfrm>
            <a:off x="4663440" y="2240280"/>
            <a:ext cx="4251960" cy="1371600"/>
          </a:xfrm>
          <a:prstGeom prst="rect">
            <a:avLst/>
          </a:prstGeom>
          <a:solidFill>
            <a:srgbClr val="F5EEF8"/>
          </a:solidFill>
          <a:ln w="9525">
            <a:solidFill>
              <a:srgbClr val="6C348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754880" y="2295144"/>
            <a:ext cx="4069080" cy="198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b="1" dirty="0">
                <a:solidFill>
                  <a:srgbClr val="6C3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1080" dirty="0"/>
          </a:p>
        </p:txBody>
      </p:sp>
      <p:sp>
        <p:nvSpPr>
          <p:cNvPr id="25" name="Text 23"/>
          <p:cNvSpPr/>
          <p:nvPr/>
        </p:nvSpPr>
        <p:spPr>
          <a:xfrm>
            <a:off x="4736592" y="2521001"/>
            <a:ext cx="4123944" cy="10634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TARGIT (n = 3,451, intra-operative RT): 3.3% vs 1.3% recurrence at 2.4 y</a:t>
            </a:r>
            <a:endParaRPr lang="en-US" sz="93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NSABP B-39 / RTOG 04-13 (WBI vs APBI) awaited at time of writing</a:t>
            </a:r>
            <a:endParaRPr lang="en-US" sz="93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MRI helps select patients for partial-breast RT</a:t>
            </a:r>
            <a:endParaRPr lang="en-US" sz="930" dirty="0"/>
          </a:p>
        </p:txBody>
      </p:sp>
      <p:sp>
        <p:nvSpPr>
          <p:cNvPr id="26" name="Shape 24"/>
          <p:cNvSpPr/>
          <p:nvPr/>
        </p:nvSpPr>
        <p:spPr>
          <a:xfrm>
            <a:off x="228600" y="3703320"/>
            <a:ext cx="8686800" cy="868680"/>
          </a:xfrm>
          <a:prstGeom prst="rect">
            <a:avLst/>
          </a:prstGeom>
          <a:solidFill>
            <a:srgbClr val="FDEDEC"/>
          </a:solidFill>
          <a:ln w="9525">
            <a:solidFill>
              <a:srgbClr val="C0392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01752" y="3721608"/>
            <a:ext cx="8540496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Pitfalls:</a:t>
            </a:r>
            <a:r>
              <a:rPr lang="en-US" sz="9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APBI only for highly selected low-risk patients, per guidelines or within trials • do not offer it outside Z0011-type settings where the tangents are relied on to treat the low axilla.</a:t>
            </a:r>
            <a:endParaRPr lang="en-US" sz="98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Chemotherapy — General &amp; Special Indications (Adjuvant)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Surgery &amp; Adjuvant Therapy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</a:t>
            </a:r>
            <a:endParaRPr lang="en-US" sz="900" dirty="0"/>
          </a:p>
        </p:txBody>
      </p:sp>
      <p:graphicFrame>
        <p:nvGraphicFramePr>
          <p:cNvPr id="5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694944"/>
          <a:ext cx="557784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645920"/>
                <a:gridCol w="1554480"/>
                <a:gridCol w="128016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Tumour / nodes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HR-positive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HR-negative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Special types*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N0, ≤0.5 cm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196F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Endocrine; no chemo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AF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196F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Minimal benefit — no chemo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AF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N0, 0.6–1.0 cm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7D660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Endocrine; chemo only with adverse features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C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7D660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Chemo if adverse features (HR− counts)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C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N0, &gt;1 cm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7D660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Endocrine ± chemo — 21-gene score decides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C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Chemotherapy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D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7D660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Endocrine; chemo if &gt;3 cm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CF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Node-positive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Chemo + endocrine (RS may guide 1–3 nodes, postmenopausal)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D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Chemotherapy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D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Chemo + endocrine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DEC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228600" y="2743200"/>
            <a:ext cx="5577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i="1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*Tubular, mucinous, medullary (usually strongly ER+). Adverse features = LVI, high nuclear/histologic grade, HER2 overexpression, HR-negative. HER2+ → add trastuzumab-based regimen.</a:t>
            </a:r>
            <a:endParaRPr lang="en-US" sz="760" dirty="0"/>
          </a:p>
        </p:txBody>
      </p:sp>
      <p:sp>
        <p:nvSpPr>
          <p:cNvPr id="10" name="Shape 7"/>
          <p:cNvSpPr/>
          <p:nvPr/>
        </p:nvSpPr>
        <p:spPr>
          <a:xfrm>
            <a:off x="5989320" y="694944"/>
            <a:ext cx="2926080" cy="2432304"/>
          </a:xfrm>
          <a:prstGeom prst="rect">
            <a:avLst/>
          </a:prstGeom>
          <a:solidFill>
            <a:srgbClr val="E8F4FD"/>
          </a:solidFill>
          <a:ln w="9525">
            <a:solidFill>
              <a:srgbClr val="21618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080760" y="749808"/>
            <a:ext cx="2743200" cy="192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4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 — consider chemo if</a:t>
            </a:r>
            <a:endParaRPr lang="en-US" sz="1040" dirty="0"/>
          </a:p>
        </p:txBody>
      </p:sp>
      <p:sp>
        <p:nvSpPr>
          <p:cNvPr id="12" name="Text 9"/>
          <p:cNvSpPr/>
          <p:nvPr/>
        </p:nvSpPr>
        <p:spPr>
          <a:xfrm>
            <a:off x="6062472" y="969670"/>
            <a:ext cx="2798064" cy="21301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100"/>
              </a:spcAft>
              <a:buSzPct val="100000"/>
              <a:buChar char="•"/>
            </a:pP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Node-positive</a:t>
            </a:r>
            <a:endParaRPr lang="en-US" sz="890" dirty="0"/>
          </a:p>
          <a:p>
            <a:pPr marL="114300" indent="-114300">
              <a:lnSpc>
                <a:spcPct val="100000"/>
              </a:lnSpc>
              <a:spcAft>
                <a:spcPts val="100"/>
              </a:spcAft>
              <a:buSzPct val="100000"/>
              <a:buChar char="•"/>
            </a:pP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ER-negative / triple-negative</a:t>
            </a:r>
            <a:endParaRPr lang="en-US" sz="890" dirty="0"/>
          </a:p>
          <a:p>
            <a:pPr marL="114300" indent="-114300">
              <a:lnSpc>
                <a:spcPct val="100000"/>
              </a:lnSpc>
              <a:spcAft>
                <a:spcPts val="100"/>
              </a:spcAft>
              <a:buSzPct val="100000"/>
              <a:buChar char="•"/>
            </a:pP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HER2-positive</a:t>
            </a:r>
            <a:endParaRPr lang="en-US" sz="890" dirty="0"/>
          </a:p>
          <a:p>
            <a:pPr marL="114300" indent="-114300">
              <a:lnSpc>
                <a:spcPct val="100000"/>
              </a:lnSpc>
              <a:spcAft>
                <a:spcPts val="100"/>
              </a:spcAft>
              <a:buSzPct val="100000"/>
              <a:buChar char="•"/>
            </a:pP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3 N0 &gt;5 mm</a:t>
            </a:r>
            <a:endParaRPr lang="en-US" sz="890" dirty="0"/>
          </a:p>
          <a:p>
            <a:pPr marL="114300" indent="-114300">
              <a:lnSpc>
                <a:spcPct val="100000"/>
              </a:lnSpc>
              <a:spcAft>
                <a:spcPts val="100"/>
              </a:spcAft>
              <a:buSzPct val="100000"/>
              <a:buChar char="•"/>
            </a:pP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LVI</a:t>
            </a:r>
            <a:endParaRPr lang="en-US" sz="890" dirty="0"/>
          </a:p>
          <a:p>
            <a:pPr marL="114300" indent="-114300">
              <a:lnSpc>
                <a:spcPct val="100000"/>
              </a:lnSpc>
              <a:spcAft>
                <a:spcPts val="100"/>
              </a:spcAft>
              <a:buSzPct val="100000"/>
              <a:buChar char="•"/>
            </a:pP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Adjuvant! mortality &gt;10%</a:t>
            </a:r>
            <a:endParaRPr lang="en-US" sz="890" dirty="0"/>
          </a:p>
          <a:p>
            <a:pPr marL="114300" indent="-114300">
              <a:lnSpc>
                <a:spcPct val="100000"/>
              </a:lnSpc>
              <a:spcAft>
                <a:spcPts val="100"/>
              </a:spcAft>
              <a:buSzPct val="100000"/>
              <a:buChar char="•"/>
            </a:pP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21-gene distant relapse &gt;15% at 10 y</a:t>
            </a:r>
            <a:endParaRPr lang="en-US" sz="890" dirty="0"/>
          </a:p>
        </p:txBody>
      </p:sp>
      <p:sp>
        <p:nvSpPr>
          <p:cNvPr id="13" name="Shape 10"/>
          <p:cNvSpPr/>
          <p:nvPr/>
        </p:nvSpPr>
        <p:spPr>
          <a:xfrm>
            <a:off x="228600" y="3200400"/>
            <a:ext cx="2834640" cy="1444752"/>
          </a:xfrm>
          <a:prstGeom prst="rect">
            <a:avLst/>
          </a:prstGeom>
          <a:solidFill>
            <a:srgbClr val="F5EEF8"/>
          </a:solidFill>
          <a:ln w="9525">
            <a:solidFill>
              <a:srgbClr val="6C348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20040" y="3255264"/>
            <a:ext cx="2651760" cy="190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30" b="1" dirty="0">
                <a:solidFill>
                  <a:srgbClr val="6C3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Neoadjuvant indications</a:t>
            </a:r>
            <a:endParaRPr lang="en-US" sz="1030" dirty="0"/>
          </a:p>
        </p:txBody>
      </p:sp>
      <p:sp>
        <p:nvSpPr>
          <p:cNvPr id="15" name="Text 12"/>
          <p:cNvSpPr/>
          <p:nvPr/>
        </p:nvSpPr>
        <p:spPr>
          <a:xfrm>
            <a:off x="301752" y="3473628"/>
            <a:ext cx="2706624" cy="11440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III, esp. ER-negative; inflammatory</a:t>
            </a:r>
            <a:endParaRPr lang="en-US" sz="88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large for lumpectomy (B-18: more BCS)</a:t>
            </a:r>
            <a:endParaRPr lang="en-US" sz="88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HER2+ / TNBC — pCR highest; cN1 to downstage axilla</a:t>
            </a:r>
            <a:endParaRPr lang="en-US" sz="880" dirty="0"/>
          </a:p>
        </p:txBody>
      </p:sp>
      <p:sp>
        <p:nvSpPr>
          <p:cNvPr id="16" name="Shape 13"/>
          <p:cNvSpPr/>
          <p:nvPr/>
        </p:nvSpPr>
        <p:spPr>
          <a:xfrm>
            <a:off x="3154680" y="3200400"/>
            <a:ext cx="2834640" cy="1444752"/>
          </a:xfrm>
          <a:prstGeom prst="rect">
            <a:avLst/>
          </a:prstGeom>
          <a:solidFill>
            <a:srgbClr val="FDEDEC"/>
          </a:solidFill>
          <a:ln w="9525">
            <a:solidFill>
              <a:srgbClr val="C0392B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3246120" y="3255264"/>
            <a:ext cx="2651760" cy="190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3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 conditions</a:t>
            </a:r>
            <a:endParaRPr lang="en-US" sz="1030" dirty="0"/>
          </a:p>
        </p:txBody>
      </p:sp>
      <p:sp>
        <p:nvSpPr>
          <p:cNvPr id="18" name="Text 15"/>
          <p:cNvSpPr/>
          <p:nvPr/>
        </p:nvSpPr>
        <p:spPr>
          <a:xfrm>
            <a:off x="3227832" y="3473628"/>
            <a:ext cx="2706624" cy="11440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 &gt;70:</a:t>
            </a: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no definitive data (benefit proven ≤70 y)</a:t>
            </a:r>
            <a:endParaRPr lang="en-US" sz="88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Pregnancy:</a:t>
            </a: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avoid 1st trimester (12% defects); 2nd–3rd safe</a:t>
            </a:r>
            <a:endParaRPr lang="en-US" sz="88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Male:</a:t>
            </a: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HR−, large, many nodes, locally advanced</a:t>
            </a:r>
            <a:endParaRPr lang="en-US" sz="880" dirty="0"/>
          </a:p>
        </p:txBody>
      </p:sp>
      <p:sp>
        <p:nvSpPr>
          <p:cNvPr id="19" name="Shape 16"/>
          <p:cNvSpPr/>
          <p:nvPr/>
        </p:nvSpPr>
        <p:spPr>
          <a:xfrm>
            <a:off x="6080760" y="3200400"/>
            <a:ext cx="2834640" cy="1444752"/>
          </a:xfrm>
          <a:prstGeom prst="rect">
            <a:avLst/>
          </a:prstGeom>
          <a:solidFill>
            <a:srgbClr val="FDFCF0"/>
          </a:solidFill>
          <a:ln w="9525">
            <a:solidFill>
              <a:srgbClr val="7D6608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172200" y="3255264"/>
            <a:ext cx="2651760" cy="190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30" b="1" dirty="0">
                <a:solidFill>
                  <a:srgbClr val="7D66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Metastatic disease</a:t>
            </a:r>
            <a:endParaRPr lang="en-US" sz="1030" dirty="0"/>
          </a:p>
        </p:txBody>
      </p:sp>
      <p:sp>
        <p:nvSpPr>
          <p:cNvPr id="21" name="Text 18"/>
          <p:cNvSpPr/>
          <p:nvPr/>
        </p:nvSpPr>
        <p:spPr>
          <a:xfrm>
            <a:off x="6153912" y="3473628"/>
            <a:ext cx="2706624" cy="11440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HR-negative; visceral crisis; hormone-refractory; lymphangitic spread</a:t>
            </a:r>
            <a:endParaRPr lang="en-US" sz="88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Sequential single agents by response</a:t>
            </a:r>
            <a:endParaRPr lang="en-US" sz="88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Chemotherapy Regimens &amp; Neoadjuvant Response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Surgery &amp; Adjuvant Therapy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</a:t>
            </a:r>
            <a:endParaRPr lang="en-US" sz="900" dirty="0"/>
          </a:p>
        </p:txBody>
      </p:sp>
      <p:graphicFrame>
        <p:nvGraphicFramePr>
          <p:cNvPr id="5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694944"/>
          <a:ext cx="868680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3931920"/>
                <a:gridCol w="393192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HER2-negative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HER2-positive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Preferred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Dose-dense AC → paclitaxel 2-weekly; dose-dense AC → weekly paclitaxel; TC (docetaxel + cyclophosphamide)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 → paclitaxel + trastuzumab ± pertuzumab; TCH (docetaxel, carboplatin, trastuzumab ± pertuzumab)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Other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CMF; AC → 3-weekly docetaxel; AC → weekly paclitaxel; TAC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 → docetaxel + trastuzumab ± pertuzumab; TC + trastuzumab; FEC → taxane + trastuzumab + pertuzumab; paclitaxel + trastuzumab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228600" y="1901952"/>
            <a:ext cx="8686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i="1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= doxorubicin, C = cyclophosphamide, E = epirubicin, F = 5-FU, M = methotrexate, T = taxane; → = followed by. Current lists differ — check guidelines.</a:t>
            </a:r>
            <a:endParaRPr lang="en-US" sz="760" dirty="0"/>
          </a:p>
        </p:txBody>
      </p:sp>
      <p:sp>
        <p:nvSpPr>
          <p:cNvPr id="10" name="Shape 7"/>
          <p:cNvSpPr/>
          <p:nvPr/>
        </p:nvSpPr>
        <p:spPr>
          <a:xfrm>
            <a:off x="228600" y="2194560"/>
            <a:ext cx="2834640" cy="2450592"/>
          </a:xfrm>
          <a:prstGeom prst="rect">
            <a:avLst/>
          </a:prstGeom>
          <a:solidFill>
            <a:srgbClr val="E8F4FD"/>
          </a:solidFill>
          <a:ln w="9525">
            <a:solidFill>
              <a:srgbClr val="21618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320040" y="2249424"/>
            <a:ext cx="2651760" cy="192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4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Neoadjuvant vs adjuvant</a:t>
            </a:r>
            <a:endParaRPr lang="en-US" sz="1040" dirty="0"/>
          </a:p>
        </p:txBody>
      </p:sp>
      <p:sp>
        <p:nvSpPr>
          <p:cNvPr id="12" name="Text 9"/>
          <p:cNvSpPr/>
          <p:nvPr/>
        </p:nvSpPr>
        <p:spPr>
          <a:xfrm>
            <a:off x="301752" y="2469286"/>
            <a:ext cx="2706624" cy="21484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Milan (T3/T4): best with surgery between courses</a:t>
            </a:r>
            <a:endParaRPr lang="en-US" sz="89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B-18: same DFS/OS, more lumpectomies, fewer +ve nodes</a:t>
            </a:r>
            <a:endParaRPr lang="en-US" sz="89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recurrence ↑ only when RT replaced surgery; biology &amp; stage drive recurrence, not timing</a:t>
            </a:r>
            <a:endParaRPr lang="en-US" sz="890" dirty="0"/>
          </a:p>
        </p:txBody>
      </p:sp>
      <p:sp>
        <p:nvSpPr>
          <p:cNvPr id="13" name="Shape 10"/>
          <p:cNvSpPr/>
          <p:nvPr/>
        </p:nvSpPr>
        <p:spPr>
          <a:xfrm>
            <a:off x="3154680" y="2194560"/>
            <a:ext cx="2834640" cy="2450592"/>
          </a:xfrm>
          <a:prstGeom prst="rect">
            <a:avLst/>
          </a:prstGeom>
          <a:solidFill>
            <a:srgbClr val="EAFAF1"/>
          </a:solidFill>
          <a:ln w="9525">
            <a:solidFill>
              <a:srgbClr val="196F3D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246120" y="2249424"/>
            <a:ext cx="2651760" cy="192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40" b="1" dirty="0">
                <a:solidFill>
                  <a:srgbClr val="196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the response</a:t>
            </a:r>
            <a:endParaRPr lang="en-US" sz="1040" dirty="0"/>
          </a:p>
        </p:txBody>
      </p:sp>
      <p:sp>
        <p:nvSpPr>
          <p:cNvPr id="15" name="Text 12"/>
          <p:cNvSpPr/>
          <p:nvPr/>
        </p:nvSpPr>
        <p:spPr>
          <a:xfrm>
            <a:off x="3227832" y="2469286"/>
            <a:ext cx="2706624" cy="21484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pCR → better survival; RCB-0 to 3 predicts 10-y RFS in TNBC, ER+, HER2+</a:t>
            </a:r>
            <a:endParaRPr lang="en-US" sz="89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Progression on treatment = worst prognosis → switch class</a:t>
            </a:r>
            <a:endParaRPr lang="en-US" sz="89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pCR used for accelerated approval — not proven surrogate for DFS/OS</a:t>
            </a:r>
            <a:endParaRPr lang="en-US" sz="890" dirty="0"/>
          </a:p>
        </p:txBody>
      </p:sp>
      <p:sp>
        <p:nvSpPr>
          <p:cNvPr id="16" name="Shape 13"/>
          <p:cNvSpPr/>
          <p:nvPr/>
        </p:nvSpPr>
        <p:spPr>
          <a:xfrm>
            <a:off x="6080760" y="2194560"/>
            <a:ext cx="2834640" cy="2450592"/>
          </a:xfrm>
          <a:prstGeom prst="rect">
            <a:avLst/>
          </a:prstGeom>
          <a:solidFill>
            <a:srgbClr val="FDFCF0"/>
          </a:solidFill>
          <a:ln w="9525">
            <a:solidFill>
              <a:srgbClr val="7D6608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172200" y="2249424"/>
            <a:ext cx="2651760" cy="192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40" b="1" dirty="0">
                <a:solidFill>
                  <a:srgbClr val="7D66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responds</a:t>
            </a:r>
            <a:endParaRPr lang="en-US" sz="1040" dirty="0"/>
          </a:p>
        </p:txBody>
      </p:sp>
      <p:sp>
        <p:nvSpPr>
          <p:cNvPr id="18" name="Text 15"/>
          <p:cNvSpPr/>
          <p:nvPr/>
        </p:nvSpPr>
        <p:spPr>
          <a:xfrm>
            <a:off x="6153912" y="2469286"/>
            <a:ext cx="2706624" cy="21484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ER+ pCR &lt;10%; lobular &lt;3%</a:t>
            </a:r>
            <a:endParaRPr lang="en-US" sz="89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ER− pCR ≈3× ER+</a:t>
            </a:r>
            <a:endParaRPr lang="en-US" sz="89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HER2+: trastuzumab + pertuzumab ↑ pCR</a:t>
            </a:r>
            <a:endParaRPr lang="en-US" sz="89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Operable advanced: anthracycline ± taxane → surgery → RT</a:t>
            </a:r>
            <a:endParaRPr lang="en-US" sz="89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Hormonal (Endocrine) Therapy — Indications &amp; Choice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Surgery &amp; Adjuvant Therapy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28600" y="694944"/>
            <a:ext cx="5486400" cy="329184"/>
          </a:xfrm>
          <a:prstGeom prst="roundRect">
            <a:avLst>
              <a:gd name="adj" fmla="val 16667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4320" y="713232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ER/PR-positive invasive cancer (response &gt;60% vs &lt;10% if HR-negative)</a:t>
            </a:r>
            <a:endParaRPr lang="en-US" sz="880" dirty="0"/>
          </a:p>
        </p:txBody>
      </p:sp>
      <p:sp>
        <p:nvSpPr>
          <p:cNvPr id="10" name="Shape 8"/>
          <p:cNvSpPr/>
          <p:nvPr/>
        </p:nvSpPr>
        <p:spPr>
          <a:xfrm>
            <a:off x="2971800" y="1024128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97280" y="1088136"/>
            <a:ext cx="3749040" cy="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97280" y="1088136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2971800" y="1088136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4846320" y="1088136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228600" y="1152144"/>
            <a:ext cx="1737360" cy="274320"/>
          </a:xfrm>
          <a:prstGeom prst="roundRect">
            <a:avLst>
              <a:gd name="adj" fmla="val 20000"/>
            </a:avLst>
          </a:prstGeom>
          <a:solidFill>
            <a:srgbClr val="21618C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74320" y="1170432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PREMENOPAUSAL</a:t>
            </a:r>
            <a:endParaRPr lang="en-US" sz="820" dirty="0"/>
          </a:p>
        </p:txBody>
      </p:sp>
      <p:sp>
        <p:nvSpPr>
          <p:cNvPr id="17" name="Shape 15"/>
          <p:cNvSpPr/>
          <p:nvPr/>
        </p:nvSpPr>
        <p:spPr>
          <a:xfrm>
            <a:off x="228600" y="1444752"/>
            <a:ext cx="1737360" cy="1572768"/>
          </a:xfrm>
          <a:prstGeom prst="roundRect">
            <a:avLst>
              <a:gd name="adj" fmla="val 3488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74320" y="1463040"/>
            <a:ext cx="1645920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Tamoxifen × 5 y (↓ mortality ⅓, carry-over benefit; ↓ contralateral 39%)</a:t>
            </a:r>
            <a:endParaRPr lang="en-US" sz="910" dirty="0"/>
          </a:p>
          <a:p>
            <a:pPr algn="ctr" indent="0" marL="0">
              <a:buNone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risk (&lt;40 y, node+, needed chemo): ovarian suppression + exemestane (SOFT/TEXT DFS 93 vs 89%)</a:t>
            </a:r>
            <a:endParaRPr lang="en-US" sz="910" dirty="0"/>
          </a:p>
        </p:txBody>
      </p:sp>
      <p:sp>
        <p:nvSpPr>
          <p:cNvPr id="19" name="Shape 17"/>
          <p:cNvSpPr/>
          <p:nvPr/>
        </p:nvSpPr>
        <p:spPr>
          <a:xfrm>
            <a:off x="2103120" y="1152144"/>
            <a:ext cx="1737360" cy="274320"/>
          </a:xfrm>
          <a:prstGeom prst="roundRect">
            <a:avLst>
              <a:gd name="adj" fmla="val 20000"/>
            </a:avLst>
          </a:prstGeom>
          <a:solidFill>
            <a:srgbClr val="196F3D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148840" y="1170432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POSTMENOPAUSAL</a:t>
            </a:r>
            <a:endParaRPr lang="en-US" sz="820" dirty="0"/>
          </a:p>
        </p:txBody>
      </p:sp>
      <p:sp>
        <p:nvSpPr>
          <p:cNvPr id="21" name="Shape 19"/>
          <p:cNvSpPr/>
          <p:nvPr/>
        </p:nvSpPr>
        <p:spPr>
          <a:xfrm>
            <a:off x="2103120" y="1444752"/>
            <a:ext cx="1737360" cy="1572768"/>
          </a:xfrm>
          <a:prstGeom prst="roundRect">
            <a:avLst>
              <a:gd name="adj" fmla="val 3488"/>
            </a:avLst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148840" y="1463040"/>
            <a:ext cx="1645920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Aromatase inhibitor first-line (anastrozole, letrozole, exemestane): −30% recurrence, −15% 10-y mortality vs tamoxifen</a:t>
            </a:r>
            <a:endParaRPr lang="en-US" sz="910" dirty="0"/>
          </a:p>
          <a:p>
            <a:pPr algn="ctr" indent="0" marL="0">
              <a:buNone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 bone; arthralgia common</a:t>
            </a:r>
            <a:endParaRPr lang="en-US" sz="910" dirty="0"/>
          </a:p>
        </p:txBody>
      </p:sp>
      <p:sp>
        <p:nvSpPr>
          <p:cNvPr id="23" name="Shape 21"/>
          <p:cNvSpPr/>
          <p:nvPr/>
        </p:nvSpPr>
        <p:spPr>
          <a:xfrm>
            <a:off x="3977640" y="1152144"/>
            <a:ext cx="1737360" cy="274320"/>
          </a:xfrm>
          <a:prstGeom prst="roundRect">
            <a:avLst>
              <a:gd name="adj" fmla="val 20000"/>
            </a:avLst>
          </a:prstGeom>
          <a:solidFill>
            <a:srgbClr val="7D6608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023360" y="1170432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EXTENDED</a:t>
            </a:r>
            <a:endParaRPr lang="en-US" sz="820" dirty="0"/>
          </a:p>
        </p:txBody>
      </p:sp>
      <p:sp>
        <p:nvSpPr>
          <p:cNvPr id="25" name="Shape 23"/>
          <p:cNvSpPr/>
          <p:nvPr/>
        </p:nvSpPr>
        <p:spPr>
          <a:xfrm>
            <a:off x="3977640" y="1444752"/>
            <a:ext cx="1737360" cy="1572768"/>
          </a:xfrm>
          <a:prstGeom prst="roundRect">
            <a:avLst>
              <a:gd name="adj" fmla="val 3488"/>
            </a:avLst>
          </a:prstGeom>
          <a:solidFill>
            <a:srgbClr val="FDFCF0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023360" y="1463040"/>
            <a:ext cx="1645920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Tamoxifen 10 y (ATLAS, aTTom) or extended letrozole (MA-17R, B-42: ↑DFS, no OS gain) — best for node+, chemo-treated</a:t>
            </a:r>
            <a:endParaRPr lang="en-US" sz="910" dirty="0"/>
          </a:p>
        </p:txBody>
      </p:sp>
      <p:graphicFrame>
        <p:nvGraphicFramePr>
          <p:cNvPr id="5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97880" y="694944"/>
          <a:ext cx="3017520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20574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Drug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Toxicity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Tamoxifen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Hot flashes, thrombosis (&lt;3%), cataract, endometrial cancer (long use), bone pain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Bone loss/fracture (bisphosphonate), arthralgia; less endometrial cancer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</a:tbl>
          </a:graphicData>
        </a:graphic>
      </p:graphicFrame>
      <p:sp>
        <p:nvSpPr>
          <p:cNvPr id="28" name="Shape 25"/>
          <p:cNvSpPr/>
          <p:nvPr/>
        </p:nvSpPr>
        <p:spPr>
          <a:xfrm>
            <a:off x="5897880" y="2194560"/>
            <a:ext cx="3017520" cy="2450592"/>
          </a:xfrm>
          <a:prstGeom prst="rect">
            <a:avLst/>
          </a:prstGeom>
          <a:solidFill>
            <a:srgbClr val="F5EEF8"/>
          </a:solidFill>
          <a:ln w="9525">
            <a:solidFill>
              <a:srgbClr val="6C3483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5989320" y="2249424"/>
            <a:ext cx="2834640" cy="190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30" b="1" dirty="0">
                <a:solidFill>
                  <a:srgbClr val="6C3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 indications</a:t>
            </a:r>
            <a:endParaRPr lang="en-US" sz="1030" dirty="0"/>
          </a:p>
        </p:txBody>
      </p:sp>
      <p:sp>
        <p:nvSpPr>
          <p:cNvPr id="30" name="Text 27"/>
          <p:cNvSpPr/>
          <p:nvPr/>
        </p:nvSpPr>
        <p:spPr>
          <a:xfrm>
            <a:off x="5971032" y="2467788"/>
            <a:ext cx="2889504" cy="2149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ER+ DCIS:</a:t>
            </a: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tamoxifen 5 y (not after bilateral mastectomy)</a:t>
            </a:r>
            <a:endParaRPr lang="en-US" sz="88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Prevention:</a:t>
            </a: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Gail ≥1.66%, LCIS, ADH/ALH</a:t>
            </a:r>
            <a:endParaRPr lang="en-US" sz="88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Neoadjuvant:</a:t>
            </a: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elderly/unfit, indolent ER+ LABC, lobular (IMPACT BCS 44% AI vs 31% tamoxifen)</a:t>
            </a:r>
            <a:endParaRPr lang="en-US" sz="88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Male BC:</a:t>
            </a: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~80% HR+ → tamoxifen</a:t>
            </a:r>
            <a:endParaRPr lang="en-US" sz="88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Metastatic HR+ without crisis:</a:t>
            </a: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endocrine first</a:t>
            </a:r>
            <a:endParaRPr lang="en-US" sz="880" dirty="0"/>
          </a:p>
        </p:txBody>
      </p:sp>
      <p:sp>
        <p:nvSpPr>
          <p:cNvPr id="31" name="Shape 28"/>
          <p:cNvSpPr/>
          <p:nvPr/>
        </p:nvSpPr>
        <p:spPr>
          <a:xfrm>
            <a:off x="228600" y="3108960"/>
            <a:ext cx="5486400" cy="1536192"/>
          </a:xfrm>
          <a:prstGeom prst="rect">
            <a:avLst/>
          </a:prstGeom>
          <a:solidFill>
            <a:srgbClr val="FDEDEC"/>
          </a:solidFill>
          <a:ln w="9525">
            <a:solidFill>
              <a:srgbClr val="C0392B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301752" y="3127248"/>
            <a:ext cx="5340096" cy="1499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Pitfalls:</a:t>
            </a:r>
            <a:r>
              <a:rPr lang="en-US" sz="97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No endocrine therapy if ER AND PR negative • AIs alone are not for premenopausal women (need ovarian suppression) • re-biopsy metastases — receptors change • ovarian suppression adds little without chemotherapy-level risk • B-14: &gt;5 y tamoxifen showed no gain (short follow-up) — later ATLAS showed benefit from years 10–15.</a:t>
            </a:r>
            <a:endParaRPr lang="en-US" sz="97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Endocrine Therapy in Metastatic Disease &amp; Ovarian Suppression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Surgery &amp; Adjuvant Therapy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28600" y="694944"/>
            <a:ext cx="4251960" cy="2377440"/>
          </a:xfrm>
          <a:prstGeom prst="rect">
            <a:avLst/>
          </a:prstGeom>
          <a:solidFill>
            <a:srgbClr val="E8F4FD"/>
          </a:solidFill>
          <a:ln w="9525">
            <a:solidFill>
              <a:srgbClr val="21618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0040" y="749808"/>
            <a:ext cx="4069080" cy="192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4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Sequencing (postmenopausal ER+/HER2−)</a:t>
            </a:r>
            <a:endParaRPr lang="en-US" sz="1040" dirty="0"/>
          </a:p>
        </p:txBody>
      </p:sp>
      <p:sp>
        <p:nvSpPr>
          <p:cNvPr id="10" name="Text 8"/>
          <p:cNvSpPr/>
          <p:nvPr/>
        </p:nvSpPr>
        <p:spPr>
          <a:xfrm>
            <a:off x="301752" y="969670"/>
            <a:ext cx="4123944" cy="20752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1st line:</a:t>
            </a: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AI, or palbociclib + letrozole (ribociclib, abemaciclib also approved)</a:t>
            </a:r>
            <a:endParaRPr lang="en-US" sz="89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progression:</a:t>
            </a: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palbociclib + fulvestrant (premenopausal + goserelin); abemaciclib ± fulvestrant; everolimus + exemestane (mTOR)</a:t>
            </a:r>
            <a:endParaRPr lang="en-US" sz="89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Premenopausal, endocrine-naive:</a:t>
            </a: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tamoxifen, or ovarian suppression/ablation + AI ± CDK4/6i</a:t>
            </a:r>
            <a:endParaRPr lang="en-US" sz="89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Others: tamoxifen/toremifene, fulvestrant, megestrol, fluoxymesterone, high-dose ethinyl estradiol</a:t>
            </a:r>
            <a:endParaRPr lang="en-US" sz="890" dirty="0"/>
          </a:p>
        </p:txBody>
      </p:sp>
      <p:sp>
        <p:nvSpPr>
          <p:cNvPr id="11" name="Shape 9"/>
          <p:cNvSpPr/>
          <p:nvPr/>
        </p:nvSpPr>
        <p:spPr>
          <a:xfrm>
            <a:off x="228600" y="3145536"/>
            <a:ext cx="4251960" cy="1499616"/>
          </a:xfrm>
          <a:prstGeom prst="rect">
            <a:avLst/>
          </a:prstGeom>
          <a:solidFill>
            <a:srgbClr val="F5EEF8"/>
          </a:solidFill>
          <a:ln w="9525">
            <a:solidFill>
              <a:srgbClr val="6C348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0040" y="3200400"/>
            <a:ext cx="4069080" cy="192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40" b="1" dirty="0">
                <a:solidFill>
                  <a:srgbClr val="6C3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Ovarian ablation / suppression</a:t>
            </a:r>
            <a:endParaRPr lang="en-US" sz="1040" dirty="0"/>
          </a:p>
        </p:txBody>
      </p:sp>
      <p:sp>
        <p:nvSpPr>
          <p:cNvPr id="13" name="Text 11"/>
          <p:cNvSpPr/>
          <p:nvPr/>
        </p:nvSpPr>
        <p:spPr>
          <a:xfrm>
            <a:off x="301752" y="3420262"/>
            <a:ext cx="4123944" cy="11974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Oophorectomy, ovarian RT or GnRH agonist (goserelin, leuprolide)</a:t>
            </a:r>
            <a:endParaRPr lang="en-US" sz="89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Goserelin + tamoxifen beat CMF in ER+ premenopausal early cancer</a:t>
            </a:r>
            <a:endParaRPr lang="en-US" sz="89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SOFT/TEXT: benefit mainly &lt;40 y, node+, chemo-treated; no OS difference</a:t>
            </a:r>
            <a:endParaRPr lang="en-US" sz="890" dirty="0"/>
          </a:p>
        </p:txBody>
      </p:sp>
      <p:graphicFrame>
        <p:nvGraphicFramePr>
          <p:cNvPr id="14" name="Chart 0" descr=""/>
          <p:cNvGraphicFramePr/>
          <p:nvPr/>
        </p:nvGraphicFramePr>
        <p:xfrm>
          <a:off x="4663440" y="658368"/>
          <a:ext cx="4251960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5" name="Shape 12"/>
          <p:cNvSpPr/>
          <p:nvPr/>
        </p:nvSpPr>
        <p:spPr>
          <a:xfrm>
            <a:off x="4663440" y="3566160"/>
            <a:ext cx="4251960" cy="1078992"/>
          </a:xfrm>
          <a:prstGeom prst="rect">
            <a:avLst/>
          </a:prstGeom>
          <a:solidFill>
            <a:srgbClr val="FDEDEC"/>
          </a:solidFill>
          <a:ln w="9525">
            <a:solidFill>
              <a:srgbClr val="C0392B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754880" y="3621024"/>
            <a:ext cx="4069080" cy="190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3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Pitfalls</a:t>
            </a:r>
            <a:endParaRPr lang="en-US" sz="1030" dirty="0"/>
          </a:p>
        </p:txBody>
      </p:sp>
      <p:sp>
        <p:nvSpPr>
          <p:cNvPr id="17" name="Text 14"/>
          <p:cNvSpPr/>
          <p:nvPr/>
        </p:nvSpPr>
        <p:spPr>
          <a:xfrm>
            <a:off x="4736592" y="3839388"/>
            <a:ext cx="4123944" cy="7783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benefit → next endocrine line likely works; de-novo progression → &lt;20% benefit, weigh chemo</a:t>
            </a:r>
            <a:endParaRPr lang="en-US" sz="88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ESR1 mutation (20–30% after AI) → AI resistance; bevacizumab indication revoked</a:t>
            </a:r>
            <a:endParaRPr lang="en-US" sz="88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Anti-HER2 Therapy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Surgery &amp; Adjuvant Therapy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</a:t>
            </a:r>
            <a:endParaRPr lang="en-US" sz="900" dirty="0"/>
          </a:p>
        </p:txBody>
      </p:sp>
      <p:graphicFrame>
        <p:nvGraphicFramePr>
          <p:cNvPr id="6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694944"/>
          <a:ext cx="566928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448056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facts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Trastuzumab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B-31/N9831: 3-y DFS 75 → 87% (HR 0.48), mortality −33%. </a:t>
                      </a: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year = standard</a:t>
                      </a: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(2 y more toxic; 6 mo not non-inferior). With taxane, NOT with anthracycline (cardiotoxicity). BCIRG 006: TCH ≈ AC-TH (less leukaemia/heart failure)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Neoadjuvant trastuzumab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pCR 25 → 66.7% with paclitaxel → FEC-75; cardiac function preserved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Pertuzumab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Blocks HER2–HER3 dimerisation. Metastatic 1st line + trastuzumab + docetaxel; neoadjuvant HER2+ &gt;2 cm or N+ (NeoSphere ↑pCR ~17%; TRYPHAENA 57–66%); APHINITY iDFS events 7.1 vs 8.7%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Lapatinib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HER2/EGFR TKI; + capecitabine metastatic; adjuvant inferior to trastuzumab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T-DM1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Antibody–drug conjugate for metastatic disease after trastuzumab + taxane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Neratinib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ExteNET: 1 y after trastuzumab → 2-y iDFS 94.2 vs 91.9%; HER2-mutant tumours benefit 36%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Chart 0" descr=""/>
          <p:cNvGraphicFramePr/>
          <p:nvPr/>
        </p:nvGraphicFramePr>
        <p:xfrm>
          <a:off x="6080760" y="658368"/>
          <a:ext cx="2834640" cy="2606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6"/>
          <p:cNvSpPr/>
          <p:nvPr/>
        </p:nvSpPr>
        <p:spPr>
          <a:xfrm>
            <a:off x="6080760" y="3337560"/>
            <a:ext cx="2834640" cy="1307592"/>
          </a:xfrm>
          <a:prstGeom prst="rect">
            <a:avLst/>
          </a:prstGeom>
          <a:solidFill>
            <a:srgbClr val="EAFAF1"/>
          </a:solidFill>
          <a:ln w="9525">
            <a:solidFill>
              <a:srgbClr val="196F3D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6172200" y="3392424"/>
            <a:ext cx="2651760" cy="192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40" b="1" dirty="0">
                <a:solidFill>
                  <a:srgbClr val="196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Indications</a:t>
            </a:r>
            <a:endParaRPr lang="en-US" sz="1040" dirty="0"/>
          </a:p>
        </p:txBody>
      </p:sp>
      <p:sp>
        <p:nvSpPr>
          <p:cNvPr id="12" name="Text 8"/>
          <p:cNvSpPr/>
          <p:nvPr/>
        </p:nvSpPr>
        <p:spPr>
          <a:xfrm>
            <a:off x="6153912" y="3612286"/>
            <a:ext cx="2706624" cy="10054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HER2-positive invasive cancer (IHC 3+ / FISH amplified)</a:t>
            </a:r>
            <a:endParaRPr lang="en-US" sz="89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High-risk HER2+ adjuvant: add pertuzumab</a:t>
            </a:r>
            <a:endParaRPr lang="en-US" sz="89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21618C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629400" y="91440"/>
            <a:ext cx="82296" cy="4663440"/>
          </a:xfrm>
          <a:prstGeom prst="rect">
            <a:avLst/>
          </a:prstGeom>
          <a:solidFill>
            <a:srgbClr val="21618C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711696" y="91440"/>
            <a:ext cx="2432304" cy="46634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" y="548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 E C T I O 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74320" y="914400"/>
            <a:ext cx="3657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8800" dirty="0"/>
          </a:p>
        </p:txBody>
      </p:sp>
      <p:sp>
        <p:nvSpPr>
          <p:cNvPr id="7" name="Text 5"/>
          <p:cNvSpPr/>
          <p:nvPr/>
        </p:nvSpPr>
        <p:spPr>
          <a:xfrm>
            <a:off x="320040" y="2514600"/>
            <a:ext cx="6126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Special Situations &amp; Review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320040" y="3931920"/>
            <a:ext cx="6126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E40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Pregnancy • male breast cancer • phyllodes • rare cancers • prognosis • pitfalls &amp; rapid recall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711696" y="1828800"/>
            <a:ext cx="24323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4800" dirty="0"/>
          </a:p>
        </p:txBody>
      </p:sp>
      <p:sp>
        <p:nvSpPr>
          <p:cNvPr id="10" name="Shape 8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 Situations &amp; Review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</a:t>
            </a:r>
            <a:endParaRPr lang="en-US" sz="9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Breast Cancer in Pregnancy &amp; Lactation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 Situations &amp; Review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28600" y="694944"/>
            <a:ext cx="8686800" cy="347472"/>
          </a:xfrm>
          <a:prstGeom prst="roundRect">
            <a:avLst>
              <a:gd name="adj" fmla="val 15789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4320" y="713232"/>
            <a:ext cx="8595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Pregnancy-associated cancer — 1 in 3,000 pregnancies; mean age 34; nodes positive in up to 75%; presents late (hormone-rich breast masks it)</a:t>
            </a:r>
            <a:endParaRPr lang="en-US" sz="880" dirty="0"/>
          </a:p>
        </p:txBody>
      </p:sp>
      <p:sp>
        <p:nvSpPr>
          <p:cNvPr id="10" name="Shape 8"/>
          <p:cNvSpPr/>
          <p:nvPr/>
        </p:nvSpPr>
        <p:spPr>
          <a:xfrm>
            <a:off x="4572000" y="1042416"/>
            <a:ext cx="0" cy="10972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228600" y="1152144"/>
            <a:ext cx="8686800" cy="457200"/>
          </a:xfrm>
          <a:prstGeom prst="roundRect">
            <a:avLst>
              <a:gd name="adj" fmla="val 12000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4320" y="1170432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Diagnosis:</a:t>
            </a:r>
            <a:r>
              <a:rPr lang="en-US" sz="96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ultrasound + needle biopsy (&lt;25% of nodules are cancer; ~30% of benign = galactocele, lobular hyperplasia, lactating adenoma, mastitis). Mammography rarely (shield). Work-up: CBC, chest X-ray (shielded), LFTs</a:t>
            </a:r>
            <a:endParaRPr lang="en-US" sz="960" dirty="0"/>
          </a:p>
        </p:txBody>
      </p:sp>
      <p:sp>
        <p:nvSpPr>
          <p:cNvPr id="13" name="Shape 11"/>
          <p:cNvSpPr/>
          <p:nvPr/>
        </p:nvSpPr>
        <p:spPr>
          <a:xfrm>
            <a:off x="4572000" y="1609344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618488" y="1673352"/>
            <a:ext cx="5907024" cy="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618488" y="1673352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4572000" y="1673352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7525512" y="1673352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228600" y="1737360"/>
            <a:ext cx="2788920" cy="960120"/>
          </a:xfrm>
          <a:prstGeom prst="roundRect">
            <a:avLst>
              <a:gd name="adj" fmla="val 5714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74320" y="1755648"/>
            <a:ext cx="2697480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1st–2nd TRIMESTER</a:t>
            </a:r>
            <a:endParaRPr lang="en-US" sz="980" dirty="0"/>
          </a:p>
          <a:p>
            <a:pPr algn="ctr" indent="0" marL="0">
              <a:buNone/>
            </a:pPr>
            <a:r>
              <a:rPr lang="en-US" sz="9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Modified radical mastectomy (1st-trimester anaesthesia ↑ abortion risk)</a:t>
            </a:r>
            <a:endParaRPr lang="en-US" sz="980" dirty="0"/>
          </a:p>
        </p:txBody>
      </p:sp>
      <p:sp>
        <p:nvSpPr>
          <p:cNvPr id="20" name="Shape 18"/>
          <p:cNvSpPr/>
          <p:nvPr/>
        </p:nvSpPr>
        <p:spPr>
          <a:xfrm>
            <a:off x="3182112" y="1737360"/>
            <a:ext cx="2788920" cy="960120"/>
          </a:xfrm>
          <a:prstGeom prst="roundRect">
            <a:avLst>
              <a:gd name="adj" fmla="val 5714"/>
            </a:avLst>
          </a:prstGeom>
          <a:solidFill>
            <a:srgbClr val="F5EEF8"/>
          </a:solidFill>
          <a:ln w="12700">
            <a:solidFill>
              <a:srgbClr val="6C348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227832" y="1755648"/>
            <a:ext cx="2697480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3rd TRIMESTER</a:t>
            </a:r>
            <a:endParaRPr lang="en-US" sz="980" dirty="0"/>
          </a:p>
          <a:p>
            <a:pPr algn="ctr" indent="0" marL="0">
              <a:buNone/>
            </a:pPr>
            <a:r>
              <a:rPr lang="en-US" sz="9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Lumpectomy + axillary dissection; radiation after delivery</a:t>
            </a:r>
            <a:endParaRPr lang="en-US" sz="980" dirty="0"/>
          </a:p>
        </p:txBody>
      </p:sp>
      <p:sp>
        <p:nvSpPr>
          <p:cNvPr id="22" name="Shape 20"/>
          <p:cNvSpPr/>
          <p:nvPr/>
        </p:nvSpPr>
        <p:spPr>
          <a:xfrm>
            <a:off x="6135624" y="1737360"/>
            <a:ext cx="2788920" cy="960120"/>
          </a:xfrm>
          <a:prstGeom prst="roundRect">
            <a:avLst>
              <a:gd name="adj" fmla="val 5714"/>
            </a:avLst>
          </a:prstGeom>
          <a:solidFill>
            <a:srgbClr val="FDFCF0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181344" y="1755648"/>
            <a:ext cx="2697480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CHEMOTHERAPY</a:t>
            </a:r>
            <a:endParaRPr lang="en-US" sz="980" dirty="0"/>
          </a:p>
          <a:p>
            <a:pPr algn="ctr" indent="0" marL="0">
              <a:buNone/>
            </a:pPr>
            <a:r>
              <a:rPr lang="en-US" sz="9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 1st trimester (12% birth defects); 2nd/3rd: no teratogenicity → neoadjuvant approach possible</a:t>
            </a:r>
            <a:endParaRPr lang="en-US" sz="980" dirty="0"/>
          </a:p>
        </p:txBody>
      </p:sp>
      <p:sp>
        <p:nvSpPr>
          <p:cNvPr id="24" name="Shape 22"/>
          <p:cNvSpPr/>
          <p:nvPr/>
        </p:nvSpPr>
        <p:spPr>
          <a:xfrm>
            <a:off x="228600" y="2816352"/>
            <a:ext cx="4251960" cy="914400"/>
          </a:xfrm>
          <a:prstGeom prst="rect">
            <a:avLst/>
          </a:prstGeom>
          <a:solidFill>
            <a:srgbClr val="EAFAF1"/>
          </a:solidFill>
          <a:ln w="9525">
            <a:solidFill>
              <a:srgbClr val="196F3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20040" y="2871216"/>
            <a:ext cx="4069080" cy="195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b="1" dirty="0">
                <a:solidFill>
                  <a:srgbClr val="196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to know</a:t>
            </a:r>
            <a:endParaRPr lang="en-US" sz="1060" dirty="0"/>
          </a:p>
        </p:txBody>
      </p:sp>
      <p:sp>
        <p:nvSpPr>
          <p:cNvPr id="26" name="Text 24"/>
          <p:cNvSpPr/>
          <p:nvPr/>
        </p:nvSpPr>
        <p:spPr>
          <a:xfrm>
            <a:off x="301752" y="3094076"/>
            <a:ext cx="4123944" cy="609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SLNB with isotope alone is safe • suppress lactation</a:t>
            </a:r>
            <a:endParaRPr lang="en-US" sz="91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for stage, prognosis equals non-pregnant women</a:t>
            </a:r>
            <a:endParaRPr lang="en-US" sz="910" dirty="0"/>
          </a:p>
        </p:txBody>
      </p:sp>
      <p:sp>
        <p:nvSpPr>
          <p:cNvPr id="27" name="Shape 25"/>
          <p:cNvSpPr/>
          <p:nvPr/>
        </p:nvSpPr>
        <p:spPr>
          <a:xfrm>
            <a:off x="4663440" y="2816352"/>
            <a:ext cx="4251960" cy="914400"/>
          </a:xfrm>
          <a:prstGeom prst="rect">
            <a:avLst/>
          </a:prstGeom>
          <a:solidFill>
            <a:srgbClr val="FDEDEC"/>
          </a:solidFill>
          <a:ln w="9525">
            <a:solidFill>
              <a:srgbClr val="C0392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754880" y="2871216"/>
            <a:ext cx="4069080" cy="195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Pitfalls</a:t>
            </a:r>
            <a:endParaRPr lang="en-US" sz="1060" dirty="0"/>
          </a:p>
        </p:txBody>
      </p:sp>
      <p:sp>
        <p:nvSpPr>
          <p:cNvPr id="29" name="Text 27"/>
          <p:cNvSpPr/>
          <p:nvPr/>
        </p:nvSpPr>
        <p:spPr>
          <a:xfrm>
            <a:off x="4736592" y="3094076"/>
            <a:ext cx="4123944" cy="609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 is NEVER given during pregnancy; no chemo in 1st trimester</a:t>
            </a:r>
            <a:endParaRPr lang="en-US" sz="91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delay core biopsy of a pregnancy "lump"; isotope-only SLNB</a:t>
            </a:r>
            <a:endParaRPr lang="en-US" sz="910" dirty="0"/>
          </a:p>
        </p:txBody>
      </p:sp>
      <p:sp>
        <p:nvSpPr>
          <p:cNvPr id="30" name="Shape 28"/>
          <p:cNvSpPr/>
          <p:nvPr/>
        </p:nvSpPr>
        <p:spPr>
          <a:xfrm>
            <a:off x="228600" y="3803904"/>
            <a:ext cx="8686800" cy="841248"/>
          </a:xfrm>
          <a:prstGeom prst="rect">
            <a:avLst/>
          </a:prstGeom>
          <a:solidFill>
            <a:srgbClr val="FDFCF0"/>
          </a:solidFill>
          <a:ln w="9525">
            <a:solidFill>
              <a:srgbClr val="7D660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20040" y="3858768"/>
            <a:ext cx="8503920" cy="195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b="1" dirty="0">
                <a:solidFill>
                  <a:srgbClr val="7D66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presentation is late</a:t>
            </a:r>
            <a:endParaRPr lang="en-US" sz="1060" dirty="0"/>
          </a:p>
        </p:txBody>
      </p:sp>
      <p:sp>
        <p:nvSpPr>
          <p:cNvPr id="32" name="Text 30"/>
          <p:cNvSpPr/>
          <p:nvPr/>
        </p:nvSpPr>
        <p:spPr>
          <a:xfrm>
            <a:off x="301752" y="4081628"/>
            <a:ext cx="8558784" cy="5360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Physiological engorgement and density mask early cancers — any persistent mass needs imaging and core biopsy</a:t>
            </a:r>
            <a:endParaRPr lang="en-US" sz="91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Male Breast Cancer, Phyllodes &amp; Rare Tumours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 Situations &amp; Review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28600" y="694944"/>
            <a:ext cx="4251960" cy="2103120"/>
          </a:xfrm>
          <a:prstGeom prst="rect">
            <a:avLst/>
          </a:prstGeom>
          <a:solidFill>
            <a:srgbClr val="E8F4FD"/>
          </a:solidFill>
          <a:ln w="9525">
            <a:solidFill>
              <a:srgbClr val="21618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0040" y="749808"/>
            <a:ext cx="4069080" cy="190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3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Male breast cancer</a:t>
            </a:r>
            <a:endParaRPr lang="en-US" sz="1030" dirty="0"/>
          </a:p>
        </p:txBody>
      </p:sp>
      <p:sp>
        <p:nvSpPr>
          <p:cNvPr id="10" name="Text 8"/>
          <p:cNvSpPr/>
          <p:nvPr/>
        </p:nvSpPr>
        <p:spPr>
          <a:xfrm>
            <a:off x="301752" y="968172"/>
            <a:ext cx="4123944" cy="1802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&lt;1% of breast cancers; peak 6th decade; gynecomastia precedes in 20%</a:t>
            </a:r>
            <a:endParaRPr lang="en-US" sz="88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Risk: radiation, estrogen, testicular feminisation, Klinefelter, BRCA2</a:t>
            </a:r>
            <a:endParaRPr lang="en-US" sz="88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IDC &gt;85%, DCIS &lt;15%; presents later (II–IV); stage-for-stage same survival</a:t>
            </a:r>
            <a:endParaRPr lang="en-US" sz="88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Rx:</a:t>
            </a: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usually MRM; SLNB accurate; RT if high local risk; ~80% HR+ → tamoxifen; chemo if HR−, large, many nodes, LABC</a:t>
            </a:r>
            <a:endParaRPr lang="en-US" sz="880" dirty="0"/>
          </a:p>
        </p:txBody>
      </p:sp>
      <p:sp>
        <p:nvSpPr>
          <p:cNvPr id="11" name="Shape 9"/>
          <p:cNvSpPr/>
          <p:nvPr/>
        </p:nvSpPr>
        <p:spPr>
          <a:xfrm>
            <a:off x="4663440" y="694944"/>
            <a:ext cx="4251960" cy="2103120"/>
          </a:xfrm>
          <a:prstGeom prst="rect">
            <a:avLst/>
          </a:prstGeom>
          <a:solidFill>
            <a:srgbClr val="F5EEF8"/>
          </a:solidFill>
          <a:ln w="9525">
            <a:solidFill>
              <a:srgbClr val="6C348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54880" y="749808"/>
            <a:ext cx="4069080" cy="190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30" b="1" dirty="0">
                <a:solidFill>
                  <a:srgbClr val="6C3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Phyllodes tumour</a:t>
            </a:r>
            <a:endParaRPr lang="en-US" sz="1030" dirty="0"/>
          </a:p>
        </p:txBody>
      </p:sp>
      <p:sp>
        <p:nvSpPr>
          <p:cNvPr id="13" name="Text 11"/>
          <p:cNvSpPr/>
          <p:nvPr/>
        </p:nvSpPr>
        <p:spPr>
          <a:xfrm>
            <a:off x="4736592" y="968172"/>
            <a:ext cx="4123944" cy="1802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Benign / borderline / malignant; leaf-like cut surface; cellular monoclonal stroma</a:t>
            </a:r>
            <a:endParaRPr lang="en-US" sz="88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Calcification and necrosis do not grade; malignant: sarcomatous elements, mitoses, invasive margins</a:t>
            </a:r>
            <a:endParaRPr lang="en-US" sz="88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Rx:</a:t>
            </a: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wide excision with normal margin; malignant → re-excise to 1 cm; large → mastectomy</a:t>
            </a:r>
            <a:endParaRPr lang="en-US" sz="88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axillary dissection</a:t>
            </a: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(nodal mets rare)</a:t>
            </a:r>
            <a:endParaRPr lang="en-US" sz="880" dirty="0"/>
          </a:p>
        </p:txBody>
      </p:sp>
      <p:graphicFrame>
        <p:nvGraphicFramePr>
          <p:cNvPr id="6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2871216"/>
          <a:ext cx="86868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73152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Rare tumour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points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Squamous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Duct metaplasia; regional mets 25%, distant rare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Adenoid cystic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&lt;0.1%; salivary-like, 1–3 cm, circumscribed; axillary spread rare, lung mets can kill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Apocrine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Well differentiated, vesicular nuclei; can be aggressive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Sarcoma / angiosarcoma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Large painless rapid mass → core/incisional biopsy; wide excision (may need mastectomy); no ALND unless nodes proven. Angiosarcoma: de novo, post-RT, Stewart–Treves (post-mastectomy lymphedema, 7–10 y)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Lymphoma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≤39 y Burkitt-like, bilateral; ≥40 y B-cell; stage-based therapy; 5/10-y 74/51%. Implant ALCL: remove capsule + mass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Prognosis &amp; High-Yield Numbers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 Situations &amp; Review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</a:t>
            </a:r>
            <a:endParaRPr lang="en-US" sz="9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28600" y="658368"/>
          <a:ext cx="3657600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228600" y="269748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90" i="1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 89.2% (white 90.4% vs black 78.7%); gains reflect screening + better local and systemic therapy.</a:t>
            </a:r>
            <a:endParaRPr lang="en-US" sz="790" dirty="0"/>
          </a:p>
        </p:txBody>
      </p:sp>
      <p:graphicFrame>
        <p:nvGraphicFramePr>
          <p:cNvPr id="6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3090672"/>
          <a:ext cx="36576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46304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Morbidity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Number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Seroma / lymphedema after MRM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≤30% / ~20% (50–60% + RT)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Z0011 lymphedema: ALND vs SLN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13% vs 2%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Inflammatory: M1 at Dx / 5-y survival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 / ~30%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069080" y="694944"/>
          <a:ext cx="4846320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201168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Number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ADH/ALH • LCIS/DCIS • ADH in ducts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4× • 10× • 7×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Gail tamoxifen threshold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5-y ≥1.66%, age 35–59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P-1 / MAP.3 / IBIS-II reduction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49% / 65% / ~50%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BRCA1 / BRCA2 ovarian risk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≤40% / ~20%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Screening ≥50 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−25% mortality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LCIS → invasive; DCIS ipsilateral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25–35% (bilateral); 25–70%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Untreated median survival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 y; 5-y 18%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TAILORx RS 0–10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98% 5-y OS, endocrine alone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DCIS excision alone: low/int vs high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6.1% vs 15.3%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B-24 tamoxifen + RT vs RT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8.2% vs 13.4%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B-06 in-breast recurrence 20 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39.2% vs 14.3% (+RT)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B-32 SLN identification / FNR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97% / 9.7%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Z0011 OS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91.9% vs 92.5%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Trastuzumab 3-y DFS / mortality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 → 87%; −33%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MRM skin flaps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7–8 mm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High-Yield Distinctions &amp; Rapid Management Recall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 Situations &amp; Review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754880"/>
            <a:ext cx="50292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</a:t>
            </a:r>
            <a:endParaRPr lang="en-US" sz="900" dirty="0"/>
          </a:p>
        </p:txBody>
      </p:sp>
      <p:graphicFrame>
        <p:nvGraphicFramePr>
          <p:cNvPr id="6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694944"/>
          <a:ext cx="4572000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315468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Pair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Distinguish by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LCIS vs DCIS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 marker, bilateral, no calcification, E-cadherin lost vs precursor, ipsilateral, calcifies → excise + RT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BRCA1 vs BRCA2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TNBC/medullary, ovary 40% vs HR+, male BC, pancreas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Fibroadenoma vs phyllodes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Phyllodes: leaf-like, cellular monoclonal stroma, 1-cm margin, no ALND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Radial scar vs CSL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≤1 cm vs &gt;1 cm — both need tissue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ADH vs DCIS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≤2–3 mm vs &gt;3 mm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Multicentric vs multifocal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Other quadrant vs same quadrant / &lt;4 cm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Inflammatory vs neglected LABC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Dermal lymphatics, rapid, poorly defined, more M1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Fistulectomy vs duct excision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Localised vs diffuse / multiple fistulae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Neoadjuvant vs adjuvant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Equal OS; more BCS with neoadjuvant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4983480" y="694944"/>
            <a:ext cx="960120" cy="44805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983480" y="694944"/>
            <a:ext cx="96012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LCIS</a:t>
            </a:r>
            <a:endParaRPr lang="en-US" sz="860" dirty="0"/>
          </a:p>
        </p:txBody>
      </p:sp>
      <p:sp>
        <p:nvSpPr>
          <p:cNvPr id="11" name="Shape 8"/>
          <p:cNvSpPr/>
          <p:nvPr/>
        </p:nvSpPr>
        <p:spPr>
          <a:xfrm>
            <a:off x="5961888" y="694944"/>
            <a:ext cx="2953512" cy="448056"/>
          </a:xfrm>
          <a:prstGeom prst="roundRect">
            <a:avLst>
              <a:gd name="adj" fmla="val 12245"/>
            </a:avLst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007608" y="713232"/>
            <a:ext cx="28620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 / tamoxifen / bilateral mastectomy</a:t>
            </a:r>
            <a:endParaRPr lang="en-US" sz="920" dirty="0"/>
          </a:p>
        </p:txBody>
      </p:sp>
      <p:sp>
        <p:nvSpPr>
          <p:cNvPr id="13" name="Shape 10"/>
          <p:cNvSpPr/>
          <p:nvPr/>
        </p:nvSpPr>
        <p:spPr>
          <a:xfrm>
            <a:off x="4983480" y="1193292"/>
            <a:ext cx="960120" cy="44805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983480" y="1193292"/>
            <a:ext cx="96012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DCIS</a:t>
            </a:r>
            <a:endParaRPr lang="en-US" sz="860" dirty="0"/>
          </a:p>
        </p:txBody>
      </p:sp>
      <p:sp>
        <p:nvSpPr>
          <p:cNvPr id="15" name="Shape 12"/>
          <p:cNvSpPr/>
          <p:nvPr/>
        </p:nvSpPr>
        <p:spPr>
          <a:xfrm>
            <a:off x="5961888" y="1193292"/>
            <a:ext cx="2953512" cy="448056"/>
          </a:xfrm>
          <a:prstGeom prst="roundRect">
            <a:avLst>
              <a:gd name="adj" fmla="val 12245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007608" y="1211580"/>
            <a:ext cx="28620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≥2 mm + RT; extensive → mastectomy + SLNB; ER+ → tamoxifen 5 y</a:t>
            </a:r>
            <a:endParaRPr lang="en-US" sz="920" dirty="0"/>
          </a:p>
        </p:txBody>
      </p:sp>
      <p:sp>
        <p:nvSpPr>
          <p:cNvPr id="17" name="Shape 14"/>
          <p:cNvSpPr/>
          <p:nvPr/>
        </p:nvSpPr>
        <p:spPr>
          <a:xfrm>
            <a:off x="4983480" y="1691640"/>
            <a:ext cx="960120" cy="44805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983480" y="1691640"/>
            <a:ext cx="96012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cN0</a:t>
            </a:r>
            <a:endParaRPr lang="en-US" sz="860" dirty="0"/>
          </a:p>
        </p:txBody>
      </p:sp>
      <p:sp>
        <p:nvSpPr>
          <p:cNvPr id="19" name="Shape 16"/>
          <p:cNvSpPr/>
          <p:nvPr/>
        </p:nvSpPr>
        <p:spPr>
          <a:xfrm>
            <a:off x="5961888" y="1691640"/>
            <a:ext cx="2953512" cy="448056"/>
          </a:xfrm>
          <a:prstGeom prst="roundRect">
            <a:avLst>
              <a:gd name="adj" fmla="val 12245"/>
            </a:avLst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007608" y="1709928"/>
            <a:ext cx="28620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SLNB (dual tracer, 10% rule); 1–2 +SLN + BCS + WBI → no ALND</a:t>
            </a:r>
            <a:endParaRPr lang="en-US" sz="920" dirty="0"/>
          </a:p>
        </p:txBody>
      </p:sp>
      <p:sp>
        <p:nvSpPr>
          <p:cNvPr id="21" name="Shape 18"/>
          <p:cNvSpPr/>
          <p:nvPr/>
        </p:nvSpPr>
        <p:spPr>
          <a:xfrm>
            <a:off x="4983480" y="2189988"/>
            <a:ext cx="960120" cy="44805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983480" y="2189988"/>
            <a:ext cx="96012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cN+</a:t>
            </a:r>
            <a:endParaRPr lang="en-US" sz="860" dirty="0"/>
          </a:p>
        </p:txBody>
      </p:sp>
      <p:sp>
        <p:nvSpPr>
          <p:cNvPr id="23" name="Shape 20"/>
          <p:cNvSpPr/>
          <p:nvPr/>
        </p:nvSpPr>
        <p:spPr>
          <a:xfrm>
            <a:off x="5961888" y="2189988"/>
            <a:ext cx="2953512" cy="448056"/>
          </a:xfrm>
          <a:prstGeom prst="roundRect">
            <a:avLst>
              <a:gd name="adj" fmla="val 12245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007608" y="2208276"/>
            <a:ext cx="28620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ALND or neoadjuvant → TAD if converts</a:t>
            </a:r>
            <a:endParaRPr lang="en-US" sz="920" dirty="0"/>
          </a:p>
        </p:txBody>
      </p:sp>
      <p:sp>
        <p:nvSpPr>
          <p:cNvPr id="25" name="Shape 22"/>
          <p:cNvSpPr/>
          <p:nvPr/>
        </p:nvSpPr>
        <p:spPr>
          <a:xfrm>
            <a:off x="4983480" y="2688336"/>
            <a:ext cx="960120" cy="44805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4983480" y="2688336"/>
            <a:ext cx="96012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III</a:t>
            </a:r>
            <a:endParaRPr lang="en-US" sz="860" dirty="0"/>
          </a:p>
        </p:txBody>
      </p:sp>
      <p:sp>
        <p:nvSpPr>
          <p:cNvPr id="27" name="Shape 24"/>
          <p:cNvSpPr/>
          <p:nvPr/>
        </p:nvSpPr>
        <p:spPr>
          <a:xfrm>
            <a:off x="5961888" y="2688336"/>
            <a:ext cx="2953512" cy="448056"/>
          </a:xfrm>
          <a:prstGeom prst="roundRect">
            <a:avLst>
              <a:gd name="adj" fmla="val 12245"/>
            </a:avLst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007608" y="2706624"/>
            <a:ext cx="28620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Neoadjuvant → response → surgery → RT</a:t>
            </a:r>
            <a:endParaRPr lang="en-US" sz="920" dirty="0"/>
          </a:p>
        </p:txBody>
      </p:sp>
      <p:sp>
        <p:nvSpPr>
          <p:cNvPr id="29" name="Shape 26"/>
          <p:cNvSpPr/>
          <p:nvPr/>
        </p:nvSpPr>
        <p:spPr>
          <a:xfrm>
            <a:off x="4983480" y="3186684"/>
            <a:ext cx="960120" cy="44805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4983480" y="3186684"/>
            <a:ext cx="96012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IV</a:t>
            </a:r>
            <a:endParaRPr lang="en-US" sz="860" dirty="0"/>
          </a:p>
        </p:txBody>
      </p:sp>
      <p:sp>
        <p:nvSpPr>
          <p:cNvPr id="31" name="Shape 28"/>
          <p:cNvSpPr/>
          <p:nvPr/>
        </p:nvSpPr>
        <p:spPr>
          <a:xfrm>
            <a:off x="5961888" y="3186684"/>
            <a:ext cx="2953512" cy="448056"/>
          </a:xfrm>
          <a:prstGeom prst="roundRect">
            <a:avLst>
              <a:gd name="adj" fmla="val 12245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6007608" y="3204972"/>
            <a:ext cx="28620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Endocrine first if HR+ no crisis; chemo HR−/crisis; bone agent</a:t>
            </a:r>
            <a:endParaRPr lang="en-US" sz="920" dirty="0"/>
          </a:p>
        </p:txBody>
      </p:sp>
      <p:sp>
        <p:nvSpPr>
          <p:cNvPr id="33" name="Shape 30"/>
          <p:cNvSpPr/>
          <p:nvPr/>
        </p:nvSpPr>
        <p:spPr>
          <a:xfrm>
            <a:off x="4983480" y="3685032"/>
            <a:ext cx="960120" cy="44805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4983480" y="3685032"/>
            <a:ext cx="96012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Endocrine</a:t>
            </a:r>
            <a:endParaRPr lang="en-US" sz="860" dirty="0"/>
          </a:p>
        </p:txBody>
      </p:sp>
      <p:sp>
        <p:nvSpPr>
          <p:cNvPr id="35" name="Shape 32"/>
          <p:cNvSpPr/>
          <p:nvPr/>
        </p:nvSpPr>
        <p:spPr>
          <a:xfrm>
            <a:off x="5961888" y="3685032"/>
            <a:ext cx="2953512" cy="448056"/>
          </a:xfrm>
          <a:prstGeom prst="roundRect">
            <a:avLst>
              <a:gd name="adj" fmla="val 12245"/>
            </a:avLst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6007608" y="3703320"/>
            <a:ext cx="28620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Pre: tamoxifen (± OFS + exemestane high risk); post: AI; extend if node+</a:t>
            </a:r>
            <a:endParaRPr lang="en-US" sz="920" dirty="0"/>
          </a:p>
        </p:txBody>
      </p:sp>
      <p:sp>
        <p:nvSpPr>
          <p:cNvPr id="37" name="Shape 34"/>
          <p:cNvSpPr/>
          <p:nvPr/>
        </p:nvSpPr>
        <p:spPr>
          <a:xfrm>
            <a:off x="4983480" y="4183380"/>
            <a:ext cx="960120" cy="44805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4983480" y="4183380"/>
            <a:ext cx="96012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HER2+</a:t>
            </a:r>
            <a:endParaRPr lang="en-US" sz="860" dirty="0"/>
          </a:p>
        </p:txBody>
      </p:sp>
      <p:sp>
        <p:nvSpPr>
          <p:cNvPr id="39" name="Shape 36"/>
          <p:cNvSpPr/>
          <p:nvPr/>
        </p:nvSpPr>
        <p:spPr>
          <a:xfrm>
            <a:off x="5961888" y="4183380"/>
            <a:ext cx="2953512" cy="448056"/>
          </a:xfrm>
          <a:prstGeom prst="roundRect">
            <a:avLst>
              <a:gd name="adj" fmla="val 12245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6007608" y="4201668"/>
            <a:ext cx="28620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Trastuzumab 1 y with taxane (not anthracycline) ± pertuzumab; neratinib after</a:t>
            </a:r>
            <a:endParaRPr lang="en-US" sz="9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65</Slides>
  <Notes>65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65</vt:i4>
      </vt:variant>
    </vt:vector>
  </HeadingPairs>
  <TitlesOfParts>
    <vt:vector size="6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Breast Cancer Management — Visual Study Deck</dc:title>
  <dc:subject>PptxGenJS Presentation</dc:subject>
  <dc:creator>Dr. Muluamlak — GSR-3</dc:creator>
  <cp:lastModifiedBy>Dr. Muluamlak — GSR-3</cp:lastModifiedBy>
  <cp:revision>1</cp:revision>
  <dcterms:created xsi:type="dcterms:W3CDTF">2026-09-28T00:39:39Z</dcterms:created>
  <dcterms:modified xsi:type="dcterms:W3CDTF">2026-09-28T00:39:39Z</dcterms:modified>
</cp:coreProperties>
</file>