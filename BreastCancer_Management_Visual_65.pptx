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2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3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Ethiopia 2020 — incidence vs mortality per 100,000: breast leads both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Incidence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41.5</c:v>
                </c:pt>
                <c:pt idx="1">
                  <c:v>21.5</c:v>
                </c:pt>
                <c:pt idx="2">
                  <c:v>10</c:v>
                </c:pt>
                <c:pt idx="3">
                  <c:v>8.9</c:v>
                </c:pt>
                <c:pt idx="4">
                  <c:v>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Mortality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24.1</c:v>
                </c:pt>
                <c:pt idx="1">
                  <c:v>16</c:v>
                </c:pt>
                <c:pt idx="2">
                  <c:v>5.9</c:v>
                </c:pt>
                <c:pt idx="3">
                  <c:v>6.8</c:v>
                </c:pt>
                <c:pt idx="4">
                  <c:v>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Schwartz's Principles of Surgery • DeVita, Hellman &amp; Rosenberg's Cancer • NCCN Breast Cancer Guidelines (JNCCN) • Ethiopian National Breast Cancer Guideline 2024–2028 (MoH)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global &amp; Ethiopian epidemiology • early detection • in situ &amp; invasive types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Ethiopian 60-day pathway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&amp; MoH 60:60:80 roadmap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(16,133 cases, 2020);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 at stage III–IV → MoH 60:60:80 targets: early stage • 60-day diagnosis • treatment completion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1559052"/>
            <a:ext cx="4160520" cy="0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6" name="Text 44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5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2" name="Text 7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540" y="1069848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3" name="Text 30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4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1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8" name="Text 33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9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0" name="Text 17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1" name="Shape 18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3" name="Text 20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29" name="Text 27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1" name="Text 7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1" name="Text 7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MoH (no population mammography)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awareness + monthly BSE &gt;20 y • annual CBE by trained provider ≥30 y • diagnostic US/mammography &gt;40 y every 2 y • high risk: imaging earlier, annually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6" name="Text 13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2" name="Shape 10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1" name="Shape 29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749808"/>
            <a:ext cx="5486400" cy="188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— global &amp; Ethiopia</a:t>
            </a:r>
            <a:endParaRPr lang="en-US" sz="1015" dirty="0"/>
          </a:p>
        </p:txBody>
      </p:sp>
      <p:sp>
        <p:nvSpPr>
          <p:cNvPr id="10" name="Text 7"/>
          <p:cNvSpPr/>
          <p:nvPr/>
        </p:nvSpPr>
        <p:spPr>
          <a:xfrm>
            <a:off x="3319272" y="965924"/>
            <a:ext cx="5541264" cy="16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2020: &gt;2.2 million cases — commonest cancer; 11.7% of new cancers and 15% of cancer deaths in women, mostly in low/middle-income countries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leading cancer — 16,133 cases (20.9% of all; ⅓ of cancers in women); mortality/incidence ratio ≈0.6 (late stage)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III–IV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(high-income: &gt;70% at stage I–II) — low awareness, traditional medicine, misdiagnosis, distance, cost, waiting times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women: younger, more ER-negative, higher mortality; male cancer up to 6% (0.5–1% elsewhere)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lifetime risk 1 in 8; 5-y survival 63→92% (White), 46→78% (African American) with screening + adjuvant therapy</a:t>
            </a:r>
            <a:endParaRPr lang="en-US" sz="865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4" name="Text 10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3" name="Text 10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4" name="Shape 11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6" name="Text 13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896112"/>
            <a:ext cx="4846320" cy="0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1600000"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3" name="Shape 21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2" name="Text 30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3" name="Text 61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4" name="Shape 62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7" name="Shape 65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Shape 73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8" name="Text 75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79" name="Shape 76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1" name="Text 78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2" name="Text 79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 • Ethiopia: refer any woman &gt;30 y with a sign — full diagnosis within 60 days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ER/PR/HER2); Ethiopia: US-guided CNB where available, else incisional biopsy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suspicious; false-negative 4–27% → negative FNAC never excludes cancer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3" name="Text 41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4" name="Shape 42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6" name="Text 44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1" name="Text 38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2" name="Shape 39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4" name="Text 41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notes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1" name="Text 7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2" name="Shape 8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 roadmap: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60:60:80 by 2030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≥60% diagnosed at stage I–II • diagnosis + treatment start ≤60 days (tertiary work-up ≤45 d, pathology report ≤2 wk) • ≥80% complete multimodality treatment. MDT at general &amp; tertiary hospitals; MRM for stage I–II at general hospital; small early cancers &gt;90% curable.</a:t>
            </a:r>
            <a:endParaRPr lang="en-US" sz="865" dirty="0"/>
          </a:p>
        </p:txBody>
      </p:sp>
      <p:sp>
        <p:nvSpPr>
          <p:cNvPr id="37" name="Shape 35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0" name="Text 38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267004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30" dirty="0"/>
          </a:p>
        </p:txBody>
      </p:sp>
      <p:sp>
        <p:nvSpPr>
          <p:cNvPr id="43" name="Text 41"/>
          <p:cNvSpPr/>
          <p:nvPr/>
        </p:nvSpPr>
        <p:spPr>
          <a:xfrm>
            <a:off x="5605272" y="2888412"/>
            <a:ext cx="3255264" cy="1272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0" name="Shape 18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Schedule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874520"/>
                <a:gridCol w="178308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Follow-up: frequency &amp; methods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mammogram 6–12 mo after RT then yearly (ipsilateral recurrence 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contralateral mammogram yearly; no routine imaging of reconstruction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endocrine adherence; BMD on AI; gynae review on tamoxifen;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cardiac monitoring after anthracycline / anti-HER2 / left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high M1 risk → symptom-directed imaging early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imaging response each line; re-biopsy at progression; palliative care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disease, then STD*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6-monthly; mammogram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529584"/>
            <a:ext cx="8686800" cy="5120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547872"/>
            <a:ext cx="8540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</a:t>
            </a:r>
            <a:r>
              <a:rPr lang="en-US" sz="8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*STD = H&amp;P every 3–6 mo for 3 y, 6–12 mo in years 4–5, then yearly; monthly BSE; annual mammogram; no routine blood tests, tumour markers, bone scan, CT/PET or breast MRI when asymptomatic. Ethiopia: first 2–3 y at an oncologist-led centre, then at the nearest lower-level facility with a named focal point.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669280" y="694944"/>
            <a:ext cx="3246120" cy="146304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749808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42432" y="971169"/>
            <a:ext cx="3118104" cy="1159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Meta-analysis: sensitivity 93%, FNR 7%, NPV 94%, accuracy 95%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SLNs find 98% of positive SLNs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0" y="2231136"/>
            <a:ext cx="3246120" cy="17830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0" y="2286000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742432" y="2507361"/>
            <a:ext cx="3118104" cy="1479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nodes: 1 → 17.7%, 2 → 10%, 3 → 6.9%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Extra-axillary SLN 1.4%: 0% subareolar vs 20% peritumoral injection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drainage predicts worse distant DFS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 mastectomy.</a:t>
            </a:r>
            <a:endParaRPr lang="en-US" sz="97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4" name="Shape 21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80760" y="731520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0" name="Text 7"/>
          <p:cNvSpPr/>
          <p:nvPr/>
        </p:nvSpPr>
        <p:spPr>
          <a:xfrm>
            <a:off x="6062472" y="949884"/>
            <a:ext cx="2798064" cy="171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4612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322783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0" name="Text 17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4" name="Text 11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5" name="Shape 12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7" name="Text 14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2" name="Shape 20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29" name="Text 26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B-14: &gt;5 y tamoxifen showed no gain (short follow-up) — later ATLAS showed benefit from years 10–15.</a:t>
            </a:r>
            <a:endParaRPr lang="en-US" sz="97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9" name="Text 7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6" name="Text 13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 y more toxic; 6 mo not non-inferior).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172200" y="3392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1040" dirty="0"/>
          </a:p>
        </p:txBody>
      </p:sp>
      <p:sp>
        <p:nvSpPr>
          <p:cNvPr id="11" name="Text 7"/>
          <p:cNvSpPr/>
          <p:nvPr/>
        </p:nvSpPr>
        <p:spPr>
          <a:xfrm>
            <a:off x="6153912" y="3612286"/>
            <a:ext cx="2706624" cy="1005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HER2+ adjuvant: add pertuzumab</a:t>
            </a:r>
            <a:endParaRPr lang="en-US" sz="89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5" name="Text 23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6" name="Shape 24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0" name="Shape 7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6" name="Shape 23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0" name="Shape 27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2" name="Shape 29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6" name="Shape 33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8" name="Shape 35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2026-09-28T05:10:48Z</dcterms:created>
  <dcterms:modified xsi:type="dcterms:W3CDTF">2026-09-28T05:10:48Z</dcterms:modified>
</cp:coreProperties>
</file>