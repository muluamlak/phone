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colors10.xml" ContentType="application/vnd.openxmlformats-officedocument.drawingml.diagramColors+xml"/>
  <Override PartName="/ppt/diagrams/colors11.xml" ContentType="application/vnd.openxmlformats-officedocument.drawingml.diagramColors+xml"/>
  <Override PartName="/ppt/diagrams/colors12.xml" ContentType="application/vnd.openxmlformats-officedocument.drawingml.diagramColors+xml"/>
  <Override PartName="/ppt/diagrams/colors13.xml" ContentType="application/vnd.openxmlformats-officedocument.drawingml.diagramColors+xml"/>
  <Override PartName="/ppt/diagrams/colors14.xml" ContentType="application/vnd.openxmlformats-officedocument.drawingml.diagramColors+xml"/>
  <Override PartName="/ppt/diagrams/colors15.xml" ContentType="application/vnd.openxmlformats-officedocument.drawingml.diagramColors+xml"/>
  <Override PartName="/ppt/diagrams/colors16.xml" ContentType="application/vnd.openxmlformats-officedocument.drawingml.diagramColors+xml"/>
  <Override PartName="/ppt/diagrams/colors17.xml" ContentType="application/vnd.openxmlformats-officedocument.drawingml.diagramColors+xml"/>
  <Override PartName="/ppt/diagrams/colors18.xml" ContentType="application/vnd.openxmlformats-officedocument.drawingml.diagramColors+xml"/>
  <Override PartName="/ppt/diagrams/colors19.xml" ContentType="application/vnd.openxmlformats-officedocument.drawingml.diagramColors+xml"/>
  <Override PartName="/ppt/diagrams/colors2.xml" ContentType="application/vnd.openxmlformats-officedocument.drawingml.diagramColors+xml"/>
  <Override PartName="/ppt/diagrams/colors20.xml" ContentType="application/vnd.openxmlformats-officedocument.drawingml.diagramColors+xml"/>
  <Override PartName="/ppt/diagrams/colors21.xml" ContentType="application/vnd.openxmlformats-officedocument.drawingml.diagramColors+xml"/>
  <Override PartName="/ppt/diagrams/colors22.xml" ContentType="application/vnd.openxmlformats-officedocument.drawingml.diagramColors+xml"/>
  <Override PartName="/ppt/diagrams/colors23.xml" ContentType="application/vnd.openxmlformats-officedocument.drawingml.diagramColors+xml"/>
  <Override PartName="/ppt/diagrams/colors24.xml" ContentType="application/vnd.openxmlformats-officedocument.drawingml.diagramColors+xml"/>
  <Override PartName="/ppt/diagrams/colors25.xml" ContentType="application/vnd.openxmlformats-officedocument.drawingml.diagramColors+xml"/>
  <Override PartName="/ppt/diagrams/colors26.xml" ContentType="application/vnd.openxmlformats-officedocument.drawingml.diagramColors+xml"/>
  <Override PartName="/ppt/diagrams/colors27.xml" ContentType="application/vnd.openxmlformats-officedocument.drawingml.diagramColors+xml"/>
  <Override PartName="/ppt/diagrams/colors28.xml" ContentType="application/vnd.openxmlformats-officedocument.drawingml.diagramColors+xml"/>
  <Override PartName="/ppt/diagrams/colors29.xml" ContentType="application/vnd.openxmlformats-officedocument.drawingml.diagramColors+xml"/>
  <Override PartName="/ppt/diagrams/colors3.xml" ContentType="application/vnd.openxmlformats-officedocument.drawingml.diagramColors+xml"/>
  <Override PartName="/ppt/diagrams/colors30.xml" ContentType="application/vnd.openxmlformats-officedocument.drawingml.diagramColors+xml"/>
  <Override PartName="/ppt/diagrams/colors31.xml" ContentType="application/vnd.openxmlformats-officedocument.drawingml.diagramColors+xml"/>
  <Override PartName="/ppt/diagrams/colors32.xml" ContentType="application/vnd.openxmlformats-officedocument.drawingml.diagramColors+xml"/>
  <Override PartName="/ppt/diagrams/colors33.xml" ContentType="application/vnd.openxmlformats-officedocument.drawingml.diagramColors+xml"/>
  <Override PartName="/ppt/diagrams/colors34.xml" ContentType="application/vnd.openxmlformats-officedocument.drawingml.diagramColors+xml"/>
  <Override PartName="/ppt/diagrams/colors35.xml" ContentType="application/vnd.openxmlformats-officedocument.drawingml.diagramColors+xml"/>
  <Override PartName="/ppt/diagrams/colors36.xml" ContentType="application/vnd.openxmlformats-officedocument.drawingml.diagramColors+xml"/>
  <Override PartName="/ppt/diagrams/colors37.xml" ContentType="application/vnd.openxmlformats-officedocument.drawingml.diagramColors+xml"/>
  <Override PartName="/ppt/diagrams/colors38.xml" ContentType="application/vnd.openxmlformats-officedocument.drawingml.diagramColors+xml"/>
  <Override PartName="/ppt/diagrams/colors39.xml" ContentType="application/vnd.openxmlformats-officedocument.drawingml.diagramColors+xml"/>
  <Override PartName="/ppt/diagrams/colors4.xml" ContentType="application/vnd.openxmlformats-officedocument.drawingml.diagramColors+xml"/>
  <Override PartName="/ppt/diagrams/colors40.xml" ContentType="application/vnd.openxmlformats-officedocument.drawingml.diagramColors+xml"/>
  <Override PartName="/ppt/diagrams/colors41.xml" ContentType="application/vnd.openxmlformats-officedocument.drawingml.diagramColors+xml"/>
  <Override PartName="/ppt/diagrams/colors42.xml" ContentType="application/vnd.openxmlformats-officedocument.drawingml.diagramColors+xml"/>
  <Override PartName="/ppt/diagrams/colors43.xml" ContentType="application/vnd.openxmlformats-officedocument.drawingml.diagramColors+xml"/>
  <Override PartName="/ppt/diagrams/colors44.xml" ContentType="application/vnd.openxmlformats-officedocument.drawingml.diagramColors+xml"/>
  <Override PartName="/ppt/diagrams/colors45.xml" ContentType="application/vnd.openxmlformats-officedocument.drawingml.diagramColors+xml"/>
  <Override PartName="/ppt/diagrams/colors46.xml" ContentType="application/vnd.openxmlformats-officedocument.drawingml.diagramColors+xml"/>
  <Override PartName="/ppt/diagrams/colors47.xml" ContentType="application/vnd.openxmlformats-officedocument.drawingml.diagramColors+xml"/>
  <Override PartName="/ppt/diagrams/colors48.xml" ContentType="application/vnd.openxmlformats-officedocument.drawingml.diagramColors+xml"/>
  <Override PartName="/ppt/diagrams/colors49.xml" ContentType="application/vnd.openxmlformats-officedocument.drawingml.diagramColors+xml"/>
  <Override PartName="/ppt/diagrams/colors5.xml" ContentType="application/vnd.openxmlformats-officedocument.drawingml.diagramColors+xml"/>
  <Override PartName="/ppt/diagrams/colors50.xml" ContentType="application/vnd.openxmlformats-officedocument.drawingml.diagramColors+xml"/>
  <Override PartName="/ppt/diagrams/colors51.xml" ContentType="application/vnd.openxmlformats-officedocument.drawingml.diagramColors+xml"/>
  <Override PartName="/ppt/diagrams/colors52.xml" ContentType="application/vnd.openxmlformats-officedocument.drawingml.diagramColors+xml"/>
  <Override PartName="/ppt/diagrams/colors53.xml" ContentType="application/vnd.openxmlformats-officedocument.drawingml.diagramColors+xml"/>
  <Override PartName="/ppt/diagrams/colors54.xml" ContentType="application/vnd.openxmlformats-officedocument.drawingml.diagramColors+xml"/>
  <Override PartName="/ppt/diagrams/colors55.xml" ContentType="application/vnd.openxmlformats-officedocument.drawingml.diagramColors+xml"/>
  <Override PartName="/ppt/diagrams/colors56.xml" ContentType="application/vnd.openxmlformats-officedocument.drawingml.diagramColors+xml"/>
  <Override PartName="/ppt/diagrams/colors57.xml" ContentType="application/vnd.openxmlformats-officedocument.drawingml.diagramColors+xml"/>
  <Override PartName="/ppt/diagrams/colors58.xml" ContentType="application/vnd.openxmlformats-officedocument.drawingml.diagramColors+xml"/>
  <Override PartName="/ppt/diagrams/colors59.xml" ContentType="application/vnd.openxmlformats-officedocument.drawingml.diagramColors+xml"/>
  <Override PartName="/ppt/diagrams/colors6.xml" ContentType="application/vnd.openxmlformats-officedocument.drawingml.diagramColors+xml"/>
  <Override PartName="/ppt/diagrams/colors60.xml" ContentType="application/vnd.openxmlformats-officedocument.drawingml.diagramColors+xml"/>
  <Override PartName="/ppt/diagrams/colors61.xml" ContentType="application/vnd.openxmlformats-officedocument.drawingml.diagramColors+xml"/>
  <Override PartName="/ppt/diagrams/colors62.xml" ContentType="application/vnd.openxmlformats-officedocument.drawingml.diagramColors+xml"/>
  <Override PartName="/ppt/diagrams/colors63.xml" ContentType="application/vnd.openxmlformats-officedocument.drawingml.diagramColors+xml"/>
  <Override PartName="/ppt/diagrams/colors64.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colors9.xml" ContentType="application/vnd.openxmlformats-officedocument.drawingml.diagramColors+xml"/>
  <Override PartName="/ppt/diagrams/data1.xml" ContentType="application/vnd.openxmlformats-officedocument.drawingml.diagramData+xml"/>
  <Override PartName="/ppt/diagrams/data10.xml" ContentType="application/vnd.openxmlformats-officedocument.drawingml.diagramData+xml"/>
  <Override PartName="/ppt/diagrams/data11.xml" ContentType="application/vnd.openxmlformats-officedocument.drawingml.diagramData+xml"/>
  <Override PartName="/ppt/diagrams/data12.xml" ContentType="application/vnd.openxmlformats-officedocument.drawingml.diagramData+xml"/>
  <Override PartName="/ppt/diagrams/data13.xml" ContentType="application/vnd.openxmlformats-officedocument.drawingml.diagramData+xml"/>
  <Override PartName="/ppt/diagrams/data14.xml" ContentType="application/vnd.openxmlformats-officedocument.drawingml.diagramData+xml"/>
  <Override PartName="/ppt/diagrams/data15.xml" ContentType="application/vnd.openxmlformats-officedocument.drawingml.diagramData+xml"/>
  <Override PartName="/ppt/diagrams/data16.xml" ContentType="application/vnd.openxmlformats-officedocument.drawingml.diagramData+xml"/>
  <Override PartName="/ppt/diagrams/data17.xml" ContentType="application/vnd.openxmlformats-officedocument.drawingml.diagramData+xml"/>
  <Override PartName="/ppt/diagrams/data18.xml" ContentType="application/vnd.openxmlformats-officedocument.drawingml.diagramData+xml"/>
  <Override PartName="/ppt/diagrams/data19.xml" ContentType="application/vnd.openxmlformats-officedocument.drawingml.diagramData+xml"/>
  <Override PartName="/ppt/diagrams/data2.xml" ContentType="application/vnd.openxmlformats-officedocument.drawingml.diagramData+xml"/>
  <Override PartName="/ppt/diagrams/data20.xml" ContentType="application/vnd.openxmlformats-officedocument.drawingml.diagramData+xml"/>
  <Override PartName="/ppt/diagrams/data21.xml" ContentType="application/vnd.openxmlformats-officedocument.drawingml.diagramData+xml"/>
  <Override PartName="/ppt/diagrams/data22.xml" ContentType="application/vnd.openxmlformats-officedocument.drawingml.diagramData+xml"/>
  <Override PartName="/ppt/diagrams/data23.xml" ContentType="application/vnd.openxmlformats-officedocument.drawingml.diagramData+xml"/>
  <Override PartName="/ppt/diagrams/data24.xml" ContentType="application/vnd.openxmlformats-officedocument.drawingml.diagramData+xml"/>
  <Override PartName="/ppt/diagrams/data25.xml" ContentType="application/vnd.openxmlformats-officedocument.drawingml.diagramData+xml"/>
  <Override PartName="/ppt/diagrams/data26.xml" ContentType="application/vnd.openxmlformats-officedocument.drawingml.diagramData+xml"/>
  <Override PartName="/ppt/diagrams/data27.xml" ContentType="application/vnd.openxmlformats-officedocument.drawingml.diagramData+xml"/>
  <Override PartName="/ppt/diagrams/data28.xml" ContentType="application/vnd.openxmlformats-officedocument.drawingml.diagramData+xml"/>
  <Override PartName="/ppt/diagrams/data29.xml" ContentType="application/vnd.openxmlformats-officedocument.drawingml.diagramData+xml"/>
  <Override PartName="/ppt/diagrams/data3.xml" ContentType="application/vnd.openxmlformats-officedocument.drawingml.diagramData+xml"/>
  <Override PartName="/ppt/diagrams/data30.xml" ContentType="application/vnd.openxmlformats-officedocument.drawingml.diagramData+xml"/>
  <Override PartName="/ppt/diagrams/data31.xml" ContentType="application/vnd.openxmlformats-officedocument.drawingml.diagramData+xml"/>
  <Override PartName="/ppt/diagrams/data32.xml" ContentType="application/vnd.openxmlformats-officedocument.drawingml.diagramData+xml"/>
  <Override PartName="/ppt/diagrams/data33.xml" ContentType="application/vnd.openxmlformats-officedocument.drawingml.diagramData+xml"/>
  <Override PartName="/ppt/diagrams/data34.xml" ContentType="application/vnd.openxmlformats-officedocument.drawingml.diagramData+xml"/>
  <Override PartName="/ppt/diagrams/data35.xml" ContentType="application/vnd.openxmlformats-officedocument.drawingml.diagramData+xml"/>
  <Override PartName="/ppt/diagrams/data36.xml" ContentType="application/vnd.openxmlformats-officedocument.drawingml.diagramData+xml"/>
  <Override PartName="/ppt/diagrams/data37.xml" ContentType="application/vnd.openxmlformats-officedocument.drawingml.diagramData+xml"/>
  <Override PartName="/ppt/diagrams/data38.xml" ContentType="application/vnd.openxmlformats-officedocument.drawingml.diagramData+xml"/>
  <Override PartName="/ppt/diagrams/data39.xml" ContentType="application/vnd.openxmlformats-officedocument.drawingml.diagramData+xml"/>
  <Override PartName="/ppt/diagrams/data4.xml" ContentType="application/vnd.openxmlformats-officedocument.drawingml.diagramData+xml"/>
  <Override PartName="/ppt/diagrams/data40.xml" ContentType="application/vnd.openxmlformats-officedocument.drawingml.diagramData+xml"/>
  <Override PartName="/ppt/diagrams/data41.xml" ContentType="application/vnd.openxmlformats-officedocument.drawingml.diagramData+xml"/>
  <Override PartName="/ppt/diagrams/data42.xml" ContentType="application/vnd.openxmlformats-officedocument.drawingml.diagramData+xml"/>
  <Override PartName="/ppt/diagrams/data43.xml" ContentType="application/vnd.openxmlformats-officedocument.drawingml.diagramData+xml"/>
  <Override PartName="/ppt/diagrams/data44.xml" ContentType="application/vnd.openxmlformats-officedocument.drawingml.diagramData+xml"/>
  <Override PartName="/ppt/diagrams/data45.xml" ContentType="application/vnd.openxmlformats-officedocument.drawingml.diagramData+xml"/>
  <Override PartName="/ppt/diagrams/data46.xml" ContentType="application/vnd.openxmlformats-officedocument.drawingml.diagramData+xml"/>
  <Override PartName="/ppt/diagrams/data47.xml" ContentType="application/vnd.openxmlformats-officedocument.drawingml.diagramData+xml"/>
  <Override PartName="/ppt/diagrams/data48.xml" ContentType="application/vnd.openxmlformats-officedocument.drawingml.diagramData+xml"/>
  <Override PartName="/ppt/diagrams/data49.xml" ContentType="application/vnd.openxmlformats-officedocument.drawingml.diagramData+xml"/>
  <Override PartName="/ppt/diagrams/data5.xml" ContentType="application/vnd.openxmlformats-officedocument.drawingml.diagramData+xml"/>
  <Override PartName="/ppt/diagrams/data50.xml" ContentType="application/vnd.openxmlformats-officedocument.drawingml.diagramData+xml"/>
  <Override PartName="/ppt/diagrams/data51.xml" ContentType="application/vnd.openxmlformats-officedocument.drawingml.diagramData+xml"/>
  <Override PartName="/ppt/diagrams/data52.xml" ContentType="application/vnd.openxmlformats-officedocument.drawingml.diagramData+xml"/>
  <Override PartName="/ppt/diagrams/data53.xml" ContentType="application/vnd.openxmlformats-officedocument.drawingml.diagramData+xml"/>
  <Override PartName="/ppt/diagrams/data54.xml" ContentType="application/vnd.openxmlformats-officedocument.drawingml.diagramData+xml"/>
  <Override PartName="/ppt/diagrams/data55.xml" ContentType="application/vnd.openxmlformats-officedocument.drawingml.diagramData+xml"/>
  <Override PartName="/ppt/diagrams/data56.xml" ContentType="application/vnd.openxmlformats-officedocument.drawingml.diagramData+xml"/>
  <Override PartName="/ppt/diagrams/data57.xml" ContentType="application/vnd.openxmlformats-officedocument.drawingml.diagramData+xml"/>
  <Override PartName="/ppt/diagrams/data58.xml" ContentType="application/vnd.openxmlformats-officedocument.drawingml.diagramData+xml"/>
  <Override PartName="/ppt/diagrams/data59.xml" ContentType="application/vnd.openxmlformats-officedocument.drawingml.diagramData+xml"/>
  <Override PartName="/ppt/diagrams/data6.xml" ContentType="application/vnd.openxmlformats-officedocument.drawingml.diagramData+xml"/>
  <Override PartName="/ppt/diagrams/data60.xml" ContentType="application/vnd.openxmlformats-officedocument.drawingml.diagramData+xml"/>
  <Override PartName="/ppt/diagrams/data61.xml" ContentType="application/vnd.openxmlformats-officedocument.drawingml.diagramData+xml"/>
  <Override PartName="/ppt/diagrams/data62.xml" ContentType="application/vnd.openxmlformats-officedocument.drawingml.diagramData+xml"/>
  <Override PartName="/ppt/diagrams/data63.xml" ContentType="application/vnd.openxmlformats-officedocument.drawingml.diagramData+xml"/>
  <Override PartName="/ppt/diagrams/data64.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rawing1.xml" ContentType="application/vnd.ms-office.drawingml.diagramDrawing+xml"/>
  <Override PartName="/ppt/diagrams/drawing10.xml" ContentType="application/vnd.ms-office.drawingml.diagramDrawing+xml"/>
  <Override PartName="/ppt/diagrams/drawing11.xml" ContentType="application/vnd.ms-office.drawingml.diagramDrawing+xml"/>
  <Override PartName="/ppt/diagrams/drawing12.xml" ContentType="application/vnd.ms-office.drawingml.diagramDrawing+xml"/>
  <Override PartName="/ppt/diagrams/drawing13.xml" ContentType="application/vnd.ms-office.drawingml.diagramDrawing+xml"/>
  <Override PartName="/ppt/diagrams/drawing14.xml" ContentType="application/vnd.ms-office.drawingml.diagramDrawing+xml"/>
  <Override PartName="/ppt/diagrams/drawing15.xml" ContentType="application/vnd.ms-office.drawingml.diagramDrawing+xml"/>
  <Override PartName="/ppt/diagrams/drawing16.xml" ContentType="application/vnd.ms-office.drawingml.diagramDrawing+xml"/>
  <Override PartName="/ppt/diagrams/drawing17.xml" ContentType="application/vnd.ms-office.drawingml.diagramDrawing+xml"/>
  <Override PartName="/ppt/diagrams/drawing18.xml" ContentType="application/vnd.ms-office.drawingml.diagramDrawing+xml"/>
  <Override PartName="/ppt/diagrams/drawing19.xml" ContentType="application/vnd.ms-office.drawingml.diagramDrawing+xml"/>
  <Override PartName="/ppt/diagrams/drawing2.xml" ContentType="application/vnd.ms-office.drawingml.diagramDrawing+xml"/>
  <Override PartName="/ppt/diagrams/drawing20.xml" ContentType="application/vnd.ms-office.drawingml.diagramDrawing+xml"/>
  <Override PartName="/ppt/diagrams/drawing21.xml" ContentType="application/vnd.ms-office.drawingml.diagramDrawing+xml"/>
  <Override PartName="/ppt/diagrams/drawing22.xml" ContentType="application/vnd.ms-office.drawingml.diagramDrawing+xml"/>
  <Override PartName="/ppt/diagrams/drawing23.xml" ContentType="application/vnd.ms-office.drawingml.diagramDrawing+xml"/>
  <Override PartName="/ppt/diagrams/drawing24.xml" ContentType="application/vnd.ms-office.drawingml.diagramDrawing+xml"/>
  <Override PartName="/ppt/diagrams/drawing25.xml" ContentType="application/vnd.ms-office.drawingml.diagramDrawing+xml"/>
  <Override PartName="/ppt/diagrams/drawing26.xml" ContentType="application/vnd.ms-office.drawingml.diagramDrawing+xml"/>
  <Override PartName="/ppt/diagrams/drawing27.xml" ContentType="application/vnd.ms-office.drawingml.diagramDrawing+xml"/>
  <Override PartName="/ppt/diagrams/drawing28.xml" ContentType="application/vnd.ms-office.drawingml.diagramDrawing+xml"/>
  <Override PartName="/ppt/diagrams/drawing29.xml" ContentType="application/vnd.ms-office.drawingml.diagramDrawing+xml"/>
  <Override PartName="/ppt/diagrams/drawing3.xml" ContentType="application/vnd.ms-office.drawingml.diagramDrawing+xml"/>
  <Override PartName="/ppt/diagrams/drawing30.xml" ContentType="application/vnd.ms-office.drawingml.diagramDrawing+xml"/>
  <Override PartName="/ppt/diagrams/drawing31.xml" ContentType="application/vnd.ms-office.drawingml.diagramDrawing+xml"/>
  <Override PartName="/ppt/diagrams/drawing32.xml" ContentType="application/vnd.ms-office.drawingml.diagramDrawing+xml"/>
  <Override PartName="/ppt/diagrams/drawing33.xml" ContentType="application/vnd.ms-office.drawingml.diagramDrawing+xml"/>
  <Override PartName="/ppt/diagrams/drawing34.xml" ContentType="application/vnd.ms-office.drawingml.diagramDrawing+xml"/>
  <Override PartName="/ppt/diagrams/drawing35.xml" ContentType="application/vnd.ms-office.drawingml.diagramDrawing+xml"/>
  <Override PartName="/ppt/diagrams/drawing36.xml" ContentType="application/vnd.ms-office.drawingml.diagramDrawing+xml"/>
  <Override PartName="/ppt/diagrams/drawing37.xml" ContentType="application/vnd.ms-office.drawingml.diagramDrawing+xml"/>
  <Override PartName="/ppt/diagrams/drawing38.xml" ContentType="application/vnd.ms-office.drawingml.diagramDrawing+xml"/>
  <Override PartName="/ppt/diagrams/drawing39.xml" ContentType="application/vnd.ms-office.drawingml.diagramDrawing+xml"/>
  <Override PartName="/ppt/diagrams/drawing4.xml" ContentType="application/vnd.ms-office.drawingml.diagramDrawing+xml"/>
  <Override PartName="/ppt/diagrams/drawing40.xml" ContentType="application/vnd.ms-office.drawingml.diagramDrawing+xml"/>
  <Override PartName="/ppt/diagrams/drawing41.xml" ContentType="application/vnd.ms-office.drawingml.diagramDrawing+xml"/>
  <Override PartName="/ppt/diagrams/drawing42.xml" ContentType="application/vnd.ms-office.drawingml.diagramDrawing+xml"/>
  <Override PartName="/ppt/diagrams/drawing43.xml" ContentType="application/vnd.ms-office.drawingml.diagramDrawing+xml"/>
  <Override PartName="/ppt/diagrams/drawing44.xml" ContentType="application/vnd.ms-office.drawingml.diagramDrawing+xml"/>
  <Override PartName="/ppt/diagrams/drawing45.xml" ContentType="application/vnd.ms-office.drawingml.diagramDrawing+xml"/>
  <Override PartName="/ppt/diagrams/drawing46.xml" ContentType="application/vnd.ms-office.drawingml.diagramDrawing+xml"/>
  <Override PartName="/ppt/diagrams/drawing47.xml" ContentType="application/vnd.ms-office.drawingml.diagramDrawing+xml"/>
  <Override PartName="/ppt/diagrams/drawing48.xml" ContentType="application/vnd.ms-office.drawingml.diagramDrawing+xml"/>
  <Override PartName="/ppt/diagrams/drawing49.xml" ContentType="application/vnd.ms-office.drawingml.diagramDrawing+xml"/>
  <Override PartName="/ppt/diagrams/drawing5.xml" ContentType="application/vnd.ms-office.drawingml.diagramDrawing+xml"/>
  <Override PartName="/ppt/diagrams/drawing50.xml" ContentType="application/vnd.ms-office.drawingml.diagramDrawing+xml"/>
  <Override PartName="/ppt/diagrams/drawing51.xml" ContentType="application/vnd.ms-office.drawingml.diagramDrawing+xml"/>
  <Override PartName="/ppt/diagrams/drawing52.xml" ContentType="application/vnd.ms-office.drawingml.diagramDrawing+xml"/>
  <Override PartName="/ppt/diagrams/drawing53.xml" ContentType="application/vnd.ms-office.drawingml.diagramDrawing+xml"/>
  <Override PartName="/ppt/diagrams/drawing54.xml" ContentType="application/vnd.ms-office.drawingml.diagramDrawing+xml"/>
  <Override PartName="/ppt/diagrams/drawing55.xml" ContentType="application/vnd.ms-office.drawingml.diagramDrawing+xml"/>
  <Override PartName="/ppt/diagrams/drawing56.xml" ContentType="application/vnd.ms-office.drawingml.diagramDrawing+xml"/>
  <Override PartName="/ppt/diagrams/drawing57.xml" ContentType="application/vnd.ms-office.drawingml.diagramDrawing+xml"/>
  <Override PartName="/ppt/diagrams/drawing58.xml" ContentType="application/vnd.ms-office.drawingml.diagramDrawing+xml"/>
  <Override PartName="/ppt/diagrams/drawing59.xml" ContentType="application/vnd.ms-office.drawingml.diagramDrawing+xml"/>
  <Override PartName="/ppt/diagrams/drawing6.xml" ContentType="application/vnd.ms-office.drawingml.diagramDrawing+xml"/>
  <Override PartName="/ppt/diagrams/drawing60.xml" ContentType="application/vnd.ms-office.drawingml.diagramDrawing+xml"/>
  <Override PartName="/ppt/diagrams/drawing61.xml" ContentType="application/vnd.ms-office.drawingml.diagramDrawing+xml"/>
  <Override PartName="/ppt/diagrams/drawing62.xml" ContentType="application/vnd.ms-office.drawingml.diagramDrawing+xml"/>
  <Override PartName="/ppt/diagrams/drawing63.xml" ContentType="application/vnd.ms-office.drawingml.diagramDrawing+xml"/>
  <Override PartName="/ppt/diagrams/drawing64.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drawing9.xml" ContentType="application/vnd.ms-office.drawingml.diagramDrawing+xml"/>
  <Override PartName="/ppt/diagrams/layout1.xml" ContentType="application/vnd.openxmlformats-officedocument.drawingml.diagramLayout+xml"/>
  <Override PartName="/ppt/diagrams/layout10.xml" ContentType="application/vnd.openxmlformats-officedocument.drawingml.diagramLayout+xml"/>
  <Override PartName="/ppt/diagrams/layout11.xml" ContentType="application/vnd.openxmlformats-officedocument.drawingml.diagramLayout+xml"/>
  <Override PartName="/ppt/diagrams/layout12.xml" ContentType="application/vnd.openxmlformats-officedocument.drawingml.diagramLayout+xml"/>
  <Override PartName="/ppt/diagrams/layout13.xml" ContentType="application/vnd.openxmlformats-officedocument.drawingml.diagramLayout+xml"/>
  <Override PartName="/ppt/diagrams/layout14.xml" ContentType="application/vnd.openxmlformats-officedocument.drawingml.diagramLayout+xml"/>
  <Override PartName="/ppt/diagrams/layout15.xml" ContentType="application/vnd.openxmlformats-officedocument.drawingml.diagramLayout+xml"/>
  <Override PartName="/ppt/diagrams/layout16.xml" ContentType="application/vnd.openxmlformats-officedocument.drawingml.diagramLayout+xml"/>
  <Override PartName="/ppt/diagrams/layout17.xml" ContentType="application/vnd.openxmlformats-officedocument.drawingml.diagramLayout+xml"/>
  <Override PartName="/ppt/diagrams/layout18.xml" ContentType="application/vnd.openxmlformats-officedocument.drawingml.diagramLayout+xml"/>
  <Override PartName="/ppt/diagrams/layout19.xml" ContentType="application/vnd.openxmlformats-officedocument.drawingml.diagramLayout+xml"/>
  <Override PartName="/ppt/diagrams/layout2.xml" ContentType="application/vnd.openxmlformats-officedocument.drawingml.diagramLayout+xml"/>
  <Override PartName="/ppt/diagrams/layout20.xml" ContentType="application/vnd.openxmlformats-officedocument.drawingml.diagramLayout+xml"/>
  <Override PartName="/ppt/diagrams/layout21.xml" ContentType="application/vnd.openxmlformats-officedocument.drawingml.diagramLayout+xml"/>
  <Override PartName="/ppt/diagrams/layout22.xml" ContentType="application/vnd.openxmlformats-officedocument.drawingml.diagramLayout+xml"/>
  <Override PartName="/ppt/diagrams/layout23.xml" ContentType="application/vnd.openxmlformats-officedocument.drawingml.diagramLayout+xml"/>
  <Override PartName="/ppt/diagrams/layout24.xml" ContentType="application/vnd.openxmlformats-officedocument.drawingml.diagramLayout+xml"/>
  <Override PartName="/ppt/diagrams/layout25.xml" ContentType="application/vnd.openxmlformats-officedocument.drawingml.diagramLayout+xml"/>
  <Override PartName="/ppt/diagrams/layout26.xml" ContentType="application/vnd.openxmlformats-officedocument.drawingml.diagramLayout+xml"/>
  <Override PartName="/ppt/diagrams/layout27.xml" ContentType="application/vnd.openxmlformats-officedocument.drawingml.diagramLayout+xml"/>
  <Override PartName="/ppt/diagrams/layout28.xml" ContentType="application/vnd.openxmlformats-officedocument.drawingml.diagramLayout+xml"/>
  <Override PartName="/ppt/diagrams/layout29.xml" ContentType="application/vnd.openxmlformats-officedocument.drawingml.diagramLayout+xml"/>
  <Override PartName="/ppt/diagrams/layout3.xml" ContentType="application/vnd.openxmlformats-officedocument.drawingml.diagramLayout+xml"/>
  <Override PartName="/ppt/diagrams/layout30.xml" ContentType="application/vnd.openxmlformats-officedocument.drawingml.diagramLayout+xml"/>
  <Override PartName="/ppt/diagrams/layout31.xml" ContentType="application/vnd.openxmlformats-officedocument.drawingml.diagramLayout+xml"/>
  <Override PartName="/ppt/diagrams/layout32.xml" ContentType="application/vnd.openxmlformats-officedocument.drawingml.diagramLayout+xml"/>
  <Override PartName="/ppt/diagrams/layout33.xml" ContentType="application/vnd.openxmlformats-officedocument.drawingml.diagramLayout+xml"/>
  <Override PartName="/ppt/diagrams/layout34.xml" ContentType="application/vnd.openxmlformats-officedocument.drawingml.diagramLayout+xml"/>
  <Override PartName="/ppt/diagrams/layout35.xml" ContentType="application/vnd.openxmlformats-officedocument.drawingml.diagramLayout+xml"/>
  <Override PartName="/ppt/diagrams/layout36.xml" ContentType="application/vnd.openxmlformats-officedocument.drawingml.diagramLayout+xml"/>
  <Override PartName="/ppt/diagrams/layout37.xml" ContentType="application/vnd.openxmlformats-officedocument.drawingml.diagramLayout+xml"/>
  <Override PartName="/ppt/diagrams/layout38.xml" ContentType="application/vnd.openxmlformats-officedocument.drawingml.diagramLayout+xml"/>
  <Override PartName="/ppt/diagrams/layout39.xml" ContentType="application/vnd.openxmlformats-officedocument.drawingml.diagramLayout+xml"/>
  <Override PartName="/ppt/diagrams/layout4.xml" ContentType="application/vnd.openxmlformats-officedocument.drawingml.diagramLayout+xml"/>
  <Override PartName="/ppt/diagrams/layout40.xml" ContentType="application/vnd.openxmlformats-officedocument.drawingml.diagramLayout+xml"/>
  <Override PartName="/ppt/diagrams/layout41.xml" ContentType="application/vnd.openxmlformats-officedocument.drawingml.diagramLayout+xml"/>
  <Override PartName="/ppt/diagrams/layout42.xml" ContentType="application/vnd.openxmlformats-officedocument.drawingml.diagramLayout+xml"/>
  <Override PartName="/ppt/diagrams/layout43.xml" ContentType="application/vnd.openxmlformats-officedocument.drawingml.diagramLayout+xml"/>
  <Override PartName="/ppt/diagrams/layout44.xml" ContentType="application/vnd.openxmlformats-officedocument.drawingml.diagramLayout+xml"/>
  <Override PartName="/ppt/diagrams/layout45.xml" ContentType="application/vnd.openxmlformats-officedocument.drawingml.diagramLayout+xml"/>
  <Override PartName="/ppt/diagrams/layout46.xml" ContentType="application/vnd.openxmlformats-officedocument.drawingml.diagramLayout+xml"/>
  <Override PartName="/ppt/diagrams/layout47.xml" ContentType="application/vnd.openxmlformats-officedocument.drawingml.diagramLayout+xml"/>
  <Override PartName="/ppt/diagrams/layout48.xml" ContentType="application/vnd.openxmlformats-officedocument.drawingml.diagramLayout+xml"/>
  <Override PartName="/ppt/diagrams/layout49.xml" ContentType="application/vnd.openxmlformats-officedocument.drawingml.diagramLayout+xml"/>
  <Override PartName="/ppt/diagrams/layout5.xml" ContentType="application/vnd.openxmlformats-officedocument.drawingml.diagramLayout+xml"/>
  <Override PartName="/ppt/diagrams/layout50.xml" ContentType="application/vnd.openxmlformats-officedocument.drawingml.diagramLayout+xml"/>
  <Override PartName="/ppt/diagrams/layout51.xml" ContentType="application/vnd.openxmlformats-officedocument.drawingml.diagramLayout+xml"/>
  <Override PartName="/ppt/diagrams/layout52.xml" ContentType="application/vnd.openxmlformats-officedocument.drawingml.diagramLayout+xml"/>
  <Override PartName="/ppt/diagrams/layout53.xml" ContentType="application/vnd.openxmlformats-officedocument.drawingml.diagramLayout+xml"/>
  <Override PartName="/ppt/diagrams/layout54.xml" ContentType="application/vnd.openxmlformats-officedocument.drawingml.diagramLayout+xml"/>
  <Override PartName="/ppt/diagrams/layout55.xml" ContentType="application/vnd.openxmlformats-officedocument.drawingml.diagramLayout+xml"/>
  <Override PartName="/ppt/diagrams/layout56.xml" ContentType="application/vnd.openxmlformats-officedocument.drawingml.diagramLayout+xml"/>
  <Override PartName="/ppt/diagrams/layout57.xml" ContentType="application/vnd.openxmlformats-officedocument.drawingml.diagramLayout+xml"/>
  <Override PartName="/ppt/diagrams/layout58.xml" ContentType="application/vnd.openxmlformats-officedocument.drawingml.diagramLayout+xml"/>
  <Override PartName="/ppt/diagrams/layout59.xml" ContentType="application/vnd.openxmlformats-officedocument.drawingml.diagramLayout+xml"/>
  <Override PartName="/ppt/diagrams/layout6.xml" ContentType="application/vnd.openxmlformats-officedocument.drawingml.diagramLayout+xml"/>
  <Override PartName="/ppt/diagrams/layout60.xml" ContentType="application/vnd.openxmlformats-officedocument.drawingml.diagramLayout+xml"/>
  <Override PartName="/ppt/diagrams/layout61.xml" ContentType="application/vnd.openxmlformats-officedocument.drawingml.diagramLayout+xml"/>
  <Override PartName="/ppt/diagrams/layout62.xml" ContentType="application/vnd.openxmlformats-officedocument.drawingml.diagramLayout+xml"/>
  <Override PartName="/ppt/diagrams/layout63.xml" ContentType="application/vnd.openxmlformats-officedocument.drawingml.diagramLayout+xml"/>
  <Override PartName="/ppt/diagrams/layout64.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layout9.xml" ContentType="application/vnd.openxmlformats-officedocument.drawingml.diagramLayout+xml"/>
  <Override PartName="/ppt/diagrams/quickStyle1.xml" ContentType="application/vnd.openxmlformats-officedocument.drawingml.diagramStyle+xml"/>
  <Override PartName="/ppt/diagrams/quickStyle10.xml" ContentType="application/vnd.openxmlformats-officedocument.drawingml.diagramStyle+xml"/>
  <Override PartName="/ppt/diagrams/quickStyle11.xml" ContentType="application/vnd.openxmlformats-officedocument.drawingml.diagramStyle+xml"/>
  <Override PartName="/ppt/diagrams/quickStyle12.xml" ContentType="application/vnd.openxmlformats-officedocument.drawingml.diagramStyle+xml"/>
  <Override PartName="/ppt/diagrams/quickStyle13.xml" ContentType="application/vnd.openxmlformats-officedocument.drawingml.diagramStyle+xml"/>
  <Override PartName="/ppt/diagrams/quickStyle14.xml" ContentType="application/vnd.openxmlformats-officedocument.drawingml.diagramStyle+xml"/>
  <Override PartName="/ppt/diagrams/quickStyle15.xml" ContentType="application/vnd.openxmlformats-officedocument.drawingml.diagramStyle+xml"/>
  <Override PartName="/ppt/diagrams/quickStyle16.xml" ContentType="application/vnd.openxmlformats-officedocument.drawingml.diagramStyle+xml"/>
  <Override PartName="/ppt/diagrams/quickStyle17.xml" ContentType="application/vnd.openxmlformats-officedocument.drawingml.diagramStyle+xml"/>
  <Override PartName="/ppt/diagrams/quickStyle18.xml" ContentType="application/vnd.openxmlformats-officedocument.drawingml.diagramStyle+xml"/>
  <Override PartName="/ppt/diagrams/quickStyle19.xml" ContentType="application/vnd.openxmlformats-officedocument.drawingml.diagramStyle+xml"/>
  <Override PartName="/ppt/diagrams/quickStyle2.xml" ContentType="application/vnd.openxmlformats-officedocument.drawingml.diagramStyle+xml"/>
  <Override PartName="/ppt/diagrams/quickStyle20.xml" ContentType="application/vnd.openxmlformats-officedocument.drawingml.diagramStyle+xml"/>
  <Override PartName="/ppt/diagrams/quickStyle21.xml" ContentType="application/vnd.openxmlformats-officedocument.drawingml.diagramStyle+xml"/>
  <Override PartName="/ppt/diagrams/quickStyle22.xml" ContentType="application/vnd.openxmlformats-officedocument.drawingml.diagramStyle+xml"/>
  <Override PartName="/ppt/diagrams/quickStyle23.xml" ContentType="application/vnd.openxmlformats-officedocument.drawingml.diagramStyle+xml"/>
  <Override PartName="/ppt/diagrams/quickStyle24.xml" ContentType="application/vnd.openxmlformats-officedocument.drawingml.diagramStyle+xml"/>
  <Override PartName="/ppt/diagrams/quickStyle25.xml" ContentType="application/vnd.openxmlformats-officedocument.drawingml.diagramStyle+xml"/>
  <Override PartName="/ppt/diagrams/quickStyle26.xml" ContentType="application/vnd.openxmlformats-officedocument.drawingml.diagramStyle+xml"/>
  <Override PartName="/ppt/diagrams/quickStyle27.xml" ContentType="application/vnd.openxmlformats-officedocument.drawingml.diagramStyle+xml"/>
  <Override PartName="/ppt/diagrams/quickStyle28.xml" ContentType="application/vnd.openxmlformats-officedocument.drawingml.diagramStyle+xml"/>
  <Override PartName="/ppt/diagrams/quickStyle29.xml" ContentType="application/vnd.openxmlformats-officedocument.drawingml.diagramStyle+xml"/>
  <Override PartName="/ppt/diagrams/quickStyle3.xml" ContentType="application/vnd.openxmlformats-officedocument.drawingml.diagramStyle+xml"/>
  <Override PartName="/ppt/diagrams/quickStyle30.xml" ContentType="application/vnd.openxmlformats-officedocument.drawingml.diagramStyle+xml"/>
  <Override PartName="/ppt/diagrams/quickStyle31.xml" ContentType="application/vnd.openxmlformats-officedocument.drawingml.diagramStyle+xml"/>
  <Override PartName="/ppt/diagrams/quickStyle32.xml" ContentType="application/vnd.openxmlformats-officedocument.drawingml.diagramStyle+xml"/>
  <Override PartName="/ppt/diagrams/quickStyle33.xml" ContentType="application/vnd.openxmlformats-officedocument.drawingml.diagramStyle+xml"/>
  <Override PartName="/ppt/diagrams/quickStyle34.xml" ContentType="application/vnd.openxmlformats-officedocument.drawingml.diagramStyle+xml"/>
  <Override PartName="/ppt/diagrams/quickStyle35.xml" ContentType="application/vnd.openxmlformats-officedocument.drawingml.diagramStyle+xml"/>
  <Override PartName="/ppt/diagrams/quickStyle36.xml" ContentType="application/vnd.openxmlformats-officedocument.drawingml.diagramStyle+xml"/>
  <Override PartName="/ppt/diagrams/quickStyle37.xml" ContentType="application/vnd.openxmlformats-officedocument.drawingml.diagramStyle+xml"/>
  <Override PartName="/ppt/diagrams/quickStyle38.xml" ContentType="application/vnd.openxmlformats-officedocument.drawingml.diagramStyle+xml"/>
  <Override PartName="/ppt/diagrams/quickStyle39.xml" ContentType="application/vnd.openxmlformats-officedocument.drawingml.diagramStyle+xml"/>
  <Override PartName="/ppt/diagrams/quickStyle4.xml" ContentType="application/vnd.openxmlformats-officedocument.drawingml.diagramStyle+xml"/>
  <Override PartName="/ppt/diagrams/quickStyle40.xml" ContentType="application/vnd.openxmlformats-officedocument.drawingml.diagramStyle+xml"/>
  <Override PartName="/ppt/diagrams/quickStyle41.xml" ContentType="application/vnd.openxmlformats-officedocument.drawingml.diagramStyle+xml"/>
  <Override PartName="/ppt/diagrams/quickStyle42.xml" ContentType="application/vnd.openxmlformats-officedocument.drawingml.diagramStyle+xml"/>
  <Override PartName="/ppt/diagrams/quickStyle43.xml" ContentType="application/vnd.openxmlformats-officedocument.drawingml.diagramStyle+xml"/>
  <Override PartName="/ppt/diagrams/quickStyle44.xml" ContentType="application/vnd.openxmlformats-officedocument.drawingml.diagramStyle+xml"/>
  <Override PartName="/ppt/diagrams/quickStyle45.xml" ContentType="application/vnd.openxmlformats-officedocument.drawingml.diagramStyle+xml"/>
  <Override PartName="/ppt/diagrams/quickStyle46.xml" ContentType="application/vnd.openxmlformats-officedocument.drawingml.diagramStyle+xml"/>
  <Override PartName="/ppt/diagrams/quickStyle47.xml" ContentType="application/vnd.openxmlformats-officedocument.drawingml.diagramStyle+xml"/>
  <Override PartName="/ppt/diagrams/quickStyle48.xml" ContentType="application/vnd.openxmlformats-officedocument.drawingml.diagramStyle+xml"/>
  <Override PartName="/ppt/diagrams/quickStyle49.xml" ContentType="application/vnd.openxmlformats-officedocument.drawingml.diagramStyle+xml"/>
  <Override PartName="/ppt/diagrams/quickStyle5.xml" ContentType="application/vnd.openxmlformats-officedocument.drawingml.diagramStyle+xml"/>
  <Override PartName="/ppt/diagrams/quickStyle50.xml" ContentType="application/vnd.openxmlformats-officedocument.drawingml.diagramStyle+xml"/>
  <Override PartName="/ppt/diagrams/quickStyle51.xml" ContentType="application/vnd.openxmlformats-officedocument.drawingml.diagramStyle+xml"/>
  <Override PartName="/ppt/diagrams/quickStyle52.xml" ContentType="application/vnd.openxmlformats-officedocument.drawingml.diagramStyle+xml"/>
  <Override PartName="/ppt/diagrams/quickStyle53.xml" ContentType="application/vnd.openxmlformats-officedocument.drawingml.diagramStyle+xml"/>
  <Override PartName="/ppt/diagrams/quickStyle54.xml" ContentType="application/vnd.openxmlformats-officedocument.drawingml.diagramStyle+xml"/>
  <Override PartName="/ppt/diagrams/quickStyle55.xml" ContentType="application/vnd.openxmlformats-officedocument.drawingml.diagramStyle+xml"/>
  <Override PartName="/ppt/diagrams/quickStyle56.xml" ContentType="application/vnd.openxmlformats-officedocument.drawingml.diagramStyle+xml"/>
  <Override PartName="/ppt/diagrams/quickStyle57.xml" ContentType="application/vnd.openxmlformats-officedocument.drawingml.diagramStyle+xml"/>
  <Override PartName="/ppt/diagrams/quickStyle58.xml" ContentType="application/vnd.openxmlformats-officedocument.drawingml.diagramStyle+xml"/>
  <Override PartName="/ppt/diagrams/quickStyle59.xml" ContentType="application/vnd.openxmlformats-officedocument.drawingml.diagramStyle+xml"/>
  <Override PartName="/ppt/diagrams/quickStyle6.xml" ContentType="application/vnd.openxmlformats-officedocument.drawingml.diagramStyle+xml"/>
  <Override PartName="/ppt/diagrams/quickStyle60.xml" ContentType="application/vnd.openxmlformats-officedocument.drawingml.diagramStyle+xml"/>
  <Override PartName="/ppt/diagrams/quickStyle61.xml" ContentType="application/vnd.openxmlformats-officedocument.drawingml.diagramStyle+xml"/>
  <Override PartName="/ppt/diagrams/quickStyle62.xml" ContentType="application/vnd.openxmlformats-officedocument.drawingml.diagramStyle+xml"/>
  <Override PartName="/ppt/diagrams/quickStyle63.xml" ContentType="application/vnd.openxmlformats-officedocument.drawingml.diagramStyle+xml"/>
  <Override PartName="/ppt/diagrams/quickStyle64.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diagrams/quickStyle9.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2"/>
  </p:notesMasterIdLst>
  <p:sldIdLst>
    <p:sldId id="256" r:id="rId2"/>
    <p:sldId id="257" r:id="rId3"/>
    <p:sldId id="312" r:id="rId4"/>
    <p:sldId id="313" r:id="rId5"/>
    <p:sldId id="306" r:id="rId6"/>
    <p:sldId id="307" r:id="rId7"/>
    <p:sldId id="260" r:id="rId8"/>
    <p:sldId id="261" r:id="rId9"/>
    <p:sldId id="262" r:id="rId10"/>
    <p:sldId id="309" r:id="rId11"/>
    <p:sldId id="308" r:id="rId12"/>
    <p:sldId id="263" r:id="rId13"/>
    <p:sldId id="264" r:id="rId14"/>
    <p:sldId id="265" r:id="rId15"/>
    <p:sldId id="267" r:id="rId16"/>
    <p:sldId id="268" r:id="rId17"/>
    <p:sldId id="310"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315" r:id="rId33"/>
    <p:sldId id="284" r:id="rId34"/>
    <p:sldId id="285" r:id="rId35"/>
    <p:sldId id="286" r:id="rId36"/>
    <p:sldId id="287" r:id="rId37"/>
    <p:sldId id="316" r:id="rId38"/>
    <p:sldId id="288" r:id="rId39"/>
    <p:sldId id="289" r:id="rId40"/>
    <p:sldId id="290" r:id="rId41"/>
    <p:sldId id="291" r:id="rId42"/>
    <p:sldId id="317" r:id="rId43"/>
    <p:sldId id="318" r:id="rId44"/>
    <p:sldId id="319" r:id="rId45"/>
    <p:sldId id="292" r:id="rId46"/>
    <p:sldId id="293" r:id="rId47"/>
    <p:sldId id="294" r:id="rId48"/>
    <p:sldId id="320" r:id="rId49"/>
    <p:sldId id="295" r:id="rId50"/>
    <p:sldId id="311" r:id="rId51"/>
    <p:sldId id="321" r:id="rId52"/>
    <p:sldId id="296" r:id="rId53"/>
    <p:sldId id="298" r:id="rId54"/>
    <p:sldId id="299" r:id="rId55"/>
    <p:sldId id="300" r:id="rId56"/>
    <p:sldId id="301" r:id="rId57"/>
    <p:sldId id="314" r:id="rId58"/>
    <p:sldId id="322" r:id="rId59"/>
    <p:sldId id="302" r:id="rId60"/>
    <p:sldId id="305" r:id="rId61"/>
    <p:sldId id="323" r:id="rId67"/>
    <p:sldId id="324" r:id="rId68"/>
    <p:sldId id="325"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41" r:id="rId85"/>
    <p:sldId id="342" r:id="rId86"/>
    <p:sldId id="343" r:id="rId87"/>
    <p:sldId id="344" r:id="rId88"/>
    <p:sldId id="345" r:id="rId89"/>
    <p:sldId id="346" r:id="rId90"/>
    <p:sldId id="347" r:id="rId91"/>
    <p:sldId id="348" r:id="rId92"/>
    <p:sldId id="349" r:id="rId93"/>
    <p:sldId id="350" r:id="rId94"/>
    <p:sldId id="351" r:id="rId95"/>
    <p:sldId id="352" r:id="rId96"/>
    <p:sldId id="353" r:id="rId97"/>
    <p:sldId id="354" r:id="rId98"/>
    <p:sldId id="355" r:id="rId99"/>
    <p:sldId id="356" r:id="rId100"/>
    <p:sldId id="357" r:id="rId101"/>
    <p:sldId id="358" r:id="rId102"/>
    <p:sldId id="359" r:id="rId103"/>
    <p:sldId id="360" r:id="rId104"/>
    <p:sldId id="361" r:id="rId105"/>
    <p:sldId id="362" r:id="rId106"/>
    <p:sldId id="363" r:id="rId107"/>
    <p:sldId id="364" r:id="rId108"/>
    <p:sldId id="365" r:id="rId109"/>
    <p:sldId id="366" r:id="rId1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67" d="100"/>
          <a:sy n="67" d="100"/>
        </p:scale>
        <p:origin x="-864"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F432AF-5FD6-463B-8F99-E2C7BD2DA6BE}" type="doc">
      <dgm:prSet loTypeId="urn:microsoft.com/office/officeart/2005/8/layout/target3" loCatId="relationship" qsTypeId="urn:microsoft.com/office/officeart/2005/8/quickstyle/simple1" qsCatId="simple" csTypeId="urn:microsoft.com/office/officeart/2005/8/colors/accent2_1" csCatId="accent2"/>
      <dgm:spPr/>
      <dgm:t>
        <a:bodyPr/>
        <a:lstStyle/>
        <a:p>
          <a:endParaRPr lang="en-US"/>
        </a:p>
      </dgm:t>
    </dgm:pt>
    <dgm:pt modelId="{69733648-C79C-440C-8B63-D1B0BFB3EA8E}">
      <dgm:prSet/>
      <dgm:spPr/>
      <dgm:t>
        <a:bodyPr/>
        <a:lstStyle/>
        <a:p>
          <a:pPr rtl="0"/>
          <a:r>
            <a:rPr lang="en-US" b="1" dirty="0" smtClean="0"/>
            <a:t>BREAST CANCER MANAGEMENT</a:t>
          </a:r>
          <a:endParaRPr lang="en-US" dirty="0"/>
        </a:p>
      </dgm:t>
    </dgm:pt>
    <dgm:pt modelId="{63F245F9-5DB9-48B1-8FD4-6895C1D49857}" type="parTrans" cxnId="{D6879B6F-E1FA-441C-B1FC-DA6099DBA2BF}">
      <dgm:prSet/>
      <dgm:spPr/>
      <dgm:t>
        <a:bodyPr/>
        <a:lstStyle/>
        <a:p>
          <a:endParaRPr lang="en-US"/>
        </a:p>
      </dgm:t>
    </dgm:pt>
    <dgm:pt modelId="{8EA021BD-A11C-4DFD-9135-B1A73BDBC813}" type="sibTrans" cxnId="{D6879B6F-E1FA-441C-B1FC-DA6099DBA2BF}">
      <dgm:prSet/>
      <dgm:spPr/>
      <dgm:t>
        <a:bodyPr/>
        <a:lstStyle/>
        <a:p>
          <a:endParaRPr lang="en-US"/>
        </a:p>
      </dgm:t>
    </dgm:pt>
    <dgm:pt modelId="{7DB1ACFD-E8FE-4BF2-A26E-C19F47D6A165}" type="pres">
      <dgm:prSet presAssocID="{34F432AF-5FD6-463B-8F99-E2C7BD2DA6BE}" presName="Name0" presStyleCnt="0">
        <dgm:presLayoutVars>
          <dgm:chMax val="7"/>
          <dgm:dir/>
          <dgm:animLvl val="lvl"/>
          <dgm:resizeHandles val="exact"/>
        </dgm:presLayoutVars>
      </dgm:prSet>
      <dgm:spPr/>
    </dgm:pt>
    <dgm:pt modelId="{61C512CC-4261-44EE-88F9-F1A50ABE2321}" type="pres">
      <dgm:prSet presAssocID="{69733648-C79C-440C-8B63-D1B0BFB3EA8E}" presName="circle1" presStyleLbl="node1" presStyleIdx="0" presStyleCnt="1"/>
      <dgm:spPr/>
    </dgm:pt>
    <dgm:pt modelId="{FD00970E-E289-40F4-B6B5-C37C4E3057B8}" type="pres">
      <dgm:prSet presAssocID="{69733648-C79C-440C-8B63-D1B0BFB3EA8E}" presName="space" presStyleCnt="0"/>
      <dgm:spPr/>
    </dgm:pt>
    <dgm:pt modelId="{4DA515D1-76C7-44F0-9377-E710BBCCFC0C}" type="pres">
      <dgm:prSet presAssocID="{69733648-C79C-440C-8B63-D1B0BFB3EA8E}" presName="rect1" presStyleLbl="alignAcc1" presStyleIdx="0" presStyleCnt="1"/>
      <dgm:spPr/>
    </dgm:pt>
    <dgm:pt modelId="{21273FF2-4FCA-433C-BC56-1B5F9582C081}" type="pres">
      <dgm:prSet presAssocID="{69733648-C79C-440C-8B63-D1B0BFB3EA8E}" presName="rect1ParTxNoCh" presStyleLbl="alignAcc1" presStyleIdx="0" presStyleCnt="1">
        <dgm:presLayoutVars>
          <dgm:chMax val="1"/>
          <dgm:bulletEnabled val="1"/>
        </dgm:presLayoutVars>
      </dgm:prSet>
      <dgm:spPr/>
    </dgm:pt>
  </dgm:ptLst>
  <dgm:cxnLst>
    <dgm:cxn modelId="{25DD8398-B3B6-4B10-BC37-E5740D133029}" type="presOf" srcId="{34F432AF-5FD6-463B-8F99-E2C7BD2DA6BE}" destId="{7DB1ACFD-E8FE-4BF2-A26E-C19F47D6A165}" srcOrd="0" destOrd="0" presId="urn:microsoft.com/office/officeart/2005/8/layout/target3"/>
    <dgm:cxn modelId="{FB862163-6D19-4E8F-8AE9-729A787C729E}" type="presOf" srcId="{69733648-C79C-440C-8B63-D1B0BFB3EA8E}" destId="{4DA515D1-76C7-44F0-9377-E710BBCCFC0C}" srcOrd="0" destOrd="0" presId="urn:microsoft.com/office/officeart/2005/8/layout/target3"/>
    <dgm:cxn modelId="{D6879B6F-E1FA-441C-B1FC-DA6099DBA2BF}" srcId="{34F432AF-5FD6-463B-8F99-E2C7BD2DA6BE}" destId="{69733648-C79C-440C-8B63-D1B0BFB3EA8E}" srcOrd="0" destOrd="0" parTransId="{63F245F9-5DB9-48B1-8FD4-6895C1D49857}" sibTransId="{8EA021BD-A11C-4DFD-9135-B1A73BDBC813}"/>
    <dgm:cxn modelId="{18D165A8-16CE-4AAA-9BAD-CDFBBD3702E7}" type="presOf" srcId="{69733648-C79C-440C-8B63-D1B0BFB3EA8E}" destId="{21273FF2-4FCA-433C-BC56-1B5F9582C081}" srcOrd="1" destOrd="0" presId="urn:microsoft.com/office/officeart/2005/8/layout/target3"/>
    <dgm:cxn modelId="{51602DFE-9B88-40FB-8B24-25238A8A9F48}" type="presParOf" srcId="{7DB1ACFD-E8FE-4BF2-A26E-C19F47D6A165}" destId="{61C512CC-4261-44EE-88F9-F1A50ABE2321}" srcOrd="0" destOrd="0" presId="urn:microsoft.com/office/officeart/2005/8/layout/target3"/>
    <dgm:cxn modelId="{2FEA5743-0763-41FE-B215-C642B884B30B}" type="presParOf" srcId="{7DB1ACFD-E8FE-4BF2-A26E-C19F47D6A165}" destId="{FD00970E-E289-40F4-B6B5-C37C4E3057B8}" srcOrd="1" destOrd="0" presId="urn:microsoft.com/office/officeart/2005/8/layout/target3"/>
    <dgm:cxn modelId="{D3F453A5-19F8-4DF5-A7A1-00FB7AC1076D}" type="presParOf" srcId="{7DB1ACFD-E8FE-4BF2-A26E-C19F47D6A165}" destId="{4DA515D1-76C7-44F0-9377-E710BBCCFC0C}" srcOrd="2" destOrd="0" presId="urn:microsoft.com/office/officeart/2005/8/layout/target3"/>
    <dgm:cxn modelId="{094A5197-AA1D-4BED-B273-34877798DCB9}" type="presParOf" srcId="{7DB1ACFD-E8FE-4BF2-A26E-C19F47D6A165}" destId="{21273FF2-4FCA-433C-BC56-1B5F9582C081}"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E871FEB-E69A-40D2-B672-681FD9396CD9}"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322A1A0A-C683-48EF-B8D3-68619B0CDEA5}">
      <dgm:prSet/>
      <dgm:spPr/>
      <dgm: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smtClean="0"/>
            <a:t>ADVISORS: EBS Unit</a:t>
          </a:r>
        </a:p>
      </dgm:t>
    </dgm:pt>
    <dgm:pt modelId="{47CDBE38-A58D-48CA-94C9-1569C0491197}" type="parTrans" cxnId="{283CBE0E-0265-4ADF-9E9A-ED5E78ACC0F9}">
      <dgm:prSet/>
      <dgm:spPr/>
      <dgm:t>
        <a:bodyPr/>
        <a:lstStyle/>
        <a:p>
          <a:endParaRPr lang="en-US"/>
        </a:p>
      </dgm:t>
    </dgm:pt>
    <dgm:pt modelId="{0C3DB6FF-4BB0-4DA4-BA80-0907FDD3281E}" type="sibTrans" cxnId="{283CBE0E-0265-4ADF-9E9A-ED5E78ACC0F9}">
      <dgm:prSet/>
      <dgm:spPr/>
      <dgm:t>
        <a:bodyPr/>
        <a:lstStyle/>
        <a:p>
          <a:endParaRPr lang="en-US"/>
        </a:p>
      </dgm:t>
    </dgm:pt>
    <dgm:pt modelId="{4980129A-3081-402A-AD1F-FEDEEF231C5E}">
      <dgm:prSet/>
      <dgm:spPr/>
      <dgm:t>
        <a:bodyPr/>
        <a:lstStyle/>
        <a:p>
          <a:pPr marR="0" rtl="0" eaLnBrk="1" fontAlgn="auto" latinLnBrk="0" hangingPunct="1">
            <a:buClrTx/>
            <a:buSzTx/>
            <a:buFontTx/>
            <a:tabLst/>
            <a:defRPr/>
          </a:pPr>
          <a:r>
            <a:rPr lang="en-US" b="1" dirty="0" smtClean="0"/>
            <a:t>Prepared by: Dr. </a:t>
          </a:r>
          <a:r>
            <a:rPr lang="en-US" b="1" dirty="0" err="1" smtClean="0"/>
            <a:t>Muluamlak</a:t>
          </a:r>
          <a:r>
            <a:rPr lang="en-US" b="1" dirty="0" smtClean="0"/>
            <a:t> – GSR-3</a:t>
          </a:r>
          <a:endParaRPr lang="en-US" dirty="0" smtClean="0"/>
        </a:p>
        <a:p>
          <a:pPr rtl="0"/>
          <a:endParaRPr lang="en-US" dirty="0"/>
        </a:p>
      </dgm:t>
    </dgm:pt>
    <dgm:pt modelId="{ABE92CA7-B7CA-4C7C-8BF1-181E5FE984C9}" type="parTrans" cxnId="{7252FE66-544F-4B74-8730-ECF4EAB517C5}">
      <dgm:prSet/>
      <dgm:spPr/>
      <dgm:t>
        <a:bodyPr/>
        <a:lstStyle/>
        <a:p>
          <a:endParaRPr lang="en-US"/>
        </a:p>
      </dgm:t>
    </dgm:pt>
    <dgm:pt modelId="{0488C9AE-D31B-46A8-A6E5-A50CB593478E}" type="sibTrans" cxnId="{7252FE66-544F-4B74-8730-ECF4EAB517C5}">
      <dgm:prSet/>
      <dgm:spPr/>
      <dgm:t>
        <a:bodyPr/>
        <a:lstStyle/>
        <a:p>
          <a:endParaRPr lang="en-US"/>
        </a:p>
      </dgm:t>
    </dgm:pt>
    <dgm:pt modelId="{0997AB9F-31E4-4CC1-AF4E-1895507F1899}" type="pres">
      <dgm:prSet presAssocID="{DE871FEB-E69A-40D2-B672-681FD9396CD9}" presName="Name0" presStyleCnt="0">
        <dgm:presLayoutVars>
          <dgm:dir/>
          <dgm:resizeHandles val="exact"/>
        </dgm:presLayoutVars>
      </dgm:prSet>
      <dgm:spPr/>
    </dgm:pt>
    <dgm:pt modelId="{E753B470-8F2A-48C3-96B6-ED02D65683FB}" type="pres">
      <dgm:prSet presAssocID="{322A1A0A-C683-48EF-B8D3-68619B0CDEA5}" presName="node" presStyleLbl="node1" presStyleIdx="0" presStyleCnt="2">
        <dgm:presLayoutVars>
          <dgm:bulletEnabled val="1"/>
        </dgm:presLayoutVars>
      </dgm:prSet>
      <dgm:spPr/>
      <dgm:t>
        <a:bodyPr/>
        <a:lstStyle/>
        <a:p>
          <a:endParaRPr lang="en-US"/>
        </a:p>
      </dgm:t>
    </dgm:pt>
    <dgm:pt modelId="{7C992C10-827E-4C94-A894-3E1857B8057D}" type="pres">
      <dgm:prSet presAssocID="{0C3DB6FF-4BB0-4DA4-BA80-0907FDD3281E}" presName="sibTrans" presStyleCnt="0"/>
      <dgm:spPr/>
    </dgm:pt>
    <dgm:pt modelId="{61453E86-3899-47FB-A546-FB2184317A91}" type="pres">
      <dgm:prSet presAssocID="{4980129A-3081-402A-AD1F-FEDEEF231C5E}" presName="node" presStyleLbl="node1" presStyleIdx="1" presStyleCnt="2" custLinFactNeighborX="11874" custLinFactNeighborY="21140">
        <dgm:presLayoutVars>
          <dgm:bulletEnabled val="1"/>
        </dgm:presLayoutVars>
      </dgm:prSet>
      <dgm:spPr/>
      <dgm:t>
        <a:bodyPr/>
        <a:lstStyle/>
        <a:p>
          <a:endParaRPr lang="en-US"/>
        </a:p>
      </dgm:t>
    </dgm:pt>
  </dgm:ptLst>
  <dgm:cxnLst>
    <dgm:cxn modelId="{283CBE0E-0265-4ADF-9E9A-ED5E78ACC0F9}" srcId="{DE871FEB-E69A-40D2-B672-681FD9396CD9}" destId="{322A1A0A-C683-48EF-B8D3-68619B0CDEA5}" srcOrd="0" destOrd="0" parTransId="{47CDBE38-A58D-48CA-94C9-1569C0491197}" sibTransId="{0C3DB6FF-4BB0-4DA4-BA80-0907FDD3281E}"/>
    <dgm:cxn modelId="{7252FE66-544F-4B74-8730-ECF4EAB517C5}" srcId="{DE871FEB-E69A-40D2-B672-681FD9396CD9}" destId="{4980129A-3081-402A-AD1F-FEDEEF231C5E}" srcOrd="1" destOrd="0" parTransId="{ABE92CA7-B7CA-4C7C-8BF1-181E5FE984C9}" sibTransId="{0488C9AE-D31B-46A8-A6E5-A50CB593478E}"/>
    <dgm:cxn modelId="{6F2AB18C-4B48-4913-961E-269EE3E2DEC0}" type="presOf" srcId="{4980129A-3081-402A-AD1F-FEDEEF231C5E}" destId="{61453E86-3899-47FB-A546-FB2184317A91}" srcOrd="0" destOrd="0" presId="urn:microsoft.com/office/officeart/2005/8/layout/hList6"/>
    <dgm:cxn modelId="{6B6315B5-2A63-4248-97A2-5FBB317DD660}" type="presOf" srcId="{322A1A0A-C683-48EF-B8D3-68619B0CDEA5}" destId="{E753B470-8F2A-48C3-96B6-ED02D65683FB}" srcOrd="0" destOrd="0" presId="urn:microsoft.com/office/officeart/2005/8/layout/hList6"/>
    <dgm:cxn modelId="{E704C9C4-D53D-4DC5-B248-69E3871418E3}" type="presOf" srcId="{DE871FEB-E69A-40D2-B672-681FD9396CD9}" destId="{0997AB9F-31E4-4CC1-AF4E-1895507F1899}" srcOrd="0" destOrd="0" presId="urn:microsoft.com/office/officeart/2005/8/layout/hList6"/>
    <dgm:cxn modelId="{7CC9C671-AC51-4E5D-ABE9-E539D0EC664C}" type="presParOf" srcId="{0997AB9F-31E4-4CC1-AF4E-1895507F1899}" destId="{E753B470-8F2A-48C3-96B6-ED02D65683FB}" srcOrd="0" destOrd="0" presId="urn:microsoft.com/office/officeart/2005/8/layout/hList6"/>
    <dgm:cxn modelId="{F3803457-6700-4285-B1E0-72375857E643}" type="presParOf" srcId="{0997AB9F-31E4-4CC1-AF4E-1895507F1899}" destId="{7C992C10-827E-4C94-A894-3E1857B8057D}" srcOrd="1" destOrd="0" presId="urn:microsoft.com/office/officeart/2005/8/layout/hList6"/>
    <dgm:cxn modelId="{7DE0D192-65EF-4151-9112-57C55B253147}" type="presParOf" srcId="{0997AB9F-31E4-4CC1-AF4E-1895507F1899}" destId="{61453E86-3899-47FB-A546-FB2184317A91}" srcOrd="2" destOrd="0" presId="urn:microsoft.com/office/officeart/2005/8/layout/hList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9E521D6-E2D8-444E-97FF-E7FE42AFCC3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C6E78250-8B86-4327-8EA3-E085ED2761E4}">
      <dgm:prSet/>
      <dgm:spPr/>
      <dgm:t>
        <a:bodyPr/>
        <a:lstStyle/>
        <a:p>
          <a:pPr rtl="0"/>
          <a:r>
            <a:rPr lang="en-US" b="1" smtClean="0"/>
            <a:t>Outlines</a:t>
          </a:r>
          <a:endParaRPr lang="en-US"/>
        </a:p>
      </dgm:t>
    </dgm:pt>
    <dgm:pt modelId="{2A1B1ED8-65ED-49D3-ACAE-DCAF35890BE7}" type="parTrans" cxnId="{EF0617ED-E7CE-468C-9D2A-F3336B95C87A}">
      <dgm:prSet/>
      <dgm:spPr/>
      <dgm:t>
        <a:bodyPr/>
        <a:lstStyle/>
        <a:p>
          <a:endParaRPr lang="en-US"/>
        </a:p>
      </dgm:t>
    </dgm:pt>
    <dgm:pt modelId="{ADC85DD0-A221-4B3D-B6E9-DBC5E78915B6}" type="sibTrans" cxnId="{EF0617ED-E7CE-468C-9D2A-F3336B95C87A}">
      <dgm:prSet/>
      <dgm:spPr/>
      <dgm:t>
        <a:bodyPr/>
        <a:lstStyle/>
        <a:p>
          <a:endParaRPr lang="en-US"/>
        </a:p>
      </dgm:t>
    </dgm:pt>
    <dgm:pt modelId="{BB4C3F89-01C7-43F0-98FE-AA374881AC7C}" type="pres">
      <dgm:prSet presAssocID="{29E521D6-E2D8-444E-97FF-E7FE42AFCC37}" presName="linear" presStyleCnt="0">
        <dgm:presLayoutVars>
          <dgm:animLvl val="lvl"/>
          <dgm:resizeHandles val="exact"/>
        </dgm:presLayoutVars>
      </dgm:prSet>
      <dgm:spPr/>
    </dgm:pt>
    <dgm:pt modelId="{B25C7E6B-6D38-45E1-A581-D35C44F44EAB}" type="pres">
      <dgm:prSet presAssocID="{C6E78250-8B86-4327-8EA3-E085ED2761E4}" presName="parentText" presStyleLbl="node1" presStyleIdx="0" presStyleCnt="1">
        <dgm:presLayoutVars>
          <dgm:chMax val="0"/>
          <dgm:bulletEnabled val="1"/>
        </dgm:presLayoutVars>
      </dgm:prSet>
      <dgm:spPr/>
    </dgm:pt>
  </dgm:ptLst>
  <dgm:cxnLst>
    <dgm:cxn modelId="{55EEF900-031E-49C6-9B3A-93F28AFC64B0}" type="presOf" srcId="{C6E78250-8B86-4327-8EA3-E085ED2761E4}" destId="{B25C7E6B-6D38-45E1-A581-D35C44F44EAB}" srcOrd="0" destOrd="0" presId="urn:microsoft.com/office/officeart/2005/8/layout/vList2"/>
    <dgm:cxn modelId="{02F125BF-83E3-41EC-886D-0C98C36E40F8}" type="presOf" srcId="{29E521D6-E2D8-444E-97FF-E7FE42AFCC37}" destId="{BB4C3F89-01C7-43F0-98FE-AA374881AC7C}" srcOrd="0" destOrd="0" presId="urn:microsoft.com/office/officeart/2005/8/layout/vList2"/>
    <dgm:cxn modelId="{EF0617ED-E7CE-468C-9D2A-F3336B95C87A}" srcId="{29E521D6-E2D8-444E-97FF-E7FE42AFCC37}" destId="{C6E78250-8B86-4327-8EA3-E085ED2761E4}" srcOrd="0" destOrd="0" parTransId="{2A1B1ED8-65ED-49D3-ACAE-DCAF35890BE7}" sibTransId="{ADC85DD0-A221-4B3D-B6E9-DBC5E78915B6}"/>
    <dgm:cxn modelId="{90D839F5-C08A-4868-8522-3DC1BAC6C944}" type="presParOf" srcId="{BB4C3F89-01C7-43F0-98FE-AA374881AC7C}" destId="{B25C7E6B-6D38-45E1-A581-D35C44F44EAB}"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EF297D0-641D-40BC-8F24-4D145DD156A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22BE76E-4246-4901-839D-A836E9312890}">
      <dgm:prSet/>
      <dgm:spPr/>
      <dgm:t>
        <a:bodyPr/>
        <a:lstStyle/>
        <a:p>
          <a:pPr rtl="0"/>
          <a:r>
            <a:rPr lang="en-US" b="1" smtClean="0"/>
            <a:t>Brief Anatomy</a:t>
          </a:r>
          <a:endParaRPr lang="en-US"/>
        </a:p>
      </dgm:t>
    </dgm:pt>
    <dgm:pt modelId="{FC9C6C05-E39D-466A-A374-9795AE57509F}" type="parTrans" cxnId="{738D8E4A-14D5-4163-9331-A350A2ACFF01}">
      <dgm:prSet/>
      <dgm:spPr/>
      <dgm:t>
        <a:bodyPr/>
        <a:lstStyle/>
        <a:p>
          <a:endParaRPr lang="en-US"/>
        </a:p>
      </dgm:t>
    </dgm:pt>
    <dgm:pt modelId="{E5F022D2-E7E0-4AB6-AAF6-416BEC8F32C0}" type="sibTrans" cxnId="{738D8E4A-14D5-4163-9331-A350A2ACFF01}">
      <dgm:prSet/>
      <dgm:spPr/>
      <dgm:t>
        <a:bodyPr/>
        <a:lstStyle/>
        <a:p>
          <a:endParaRPr lang="en-US"/>
        </a:p>
      </dgm:t>
    </dgm:pt>
    <dgm:pt modelId="{0E0B9DE4-9E5F-42A1-B138-D468EAC63402}" type="pres">
      <dgm:prSet presAssocID="{2EF297D0-641D-40BC-8F24-4D145DD156A2}" presName="linear" presStyleCnt="0">
        <dgm:presLayoutVars>
          <dgm:animLvl val="lvl"/>
          <dgm:resizeHandles val="exact"/>
        </dgm:presLayoutVars>
      </dgm:prSet>
      <dgm:spPr/>
    </dgm:pt>
    <dgm:pt modelId="{28EFDE43-E778-4DFF-A293-EBC7FADD92E0}" type="pres">
      <dgm:prSet presAssocID="{922BE76E-4246-4901-839D-A836E9312890}" presName="parentText" presStyleLbl="node1" presStyleIdx="0" presStyleCnt="1">
        <dgm:presLayoutVars>
          <dgm:chMax val="0"/>
          <dgm:bulletEnabled val="1"/>
        </dgm:presLayoutVars>
      </dgm:prSet>
      <dgm:spPr/>
    </dgm:pt>
  </dgm:ptLst>
  <dgm:cxnLst>
    <dgm:cxn modelId="{573EF245-AA1F-4463-A137-79BAD08166FD}" type="presOf" srcId="{922BE76E-4246-4901-839D-A836E9312890}" destId="{28EFDE43-E778-4DFF-A293-EBC7FADD92E0}" srcOrd="0" destOrd="0" presId="urn:microsoft.com/office/officeart/2005/8/layout/vList2"/>
    <dgm:cxn modelId="{738D8E4A-14D5-4163-9331-A350A2ACFF01}" srcId="{2EF297D0-641D-40BC-8F24-4D145DD156A2}" destId="{922BE76E-4246-4901-839D-A836E9312890}" srcOrd="0" destOrd="0" parTransId="{FC9C6C05-E39D-466A-A374-9795AE57509F}" sibTransId="{E5F022D2-E7E0-4AB6-AAF6-416BEC8F32C0}"/>
    <dgm:cxn modelId="{1DFCAEC6-D679-49A1-9C7C-59C8E9E2A801}" type="presOf" srcId="{2EF297D0-641D-40BC-8F24-4D145DD156A2}" destId="{0E0B9DE4-9E5F-42A1-B138-D468EAC63402}" srcOrd="0" destOrd="0" presId="urn:microsoft.com/office/officeart/2005/8/layout/vList2"/>
    <dgm:cxn modelId="{B46D8296-F387-492B-98AE-C3B4CCED1B87}" type="presParOf" srcId="{0E0B9DE4-9E5F-42A1-B138-D468EAC63402}" destId="{28EFDE43-E778-4DFF-A293-EBC7FADD92E0}"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E84BDC4-A26A-46FC-A8F1-CBD8851E609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1C74BEF3-44FB-40B7-B02C-D4C37A938D1D}">
      <dgm:prSet/>
      <dgm:spPr/>
      <dgm:t>
        <a:bodyPr/>
        <a:lstStyle/>
        <a:p>
          <a:pPr rtl="0"/>
          <a:r>
            <a:rPr lang="en-US" b="1" smtClean="0"/>
            <a:t>Physiology of the Breast</a:t>
          </a:r>
          <a:endParaRPr lang="en-US"/>
        </a:p>
      </dgm:t>
    </dgm:pt>
    <dgm:pt modelId="{3A9EF117-E97B-41BC-BF8C-9049319DED66}" type="parTrans" cxnId="{B0743454-A996-4D56-B734-7B4EF6EA957F}">
      <dgm:prSet/>
      <dgm:spPr/>
      <dgm:t>
        <a:bodyPr/>
        <a:lstStyle/>
        <a:p>
          <a:endParaRPr lang="en-US"/>
        </a:p>
      </dgm:t>
    </dgm:pt>
    <dgm:pt modelId="{6DE6328D-2286-4388-9565-AB3242A9786E}" type="sibTrans" cxnId="{B0743454-A996-4D56-B734-7B4EF6EA957F}">
      <dgm:prSet/>
      <dgm:spPr/>
      <dgm:t>
        <a:bodyPr/>
        <a:lstStyle/>
        <a:p>
          <a:endParaRPr lang="en-US"/>
        </a:p>
      </dgm:t>
    </dgm:pt>
    <dgm:pt modelId="{4AB7314F-7D2B-460D-8BC4-8ECE3C34E459}" type="pres">
      <dgm:prSet presAssocID="{3E84BDC4-A26A-46FC-A8F1-CBD8851E6093}" presName="linear" presStyleCnt="0">
        <dgm:presLayoutVars>
          <dgm:animLvl val="lvl"/>
          <dgm:resizeHandles val="exact"/>
        </dgm:presLayoutVars>
      </dgm:prSet>
      <dgm:spPr/>
    </dgm:pt>
    <dgm:pt modelId="{AC2C8DD8-4BF1-45F7-8970-190AC0421E1D}" type="pres">
      <dgm:prSet presAssocID="{1C74BEF3-44FB-40B7-B02C-D4C37A938D1D}" presName="parentText" presStyleLbl="node1" presStyleIdx="0" presStyleCnt="1">
        <dgm:presLayoutVars>
          <dgm:chMax val="0"/>
          <dgm:bulletEnabled val="1"/>
        </dgm:presLayoutVars>
      </dgm:prSet>
      <dgm:spPr/>
    </dgm:pt>
  </dgm:ptLst>
  <dgm:cxnLst>
    <dgm:cxn modelId="{B0743454-A996-4D56-B734-7B4EF6EA957F}" srcId="{3E84BDC4-A26A-46FC-A8F1-CBD8851E6093}" destId="{1C74BEF3-44FB-40B7-B02C-D4C37A938D1D}" srcOrd="0" destOrd="0" parTransId="{3A9EF117-E97B-41BC-BF8C-9049319DED66}" sibTransId="{6DE6328D-2286-4388-9565-AB3242A9786E}"/>
    <dgm:cxn modelId="{EA780073-C4E0-47CD-ABAD-C140131F6B14}" type="presOf" srcId="{3E84BDC4-A26A-46FC-A8F1-CBD8851E6093}" destId="{4AB7314F-7D2B-460D-8BC4-8ECE3C34E459}" srcOrd="0" destOrd="0" presId="urn:microsoft.com/office/officeart/2005/8/layout/vList2"/>
    <dgm:cxn modelId="{8F59EE91-9B56-4E50-BB64-87E0B0CACBC7}" type="presOf" srcId="{1C74BEF3-44FB-40B7-B02C-D4C37A938D1D}" destId="{AC2C8DD8-4BF1-45F7-8970-190AC0421E1D}" srcOrd="0" destOrd="0" presId="urn:microsoft.com/office/officeart/2005/8/layout/vList2"/>
    <dgm:cxn modelId="{AFF75F06-6E69-409C-9553-C363C00F7134}" type="presParOf" srcId="{4AB7314F-7D2B-460D-8BC4-8ECE3C34E459}" destId="{AC2C8DD8-4BF1-45F7-8970-190AC0421E1D}"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F9A844A-163E-414A-9536-1BA85FF3013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801F66E-3AD6-4F9C-A996-C900C941DA87}">
      <dgm:prSet/>
      <dgm:spPr/>
      <dgm:t>
        <a:bodyPr/>
        <a:lstStyle/>
        <a:p>
          <a:pPr rtl="0"/>
          <a:r>
            <a:rPr lang="en-US" b="1" smtClean="0"/>
            <a:t>Epidemiology and Risk Factors</a:t>
          </a:r>
          <a:endParaRPr lang="en-US"/>
        </a:p>
      </dgm:t>
    </dgm:pt>
    <dgm:pt modelId="{498C6238-68DD-47CC-A5FC-5D333D80CE1F}" type="parTrans" cxnId="{8386344D-7425-4608-8A50-79FDA9ADAA30}">
      <dgm:prSet/>
      <dgm:spPr/>
      <dgm:t>
        <a:bodyPr/>
        <a:lstStyle/>
        <a:p>
          <a:endParaRPr lang="en-US"/>
        </a:p>
      </dgm:t>
    </dgm:pt>
    <dgm:pt modelId="{1F594264-4D86-4E62-AD10-14C4D0877EA0}" type="sibTrans" cxnId="{8386344D-7425-4608-8A50-79FDA9ADAA30}">
      <dgm:prSet/>
      <dgm:spPr/>
      <dgm:t>
        <a:bodyPr/>
        <a:lstStyle/>
        <a:p>
          <a:endParaRPr lang="en-US"/>
        </a:p>
      </dgm:t>
    </dgm:pt>
    <dgm:pt modelId="{71184AF2-CC2C-4FAC-BC24-40CA96BABDAD}" type="pres">
      <dgm:prSet presAssocID="{7F9A844A-163E-414A-9536-1BA85FF3013A}" presName="linear" presStyleCnt="0">
        <dgm:presLayoutVars>
          <dgm:animLvl val="lvl"/>
          <dgm:resizeHandles val="exact"/>
        </dgm:presLayoutVars>
      </dgm:prSet>
      <dgm:spPr/>
    </dgm:pt>
    <dgm:pt modelId="{D087D707-0BD0-48EC-A1A2-149FB38BBF33}" type="pres">
      <dgm:prSet presAssocID="{4801F66E-3AD6-4F9C-A996-C900C941DA87}" presName="parentText" presStyleLbl="node1" presStyleIdx="0" presStyleCnt="1">
        <dgm:presLayoutVars>
          <dgm:chMax val="0"/>
          <dgm:bulletEnabled val="1"/>
        </dgm:presLayoutVars>
      </dgm:prSet>
      <dgm:spPr/>
    </dgm:pt>
  </dgm:ptLst>
  <dgm:cxnLst>
    <dgm:cxn modelId="{39A1E724-5502-41A1-B6B1-C29C22F39EE3}" type="presOf" srcId="{7F9A844A-163E-414A-9536-1BA85FF3013A}" destId="{71184AF2-CC2C-4FAC-BC24-40CA96BABDAD}" srcOrd="0" destOrd="0" presId="urn:microsoft.com/office/officeart/2005/8/layout/vList2"/>
    <dgm:cxn modelId="{8386344D-7425-4608-8A50-79FDA9ADAA30}" srcId="{7F9A844A-163E-414A-9536-1BA85FF3013A}" destId="{4801F66E-3AD6-4F9C-A996-C900C941DA87}" srcOrd="0" destOrd="0" parTransId="{498C6238-68DD-47CC-A5FC-5D333D80CE1F}" sibTransId="{1F594264-4D86-4E62-AD10-14C4D0877EA0}"/>
    <dgm:cxn modelId="{E9489727-CFAC-4172-915D-069E4F897F86}" type="presOf" srcId="{4801F66E-3AD6-4F9C-A996-C900C941DA87}" destId="{D087D707-0BD0-48EC-A1A2-149FB38BBF33}" srcOrd="0" destOrd="0" presId="urn:microsoft.com/office/officeart/2005/8/layout/vList2"/>
    <dgm:cxn modelId="{D2DD3713-6B97-47DF-A4CE-54886ECCAC53}" type="presParOf" srcId="{71184AF2-CC2C-4FAC-BC24-40CA96BABDAD}" destId="{D087D707-0BD0-48EC-A1A2-149FB38BBF3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075930A-A27C-498D-8816-C57052796F33}"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2D8939FD-739C-4413-9DBF-F1D5C5899F5C}">
      <dgm:prSet/>
      <dgm:spPr/>
      <dgm:t>
        <a:bodyPr/>
        <a:lstStyle/>
        <a:p>
          <a:pPr rtl="0"/>
          <a:r>
            <a:rPr lang="en-US" b="1" smtClean="0"/>
            <a:t>Ethiopia</a:t>
          </a:r>
          <a:endParaRPr lang="en-US"/>
        </a:p>
      </dgm:t>
    </dgm:pt>
    <dgm:pt modelId="{9C70EE37-9864-4BBE-BA74-038253BA5E31}" type="parTrans" cxnId="{B4AAAFFC-CD20-4952-B561-758B9B2B2A5A}">
      <dgm:prSet/>
      <dgm:spPr/>
      <dgm:t>
        <a:bodyPr/>
        <a:lstStyle/>
        <a:p>
          <a:endParaRPr lang="en-US"/>
        </a:p>
      </dgm:t>
    </dgm:pt>
    <dgm:pt modelId="{E02B8AAA-4C81-4D28-8597-1BF9D110B034}" type="sibTrans" cxnId="{B4AAAFFC-CD20-4952-B561-758B9B2B2A5A}">
      <dgm:prSet/>
      <dgm:spPr/>
      <dgm:t>
        <a:bodyPr/>
        <a:lstStyle/>
        <a:p>
          <a:endParaRPr lang="en-US"/>
        </a:p>
      </dgm:t>
    </dgm:pt>
    <dgm:pt modelId="{7A6E0743-73B8-4FAE-BAE0-B9A0DA6F4131}" type="pres">
      <dgm:prSet presAssocID="{3075930A-A27C-498D-8816-C57052796F33}" presName="vert0" presStyleCnt="0">
        <dgm:presLayoutVars>
          <dgm:dir/>
          <dgm:animOne val="branch"/>
          <dgm:animLvl val="lvl"/>
        </dgm:presLayoutVars>
      </dgm:prSet>
      <dgm:spPr/>
    </dgm:pt>
    <dgm:pt modelId="{04D97871-C8BF-49D8-8269-AFAE3319A575}" type="pres">
      <dgm:prSet presAssocID="{2D8939FD-739C-4413-9DBF-F1D5C5899F5C}" presName="thickLine" presStyleLbl="alignNode1" presStyleIdx="0" presStyleCnt="1"/>
      <dgm:spPr/>
    </dgm:pt>
    <dgm:pt modelId="{372D73BC-D6EA-4948-8F13-29C785B55E67}" type="pres">
      <dgm:prSet presAssocID="{2D8939FD-739C-4413-9DBF-F1D5C5899F5C}" presName="horz1" presStyleCnt="0"/>
      <dgm:spPr/>
    </dgm:pt>
    <dgm:pt modelId="{5B447389-0587-4DE4-B582-90E9BC1B749B}" type="pres">
      <dgm:prSet presAssocID="{2D8939FD-739C-4413-9DBF-F1D5C5899F5C}" presName="tx1" presStyleLbl="revTx" presStyleIdx="0" presStyleCnt="1"/>
      <dgm:spPr/>
    </dgm:pt>
    <dgm:pt modelId="{713C412D-6E37-44A6-9E0C-FCB7AA3FFFD7}" type="pres">
      <dgm:prSet presAssocID="{2D8939FD-739C-4413-9DBF-F1D5C5899F5C}" presName="vert1" presStyleCnt="0"/>
      <dgm:spPr/>
    </dgm:pt>
  </dgm:ptLst>
  <dgm:cxnLst>
    <dgm:cxn modelId="{B4AAAFFC-CD20-4952-B561-758B9B2B2A5A}" srcId="{3075930A-A27C-498D-8816-C57052796F33}" destId="{2D8939FD-739C-4413-9DBF-F1D5C5899F5C}" srcOrd="0" destOrd="0" parTransId="{9C70EE37-9864-4BBE-BA74-038253BA5E31}" sibTransId="{E02B8AAA-4C81-4D28-8597-1BF9D110B034}"/>
    <dgm:cxn modelId="{0A28EEEA-B386-4AF5-9289-E28DEDDA0428}" type="presOf" srcId="{2D8939FD-739C-4413-9DBF-F1D5C5899F5C}" destId="{5B447389-0587-4DE4-B582-90E9BC1B749B}" srcOrd="0" destOrd="0" presId="urn:microsoft.com/office/officeart/2008/layout/LinedList"/>
    <dgm:cxn modelId="{2EF98F40-03E1-4699-A134-3B25EC984CFE}" type="presOf" srcId="{3075930A-A27C-498D-8816-C57052796F33}" destId="{7A6E0743-73B8-4FAE-BAE0-B9A0DA6F4131}" srcOrd="0" destOrd="0" presId="urn:microsoft.com/office/officeart/2008/layout/LinedList"/>
    <dgm:cxn modelId="{D89C6FCA-85E2-4948-BBD6-A2754F32D6A6}" type="presParOf" srcId="{7A6E0743-73B8-4FAE-BAE0-B9A0DA6F4131}" destId="{04D97871-C8BF-49D8-8269-AFAE3319A575}" srcOrd="0" destOrd="0" presId="urn:microsoft.com/office/officeart/2008/layout/LinedList"/>
    <dgm:cxn modelId="{EA7E2FDC-A326-4DB8-B4AF-4463507B3234}" type="presParOf" srcId="{7A6E0743-73B8-4FAE-BAE0-B9A0DA6F4131}" destId="{372D73BC-D6EA-4948-8F13-29C785B55E67}" srcOrd="1" destOrd="0" presId="urn:microsoft.com/office/officeart/2008/layout/LinedList"/>
    <dgm:cxn modelId="{B74A5CE8-A9A8-4139-BCAE-9F95CB62746F}" type="presParOf" srcId="{372D73BC-D6EA-4948-8F13-29C785B55E67}" destId="{5B447389-0587-4DE4-B582-90E9BC1B749B}" srcOrd="0" destOrd="0" presId="urn:microsoft.com/office/officeart/2008/layout/LinedList"/>
    <dgm:cxn modelId="{592DC6D3-E6BE-4C15-8649-7F13F39D5241}" type="presParOf" srcId="{372D73BC-D6EA-4948-8F13-29C785B55E67}" destId="{713C412D-6E37-44A6-9E0C-FCB7AA3FFFD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CCA0611-C4E1-47B5-8C74-54019DC4666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311D923A-E7E6-4A55-97BF-2EC4780ACEC8}">
      <dgm:prSet/>
      <dgm:spPr/>
      <dgm:t>
        <a:bodyPr/>
        <a:lstStyle/>
        <a:p>
          <a:pPr rtl="0"/>
          <a:r>
            <a:rPr lang="en-US" b="1" smtClean="0"/>
            <a:t>Risk Factors for Breast Cancer</a:t>
          </a:r>
          <a:endParaRPr lang="en-US"/>
        </a:p>
      </dgm:t>
    </dgm:pt>
    <dgm:pt modelId="{5AA2D2EB-720C-4804-B1AB-4F7A43BE25CF}" type="parTrans" cxnId="{6FD234C8-F5F6-49FD-BAAC-B5AACC38F9DE}">
      <dgm:prSet/>
      <dgm:spPr/>
      <dgm:t>
        <a:bodyPr/>
        <a:lstStyle/>
        <a:p>
          <a:endParaRPr lang="en-US"/>
        </a:p>
      </dgm:t>
    </dgm:pt>
    <dgm:pt modelId="{BEE2EB14-F1DD-4BF7-B3AD-6F39B6A99D94}" type="sibTrans" cxnId="{6FD234C8-F5F6-49FD-BAAC-B5AACC38F9DE}">
      <dgm:prSet/>
      <dgm:spPr/>
      <dgm:t>
        <a:bodyPr/>
        <a:lstStyle/>
        <a:p>
          <a:endParaRPr lang="en-US"/>
        </a:p>
      </dgm:t>
    </dgm:pt>
    <dgm:pt modelId="{59EE147A-9E95-4208-B9DE-18CFD32C62E6}" type="pres">
      <dgm:prSet presAssocID="{2CCA0611-C4E1-47B5-8C74-54019DC46660}" presName="linear" presStyleCnt="0">
        <dgm:presLayoutVars>
          <dgm:animLvl val="lvl"/>
          <dgm:resizeHandles val="exact"/>
        </dgm:presLayoutVars>
      </dgm:prSet>
      <dgm:spPr/>
    </dgm:pt>
    <dgm:pt modelId="{0219C911-BCA1-48A0-89D1-0C01E4117F11}" type="pres">
      <dgm:prSet presAssocID="{311D923A-E7E6-4A55-97BF-2EC4780ACEC8}" presName="parentText" presStyleLbl="node1" presStyleIdx="0" presStyleCnt="1">
        <dgm:presLayoutVars>
          <dgm:chMax val="0"/>
          <dgm:bulletEnabled val="1"/>
        </dgm:presLayoutVars>
      </dgm:prSet>
      <dgm:spPr/>
    </dgm:pt>
  </dgm:ptLst>
  <dgm:cxnLst>
    <dgm:cxn modelId="{6FD234C8-F5F6-49FD-BAAC-B5AACC38F9DE}" srcId="{2CCA0611-C4E1-47B5-8C74-54019DC46660}" destId="{311D923A-E7E6-4A55-97BF-2EC4780ACEC8}" srcOrd="0" destOrd="0" parTransId="{5AA2D2EB-720C-4804-B1AB-4F7A43BE25CF}" sibTransId="{BEE2EB14-F1DD-4BF7-B3AD-6F39B6A99D94}"/>
    <dgm:cxn modelId="{1F38651C-CB0F-400A-86CB-ABE6095A4527}" type="presOf" srcId="{2CCA0611-C4E1-47B5-8C74-54019DC46660}" destId="{59EE147A-9E95-4208-B9DE-18CFD32C62E6}" srcOrd="0" destOrd="0" presId="urn:microsoft.com/office/officeart/2005/8/layout/vList2"/>
    <dgm:cxn modelId="{6A4377CF-0D5C-41D8-BDB8-991539DAA095}" type="presOf" srcId="{311D923A-E7E6-4A55-97BF-2EC4780ACEC8}" destId="{0219C911-BCA1-48A0-89D1-0C01E4117F11}" srcOrd="0" destOrd="0" presId="urn:microsoft.com/office/officeart/2005/8/layout/vList2"/>
    <dgm:cxn modelId="{2DF701AC-C553-45C9-95CF-281A7BED8A57}" type="presParOf" srcId="{59EE147A-9E95-4208-B9DE-18CFD32C62E6}" destId="{0219C911-BCA1-48A0-89D1-0C01E4117F11}"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46D84F1-89EA-460E-BA4F-B0B5A619D32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5D076065-B742-42CB-8012-E3779E5CB4F0}">
      <dgm:prSet/>
      <dgm:spPr/>
      <dgm:t>
        <a:bodyPr/>
        <a:lstStyle/>
        <a:p>
          <a:pPr rtl="0"/>
          <a:r>
            <a:rPr lang="en-US" b="1" smtClean="0"/>
            <a:t>Risk Assessment</a:t>
          </a:r>
          <a:endParaRPr lang="en-US"/>
        </a:p>
      </dgm:t>
    </dgm:pt>
    <dgm:pt modelId="{EF8AED63-A1B4-4384-8AED-6667162E0E4D}" type="parTrans" cxnId="{D71B2F19-6EB0-490D-843F-AD254135FD6B}">
      <dgm:prSet/>
      <dgm:spPr/>
      <dgm:t>
        <a:bodyPr/>
        <a:lstStyle/>
        <a:p>
          <a:endParaRPr lang="en-US"/>
        </a:p>
      </dgm:t>
    </dgm:pt>
    <dgm:pt modelId="{C4584766-C0D1-44B2-ADF9-D447E3100AF1}" type="sibTrans" cxnId="{D71B2F19-6EB0-490D-843F-AD254135FD6B}">
      <dgm:prSet/>
      <dgm:spPr/>
      <dgm:t>
        <a:bodyPr/>
        <a:lstStyle/>
        <a:p>
          <a:endParaRPr lang="en-US"/>
        </a:p>
      </dgm:t>
    </dgm:pt>
    <dgm:pt modelId="{90BAC562-4F10-40BA-88D1-EA3F3B52ACD4}" type="pres">
      <dgm:prSet presAssocID="{A46D84F1-89EA-460E-BA4F-B0B5A619D325}" presName="linear" presStyleCnt="0">
        <dgm:presLayoutVars>
          <dgm:animLvl val="lvl"/>
          <dgm:resizeHandles val="exact"/>
        </dgm:presLayoutVars>
      </dgm:prSet>
      <dgm:spPr/>
    </dgm:pt>
    <dgm:pt modelId="{D805CBA7-DCED-42E3-88B2-25E5E6B65F80}" type="pres">
      <dgm:prSet presAssocID="{5D076065-B742-42CB-8012-E3779E5CB4F0}" presName="parentText" presStyleLbl="node1" presStyleIdx="0" presStyleCnt="1">
        <dgm:presLayoutVars>
          <dgm:chMax val="0"/>
          <dgm:bulletEnabled val="1"/>
        </dgm:presLayoutVars>
      </dgm:prSet>
      <dgm:spPr/>
    </dgm:pt>
  </dgm:ptLst>
  <dgm:cxnLst>
    <dgm:cxn modelId="{647C02DC-79D4-4388-814E-44EEADC6D0BF}" type="presOf" srcId="{A46D84F1-89EA-460E-BA4F-B0B5A619D325}" destId="{90BAC562-4F10-40BA-88D1-EA3F3B52ACD4}" srcOrd="0" destOrd="0" presId="urn:microsoft.com/office/officeart/2005/8/layout/vList2"/>
    <dgm:cxn modelId="{C2E76C15-4F67-4459-9B7A-3B3001C899D1}" type="presOf" srcId="{5D076065-B742-42CB-8012-E3779E5CB4F0}" destId="{D805CBA7-DCED-42E3-88B2-25E5E6B65F80}" srcOrd="0" destOrd="0" presId="urn:microsoft.com/office/officeart/2005/8/layout/vList2"/>
    <dgm:cxn modelId="{D71B2F19-6EB0-490D-843F-AD254135FD6B}" srcId="{A46D84F1-89EA-460E-BA4F-B0B5A619D325}" destId="{5D076065-B742-42CB-8012-E3779E5CB4F0}" srcOrd="0" destOrd="0" parTransId="{EF8AED63-A1B4-4384-8AED-6667162E0E4D}" sibTransId="{C4584766-C0D1-44B2-ADF9-D447E3100AF1}"/>
    <dgm:cxn modelId="{A1C5EF1A-F465-46AD-90EA-DAB58EFCACA0}" type="presParOf" srcId="{90BAC562-4F10-40BA-88D1-EA3F3B52ACD4}" destId="{D805CBA7-DCED-42E3-88B2-25E5E6B65F80}"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63BF00D-9DF7-46D3-8215-EEB0CC656C9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81E5420F-EACA-4658-A28D-34D16084564B}">
      <dgm:prSet/>
      <dgm:spPr/>
      <dgm:t>
        <a:bodyPr/>
        <a:lstStyle/>
        <a:p>
          <a:pPr rtl="0"/>
          <a:r>
            <a:rPr lang="en-US" b="1" smtClean="0"/>
            <a:t>Risk Assessment Models</a:t>
          </a:r>
          <a:endParaRPr lang="en-US"/>
        </a:p>
      </dgm:t>
    </dgm:pt>
    <dgm:pt modelId="{72837C92-0A66-4358-96CD-95D4A4E43B1A}" type="parTrans" cxnId="{28AAF81D-889D-44E0-BF96-B89369498FE0}">
      <dgm:prSet/>
      <dgm:spPr/>
      <dgm:t>
        <a:bodyPr/>
        <a:lstStyle/>
        <a:p>
          <a:endParaRPr lang="en-US"/>
        </a:p>
      </dgm:t>
    </dgm:pt>
    <dgm:pt modelId="{0AD66DB2-CC30-4DBD-A2AC-71B3EF9FA9B4}" type="sibTrans" cxnId="{28AAF81D-889D-44E0-BF96-B89369498FE0}">
      <dgm:prSet/>
      <dgm:spPr/>
      <dgm:t>
        <a:bodyPr/>
        <a:lstStyle/>
        <a:p>
          <a:endParaRPr lang="en-US"/>
        </a:p>
      </dgm:t>
    </dgm:pt>
    <dgm:pt modelId="{4CC545B5-076E-4227-B14E-1F2D37FEF880}" type="pres">
      <dgm:prSet presAssocID="{E63BF00D-9DF7-46D3-8215-EEB0CC656C9C}" presName="linear" presStyleCnt="0">
        <dgm:presLayoutVars>
          <dgm:animLvl val="lvl"/>
          <dgm:resizeHandles val="exact"/>
        </dgm:presLayoutVars>
      </dgm:prSet>
      <dgm:spPr/>
    </dgm:pt>
    <dgm:pt modelId="{635841CF-2646-44EE-BBBE-1BE163281719}" type="pres">
      <dgm:prSet presAssocID="{81E5420F-EACA-4658-A28D-34D16084564B}" presName="parentText" presStyleLbl="node1" presStyleIdx="0" presStyleCnt="1">
        <dgm:presLayoutVars>
          <dgm:chMax val="0"/>
          <dgm:bulletEnabled val="1"/>
        </dgm:presLayoutVars>
      </dgm:prSet>
      <dgm:spPr/>
    </dgm:pt>
  </dgm:ptLst>
  <dgm:cxnLst>
    <dgm:cxn modelId="{19A09E3B-5A07-4663-80C0-D4B5C0BDEDA5}" type="presOf" srcId="{81E5420F-EACA-4658-A28D-34D16084564B}" destId="{635841CF-2646-44EE-BBBE-1BE163281719}" srcOrd="0" destOrd="0" presId="urn:microsoft.com/office/officeart/2005/8/layout/vList2"/>
    <dgm:cxn modelId="{28AAF81D-889D-44E0-BF96-B89369498FE0}" srcId="{E63BF00D-9DF7-46D3-8215-EEB0CC656C9C}" destId="{81E5420F-EACA-4658-A28D-34D16084564B}" srcOrd="0" destOrd="0" parTransId="{72837C92-0A66-4358-96CD-95D4A4E43B1A}" sibTransId="{0AD66DB2-CC30-4DBD-A2AC-71B3EF9FA9B4}"/>
    <dgm:cxn modelId="{1852621A-417B-426A-AA72-8AAF6A69CC93}" type="presOf" srcId="{E63BF00D-9DF7-46D3-8215-EEB0CC656C9C}" destId="{4CC545B5-076E-4227-B14E-1F2D37FEF880}" srcOrd="0" destOrd="0" presId="urn:microsoft.com/office/officeart/2005/8/layout/vList2"/>
    <dgm:cxn modelId="{0071CA76-E534-4019-8BFF-6A6D7B041C50}" type="presParOf" srcId="{4CC545B5-076E-4227-B14E-1F2D37FEF880}" destId="{635841CF-2646-44EE-BBBE-1BE163281719}"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D558D5B-9519-4A61-9C4C-36750119BE0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05B9860-2F44-4382-BF74-0545A2CF9287}">
      <dgm:prSet/>
      <dgm:spPr/>
      <dgm:t>
        <a:bodyPr/>
        <a:lstStyle/>
        <a:p>
          <a:pPr rtl="0"/>
          <a:r>
            <a:rPr lang="en-US" b="1" smtClean="0"/>
            <a:t>Risk Management</a:t>
          </a:r>
          <a:endParaRPr lang="en-US"/>
        </a:p>
      </dgm:t>
    </dgm:pt>
    <dgm:pt modelId="{8803813D-BC7A-43A8-A631-A684025D97DE}" type="parTrans" cxnId="{8FB2EC66-6006-4DF6-86C6-7A71EF6ACBEB}">
      <dgm:prSet/>
      <dgm:spPr/>
      <dgm:t>
        <a:bodyPr/>
        <a:lstStyle/>
        <a:p>
          <a:endParaRPr lang="en-US"/>
        </a:p>
      </dgm:t>
    </dgm:pt>
    <dgm:pt modelId="{02885334-7691-49E8-9CC1-99C1053B6B71}" type="sibTrans" cxnId="{8FB2EC66-6006-4DF6-86C6-7A71EF6ACBEB}">
      <dgm:prSet/>
      <dgm:spPr/>
      <dgm:t>
        <a:bodyPr/>
        <a:lstStyle/>
        <a:p>
          <a:endParaRPr lang="en-US"/>
        </a:p>
      </dgm:t>
    </dgm:pt>
    <dgm:pt modelId="{A01EC417-FD44-46A9-A5E4-9E7DCE057306}" type="pres">
      <dgm:prSet presAssocID="{6D558D5B-9519-4A61-9C4C-36750119BE03}" presName="linear" presStyleCnt="0">
        <dgm:presLayoutVars>
          <dgm:animLvl val="lvl"/>
          <dgm:resizeHandles val="exact"/>
        </dgm:presLayoutVars>
      </dgm:prSet>
      <dgm:spPr/>
    </dgm:pt>
    <dgm:pt modelId="{EE473841-1824-44C8-8C5B-03F27F67067E}" type="pres">
      <dgm:prSet presAssocID="{405B9860-2F44-4382-BF74-0545A2CF9287}" presName="parentText" presStyleLbl="node1" presStyleIdx="0" presStyleCnt="1">
        <dgm:presLayoutVars>
          <dgm:chMax val="0"/>
          <dgm:bulletEnabled val="1"/>
        </dgm:presLayoutVars>
      </dgm:prSet>
      <dgm:spPr/>
    </dgm:pt>
  </dgm:ptLst>
  <dgm:cxnLst>
    <dgm:cxn modelId="{E67A14CA-882B-4777-8FA4-EA455EBEB122}" type="presOf" srcId="{405B9860-2F44-4382-BF74-0545A2CF9287}" destId="{EE473841-1824-44C8-8C5B-03F27F67067E}" srcOrd="0" destOrd="0" presId="urn:microsoft.com/office/officeart/2005/8/layout/vList2"/>
    <dgm:cxn modelId="{2281A8EC-8467-4521-9370-7A1E0857B2D4}" type="presOf" srcId="{6D558D5B-9519-4A61-9C4C-36750119BE03}" destId="{A01EC417-FD44-46A9-A5E4-9E7DCE057306}" srcOrd="0" destOrd="0" presId="urn:microsoft.com/office/officeart/2005/8/layout/vList2"/>
    <dgm:cxn modelId="{8FB2EC66-6006-4DF6-86C6-7A71EF6ACBEB}" srcId="{6D558D5B-9519-4A61-9C4C-36750119BE03}" destId="{405B9860-2F44-4382-BF74-0545A2CF9287}" srcOrd="0" destOrd="0" parTransId="{8803813D-BC7A-43A8-A631-A684025D97DE}" sibTransId="{02885334-7691-49E8-9CC1-99C1053B6B71}"/>
    <dgm:cxn modelId="{5ED04C46-4647-4C83-8F39-45A90CB3B328}" type="presParOf" srcId="{A01EC417-FD44-46A9-A5E4-9E7DCE057306}" destId="{EE473841-1824-44C8-8C5B-03F27F67067E}"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B55F0259-FD80-4E17-955F-E205D3B037E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22BAB4AB-889D-420A-983A-04D443055654}">
      <dgm:prSet/>
      <dgm:spPr/>
      <dgm:t>
        <a:bodyPr/>
        <a:lstStyle/>
        <a:p>
          <a:pPr rtl="0"/>
          <a:r>
            <a:rPr lang="en-US" b="1" smtClean="0"/>
            <a:t>Breast Cancer Screening</a:t>
          </a:r>
          <a:endParaRPr lang="en-US"/>
        </a:p>
      </dgm:t>
    </dgm:pt>
    <dgm:pt modelId="{846028F1-382C-4F51-BDD7-9D62A7460824}" type="parTrans" cxnId="{0B33C23D-DE07-4DD7-BBA1-140E874F0B78}">
      <dgm:prSet/>
      <dgm:spPr/>
      <dgm:t>
        <a:bodyPr/>
        <a:lstStyle/>
        <a:p>
          <a:endParaRPr lang="en-US"/>
        </a:p>
      </dgm:t>
    </dgm:pt>
    <dgm:pt modelId="{D9C3976E-AA0C-41F4-8C30-E060CBAA448C}" type="sibTrans" cxnId="{0B33C23D-DE07-4DD7-BBA1-140E874F0B78}">
      <dgm:prSet/>
      <dgm:spPr/>
      <dgm:t>
        <a:bodyPr/>
        <a:lstStyle/>
        <a:p>
          <a:endParaRPr lang="en-US"/>
        </a:p>
      </dgm:t>
    </dgm:pt>
    <dgm:pt modelId="{76A1FDF0-1487-49B2-9AC4-BFB305E5B57A}" type="pres">
      <dgm:prSet presAssocID="{B55F0259-FD80-4E17-955F-E205D3B037E6}" presName="linear" presStyleCnt="0">
        <dgm:presLayoutVars>
          <dgm:animLvl val="lvl"/>
          <dgm:resizeHandles val="exact"/>
        </dgm:presLayoutVars>
      </dgm:prSet>
      <dgm:spPr/>
    </dgm:pt>
    <dgm:pt modelId="{2744F554-5B79-446E-9C70-6346229A73AF}" type="pres">
      <dgm:prSet presAssocID="{22BAB4AB-889D-420A-983A-04D443055654}" presName="parentText" presStyleLbl="node1" presStyleIdx="0" presStyleCnt="1">
        <dgm:presLayoutVars>
          <dgm:chMax val="0"/>
          <dgm:bulletEnabled val="1"/>
        </dgm:presLayoutVars>
      </dgm:prSet>
      <dgm:spPr/>
    </dgm:pt>
  </dgm:ptLst>
  <dgm:cxnLst>
    <dgm:cxn modelId="{59D678D1-1534-4438-AD87-D9F75F90E31E}" type="presOf" srcId="{22BAB4AB-889D-420A-983A-04D443055654}" destId="{2744F554-5B79-446E-9C70-6346229A73AF}" srcOrd="0" destOrd="0" presId="urn:microsoft.com/office/officeart/2005/8/layout/vList2"/>
    <dgm:cxn modelId="{0B33C23D-DE07-4DD7-BBA1-140E874F0B78}" srcId="{B55F0259-FD80-4E17-955F-E205D3B037E6}" destId="{22BAB4AB-889D-420A-983A-04D443055654}" srcOrd="0" destOrd="0" parTransId="{846028F1-382C-4F51-BDD7-9D62A7460824}" sibTransId="{D9C3976E-AA0C-41F4-8C30-E060CBAA448C}"/>
    <dgm:cxn modelId="{DE80E097-215F-44A2-9C32-FB0717D62DA0}" type="presOf" srcId="{B55F0259-FD80-4E17-955F-E205D3B037E6}" destId="{76A1FDF0-1487-49B2-9AC4-BFB305E5B57A}" srcOrd="0" destOrd="0" presId="urn:microsoft.com/office/officeart/2005/8/layout/vList2"/>
    <dgm:cxn modelId="{DA2B2421-0F00-472B-8D72-4CA9B7990AF8}" type="presParOf" srcId="{76A1FDF0-1487-49B2-9AC4-BFB305E5B57A}" destId="{2744F554-5B79-446E-9C70-6346229A73AF}"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59CB2BFE-1522-4325-959F-E6357707F476}"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CB05C98B-A035-478F-A221-0F1F8FBE455A}">
      <dgm:prSet/>
      <dgm:spPr/>
      <dgm:t>
        <a:bodyPr/>
        <a:lstStyle/>
        <a:p>
          <a:pPr rtl="0"/>
          <a:r>
            <a:rPr lang="en-US" b="1" dirty="0" smtClean="0"/>
            <a:t>Breast Cancer Screening</a:t>
          </a:r>
          <a:endParaRPr lang="en-US" dirty="0"/>
        </a:p>
      </dgm:t>
    </dgm:pt>
    <dgm:pt modelId="{84DD635A-61DE-4410-8646-1699EF0EC745}" type="parTrans" cxnId="{8DA3AE43-4615-44FB-BDEB-9E835D925D76}">
      <dgm:prSet/>
      <dgm:spPr/>
      <dgm:t>
        <a:bodyPr/>
        <a:lstStyle/>
        <a:p>
          <a:endParaRPr lang="en-US"/>
        </a:p>
      </dgm:t>
    </dgm:pt>
    <dgm:pt modelId="{524C5196-0076-4838-8220-160A2DE1B82B}" type="sibTrans" cxnId="{8DA3AE43-4615-44FB-BDEB-9E835D925D76}">
      <dgm:prSet/>
      <dgm:spPr/>
      <dgm:t>
        <a:bodyPr/>
        <a:lstStyle/>
        <a:p>
          <a:endParaRPr lang="en-US"/>
        </a:p>
      </dgm:t>
    </dgm:pt>
    <dgm:pt modelId="{88F07981-D2DB-44E7-B1F1-D6C858C4448E}" type="pres">
      <dgm:prSet presAssocID="{59CB2BFE-1522-4325-959F-E6357707F476}" presName="vert0" presStyleCnt="0">
        <dgm:presLayoutVars>
          <dgm:dir/>
          <dgm:animOne val="branch"/>
          <dgm:animLvl val="lvl"/>
        </dgm:presLayoutVars>
      </dgm:prSet>
      <dgm:spPr/>
    </dgm:pt>
    <dgm:pt modelId="{13823878-305F-45C8-A3B4-80A53D84BD72}" type="pres">
      <dgm:prSet presAssocID="{CB05C98B-A035-478F-A221-0F1F8FBE455A}" presName="thickLine" presStyleLbl="alignNode1" presStyleIdx="0" presStyleCnt="1"/>
      <dgm:spPr/>
    </dgm:pt>
    <dgm:pt modelId="{BA226D32-72A8-45F4-AAC6-9E69913281A6}" type="pres">
      <dgm:prSet presAssocID="{CB05C98B-A035-478F-A221-0F1F8FBE455A}" presName="horz1" presStyleCnt="0"/>
      <dgm:spPr/>
    </dgm:pt>
    <dgm:pt modelId="{3621C0FB-89D9-4CD1-96CD-5F18260583A6}" type="pres">
      <dgm:prSet presAssocID="{CB05C98B-A035-478F-A221-0F1F8FBE455A}" presName="tx1" presStyleLbl="revTx" presStyleIdx="0" presStyleCnt="1"/>
      <dgm:spPr/>
    </dgm:pt>
    <dgm:pt modelId="{8F35E9A5-AB2A-4393-8DEC-45F69434C878}" type="pres">
      <dgm:prSet presAssocID="{CB05C98B-A035-478F-A221-0F1F8FBE455A}" presName="vert1" presStyleCnt="0"/>
      <dgm:spPr/>
    </dgm:pt>
  </dgm:ptLst>
  <dgm:cxnLst>
    <dgm:cxn modelId="{A0CA55BF-7002-44AC-BA4F-AF0AFC8D0DF5}" type="presOf" srcId="{59CB2BFE-1522-4325-959F-E6357707F476}" destId="{88F07981-D2DB-44E7-B1F1-D6C858C4448E}" srcOrd="0" destOrd="0" presId="urn:microsoft.com/office/officeart/2008/layout/LinedList"/>
    <dgm:cxn modelId="{30426D7B-CC2A-4832-99CA-3B0868E9921D}" type="presOf" srcId="{CB05C98B-A035-478F-A221-0F1F8FBE455A}" destId="{3621C0FB-89D9-4CD1-96CD-5F18260583A6}" srcOrd="0" destOrd="0" presId="urn:microsoft.com/office/officeart/2008/layout/LinedList"/>
    <dgm:cxn modelId="{8DA3AE43-4615-44FB-BDEB-9E835D925D76}" srcId="{59CB2BFE-1522-4325-959F-E6357707F476}" destId="{CB05C98B-A035-478F-A221-0F1F8FBE455A}" srcOrd="0" destOrd="0" parTransId="{84DD635A-61DE-4410-8646-1699EF0EC745}" sibTransId="{524C5196-0076-4838-8220-160A2DE1B82B}"/>
    <dgm:cxn modelId="{0016D6B4-17B3-4C66-A57D-44282BC4B6F8}" type="presParOf" srcId="{88F07981-D2DB-44E7-B1F1-D6C858C4448E}" destId="{13823878-305F-45C8-A3B4-80A53D84BD72}" srcOrd="0" destOrd="0" presId="urn:microsoft.com/office/officeart/2008/layout/LinedList"/>
    <dgm:cxn modelId="{5E6DA2D4-A793-478B-8352-5E4C7ED40D2F}" type="presParOf" srcId="{88F07981-D2DB-44E7-B1F1-D6C858C4448E}" destId="{BA226D32-72A8-45F4-AAC6-9E69913281A6}" srcOrd="1" destOrd="0" presId="urn:microsoft.com/office/officeart/2008/layout/LinedList"/>
    <dgm:cxn modelId="{654C70CB-384D-4F43-A8E3-BE46FC519B63}" type="presParOf" srcId="{BA226D32-72A8-45F4-AAC6-9E69913281A6}" destId="{3621C0FB-89D9-4CD1-96CD-5F18260583A6}" srcOrd="0" destOrd="0" presId="urn:microsoft.com/office/officeart/2008/layout/LinedList"/>
    <dgm:cxn modelId="{A2A2DAB3-B781-4EB7-B755-947B2C952228}" type="presParOf" srcId="{BA226D32-72A8-45F4-AAC6-9E69913281A6}" destId="{8F35E9A5-AB2A-4393-8DEC-45F69434C87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55988434-7CF2-4BFD-8A15-2877DD72B09A}"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EA4B5541-8A8B-4F7F-8A1D-2E2122F50A22}">
      <dgm:prSet/>
      <dgm:spPr/>
      <dgm:t>
        <a:bodyPr/>
        <a:lstStyle/>
        <a:p>
          <a:pPr rtl="0"/>
          <a:r>
            <a:rPr lang="en-US" b="1" dirty="0" smtClean="0"/>
            <a:t>Recommendations… Average Risk</a:t>
          </a:r>
          <a:endParaRPr lang="en-US" dirty="0"/>
        </a:p>
      </dgm:t>
    </dgm:pt>
    <dgm:pt modelId="{13D65073-4A39-4083-8C49-67754CE8E8A7}" type="parTrans" cxnId="{76257468-3BE1-4C7F-B8A2-B026F4127C4A}">
      <dgm:prSet/>
      <dgm:spPr/>
      <dgm:t>
        <a:bodyPr/>
        <a:lstStyle/>
        <a:p>
          <a:endParaRPr lang="en-US"/>
        </a:p>
      </dgm:t>
    </dgm:pt>
    <dgm:pt modelId="{6B3A43F5-A181-4C04-A01A-6A84C6EF6A28}" type="sibTrans" cxnId="{76257468-3BE1-4C7F-B8A2-B026F4127C4A}">
      <dgm:prSet/>
      <dgm:spPr/>
      <dgm:t>
        <a:bodyPr/>
        <a:lstStyle/>
        <a:p>
          <a:endParaRPr lang="en-US"/>
        </a:p>
      </dgm:t>
    </dgm:pt>
    <dgm:pt modelId="{4701A47B-8D7D-49EA-8416-1F1E0031A695}" type="pres">
      <dgm:prSet presAssocID="{55988434-7CF2-4BFD-8A15-2877DD72B09A}" presName="vert0" presStyleCnt="0">
        <dgm:presLayoutVars>
          <dgm:dir/>
          <dgm:animOne val="branch"/>
          <dgm:animLvl val="lvl"/>
        </dgm:presLayoutVars>
      </dgm:prSet>
      <dgm:spPr/>
    </dgm:pt>
    <dgm:pt modelId="{367E7D12-36E5-4D5F-B655-42876049BF3C}" type="pres">
      <dgm:prSet presAssocID="{EA4B5541-8A8B-4F7F-8A1D-2E2122F50A22}" presName="thickLine" presStyleLbl="alignNode1" presStyleIdx="0" presStyleCnt="1"/>
      <dgm:spPr/>
    </dgm:pt>
    <dgm:pt modelId="{0761B5F9-B53B-4534-8EFC-CC4DF261DD11}" type="pres">
      <dgm:prSet presAssocID="{EA4B5541-8A8B-4F7F-8A1D-2E2122F50A22}" presName="horz1" presStyleCnt="0"/>
      <dgm:spPr/>
    </dgm:pt>
    <dgm:pt modelId="{DAAC8EFA-EF8C-4BB6-A2B9-B19BC8923895}" type="pres">
      <dgm:prSet presAssocID="{EA4B5541-8A8B-4F7F-8A1D-2E2122F50A22}" presName="tx1" presStyleLbl="revTx" presStyleIdx="0" presStyleCnt="1"/>
      <dgm:spPr/>
    </dgm:pt>
    <dgm:pt modelId="{D89E098C-5355-43E0-838F-59809A9299B6}" type="pres">
      <dgm:prSet presAssocID="{EA4B5541-8A8B-4F7F-8A1D-2E2122F50A22}" presName="vert1" presStyleCnt="0"/>
      <dgm:spPr/>
    </dgm:pt>
  </dgm:ptLst>
  <dgm:cxnLst>
    <dgm:cxn modelId="{072AF55B-43DD-49CD-9314-87DC7F3A74D5}" type="presOf" srcId="{55988434-7CF2-4BFD-8A15-2877DD72B09A}" destId="{4701A47B-8D7D-49EA-8416-1F1E0031A695}" srcOrd="0" destOrd="0" presId="urn:microsoft.com/office/officeart/2008/layout/LinedList"/>
    <dgm:cxn modelId="{76257468-3BE1-4C7F-B8A2-B026F4127C4A}" srcId="{55988434-7CF2-4BFD-8A15-2877DD72B09A}" destId="{EA4B5541-8A8B-4F7F-8A1D-2E2122F50A22}" srcOrd="0" destOrd="0" parTransId="{13D65073-4A39-4083-8C49-67754CE8E8A7}" sibTransId="{6B3A43F5-A181-4C04-A01A-6A84C6EF6A28}"/>
    <dgm:cxn modelId="{13CB927C-7B7A-44DC-A0AD-4E4BA1E53FBB}" type="presOf" srcId="{EA4B5541-8A8B-4F7F-8A1D-2E2122F50A22}" destId="{DAAC8EFA-EF8C-4BB6-A2B9-B19BC8923895}" srcOrd="0" destOrd="0" presId="urn:microsoft.com/office/officeart/2008/layout/LinedList"/>
    <dgm:cxn modelId="{8F027B87-9C25-47DE-B82F-3CDB71BD8131}" type="presParOf" srcId="{4701A47B-8D7D-49EA-8416-1F1E0031A695}" destId="{367E7D12-36E5-4D5F-B655-42876049BF3C}" srcOrd="0" destOrd="0" presId="urn:microsoft.com/office/officeart/2008/layout/LinedList"/>
    <dgm:cxn modelId="{789277C7-1A38-4C89-9C14-228EF2B73E18}" type="presParOf" srcId="{4701A47B-8D7D-49EA-8416-1F1E0031A695}" destId="{0761B5F9-B53B-4534-8EFC-CC4DF261DD11}" srcOrd="1" destOrd="0" presId="urn:microsoft.com/office/officeart/2008/layout/LinedList"/>
    <dgm:cxn modelId="{DC429D47-0AFD-409F-9C74-DBA2FBC6E4BB}" type="presParOf" srcId="{0761B5F9-B53B-4534-8EFC-CC4DF261DD11}" destId="{DAAC8EFA-EF8C-4BB6-A2B9-B19BC8923895}" srcOrd="0" destOrd="0" presId="urn:microsoft.com/office/officeart/2008/layout/LinedList"/>
    <dgm:cxn modelId="{50B0D785-510E-4559-87B2-8EC638D94A27}" type="presParOf" srcId="{0761B5F9-B53B-4534-8EFC-CC4DF261DD11}" destId="{D89E098C-5355-43E0-838F-59809A9299B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979DBD86-B93A-4B27-9442-B128B2AE8FB9}"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3814AB5A-80D7-4B57-921B-303C52A38614}">
      <dgm:prSet/>
      <dgm:spPr/>
      <dgm:t>
        <a:bodyPr/>
        <a:lstStyle/>
        <a:p>
          <a:pPr rtl="0"/>
          <a:r>
            <a:rPr lang="en-US" b="1" dirty="0" smtClean="0"/>
            <a:t>Recommendations… High Risk</a:t>
          </a:r>
          <a:endParaRPr lang="en-US" dirty="0"/>
        </a:p>
      </dgm:t>
    </dgm:pt>
    <dgm:pt modelId="{9E2D03D9-4ED8-4C12-8971-A9DBE22E6145}" type="parTrans" cxnId="{B2DA9F04-6260-4E3F-85B9-96CC5345492F}">
      <dgm:prSet/>
      <dgm:spPr/>
      <dgm:t>
        <a:bodyPr/>
        <a:lstStyle/>
        <a:p>
          <a:endParaRPr lang="en-US"/>
        </a:p>
      </dgm:t>
    </dgm:pt>
    <dgm:pt modelId="{046DF3A3-D563-416B-97E3-0CE872D79A62}" type="sibTrans" cxnId="{B2DA9F04-6260-4E3F-85B9-96CC5345492F}">
      <dgm:prSet/>
      <dgm:spPr/>
      <dgm:t>
        <a:bodyPr/>
        <a:lstStyle/>
        <a:p>
          <a:endParaRPr lang="en-US"/>
        </a:p>
      </dgm:t>
    </dgm:pt>
    <dgm:pt modelId="{54792553-3D12-42B5-AE3A-11C452940DF7}" type="pres">
      <dgm:prSet presAssocID="{979DBD86-B93A-4B27-9442-B128B2AE8FB9}" presName="vert0" presStyleCnt="0">
        <dgm:presLayoutVars>
          <dgm:dir/>
          <dgm:animOne val="branch"/>
          <dgm:animLvl val="lvl"/>
        </dgm:presLayoutVars>
      </dgm:prSet>
      <dgm:spPr/>
    </dgm:pt>
    <dgm:pt modelId="{B5DE6C7D-CFB4-49BA-BE87-CCDAA452A1BB}" type="pres">
      <dgm:prSet presAssocID="{3814AB5A-80D7-4B57-921B-303C52A38614}" presName="thickLine" presStyleLbl="alignNode1" presStyleIdx="0" presStyleCnt="1"/>
      <dgm:spPr/>
    </dgm:pt>
    <dgm:pt modelId="{A2E53D4A-A5AA-445A-BF1C-922BE16370D4}" type="pres">
      <dgm:prSet presAssocID="{3814AB5A-80D7-4B57-921B-303C52A38614}" presName="horz1" presStyleCnt="0"/>
      <dgm:spPr/>
    </dgm:pt>
    <dgm:pt modelId="{A734B8A2-AB6F-4FA1-8401-07C2822BA00D}" type="pres">
      <dgm:prSet presAssocID="{3814AB5A-80D7-4B57-921B-303C52A38614}" presName="tx1" presStyleLbl="revTx" presStyleIdx="0" presStyleCnt="1"/>
      <dgm:spPr/>
    </dgm:pt>
    <dgm:pt modelId="{039788A3-5C93-4F93-A8E2-6ABA416EBF49}" type="pres">
      <dgm:prSet presAssocID="{3814AB5A-80D7-4B57-921B-303C52A38614}" presName="vert1" presStyleCnt="0"/>
      <dgm:spPr/>
    </dgm:pt>
  </dgm:ptLst>
  <dgm:cxnLst>
    <dgm:cxn modelId="{B2DA9F04-6260-4E3F-85B9-96CC5345492F}" srcId="{979DBD86-B93A-4B27-9442-B128B2AE8FB9}" destId="{3814AB5A-80D7-4B57-921B-303C52A38614}" srcOrd="0" destOrd="0" parTransId="{9E2D03D9-4ED8-4C12-8971-A9DBE22E6145}" sibTransId="{046DF3A3-D563-416B-97E3-0CE872D79A62}"/>
    <dgm:cxn modelId="{32D80C65-DCE4-4A11-89B2-D09E59E3CF46}" type="presOf" srcId="{3814AB5A-80D7-4B57-921B-303C52A38614}" destId="{A734B8A2-AB6F-4FA1-8401-07C2822BA00D}" srcOrd="0" destOrd="0" presId="urn:microsoft.com/office/officeart/2008/layout/LinedList"/>
    <dgm:cxn modelId="{630D2B78-022D-45E9-B963-8B6C82AC1E13}" type="presOf" srcId="{979DBD86-B93A-4B27-9442-B128B2AE8FB9}" destId="{54792553-3D12-42B5-AE3A-11C452940DF7}" srcOrd="0" destOrd="0" presId="urn:microsoft.com/office/officeart/2008/layout/LinedList"/>
    <dgm:cxn modelId="{136781FB-D910-4FF5-817F-8EEE4483C3A6}" type="presParOf" srcId="{54792553-3D12-42B5-AE3A-11C452940DF7}" destId="{B5DE6C7D-CFB4-49BA-BE87-CCDAA452A1BB}" srcOrd="0" destOrd="0" presId="urn:microsoft.com/office/officeart/2008/layout/LinedList"/>
    <dgm:cxn modelId="{3028E9B2-D791-49A9-BCB2-357A6F914F56}" type="presParOf" srcId="{54792553-3D12-42B5-AE3A-11C452940DF7}" destId="{A2E53D4A-A5AA-445A-BF1C-922BE16370D4}" srcOrd="1" destOrd="0" presId="urn:microsoft.com/office/officeart/2008/layout/LinedList"/>
    <dgm:cxn modelId="{9FE27590-FEDE-4228-8D02-0B7DDA3736E2}" type="presParOf" srcId="{A2E53D4A-A5AA-445A-BF1C-922BE16370D4}" destId="{A734B8A2-AB6F-4FA1-8401-07C2822BA00D}" srcOrd="0" destOrd="0" presId="urn:microsoft.com/office/officeart/2008/layout/LinedList"/>
    <dgm:cxn modelId="{025C17D8-35DB-481D-88ED-411D93047B2F}" type="presParOf" srcId="{A2E53D4A-A5AA-445A-BF1C-922BE16370D4}" destId="{039788A3-5C93-4F93-A8E2-6ABA416EBF4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F3C584C3-6748-4746-AAFF-88E992D5FD90}" type="doc">
      <dgm:prSet loTypeId="urn:microsoft.com/office/officeart/2005/8/layout/target3" loCatId="list" qsTypeId="urn:microsoft.com/office/officeart/2005/8/quickstyle/simple1" qsCatId="simple" csTypeId="urn:microsoft.com/office/officeart/2005/8/colors/accent1_2" csCatId="accent1"/>
      <dgm:spPr/>
      <dgm:t>
        <a:bodyPr/>
        <a:lstStyle/>
        <a:p>
          <a:endParaRPr lang="en-US"/>
        </a:p>
      </dgm:t>
    </dgm:pt>
    <dgm:pt modelId="{AB6A44BA-A90D-4552-B710-7982E49B21DD}">
      <dgm:prSet/>
      <dgm:spPr/>
      <dgm:t>
        <a:bodyPr/>
        <a:lstStyle/>
        <a:p>
          <a:pPr rtl="0"/>
          <a:r>
            <a:rPr lang="en-US" b="1" dirty="0" smtClean="0"/>
            <a:t>Chemo-Prevention</a:t>
          </a:r>
          <a:endParaRPr lang="en-US" dirty="0"/>
        </a:p>
      </dgm:t>
    </dgm:pt>
    <dgm:pt modelId="{779D00AC-2713-4ADF-962B-D16AACC70C4C}" type="parTrans" cxnId="{FEECC1BA-407F-46E1-9B8C-27539D04E736}">
      <dgm:prSet/>
      <dgm:spPr/>
      <dgm:t>
        <a:bodyPr/>
        <a:lstStyle/>
        <a:p>
          <a:endParaRPr lang="en-US"/>
        </a:p>
      </dgm:t>
    </dgm:pt>
    <dgm:pt modelId="{9F24AE30-4A8C-4DD2-8159-7CF556413F51}" type="sibTrans" cxnId="{FEECC1BA-407F-46E1-9B8C-27539D04E736}">
      <dgm:prSet/>
      <dgm:spPr/>
      <dgm:t>
        <a:bodyPr/>
        <a:lstStyle/>
        <a:p>
          <a:endParaRPr lang="en-US"/>
        </a:p>
      </dgm:t>
    </dgm:pt>
    <dgm:pt modelId="{19403675-56B0-4697-A00F-F4242B3450A9}" type="pres">
      <dgm:prSet presAssocID="{F3C584C3-6748-4746-AAFF-88E992D5FD90}" presName="Name0" presStyleCnt="0">
        <dgm:presLayoutVars>
          <dgm:chMax val="7"/>
          <dgm:dir/>
          <dgm:animLvl val="lvl"/>
          <dgm:resizeHandles val="exact"/>
        </dgm:presLayoutVars>
      </dgm:prSet>
      <dgm:spPr/>
    </dgm:pt>
    <dgm:pt modelId="{FAE52431-2ACF-4B13-A060-C48BBC822D8A}" type="pres">
      <dgm:prSet presAssocID="{AB6A44BA-A90D-4552-B710-7982E49B21DD}" presName="circle1" presStyleLbl="node1" presStyleIdx="0" presStyleCnt="1"/>
      <dgm:spPr/>
    </dgm:pt>
    <dgm:pt modelId="{C1C7B781-5586-48E7-8AAF-9130B568EF9E}" type="pres">
      <dgm:prSet presAssocID="{AB6A44BA-A90D-4552-B710-7982E49B21DD}" presName="space" presStyleCnt="0"/>
      <dgm:spPr/>
    </dgm:pt>
    <dgm:pt modelId="{A7AC8D97-3087-4697-A1EF-670707428C3B}" type="pres">
      <dgm:prSet presAssocID="{AB6A44BA-A90D-4552-B710-7982E49B21DD}" presName="rect1" presStyleLbl="alignAcc1" presStyleIdx="0" presStyleCnt="1"/>
      <dgm:spPr/>
    </dgm:pt>
    <dgm:pt modelId="{08190FEE-761D-4166-A961-C555CBB22BA8}" type="pres">
      <dgm:prSet presAssocID="{AB6A44BA-A90D-4552-B710-7982E49B21DD}" presName="rect1ParTxNoCh" presStyleLbl="alignAcc1" presStyleIdx="0" presStyleCnt="1">
        <dgm:presLayoutVars>
          <dgm:chMax val="1"/>
          <dgm:bulletEnabled val="1"/>
        </dgm:presLayoutVars>
      </dgm:prSet>
      <dgm:spPr/>
    </dgm:pt>
  </dgm:ptLst>
  <dgm:cxnLst>
    <dgm:cxn modelId="{FC069017-FE65-45F6-AC46-0CF9EF703CAE}" type="presOf" srcId="{AB6A44BA-A90D-4552-B710-7982E49B21DD}" destId="{A7AC8D97-3087-4697-A1EF-670707428C3B}" srcOrd="0" destOrd="0" presId="urn:microsoft.com/office/officeart/2005/8/layout/target3"/>
    <dgm:cxn modelId="{FEECC1BA-407F-46E1-9B8C-27539D04E736}" srcId="{F3C584C3-6748-4746-AAFF-88E992D5FD90}" destId="{AB6A44BA-A90D-4552-B710-7982E49B21DD}" srcOrd="0" destOrd="0" parTransId="{779D00AC-2713-4ADF-962B-D16AACC70C4C}" sibTransId="{9F24AE30-4A8C-4DD2-8159-7CF556413F51}"/>
    <dgm:cxn modelId="{397CEFC7-D4AB-4ADB-A13B-8D3676A5A726}" type="presOf" srcId="{F3C584C3-6748-4746-AAFF-88E992D5FD90}" destId="{19403675-56B0-4697-A00F-F4242B3450A9}" srcOrd="0" destOrd="0" presId="urn:microsoft.com/office/officeart/2005/8/layout/target3"/>
    <dgm:cxn modelId="{3DF05F17-FDAD-407C-956B-44DA2CA03197}" type="presOf" srcId="{AB6A44BA-A90D-4552-B710-7982E49B21DD}" destId="{08190FEE-761D-4166-A961-C555CBB22BA8}" srcOrd="1" destOrd="0" presId="urn:microsoft.com/office/officeart/2005/8/layout/target3"/>
    <dgm:cxn modelId="{9034605C-11BB-427F-8335-77F72398DE7C}" type="presParOf" srcId="{19403675-56B0-4697-A00F-F4242B3450A9}" destId="{FAE52431-2ACF-4B13-A060-C48BBC822D8A}" srcOrd="0" destOrd="0" presId="urn:microsoft.com/office/officeart/2005/8/layout/target3"/>
    <dgm:cxn modelId="{ADDD1E21-9CC1-481A-8539-2F868F813FA0}" type="presParOf" srcId="{19403675-56B0-4697-A00F-F4242B3450A9}" destId="{C1C7B781-5586-48E7-8AAF-9130B568EF9E}" srcOrd="1" destOrd="0" presId="urn:microsoft.com/office/officeart/2005/8/layout/target3"/>
    <dgm:cxn modelId="{72B0C204-F1D4-4EF0-8146-51B344DBF4AE}" type="presParOf" srcId="{19403675-56B0-4697-A00F-F4242B3450A9}" destId="{A7AC8D97-3087-4697-A1EF-670707428C3B}" srcOrd="2" destOrd="0" presId="urn:microsoft.com/office/officeart/2005/8/layout/target3"/>
    <dgm:cxn modelId="{160C4B55-3BBD-4F7B-8E75-8CD418C466C4}" type="presParOf" srcId="{19403675-56B0-4697-A00F-F4242B3450A9}" destId="{08190FEE-761D-4166-A961-C555CBB22BA8}"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F1DE5913-E343-4454-8C72-A0E3085B31ED}" type="doc">
      <dgm:prSet loTypeId="urn:microsoft.com/office/officeart/2005/8/layout/target3" loCatId="list" qsTypeId="urn:microsoft.com/office/officeart/2005/8/quickstyle/simple1" qsCatId="simple" csTypeId="urn:microsoft.com/office/officeart/2005/8/colors/accent1_2" csCatId="accent1"/>
      <dgm:spPr/>
      <dgm:t>
        <a:bodyPr/>
        <a:lstStyle/>
        <a:p>
          <a:endParaRPr lang="en-US"/>
        </a:p>
      </dgm:t>
    </dgm:pt>
    <dgm:pt modelId="{9AEADEA3-D827-4BE7-8F1E-1F6785FE14E5}">
      <dgm:prSet/>
      <dgm:spPr/>
      <dgm:t>
        <a:bodyPr/>
        <a:lstStyle/>
        <a:p>
          <a:pPr rtl="0"/>
          <a:r>
            <a:rPr lang="en-US" b="1" dirty="0" smtClean="0"/>
            <a:t>Risk-Reducing Surgery</a:t>
          </a:r>
          <a:endParaRPr lang="en-US" dirty="0"/>
        </a:p>
      </dgm:t>
    </dgm:pt>
    <dgm:pt modelId="{B4335E10-9F24-46C9-85BA-0463A00F2545}" type="parTrans" cxnId="{3E305995-9ADB-4460-BB14-18BB9F5ACB05}">
      <dgm:prSet/>
      <dgm:spPr/>
      <dgm:t>
        <a:bodyPr/>
        <a:lstStyle/>
        <a:p>
          <a:endParaRPr lang="en-US"/>
        </a:p>
      </dgm:t>
    </dgm:pt>
    <dgm:pt modelId="{8B4A1179-576A-4122-96A9-3FBBAAF63ED4}" type="sibTrans" cxnId="{3E305995-9ADB-4460-BB14-18BB9F5ACB05}">
      <dgm:prSet/>
      <dgm:spPr/>
      <dgm:t>
        <a:bodyPr/>
        <a:lstStyle/>
        <a:p>
          <a:endParaRPr lang="en-US"/>
        </a:p>
      </dgm:t>
    </dgm:pt>
    <dgm:pt modelId="{0B5292F1-6E0A-4E29-9773-E7C550CC379E}" type="pres">
      <dgm:prSet presAssocID="{F1DE5913-E343-4454-8C72-A0E3085B31ED}" presName="Name0" presStyleCnt="0">
        <dgm:presLayoutVars>
          <dgm:chMax val="7"/>
          <dgm:dir/>
          <dgm:animLvl val="lvl"/>
          <dgm:resizeHandles val="exact"/>
        </dgm:presLayoutVars>
      </dgm:prSet>
      <dgm:spPr/>
    </dgm:pt>
    <dgm:pt modelId="{296D492F-8670-4606-A6E6-20919336EBE0}" type="pres">
      <dgm:prSet presAssocID="{9AEADEA3-D827-4BE7-8F1E-1F6785FE14E5}" presName="circle1" presStyleLbl="node1" presStyleIdx="0" presStyleCnt="1"/>
      <dgm:spPr/>
    </dgm:pt>
    <dgm:pt modelId="{12F42CD6-A731-4E5F-88BB-34137F8D65EA}" type="pres">
      <dgm:prSet presAssocID="{9AEADEA3-D827-4BE7-8F1E-1F6785FE14E5}" presName="space" presStyleCnt="0"/>
      <dgm:spPr/>
    </dgm:pt>
    <dgm:pt modelId="{D7D5E0B5-0591-4245-9D2D-CDF1CE3D6CDE}" type="pres">
      <dgm:prSet presAssocID="{9AEADEA3-D827-4BE7-8F1E-1F6785FE14E5}" presName="rect1" presStyleLbl="alignAcc1" presStyleIdx="0" presStyleCnt="1"/>
      <dgm:spPr/>
    </dgm:pt>
    <dgm:pt modelId="{00755C04-557A-40AD-94C2-712089A8D324}" type="pres">
      <dgm:prSet presAssocID="{9AEADEA3-D827-4BE7-8F1E-1F6785FE14E5}" presName="rect1ParTxNoCh" presStyleLbl="alignAcc1" presStyleIdx="0" presStyleCnt="1">
        <dgm:presLayoutVars>
          <dgm:chMax val="1"/>
          <dgm:bulletEnabled val="1"/>
        </dgm:presLayoutVars>
      </dgm:prSet>
      <dgm:spPr/>
    </dgm:pt>
  </dgm:ptLst>
  <dgm:cxnLst>
    <dgm:cxn modelId="{A3DCC0B7-0168-40D4-BF9F-28D3EAD52E0D}" type="presOf" srcId="{9AEADEA3-D827-4BE7-8F1E-1F6785FE14E5}" destId="{00755C04-557A-40AD-94C2-712089A8D324}" srcOrd="1" destOrd="0" presId="urn:microsoft.com/office/officeart/2005/8/layout/target3"/>
    <dgm:cxn modelId="{340CA387-57FC-4CAF-B67A-2DB45AD08291}" type="presOf" srcId="{F1DE5913-E343-4454-8C72-A0E3085B31ED}" destId="{0B5292F1-6E0A-4E29-9773-E7C550CC379E}" srcOrd="0" destOrd="0" presId="urn:microsoft.com/office/officeart/2005/8/layout/target3"/>
    <dgm:cxn modelId="{3E305995-9ADB-4460-BB14-18BB9F5ACB05}" srcId="{F1DE5913-E343-4454-8C72-A0E3085B31ED}" destId="{9AEADEA3-D827-4BE7-8F1E-1F6785FE14E5}" srcOrd="0" destOrd="0" parTransId="{B4335E10-9F24-46C9-85BA-0463A00F2545}" sibTransId="{8B4A1179-576A-4122-96A9-3FBBAAF63ED4}"/>
    <dgm:cxn modelId="{195763D7-82E0-4698-9D9A-F59A79D56DA6}" type="presOf" srcId="{9AEADEA3-D827-4BE7-8F1E-1F6785FE14E5}" destId="{D7D5E0B5-0591-4245-9D2D-CDF1CE3D6CDE}" srcOrd="0" destOrd="0" presId="urn:microsoft.com/office/officeart/2005/8/layout/target3"/>
    <dgm:cxn modelId="{E9CB4CC9-7D69-48F3-B20C-D5443B6090B9}" type="presParOf" srcId="{0B5292F1-6E0A-4E29-9773-E7C550CC379E}" destId="{296D492F-8670-4606-A6E6-20919336EBE0}" srcOrd="0" destOrd="0" presId="urn:microsoft.com/office/officeart/2005/8/layout/target3"/>
    <dgm:cxn modelId="{BD5000AE-EF65-4E8E-9F21-FB7C4777D643}" type="presParOf" srcId="{0B5292F1-6E0A-4E29-9773-E7C550CC379E}" destId="{12F42CD6-A731-4E5F-88BB-34137F8D65EA}" srcOrd="1" destOrd="0" presId="urn:microsoft.com/office/officeart/2005/8/layout/target3"/>
    <dgm:cxn modelId="{08A88065-718D-4C34-A817-D097526D5728}" type="presParOf" srcId="{0B5292F1-6E0A-4E29-9773-E7C550CC379E}" destId="{D7D5E0B5-0591-4245-9D2D-CDF1CE3D6CDE}" srcOrd="2" destOrd="0" presId="urn:microsoft.com/office/officeart/2005/8/layout/target3"/>
    <dgm:cxn modelId="{35C6E66F-2299-4BF9-ADF7-35B52C110501}" type="presParOf" srcId="{0B5292F1-6E0A-4E29-9773-E7C550CC379E}" destId="{00755C04-557A-40AD-94C2-712089A8D324}"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1EB81813-CE78-4F0A-AF59-308A5EB5830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291B0651-F03B-489F-BF04-41C545F0789C}">
      <dgm:prSet/>
      <dgm:spPr/>
      <dgm:t>
        <a:bodyPr/>
        <a:lstStyle/>
        <a:p>
          <a:pPr rtl="0"/>
          <a:r>
            <a:rPr lang="en-US" b="1" smtClean="0"/>
            <a:t>BRCA Associated Cancers</a:t>
          </a:r>
          <a:endParaRPr lang="en-US"/>
        </a:p>
      </dgm:t>
    </dgm:pt>
    <dgm:pt modelId="{AA7397DF-C2A1-41A6-9926-201039479B73}" type="parTrans" cxnId="{ED37122B-525B-40E0-B660-D119BAAE7DBE}">
      <dgm:prSet/>
      <dgm:spPr/>
      <dgm:t>
        <a:bodyPr/>
        <a:lstStyle/>
        <a:p>
          <a:endParaRPr lang="en-US"/>
        </a:p>
      </dgm:t>
    </dgm:pt>
    <dgm:pt modelId="{3A870B6F-B783-47E6-9199-184AE2935CF1}" type="sibTrans" cxnId="{ED37122B-525B-40E0-B660-D119BAAE7DBE}">
      <dgm:prSet/>
      <dgm:spPr/>
      <dgm:t>
        <a:bodyPr/>
        <a:lstStyle/>
        <a:p>
          <a:endParaRPr lang="en-US"/>
        </a:p>
      </dgm:t>
    </dgm:pt>
    <dgm:pt modelId="{B2794B02-1A94-481C-B282-5479F16A2AFF}" type="pres">
      <dgm:prSet presAssocID="{1EB81813-CE78-4F0A-AF59-308A5EB58304}" presName="linear" presStyleCnt="0">
        <dgm:presLayoutVars>
          <dgm:animLvl val="lvl"/>
          <dgm:resizeHandles val="exact"/>
        </dgm:presLayoutVars>
      </dgm:prSet>
      <dgm:spPr/>
    </dgm:pt>
    <dgm:pt modelId="{BB07BA39-7A4B-4F0D-9247-6726BA833DC9}" type="pres">
      <dgm:prSet presAssocID="{291B0651-F03B-489F-BF04-41C545F0789C}" presName="parentText" presStyleLbl="node1" presStyleIdx="0" presStyleCnt="1">
        <dgm:presLayoutVars>
          <dgm:chMax val="0"/>
          <dgm:bulletEnabled val="1"/>
        </dgm:presLayoutVars>
      </dgm:prSet>
      <dgm:spPr/>
    </dgm:pt>
  </dgm:ptLst>
  <dgm:cxnLst>
    <dgm:cxn modelId="{ED37122B-525B-40E0-B660-D119BAAE7DBE}" srcId="{1EB81813-CE78-4F0A-AF59-308A5EB58304}" destId="{291B0651-F03B-489F-BF04-41C545F0789C}" srcOrd="0" destOrd="0" parTransId="{AA7397DF-C2A1-41A6-9926-201039479B73}" sibTransId="{3A870B6F-B783-47E6-9199-184AE2935CF1}"/>
    <dgm:cxn modelId="{90310BF3-7EF3-4D36-BC92-31E037416E48}" type="presOf" srcId="{291B0651-F03B-489F-BF04-41C545F0789C}" destId="{BB07BA39-7A4B-4F0D-9247-6726BA833DC9}" srcOrd="0" destOrd="0" presId="urn:microsoft.com/office/officeart/2005/8/layout/vList2"/>
    <dgm:cxn modelId="{8BEDF0A1-4930-4023-AA0E-D944EDB54C85}" type="presOf" srcId="{1EB81813-CE78-4F0A-AF59-308A5EB58304}" destId="{B2794B02-1A94-481C-B282-5479F16A2AFF}" srcOrd="0" destOrd="0" presId="urn:microsoft.com/office/officeart/2005/8/layout/vList2"/>
    <dgm:cxn modelId="{E6FB0A95-29E1-4971-AB87-589F71AC0B45}" type="presParOf" srcId="{B2794B02-1A94-481C-B282-5479F16A2AFF}" destId="{BB07BA39-7A4B-4F0D-9247-6726BA833DC9}"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6B9120DF-364B-410E-AD23-200DEA62BEB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E01DF270-1316-42C4-995E-05B48087E271}">
      <dgm:prSet/>
      <dgm:spPr/>
      <dgm:t>
        <a:bodyPr/>
        <a:lstStyle/>
        <a:p>
          <a:pPr rtl="0"/>
          <a:r>
            <a:rPr lang="en-US" b="1" smtClean="0"/>
            <a:t>Natural History of Breast Cancer</a:t>
          </a:r>
          <a:endParaRPr lang="en-US"/>
        </a:p>
      </dgm:t>
    </dgm:pt>
    <dgm:pt modelId="{C62D53B2-3F4E-4703-AC66-893F88DA9AAC}" type="parTrans" cxnId="{A3142B30-F154-42BF-9D69-28054EF1C920}">
      <dgm:prSet/>
      <dgm:spPr/>
      <dgm:t>
        <a:bodyPr/>
        <a:lstStyle/>
        <a:p>
          <a:endParaRPr lang="en-US"/>
        </a:p>
      </dgm:t>
    </dgm:pt>
    <dgm:pt modelId="{4A9FDEAB-7383-45C0-8455-B559798AF849}" type="sibTrans" cxnId="{A3142B30-F154-42BF-9D69-28054EF1C920}">
      <dgm:prSet/>
      <dgm:spPr/>
      <dgm:t>
        <a:bodyPr/>
        <a:lstStyle/>
        <a:p>
          <a:endParaRPr lang="en-US"/>
        </a:p>
      </dgm:t>
    </dgm:pt>
    <dgm:pt modelId="{A85CF992-FA63-4840-A4E6-1F8A64D33377}" type="pres">
      <dgm:prSet presAssocID="{6B9120DF-364B-410E-AD23-200DEA62BEB4}" presName="linear" presStyleCnt="0">
        <dgm:presLayoutVars>
          <dgm:animLvl val="lvl"/>
          <dgm:resizeHandles val="exact"/>
        </dgm:presLayoutVars>
      </dgm:prSet>
      <dgm:spPr/>
    </dgm:pt>
    <dgm:pt modelId="{CAFE4013-6398-46F3-8BD3-768B9B219E8D}" type="pres">
      <dgm:prSet presAssocID="{E01DF270-1316-42C4-995E-05B48087E271}" presName="parentText" presStyleLbl="node1" presStyleIdx="0" presStyleCnt="1">
        <dgm:presLayoutVars>
          <dgm:chMax val="0"/>
          <dgm:bulletEnabled val="1"/>
        </dgm:presLayoutVars>
      </dgm:prSet>
      <dgm:spPr/>
    </dgm:pt>
  </dgm:ptLst>
  <dgm:cxnLst>
    <dgm:cxn modelId="{A3142B30-F154-42BF-9D69-28054EF1C920}" srcId="{6B9120DF-364B-410E-AD23-200DEA62BEB4}" destId="{E01DF270-1316-42C4-995E-05B48087E271}" srcOrd="0" destOrd="0" parTransId="{C62D53B2-3F4E-4703-AC66-893F88DA9AAC}" sibTransId="{4A9FDEAB-7383-45C0-8455-B559798AF849}"/>
    <dgm:cxn modelId="{4DFCEC58-AA2B-4A08-B1FD-CB0ECBA094C3}" type="presOf" srcId="{6B9120DF-364B-410E-AD23-200DEA62BEB4}" destId="{A85CF992-FA63-4840-A4E6-1F8A64D33377}" srcOrd="0" destOrd="0" presId="urn:microsoft.com/office/officeart/2005/8/layout/vList2"/>
    <dgm:cxn modelId="{9DD17774-6346-4344-85DC-9505DEA027BE}" type="presOf" srcId="{E01DF270-1316-42C4-995E-05B48087E271}" destId="{CAFE4013-6398-46F3-8BD3-768B9B219E8D}" srcOrd="0" destOrd="0" presId="urn:microsoft.com/office/officeart/2005/8/layout/vList2"/>
    <dgm:cxn modelId="{219FBBAE-D51D-495C-812F-4738FD951664}" type="presParOf" srcId="{A85CF992-FA63-4840-A4E6-1F8A64D33377}" destId="{CAFE4013-6398-46F3-8BD3-768B9B219E8D}"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378AB518-5DBF-430E-BB42-E6D01E522736}"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AC915D2F-1E4E-4AB3-9D2D-4E8DF7016420}">
      <dgm:prSet/>
      <dgm:spPr/>
      <dgm:t>
        <a:bodyPr/>
        <a:lstStyle/>
        <a:p>
          <a:pPr rtl="0"/>
          <a:r>
            <a:rPr lang="en-US" b="1" smtClean="0"/>
            <a:t>Natural History…</a:t>
          </a:r>
          <a:endParaRPr lang="en-US"/>
        </a:p>
      </dgm:t>
    </dgm:pt>
    <dgm:pt modelId="{2FF98717-0ADF-4104-9D4A-C86E25DC2029}" type="parTrans" cxnId="{4F59EF96-C9B8-4D25-9FC9-B8661BDF801E}">
      <dgm:prSet/>
      <dgm:spPr/>
      <dgm:t>
        <a:bodyPr/>
        <a:lstStyle/>
        <a:p>
          <a:endParaRPr lang="en-US"/>
        </a:p>
      </dgm:t>
    </dgm:pt>
    <dgm:pt modelId="{BF50ABC7-33BB-4228-9015-1005B4CCD276}" type="sibTrans" cxnId="{4F59EF96-C9B8-4D25-9FC9-B8661BDF801E}">
      <dgm:prSet/>
      <dgm:spPr/>
      <dgm:t>
        <a:bodyPr/>
        <a:lstStyle/>
        <a:p>
          <a:endParaRPr lang="en-US"/>
        </a:p>
      </dgm:t>
    </dgm:pt>
    <dgm:pt modelId="{FDB4A051-3096-4D8C-816C-429C18AEE33E}" type="pres">
      <dgm:prSet presAssocID="{378AB518-5DBF-430E-BB42-E6D01E522736}" presName="vert0" presStyleCnt="0">
        <dgm:presLayoutVars>
          <dgm:dir/>
          <dgm:animOne val="branch"/>
          <dgm:animLvl val="lvl"/>
        </dgm:presLayoutVars>
      </dgm:prSet>
      <dgm:spPr/>
    </dgm:pt>
    <dgm:pt modelId="{BD7D4687-33B1-43D7-AB0E-AFCDB6041D9B}" type="pres">
      <dgm:prSet presAssocID="{AC915D2F-1E4E-4AB3-9D2D-4E8DF7016420}" presName="thickLine" presStyleLbl="alignNode1" presStyleIdx="0" presStyleCnt="1"/>
      <dgm:spPr/>
    </dgm:pt>
    <dgm:pt modelId="{B8015BDC-4357-46C6-BAF7-4C95E6F6BAA4}" type="pres">
      <dgm:prSet presAssocID="{AC915D2F-1E4E-4AB3-9D2D-4E8DF7016420}" presName="horz1" presStyleCnt="0"/>
      <dgm:spPr/>
    </dgm:pt>
    <dgm:pt modelId="{AD71A34D-82CE-4331-96D7-B2CCFFE61C78}" type="pres">
      <dgm:prSet presAssocID="{AC915D2F-1E4E-4AB3-9D2D-4E8DF7016420}" presName="tx1" presStyleLbl="revTx" presStyleIdx="0" presStyleCnt="1"/>
      <dgm:spPr/>
    </dgm:pt>
    <dgm:pt modelId="{4BA50AD6-74E7-4C94-9BC4-F62E2CAA1398}" type="pres">
      <dgm:prSet presAssocID="{AC915D2F-1E4E-4AB3-9D2D-4E8DF7016420}" presName="vert1" presStyleCnt="0"/>
      <dgm:spPr/>
    </dgm:pt>
  </dgm:ptLst>
  <dgm:cxnLst>
    <dgm:cxn modelId="{2016F64D-ED5D-49AE-A640-5457A90854EE}" type="presOf" srcId="{378AB518-5DBF-430E-BB42-E6D01E522736}" destId="{FDB4A051-3096-4D8C-816C-429C18AEE33E}" srcOrd="0" destOrd="0" presId="urn:microsoft.com/office/officeart/2008/layout/LinedList"/>
    <dgm:cxn modelId="{4F59EF96-C9B8-4D25-9FC9-B8661BDF801E}" srcId="{378AB518-5DBF-430E-BB42-E6D01E522736}" destId="{AC915D2F-1E4E-4AB3-9D2D-4E8DF7016420}" srcOrd="0" destOrd="0" parTransId="{2FF98717-0ADF-4104-9D4A-C86E25DC2029}" sibTransId="{BF50ABC7-33BB-4228-9015-1005B4CCD276}"/>
    <dgm:cxn modelId="{DD8977CB-6520-4488-BD8A-E3C172B0C9AF}" type="presOf" srcId="{AC915D2F-1E4E-4AB3-9D2D-4E8DF7016420}" destId="{AD71A34D-82CE-4331-96D7-B2CCFFE61C78}" srcOrd="0" destOrd="0" presId="urn:microsoft.com/office/officeart/2008/layout/LinedList"/>
    <dgm:cxn modelId="{E8F09CD7-B9E5-42B8-AAF3-5B057A7DF7AC}" type="presParOf" srcId="{FDB4A051-3096-4D8C-816C-429C18AEE33E}" destId="{BD7D4687-33B1-43D7-AB0E-AFCDB6041D9B}" srcOrd="0" destOrd="0" presId="urn:microsoft.com/office/officeart/2008/layout/LinedList"/>
    <dgm:cxn modelId="{5AB68725-7423-40AA-8F6F-E34385978708}" type="presParOf" srcId="{FDB4A051-3096-4D8C-816C-429C18AEE33E}" destId="{B8015BDC-4357-46C6-BAF7-4C95E6F6BAA4}" srcOrd="1" destOrd="0" presId="urn:microsoft.com/office/officeart/2008/layout/LinedList"/>
    <dgm:cxn modelId="{C189D9D3-8039-436A-93C6-B63112A6CD98}" type="presParOf" srcId="{B8015BDC-4357-46C6-BAF7-4C95E6F6BAA4}" destId="{AD71A34D-82CE-4331-96D7-B2CCFFE61C78}" srcOrd="0" destOrd="0" presId="urn:microsoft.com/office/officeart/2008/layout/LinedList"/>
    <dgm:cxn modelId="{821B0C90-7CBC-47BA-BE33-7E27F92C7F62}" type="presParOf" srcId="{B8015BDC-4357-46C6-BAF7-4C95E6F6BAA4}" destId="{4BA50AD6-74E7-4C94-9BC4-F62E2CAA139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A3E05BA6-ACF0-4558-9D63-2FAA16022AD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B09F0FB-5D91-4E6E-8E92-6F1F81B631AA}">
      <dgm:prSet/>
      <dgm:spPr/>
      <dgm:t>
        <a:bodyPr/>
        <a:lstStyle/>
        <a:p>
          <a:pPr rtl="0"/>
          <a:r>
            <a:rPr lang="en-US" b="1" smtClean="0"/>
            <a:t>Histopathology of Breast Cancer</a:t>
          </a:r>
          <a:endParaRPr lang="en-US"/>
        </a:p>
      </dgm:t>
    </dgm:pt>
    <dgm:pt modelId="{B3B23D03-F36A-4149-B412-9F981D5997BA}" type="parTrans" cxnId="{B780E4DC-245B-4C82-97D0-C4D64B80E48D}">
      <dgm:prSet/>
      <dgm:spPr/>
      <dgm:t>
        <a:bodyPr/>
        <a:lstStyle/>
        <a:p>
          <a:endParaRPr lang="en-US"/>
        </a:p>
      </dgm:t>
    </dgm:pt>
    <dgm:pt modelId="{C0C1878D-C95D-417A-BBE1-D238AF1059F1}" type="sibTrans" cxnId="{B780E4DC-245B-4C82-97D0-C4D64B80E48D}">
      <dgm:prSet/>
      <dgm:spPr/>
      <dgm:t>
        <a:bodyPr/>
        <a:lstStyle/>
        <a:p>
          <a:endParaRPr lang="en-US"/>
        </a:p>
      </dgm:t>
    </dgm:pt>
    <dgm:pt modelId="{42B2EBDE-90EB-41E0-A4FE-FBBEF1070C5F}" type="pres">
      <dgm:prSet presAssocID="{A3E05BA6-ACF0-4558-9D63-2FAA16022AD5}" presName="linear" presStyleCnt="0">
        <dgm:presLayoutVars>
          <dgm:animLvl val="lvl"/>
          <dgm:resizeHandles val="exact"/>
        </dgm:presLayoutVars>
      </dgm:prSet>
      <dgm:spPr/>
    </dgm:pt>
    <dgm:pt modelId="{CF6F32CB-6197-4060-8963-43924CA8A930}" type="pres">
      <dgm:prSet presAssocID="{DB09F0FB-5D91-4E6E-8E92-6F1F81B631AA}" presName="parentText" presStyleLbl="node1" presStyleIdx="0" presStyleCnt="1">
        <dgm:presLayoutVars>
          <dgm:chMax val="0"/>
          <dgm:bulletEnabled val="1"/>
        </dgm:presLayoutVars>
      </dgm:prSet>
      <dgm:spPr/>
    </dgm:pt>
  </dgm:ptLst>
  <dgm:cxnLst>
    <dgm:cxn modelId="{5BB1099C-CFBF-482E-AE5D-7798C307A9F8}" type="presOf" srcId="{DB09F0FB-5D91-4E6E-8E92-6F1F81B631AA}" destId="{CF6F32CB-6197-4060-8963-43924CA8A930}" srcOrd="0" destOrd="0" presId="urn:microsoft.com/office/officeart/2005/8/layout/vList2"/>
    <dgm:cxn modelId="{B780E4DC-245B-4C82-97D0-C4D64B80E48D}" srcId="{A3E05BA6-ACF0-4558-9D63-2FAA16022AD5}" destId="{DB09F0FB-5D91-4E6E-8E92-6F1F81B631AA}" srcOrd="0" destOrd="0" parTransId="{B3B23D03-F36A-4149-B412-9F981D5997BA}" sibTransId="{C0C1878D-C95D-417A-BBE1-D238AF1059F1}"/>
    <dgm:cxn modelId="{AA9BFDDD-2708-4470-B00E-066D22684756}" type="presOf" srcId="{A3E05BA6-ACF0-4558-9D63-2FAA16022AD5}" destId="{42B2EBDE-90EB-41E0-A4FE-FBBEF1070C5F}" srcOrd="0" destOrd="0" presId="urn:microsoft.com/office/officeart/2005/8/layout/vList2"/>
    <dgm:cxn modelId="{5259F437-C74C-4D1A-82FE-E38683BF314B}" type="presParOf" srcId="{42B2EBDE-90EB-41E0-A4FE-FBBEF1070C5F}" destId="{CF6F32CB-6197-4060-8963-43924CA8A930}"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64A7CEC5-6CAA-4957-B935-29E6FFA6FAED}" type="doc">
      <dgm:prSet loTypeId="urn:microsoft.com/office/officeart/2005/8/layout/target3" loCatId="list" qsTypeId="urn:microsoft.com/office/officeart/2005/8/quickstyle/simple3" qsCatId="simple" csTypeId="urn:microsoft.com/office/officeart/2005/8/colors/accent1_2" csCatId="accent1"/>
      <dgm:spPr/>
      <dgm:t>
        <a:bodyPr/>
        <a:lstStyle/>
        <a:p>
          <a:endParaRPr lang="en-US"/>
        </a:p>
      </dgm:t>
    </dgm:pt>
    <dgm:pt modelId="{4D5E203F-3A68-4C88-9F78-CF312AA23013}">
      <dgm:prSet/>
      <dgm:spPr/>
      <dgm:t>
        <a:bodyPr/>
        <a:lstStyle/>
        <a:p>
          <a:pPr rtl="0"/>
          <a:r>
            <a:rPr lang="en-US" b="1" smtClean="0"/>
            <a:t>LCIS</a:t>
          </a:r>
          <a:endParaRPr lang="en-US"/>
        </a:p>
      </dgm:t>
    </dgm:pt>
    <dgm:pt modelId="{1FE83F38-EB24-41F1-98AE-4676AD51DD04}" type="parTrans" cxnId="{CAE5B87E-4F6C-4668-A926-0BE6EE0E9EB7}">
      <dgm:prSet/>
      <dgm:spPr/>
      <dgm:t>
        <a:bodyPr/>
        <a:lstStyle/>
        <a:p>
          <a:endParaRPr lang="en-US"/>
        </a:p>
      </dgm:t>
    </dgm:pt>
    <dgm:pt modelId="{666E1824-4A80-465B-9B33-6B88C96BD9F3}" type="sibTrans" cxnId="{CAE5B87E-4F6C-4668-A926-0BE6EE0E9EB7}">
      <dgm:prSet/>
      <dgm:spPr/>
      <dgm:t>
        <a:bodyPr/>
        <a:lstStyle/>
        <a:p>
          <a:endParaRPr lang="en-US"/>
        </a:p>
      </dgm:t>
    </dgm:pt>
    <dgm:pt modelId="{E26936C2-D674-49F1-AC11-6EE28966D4A8}" type="pres">
      <dgm:prSet presAssocID="{64A7CEC5-6CAA-4957-B935-29E6FFA6FAED}" presName="Name0" presStyleCnt="0">
        <dgm:presLayoutVars>
          <dgm:chMax val="7"/>
          <dgm:dir/>
          <dgm:animLvl val="lvl"/>
          <dgm:resizeHandles val="exact"/>
        </dgm:presLayoutVars>
      </dgm:prSet>
      <dgm:spPr/>
    </dgm:pt>
    <dgm:pt modelId="{3A035B75-7EFA-4433-9B78-9C83D8CE112A}" type="pres">
      <dgm:prSet presAssocID="{4D5E203F-3A68-4C88-9F78-CF312AA23013}" presName="circle1" presStyleLbl="node1" presStyleIdx="0" presStyleCnt="1"/>
      <dgm:spPr/>
    </dgm:pt>
    <dgm:pt modelId="{3FF591EE-B3E6-45F6-893D-199E5C30532A}" type="pres">
      <dgm:prSet presAssocID="{4D5E203F-3A68-4C88-9F78-CF312AA23013}" presName="space" presStyleCnt="0"/>
      <dgm:spPr/>
    </dgm:pt>
    <dgm:pt modelId="{93506ADD-DCB5-44A6-AEAA-289B16276D2F}" type="pres">
      <dgm:prSet presAssocID="{4D5E203F-3A68-4C88-9F78-CF312AA23013}" presName="rect1" presStyleLbl="alignAcc1" presStyleIdx="0" presStyleCnt="1"/>
      <dgm:spPr/>
    </dgm:pt>
    <dgm:pt modelId="{1E5B5512-822B-4B5A-B15B-8958B39023FA}" type="pres">
      <dgm:prSet presAssocID="{4D5E203F-3A68-4C88-9F78-CF312AA23013}" presName="rect1ParTxNoCh" presStyleLbl="alignAcc1" presStyleIdx="0" presStyleCnt="1">
        <dgm:presLayoutVars>
          <dgm:chMax val="1"/>
          <dgm:bulletEnabled val="1"/>
        </dgm:presLayoutVars>
      </dgm:prSet>
      <dgm:spPr/>
    </dgm:pt>
  </dgm:ptLst>
  <dgm:cxnLst>
    <dgm:cxn modelId="{0A38008B-54DD-407E-9676-D7DF8ED5BFEB}" type="presOf" srcId="{4D5E203F-3A68-4C88-9F78-CF312AA23013}" destId="{1E5B5512-822B-4B5A-B15B-8958B39023FA}" srcOrd="1" destOrd="0" presId="urn:microsoft.com/office/officeart/2005/8/layout/target3"/>
    <dgm:cxn modelId="{CAE5B87E-4F6C-4668-A926-0BE6EE0E9EB7}" srcId="{64A7CEC5-6CAA-4957-B935-29E6FFA6FAED}" destId="{4D5E203F-3A68-4C88-9F78-CF312AA23013}" srcOrd="0" destOrd="0" parTransId="{1FE83F38-EB24-41F1-98AE-4676AD51DD04}" sibTransId="{666E1824-4A80-465B-9B33-6B88C96BD9F3}"/>
    <dgm:cxn modelId="{A4AD5A1D-709C-4909-A5CA-21D9D03DA857}" type="presOf" srcId="{4D5E203F-3A68-4C88-9F78-CF312AA23013}" destId="{93506ADD-DCB5-44A6-AEAA-289B16276D2F}" srcOrd="0" destOrd="0" presId="urn:microsoft.com/office/officeart/2005/8/layout/target3"/>
    <dgm:cxn modelId="{47FB313F-A110-45E9-A1C5-CF8B6A7C68A6}" type="presOf" srcId="{64A7CEC5-6CAA-4957-B935-29E6FFA6FAED}" destId="{E26936C2-D674-49F1-AC11-6EE28966D4A8}" srcOrd="0" destOrd="0" presId="urn:microsoft.com/office/officeart/2005/8/layout/target3"/>
    <dgm:cxn modelId="{1134CD7F-3B6F-49EE-949A-46DC8515E9DB}" type="presParOf" srcId="{E26936C2-D674-49F1-AC11-6EE28966D4A8}" destId="{3A035B75-7EFA-4433-9B78-9C83D8CE112A}" srcOrd="0" destOrd="0" presId="urn:microsoft.com/office/officeart/2005/8/layout/target3"/>
    <dgm:cxn modelId="{763B1E36-D551-4CD9-B1ED-52945AD16EA0}" type="presParOf" srcId="{E26936C2-D674-49F1-AC11-6EE28966D4A8}" destId="{3FF591EE-B3E6-45F6-893D-199E5C30532A}" srcOrd="1" destOrd="0" presId="urn:microsoft.com/office/officeart/2005/8/layout/target3"/>
    <dgm:cxn modelId="{F45F766A-A4D5-4565-B9B9-57FC8AB5DCB5}" type="presParOf" srcId="{E26936C2-D674-49F1-AC11-6EE28966D4A8}" destId="{93506ADD-DCB5-44A6-AEAA-289B16276D2F}" srcOrd="2" destOrd="0" presId="urn:microsoft.com/office/officeart/2005/8/layout/target3"/>
    <dgm:cxn modelId="{10C28530-E5C8-4BAD-99F0-751A35B8DA20}" type="presParOf" srcId="{E26936C2-D674-49F1-AC11-6EE28966D4A8}" destId="{1E5B5512-822B-4B5A-B15B-8958B39023FA}"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869C6AAF-D8F1-4227-ABDC-B2C721BCC87F}" type="doc">
      <dgm:prSet loTypeId="urn:microsoft.com/office/officeart/2005/8/layout/target3" loCatId="list" qsTypeId="urn:microsoft.com/office/officeart/2005/8/quickstyle/simple1" qsCatId="simple" csTypeId="urn:microsoft.com/office/officeart/2005/8/colors/accent1_2" csCatId="accent1"/>
      <dgm:spPr/>
      <dgm:t>
        <a:bodyPr/>
        <a:lstStyle/>
        <a:p>
          <a:endParaRPr lang="en-US"/>
        </a:p>
      </dgm:t>
    </dgm:pt>
    <dgm:pt modelId="{F3277B16-AEB3-459F-A185-FDEEC7DF957F}">
      <dgm:prSet/>
      <dgm:spPr/>
      <dgm:t>
        <a:bodyPr/>
        <a:lstStyle/>
        <a:p>
          <a:pPr rtl="0"/>
          <a:r>
            <a:rPr lang="en-US" b="1" smtClean="0"/>
            <a:t>DCIS</a:t>
          </a:r>
          <a:endParaRPr lang="en-US"/>
        </a:p>
      </dgm:t>
    </dgm:pt>
    <dgm:pt modelId="{DAF70A56-BB4C-43BF-BE5C-759686AF8B98}" type="parTrans" cxnId="{C8664158-8933-4FF0-B3C5-F013732553AF}">
      <dgm:prSet/>
      <dgm:spPr/>
      <dgm:t>
        <a:bodyPr/>
        <a:lstStyle/>
        <a:p>
          <a:endParaRPr lang="en-US"/>
        </a:p>
      </dgm:t>
    </dgm:pt>
    <dgm:pt modelId="{A49C27DA-FEB4-467B-8C14-74215D2DE709}" type="sibTrans" cxnId="{C8664158-8933-4FF0-B3C5-F013732553AF}">
      <dgm:prSet/>
      <dgm:spPr/>
      <dgm:t>
        <a:bodyPr/>
        <a:lstStyle/>
        <a:p>
          <a:endParaRPr lang="en-US"/>
        </a:p>
      </dgm:t>
    </dgm:pt>
    <dgm:pt modelId="{C2C91879-E63B-4145-B0AB-9AEB19501E23}" type="pres">
      <dgm:prSet presAssocID="{869C6AAF-D8F1-4227-ABDC-B2C721BCC87F}" presName="Name0" presStyleCnt="0">
        <dgm:presLayoutVars>
          <dgm:chMax val="7"/>
          <dgm:dir/>
          <dgm:animLvl val="lvl"/>
          <dgm:resizeHandles val="exact"/>
        </dgm:presLayoutVars>
      </dgm:prSet>
      <dgm:spPr/>
    </dgm:pt>
    <dgm:pt modelId="{0EACCEDE-8853-4B24-91EB-2C1518518C04}" type="pres">
      <dgm:prSet presAssocID="{F3277B16-AEB3-459F-A185-FDEEC7DF957F}" presName="circle1" presStyleLbl="node1" presStyleIdx="0" presStyleCnt="1"/>
      <dgm:spPr/>
    </dgm:pt>
    <dgm:pt modelId="{AF398819-25B3-43BD-B01A-9846A3820C16}" type="pres">
      <dgm:prSet presAssocID="{F3277B16-AEB3-459F-A185-FDEEC7DF957F}" presName="space" presStyleCnt="0"/>
      <dgm:spPr/>
    </dgm:pt>
    <dgm:pt modelId="{DBDC2C5A-6636-40C4-B149-68AA18B8F772}" type="pres">
      <dgm:prSet presAssocID="{F3277B16-AEB3-459F-A185-FDEEC7DF957F}" presName="rect1" presStyleLbl="alignAcc1" presStyleIdx="0" presStyleCnt="1"/>
      <dgm:spPr/>
    </dgm:pt>
    <dgm:pt modelId="{F478F05B-4FE1-4E03-931B-559AB0850937}" type="pres">
      <dgm:prSet presAssocID="{F3277B16-AEB3-459F-A185-FDEEC7DF957F}" presName="rect1ParTxNoCh" presStyleLbl="alignAcc1" presStyleIdx="0" presStyleCnt="1">
        <dgm:presLayoutVars>
          <dgm:chMax val="1"/>
          <dgm:bulletEnabled val="1"/>
        </dgm:presLayoutVars>
      </dgm:prSet>
      <dgm:spPr/>
    </dgm:pt>
  </dgm:ptLst>
  <dgm:cxnLst>
    <dgm:cxn modelId="{5ADF4284-1F47-4FCD-A963-CED2F832EF10}" type="presOf" srcId="{F3277B16-AEB3-459F-A185-FDEEC7DF957F}" destId="{DBDC2C5A-6636-40C4-B149-68AA18B8F772}" srcOrd="0" destOrd="0" presId="urn:microsoft.com/office/officeart/2005/8/layout/target3"/>
    <dgm:cxn modelId="{19271E11-37CC-44BF-9912-EE40C3F3379D}" type="presOf" srcId="{F3277B16-AEB3-459F-A185-FDEEC7DF957F}" destId="{F478F05B-4FE1-4E03-931B-559AB0850937}" srcOrd="1" destOrd="0" presId="urn:microsoft.com/office/officeart/2005/8/layout/target3"/>
    <dgm:cxn modelId="{C8664158-8933-4FF0-B3C5-F013732553AF}" srcId="{869C6AAF-D8F1-4227-ABDC-B2C721BCC87F}" destId="{F3277B16-AEB3-459F-A185-FDEEC7DF957F}" srcOrd="0" destOrd="0" parTransId="{DAF70A56-BB4C-43BF-BE5C-759686AF8B98}" sibTransId="{A49C27DA-FEB4-467B-8C14-74215D2DE709}"/>
    <dgm:cxn modelId="{57EA885A-485D-431A-BF5C-C072A8C9F14E}" type="presOf" srcId="{869C6AAF-D8F1-4227-ABDC-B2C721BCC87F}" destId="{C2C91879-E63B-4145-B0AB-9AEB19501E23}" srcOrd="0" destOrd="0" presId="urn:microsoft.com/office/officeart/2005/8/layout/target3"/>
    <dgm:cxn modelId="{00E85A33-4817-4359-BB4B-E24A00909C89}" type="presParOf" srcId="{C2C91879-E63B-4145-B0AB-9AEB19501E23}" destId="{0EACCEDE-8853-4B24-91EB-2C1518518C04}" srcOrd="0" destOrd="0" presId="urn:microsoft.com/office/officeart/2005/8/layout/target3"/>
    <dgm:cxn modelId="{AF7E0416-1714-4659-9F67-E7218E683E9D}" type="presParOf" srcId="{C2C91879-E63B-4145-B0AB-9AEB19501E23}" destId="{AF398819-25B3-43BD-B01A-9846A3820C16}" srcOrd="1" destOrd="0" presId="urn:microsoft.com/office/officeart/2005/8/layout/target3"/>
    <dgm:cxn modelId="{75B693F4-0CBB-4751-A4CB-D20601974C60}" type="presParOf" srcId="{C2C91879-E63B-4145-B0AB-9AEB19501E23}" destId="{DBDC2C5A-6636-40C4-B149-68AA18B8F772}" srcOrd="2" destOrd="0" presId="urn:microsoft.com/office/officeart/2005/8/layout/target3"/>
    <dgm:cxn modelId="{B278F7C4-E31D-425B-BAE8-68882A9DF5E2}" type="presParOf" srcId="{C2C91879-E63B-4145-B0AB-9AEB19501E23}" destId="{F478F05B-4FE1-4E03-931B-559AB0850937}"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EC722C3D-D76E-4D22-B243-25329EDE8FA3}" type="doc">
      <dgm:prSet loTypeId="urn:microsoft.com/office/officeart/2005/8/layout/target3" loCatId="list" qsTypeId="urn:microsoft.com/office/officeart/2005/8/quickstyle/simple1" qsCatId="simple" csTypeId="urn:microsoft.com/office/officeart/2005/8/colors/accent1_2" csCatId="accent1"/>
      <dgm:spPr/>
      <dgm:t>
        <a:bodyPr/>
        <a:lstStyle/>
        <a:p>
          <a:endParaRPr lang="en-US"/>
        </a:p>
      </dgm:t>
    </dgm:pt>
    <dgm:pt modelId="{686685BF-91BC-445F-A393-E2387A551112}">
      <dgm:prSet/>
      <dgm:spPr/>
      <dgm:t>
        <a:bodyPr/>
        <a:lstStyle/>
        <a:p>
          <a:pPr rtl="0"/>
          <a:r>
            <a:rPr lang="en-US" b="1" dirty="0" smtClean="0"/>
            <a:t>Invasive Breast Cancer</a:t>
          </a:r>
          <a:endParaRPr lang="en-US" dirty="0"/>
        </a:p>
      </dgm:t>
    </dgm:pt>
    <dgm:pt modelId="{15D4C887-83A6-45F8-92B4-C32FF1FDB20B}" type="parTrans" cxnId="{978A4968-B7B5-4849-A3E8-DA445AE3B8D4}">
      <dgm:prSet/>
      <dgm:spPr/>
      <dgm:t>
        <a:bodyPr/>
        <a:lstStyle/>
        <a:p>
          <a:endParaRPr lang="en-US"/>
        </a:p>
      </dgm:t>
    </dgm:pt>
    <dgm:pt modelId="{5BCB94FD-8DBF-4187-B49C-5BFD8BB2DF11}" type="sibTrans" cxnId="{978A4968-B7B5-4849-A3E8-DA445AE3B8D4}">
      <dgm:prSet/>
      <dgm:spPr/>
      <dgm:t>
        <a:bodyPr/>
        <a:lstStyle/>
        <a:p>
          <a:endParaRPr lang="en-US"/>
        </a:p>
      </dgm:t>
    </dgm:pt>
    <dgm:pt modelId="{842E0584-E6F8-4D0B-A69A-BC8ED449A32A}" type="pres">
      <dgm:prSet presAssocID="{EC722C3D-D76E-4D22-B243-25329EDE8FA3}" presName="Name0" presStyleCnt="0">
        <dgm:presLayoutVars>
          <dgm:chMax val="7"/>
          <dgm:dir/>
          <dgm:animLvl val="lvl"/>
          <dgm:resizeHandles val="exact"/>
        </dgm:presLayoutVars>
      </dgm:prSet>
      <dgm:spPr/>
    </dgm:pt>
    <dgm:pt modelId="{2F1CB9A6-4602-4DDB-AD2F-2AD18F4E4CBB}" type="pres">
      <dgm:prSet presAssocID="{686685BF-91BC-445F-A393-E2387A551112}" presName="circle1" presStyleLbl="node1" presStyleIdx="0" presStyleCnt="1"/>
      <dgm:spPr/>
    </dgm:pt>
    <dgm:pt modelId="{CCB35BAF-BF08-4CAE-BD46-7EC4EC1F97A5}" type="pres">
      <dgm:prSet presAssocID="{686685BF-91BC-445F-A393-E2387A551112}" presName="space" presStyleCnt="0"/>
      <dgm:spPr/>
    </dgm:pt>
    <dgm:pt modelId="{52FF55F8-F1F8-47AA-9D9F-07A18A050DE4}" type="pres">
      <dgm:prSet presAssocID="{686685BF-91BC-445F-A393-E2387A551112}" presName="rect1" presStyleLbl="alignAcc1" presStyleIdx="0" presStyleCnt="1"/>
      <dgm:spPr/>
    </dgm:pt>
    <dgm:pt modelId="{03D6A25C-9183-4844-9499-909113B8B3D5}" type="pres">
      <dgm:prSet presAssocID="{686685BF-91BC-445F-A393-E2387A551112}" presName="rect1ParTxNoCh" presStyleLbl="alignAcc1" presStyleIdx="0" presStyleCnt="1">
        <dgm:presLayoutVars>
          <dgm:chMax val="1"/>
          <dgm:bulletEnabled val="1"/>
        </dgm:presLayoutVars>
      </dgm:prSet>
      <dgm:spPr/>
    </dgm:pt>
  </dgm:ptLst>
  <dgm:cxnLst>
    <dgm:cxn modelId="{769788B2-ACF1-4D57-862C-8C1645D65C98}" type="presOf" srcId="{686685BF-91BC-445F-A393-E2387A551112}" destId="{52FF55F8-F1F8-47AA-9D9F-07A18A050DE4}" srcOrd="0" destOrd="0" presId="urn:microsoft.com/office/officeart/2005/8/layout/target3"/>
    <dgm:cxn modelId="{1C8318BE-428D-4796-9AB5-AE6A502747EE}" type="presOf" srcId="{EC722C3D-D76E-4D22-B243-25329EDE8FA3}" destId="{842E0584-E6F8-4D0B-A69A-BC8ED449A32A}" srcOrd="0" destOrd="0" presId="urn:microsoft.com/office/officeart/2005/8/layout/target3"/>
    <dgm:cxn modelId="{978A4968-B7B5-4849-A3E8-DA445AE3B8D4}" srcId="{EC722C3D-D76E-4D22-B243-25329EDE8FA3}" destId="{686685BF-91BC-445F-A393-E2387A551112}" srcOrd="0" destOrd="0" parTransId="{15D4C887-83A6-45F8-92B4-C32FF1FDB20B}" sibTransId="{5BCB94FD-8DBF-4187-B49C-5BFD8BB2DF11}"/>
    <dgm:cxn modelId="{029A3B20-4E30-4AAF-90B0-14B242A2A4CF}" type="presOf" srcId="{686685BF-91BC-445F-A393-E2387A551112}" destId="{03D6A25C-9183-4844-9499-909113B8B3D5}" srcOrd="1" destOrd="0" presId="urn:microsoft.com/office/officeart/2005/8/layout/target3"/>
    <dgm:cxn modelId="{A1AFCEFC-7F1E-467C-90B6-5E280340A932}" type="presParOf" srcId="{842E0584-E6F8-4D0B-A69A-BC8ED449A32A}" destId="{2F1CB9A6-4602-4DDB-AD2F-2AD18F4E4CBB}" srcOrd="0" destOrd="0" presId="urn:microsoft.com/office/officeart/2005/8/layout/target3"/>
    <dgm:cxn modelId="{AED3CB79-D25E-420C-AB90-EC7A1E1642F8}" type="presParOf" srcId="{842E0584-E6F8-4D0B-A69A-BC8ED449A32A}" destId="{CCB35BAF-BF08-4CAE-BD46-7EC4EC1F97A5}" srcOrd="1" destOrd="0" presId="urn:microsoft.com/office/officeart/2005/8/layout/target3"/>
    <dgm:cxn modelId="{6E900344-9B90-436A-AC09-9CFE54E3E110}" type="presParOf" srcId="{842E0584-E6F8-4D0B-A69A-BC8ED449A32A}" destId="{52FF55F8-F1F8-47AA-9D9F-07A18A050DE4}" srcOrd="2" destOrd="0" presId="urn:microsoft.com/office/officeart/2005/8/layout/target3"/>
    <dgm:cxn modelId="{878B6204-E316-45C9-8B85-7DA48DB53811}" type="presParOf" srcId="{842E0584-E6F8-4D0B-A69A-BC8ED449A32A}" destId="{03D6A25C-9183-4844-9499-909113B8B3D5}"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6782C46A-3C1C-40F8-8AEC-BFDE3A28E0F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247ECAC-BFB6-4FDD-91A3-A73F10F83585}">
      <dgm:prSet/>
      <dgm:spPr/>
      <dgm:t>
        <a:bodyPr/>
        <a:lstStyle/>
        <a:p>
          <a:pPr rtl="0"/>
          <a:r>
            <a:rPr lang="en-US" b="1" smtClean="0"/>
            <a:t>Diagnosis of Breast Cancer</a:t>
          </a:r>
          <a:endParaRPr lang="en-US"/>
        </a:p>
      </dgm:t>
    </dgm:pt>
    <dgm:pt modelId="{A1161FF4-85EC-4EC2-A9CE-EE6A16361A0D}" type="parTrans" cxnId="{CA375CFE-7E1F-4788-8DFF-048D92E893FA}">
      <dgm:prSet/>
      <dgm:spPr/>
      <dgm:t>
        <a:bodyPr/>
        <a:lstStyle/>
        <a:p>
          <a:endParaRPr lang="en-US"/>
        </a:p>
      </dgm:t>
    </dgm:pt>
    <dgm:pt modelId="{43F00279-B9FC-4A76-9910-389D03A87745}" type="sibTrans" cxnId="{CA375CFE-7E1F-4788-8DFF-048D92E893FA}">
      <dgm:prSet/>
      <dgm:spPr/>
      <dgm:t>
        <a:bodyPr/>
        <a:lstStyle/>
        <a:p>
          <a:endParaRPr lang="en-US"/>
        </a:p>
      </dgm:t>
    </dgm:pt>
    <dgm:pt modelId="{25C1E77C-A02A-4C0A-B8B4-FDDAD6EEB3B6}" type="pres">
      <dgm:prSet presAssocID="{6782C46A-3C1C-40F8-8AEC-BFDE3A28E0F8}" presName="linear" presStyleCnt="0">
        <dgm:presLayoutVars>
          <dgm:animLvl val="lvl"/>
          <dgm:resizeHandles val="exact"/>
        </dgm:presLayoutVars>
      </dgm:prSet>
      <dgm:spPr/>
    </dgm:pt>
    <dgm:pt modelId="{3A96F69D-3BFC-4E60-A446-C7B2F579DDE9}" type="pres">
      <dgm:prSet presAssocID="{B247ECAC-BFB6-4FDD-91A3-A73F10F83585}" presName="parentText" presStyleLbl="node1" presStyleIdx="0" presStyleCnt="1">
        <dgm:presLayoutVars>
          <dgm:chMax val="0"/>
          <dgm:bulletEnabled val="1"/>
        </dgm:presLayoutVars>
      </dgm:prSet>
      <dgm:spPr/>
    </dgm:pt>
  </dgm:ptLst>
  <dgm:cxnLst>
    <dgm:cxn modelId="{830421BA-0F84-4580-9E91-609879634DE7}" type="presOf" srcId="{B247ECAC-BFB6-4FDD-91A3-A73F10F83585}" destId="{3A96F69D-3BFC-4E60-A446-C7B2F579DDE9}" srcOrd="0" destOrd="0" presId="urn:microsoft.com/office/officeart/2005/8/layout/vList2"/>
    <dgm:cxn modelId="{ECCA5716-88C3-4578-830C-87D6CF8C9519}" type="presOf" srcId="{6782C46A-3C1C-40F8-8AEC-BFDE3A28E0F8}" destId="{25C1E77C-A02A-4C0A-B8B4-FDDAD6EEB3B6}" srcOrd="0" destOrd="0" presId="urn:microsoft.com/office/officeart/2005/8/layout/vList2"/>
    <dgm:cxn modelId="{CA375CFE-7E1F-4788-8DFF-048D92E893FA}" srcId="{6782C46A-3C1C-40F8-8AEC-BFDE3A28E0F8}" destId="{B247ECAC-BFB6-4FDD-91A3-A73F10F83585}" srcOrd="0" destOrd="0" parTransId="{A1161FF4-85EC-4EC2-A9CE-EE6A16361A0D}" sibTransId="{43F00279-B9FC-4A76-9910-389D03A87745}"/>
    <dgm:cxn modelId="{DE97ED73-A948-4CD3-9127-D8D3E303FA3B}" type="presParOf" srcId="{25C1E77C-A02A-4C0A-B8B4-FDDAD6EEB3B6}" destId="{3A96F69D-3BFC-4E60-A446-C7B2F579DDE9}"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B2D0CC41-1AA7-4DDF-9C6A-04DE58A47700}"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6BA98E8A-0680-4208-AB7F-3540028E0F55}">
      <dgm:prSet/>
      <dgm:spPr/>
      <dgm:t>
        <a:bodyPr/>
        <a:lstStyle/>
        <a:p>
          <a:pPr rtl="0"/>
          <a:r>
            <a:rPr lang="en-US" b="1" smtClean="0"/>
            <a:t>Examination</a:t>
          </a:r>
          <a:endParaRPr lang="en-US"/>
        </a:p>
      </dgm:t>
    </dgm:pt>
    <dgm:pt modelId="{846CD4A5-DB14-44C0-84F0-47C669932381}" type="parTrans" cxnId="{1BCA3764-9F3F-4555-B4F7-C03C496EB028}">
      <dgm:prSet/>
      <dgm:spPr/>
      <dgm:t>
        <a:bodyPr/>
        <a:lstStyle/>
        <a:p>
          <a:endParaRPr lang="en-US"/>
        </a:p>
      </dgm:t>
    </dgm:pt>
    <dgm:pt modelId="{6B3965B2-C2F4-406F-99E8-4C404F979770}" type="sibTrans" cxnId="{1BCA3764-9F3F-4555-B4F7-C03C496EB028}">
      <dgm:prSet/>
      <dgm:spPr/>
      <dgm:t>
        <a:bodyPr/>
        <a:lstStyle/>
        <a:p>
          <a:endParaRPr lang="en-US"/>
        </a:p>
      </dgm:t>
    </dgm:pt>
    <dgm:pt modelId="{BD00E2C3-A4FE-4D86-B92D-AE3A9C8235B3}" type="pres">
      <dgm:prSet presAssocID="{B2D0CC41-1AA7-4DDF-9C6A-04DE58A47700}" presName="vert0" presStyleCnt="0">
        <dgm:presLayoutVars>
          <dgm:dir/>
          <dgm:animOne val="branch"/>
          <dgm:animLvl val="lvl"/>
        </dgm:presLayoutVars>
      </dgm:prSet>
      <dgm:spPr/>
    </dgm:pt>
    <dgm:pt modelId="{06CD3911-9509-4CAB-9E2C-14E86B48974A}" type="pres">
      <dgm:prSet presAssocID="{6BA98E8A-0680-4208-AB7F-3540028E0F55}" presName="thickLine" presStyleLbl="alignNode1" presStyleIdx="0" presStyleCnt="1"/>
      <dgm:spPr/>
    </dgm:pt>
    <dgm:pt modelId="{546C96AB-5D89-483D-93F8-5F632A36D8EB}" type="pres">
      <dgm:prSet presAssocID="{6BA98E8A-0680-4208-AB7F-3540028E0F55}" presName="horz1" presStyleCnt="0"/>
      <dgm:spPr/>
    </dgm:pt>
    <dgm:pt modelId="{AA1889FF-6DA4-47C1-9E19-70F448694E61}" type="pres">
      <dgm:prSet presAssocID="{6BA98E8A-0680-4208-AB7F-3540028E0F55}" presName="tx1" presStyleLbl="revTx" presStyleIdx="0" presStyleCnt="1"/>
      <dgm:spPr/>
    </dgm:pt>
    <dgm:pt modelId="{2E25DC45-560E-4605-B2FC-73FF56C34477}" type="pres">
      <dgm:prSet presAssocID="{6BA98E8A-0680-4208-AB7F-3540028E0F55}" presName="vert1" presStyleCnt="0"/>
      <dgm:spPr/>
    </dgm:pt>
  </dgm:ptLst>
  <dgm:cxnLst>
    <dgm:cxn modelId="{1BCA3764-9F3F-4555-B4F7-C03C496EB028}" srcId="{B2D0CC41-1AA7-4DDF-9C6A-04DE58A47700}" destId="{6BA98E8A-0680-4208-AB7F-3540028E0F55}" srcOrd="0" destOrd="0" parTransId="{846CD4A5-DB14-44C0-84F0-47C669932381}" sibTransId="{6B3965B2-C2F4-406F-99E8-4C404F979770}"/>
    <dgm:cxn modelId="{9001AAF9-A4F3-4C3F-8947-72005195C074}" type="presOf" srcId="{6BA98E8A-0680-4208-AB7F-3540028E0F55}" destId="{AA1889FF-6DA4-47C1-9E19-70F448694E61}" srcOrd="0" destOrd="0" presId="urn:microsoft.com/office/officeart/2008/layout/LinedList"/>
    <dgm:cxn modelId="{61B4E678-8B75-4DCC-8C57-A7A4E976B84E}" type="presOf" srcId="{B2D0CC41-1AA7-4DDF-9C6A-04DE58A47700}" destId="{BD00E2C3-A4FE-4D86-B92D-AE3A9C8235B3}" srcOrd="0" destOrd="0" presId="urn:microsoft.com/office/officeart/2008/layout/LinedList"/>
    <dgm:cxn modelId="{BDBD05E3-5884-4C22-8AD7-6EE23CAC2F0E}" type="presParOf" srcId="{BD00E2C3-A4FE-4D86-B92D-AE3A9C8235B3}" destId="{06CD3911-9509-4CAB-9E2C-14E86B48974A}" srcOrd="0" destOrd="0" presId="urn:microsoft.com/office/officeart/2008/layout/LinedList"/>
    <dgm:cxn modelId="{46AEEA02-D4BF-4942-B854-CE0EF9F2D733}" type="presParOf" srcId="{BD00E2C3-A4FE-4D86-B92D-AE3A9C8235B3}" destId="{546C96AB-5D89-483D-93F8-5F632A36D8EB}" srcOrd="1" destOrd="0" presId="urn:microsoft.com/office/officeart/2008/layout/LinedList"/>
    <dgm:cxn modelId="{B31A1DAD-B68D-49AF-AEBE-021CD8540CEF}" type="presParOf" srcId="{546C96AB-5D89-483D-93F8-5F632A36D8EB}" destId="{AA1889FF-6DA4-47C1-9E19-70F448694E61}" srcOrd="0" destOrd="0" presId="urn:microsoft.com/office/officeart/2008/layout/LinedList"/>
    <dgm:cxn modelId="{2863FEF2-AE02-4AD0-B4A2-DB75B831C4E7}" type="presParOf" srcId="{546C96AB-5D89-483D-93F8-5F632A36D8EB}" destId="{2E25DC45-560E-4605-B2FC-73FF56C3447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8BB4E0D4-EC1E-45B2-A47C-04EC96CEBFD0}"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C966884F-3054-4EF9-BC13-EADEB9BE9D55}">
      <dgm:prSet/>
      <dgm:spPr/>
      <dgm:t>
        <a:bodyPr/>
        <a:lstStyle/>
        <a:p>
          <a:pPr rtl="0"/>
          <a:r>
            <a:rPr lang="en-US" b="1" smtClean="0"/>
            <a:t>Imaging Techniques</a:t>
          </a:r>
          <a:endParaRPr lang="en-US"/>
        </a:p>
      </dgm:t>
    </dgm:pt>
    <dgm:pt modelId="{9B62AA33-E8E0-469C-8C99-056B8552E07B}" type="parTrans" cxnId="{4A212A6A-E979-40D9-A889-F8E3D1F1D80D}">
      <dgm:prSet/>
      <dgm:spPr/>
      <dgm:t>
        <a:bodyPr/>
        <a:lstStyle/>
        <a:p>
          <a:endParaRPr lang="en-US"/>
        </a:p>
      </dgm:t>
    </dgm:pt>
    <dgm:pt modelId="{6CE34079-3719-4EC9-A120-7830F555CB6F}" type="sibTrans" cxnId="{4A212A6A-E979-40D9-A889-F8E3D1F1D80D}">
      <dgm:prSet/>
      <dgm:spPr/>
      <dgm:t>
        <a:bodyPr/>
        <a:lstStyle/>
        <a:p>
          <a:endParaRPr lang="en-US"/>
        </a:p>
      </dgm:t>
    </dgm:pt>
    <dgm:pt modelId="{91C3069B-54E2-45DF-BB76-FAF97013EF28}" type="pres">
      <dgm:prSet presAssocID="{8BB4E0D4-EC1E-45B2-A47C-04EC96CEBFD0}" presName="vert0" presStyleCnt="0">
        <dgm:presLayoutVars>
          <dgm:dir/>
          <dgm:animOne val="branch"/>
          <dgm:animLvl val="lvl"/>
        </dgm:presLayoutVars>
      </dgm:prSet>
      <dgm:spPr/>
    </dgm:pt>
    <dgm:pt modelId="{047C3120-24EC-4A84-B547-997C361BA08B}" type="pres">
      <dgm:prSet presAssocID="{C966884F-3054-4EF9-BC13-EADEB9BE9D55}" presName="thickLine" presStyleLbl="alignNode1" presStyleIdx="0" presStyleCnt="1"/>
      <dgm:spPr/>
    </dgm:pt>
    <dgm:pt modelId="{DE103CF0-4542-4160-8D86-BA2E98B5B9D9}" type="pres">
      <dgm:prSet presAssocID="{C966884F-3054-4EF9-BC13-EADEB9BE9D55}" presName="horz1" presStyleCnt="0"/>
      <dgm:spPr/>
    </dgm:pt>
    <dgm:pt modelId="{B7EAD834-5341-4319-A55E-1C325B5B50E3}" type="pres">
      <dgm:prSet presAssocID="{C966884F-3054-4EF9-BC13-EADEB9BE9D55}" presName="tx1" presStyleLbl="revTx" presStyleIdx="0" presStyleCnt="1"/>
      <dgm:spPr/>
    </dgm:pt>
    <dgm:pt modelId="{A5301881-250F-403A-8188-45458B41C988}" type="pres">
      <dgm:prSet presAssocID="{C966884F-3054-4EF9-BC13-EADEB9BE9D55}" presName="vert1" presStyleCnt="0"/>
      <dgm:spPr/>
    </dgm:pt>
  </dgm:ptLst>
  <dgm:cxnLst>
    <dgm:cxn modelId="{D88E9B46-79A6-4BAE-BA97-B4E7C6378B32}" type="presOf" srcId="{C966884F-3054-4EF9-BC13-EADEB9BE9D55}" destId="{B7EAD834-5341-4319-A55E-1C325B5B50E3}" srcOrd="0" destOrd="0" presId="urn:microsoft.com/office/officeart/2008/layout/LinedList"/>
    <dgm:cxn modelId="{4A212A6A-E979-40D9-A889-F8E3D1F1D80D}" srcId="{8BB4E0D4-EC1E-45B2-A47C-04EC96CEBFD0}" destId="{C966884F-3054-4EF9-BC13-EADEB9BE9D55}" srcOrd="0" destOrd="0" parTransId="{9B62AA33-E8E0-469C-8C99-056B8552E07B}" sibTransId="{6CE34079-3719-4EC9-A120-7830F555CB6F}"/>
    <dgm:cxn modelId="{8F51EC09-CFA4-48AD-8F1A-D646CA4B4009}" type="presOf" srcId="{8BB4E0D4-EC1E-45B2-A47C-04EC96CEBFD0}" destId="{91C3069B-54E2-45DF-BB76-FAF97013EF28}" srcOrd="0" destOrd="0" presId="urn:microsoft.com/office/officeart/2008/layout/LinedList"/>
    <dgm:cxn modelId="{8C497BC8-3AB0-4160-B23B-7C825D005A61}" type="presParOf" srcId="{91C3069B-54E2-45DF-BB76-FAF97013EF28}" destId="{047C3120-24EC-4A84-B547-997C361BA08B}" srcOrd="0" destOrd="0" presId="urn:microsoft.com/office/officeart/2008/layout/LinedList"/>
    <dgm:cxn modelId="{368EDCA1-13BB-4AFA-8811-75E0B26C4F6F}" type="presParOf" srcId="{91C3069B-54E2-45DF-BB76-FAF97013EF28}" destId="{DE103CF0-4542-4160-8D86-BA2E98B5B9D9}" srcOrd="1" destOrd="0" presId="urn:microsoft.com/office/officeart/2008/layout/LinedList"/>
    <dgm:cxn modelId="{952AAD0B-B295-4A9D-A226-F8C0AAAB7488}" type="presParOf" srcId="{DE103CF0-4542-4160-8D86-BA2E98B5B9D9}" destId="{B7EAD834-5341-4319-A55E-1C325B5B50E3}" srcOrd="0" destOrd="0" presId="urn:microsoft.com/office/officeart/2008/layout/LinedList"/>
    <dgm:cxn modelId="{444CA4CF-523D-4230-855E-A638F2623DB0}" type="presParOf" srcId="{DE103CF0-4542-4160-8D86-BA2E98B5B9D9}" destId="{A5301881-250F-403A-8188-45458B41C98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2C3D136C-E916-4E59-BDC5-26689480A93C}"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4E59C0F9-66DD-4D93-B3A3-8DB5A52943BB}">
      <dgm:prSet/>
      <dgm:spPr/>
      <dgm:t>
        <a:bodyPr/>
        <a:lstStyle/>
        <a:p>
          <a:pPr rtl="0"/>
          <a:r>
            <a:rPr lang="en-US" b="1" smtClean="0"/>
            <a:t>Mammography</a:t>
          </a:r>
          <a:endParaRPr lang="en-US"/>
        </a:p>
      </dgm:t>
    </dgm:pt>
    <dgm:pt modelId="{455ACD30-A1BA-424C-8B2B-1473B0B65DC8}" type="parTrans" cxnId="{258521C1-8EB9-4236-BCB8-17A916A368AB}">
      <dgm:prSet/>
      <dgm:spPr/>
      <dgm:t>
        <a:bodyPr/>
        <a:lstStyle/>
        <a:p>
          <a:endParaRPr lang="en-US"/>
        </a:p>
      </dgm:t>
    </dgm:pt>
    <dgm:pt modelId="{9CBEC512-EBB5-433B-9AB7-EACE0754FF3C}" type="sibTrans" cxnId="{258521C1-8EB9-4236-BCB8-17A916A368AB}">
      <dgm:prSet/>
      <dgm:spPr/>
      <dgm:t>
        <a:bodyPr/>
        <a:lstStyle/>
        <a:p>
          <a:endParaRPr lang="en-US"/>
        </a:p>
      </dgm:t>
    </dgm:pt>
    <dgm:pt modelId="{8454D750-AE87-45D4-BC52-B7F42E0E27E0}" type="pres">
      <dgm:prSet presAssocID="{2C3D136C-E916-4E59-BDC5-26689480A93C}" presName="vert0" presStyleCnt="0">
        <dgm:presLayoutVars>
          <dgm:dir/>
          <dgm:animOne val="branch"/>
          <dgm:animLvl val="lvl"/>
        </dgm:presLayoutVars>
      </dgm:prSet>
      <dgm:spPr/>
    </dgm:pt>
    <dgm:pt modelId="{A920EA32-48FD-4853-B37D-EBAFAD3A1FFB}" type="pres">
      <dgm:prSet presAssocID="{4E59C0F9-66DD-4D93-B3A3-8DB5A52943BB}" presName="thickLine" presStyleLbl="alignNode1" presStyleIdx="0" presStyleCnt="1"/>
      <dgm:spPr/>
    </dgm:pt>
    <dgm:pt modelId="{ABE48249-637F-4D6C-8396-ED4CF554F85F}" type="pres">
      <dgm:prSet presAssocID="{4E59C0F9-66DD-4D93-B3A3-8DB5A52943BB}" presName="horz1" presStyleCnt="0"/>
      <dgm:spPr/>
    </dgm:pt>
    <dgm:pt modelId="{62025D29-7A91-4F97-8C74-5309BB34AD2D}" type="pres">
      <dgm:prSet presAssocID="{4E59C0F9-66DD-4D93-B3A3-8DB5A52943BB}" presName="tx1" presStyleLbl="revTx" presStyleIdx="0" presStyleCnt="1"/>
      <dgm:spPr/>
    </dgm:pt>
    <dgm:pt modelId="{ABDFAE49-6C70-4F67-B1D7-C00A92FB9CCE}" type="pres">
      <dgm:prSet presAssocID="{4E59C0F9-66DD-4D93-B3A3-8DB5A52943BB}" presName="vert1" presStyleCnt="0"/>
      <dgm:spPr/>
    </dgm:pt>
  </dgm:ptLst>
  <dgm:cxnLst>
    <dgm:cxn modelId="{EB6C6FC7-773F-48A9-8B2A-B74EB2E2B9A6}" type="presOf" srcId="{4E59C0F9-66DD-4D93-B3A3-8DB5A52943BB}" destId="{62025D29-7A91-4F97-8C74-5309BB34AD2D}" srcOrd="0" destOrd="0" presId="urn:microsoft.com/office/officeart/2008/layout/LinedList"/>
    <dgm:cxn modelId="{AE449413-1A93-486E-AFE0-6F5A18920DB6}" type="presOf" srcId="{2C3D136C-E916-4E59-BDC5-26689480A93C}" destId="{8454D750-AE87-45D4-BC52-B7F42E0E27E0}" srcOrd="0" destOrd="0" presId="urn:microsoft.com/office/officeart/2008/layout/LinedList"/>
    <dgm:cxn modelId="{258521C1-8EB9-4236-BCB8-17A916A368AB}" srcId="{2C3D136C-E916-4E59-BDC5-26689480A93C}" destId="{4E59C0F9-66DD-4D93-B3A3-8DB5A52943BB}" srcOrd="0" destOrd="0" parTransId="{455ACD30-A1BA-424C-8B2B-1473B0B65DC8}" sibTransId="{9CBEC512-EBB5-433B-9AB7-EACE0754FF3C}"/>
    <dgm:cxn modelId="{C11ACC6A-51FF-4471-A9DD-CCAAE20C427A}" type="presParOf" srcId="{8454D750-AE87-45D4-BC52-B7F42E0E27E0}" destId="{A920EA32-48FD-4853-B37D-EBAFAD3A1FFB}" srcOrd="0" destOrd="0" presId="urn:microsoft.com/office/officeart/2008/layout/LinedList"/>
    <dgm:cxn modelId="{D5351CE4-5011-4CDD-AF39-7B4429CD7E85}" type="presParOf" srcId="{8454D750-AE87-45D4-BC52-B7F42E0E27E0}" destId="{ABE48249-637F-4D6C-8396-ED4CF554F85F}" srcOrd="1" destOrd="0" presId="urn:microsoft.com/office/officeart/2008/layout/LinedList"/>
    <dgm:cxn modelId="{44506B69-4940-4F48-A304-AC412DA8A752}" type="presParOf" srcId="{ABE48249-637F-4D6C-8396-ED4CF554F85F}" destId="{62025D29-7A91-4F97-8C74-5309BB34AD2D}" srcOrd="0" destOrd="0" presId="urn:microsoft.com/office/officeart/2008/layout/LinedList"/>
    <dgm:cxn modelId="{017C19B5-27AD-4B0B-94E4-F204F611B27F}" type="presParOf" srcId="{ABE48249-637F-4D6C-8396-ED4CF554F85F}" destId="{ABDFAE49-6C70-4F67-B1D7-C00A92FB9CC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4EC91380-8D61-46B0-A8B6-9CD8FDE74331}"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004DDB2B-FFEA-494E-A307-C9FBD1686D34}">
      <dgm:prSet/>
      <dgm:spPr/>
      <dgm:t>
        <a:bodyPr/>
        <a:lstStyle/>
        <a:p>
          <a:pPr rtl="0"/>
          <a:r>
            <a:rPr lang="en-US" b="1" smtClean="0"/>
            <a:t>Mammography (Cont.)</a:t>
          </a:r>
          <a:endParaRPr lang="en-US"/>
        </a:p>
      </dgm:t>
    </dgm:pt>
    <dgm:pt modelId="{338A78F7-5CC6-406A-9F6A-970A11083334}" type="parTrans" cxnId="{14E6FBF5-BD67-4C91-972E-4A6A6DB54596}">
      <dgm:prSet/>
      <dgm:spPr/>
      <dgm:t>
        <a:bodyPr/>
        <a:lstStyle/>
        <a:p>
          <a:endParaRPr lang="en-US"/>
        </a:p>
      </dgm:t>
    </dgm:pt>
    <dgm:pt modelId="{6C73C10B-C21D-4372-99C3-68A614E58C50}" type="sibTrans" cxnId="{14E6FBF5-BD67-4C91-972E-4A6A6DB54596}">
      <dgm:prSet/>
      <dgm:spPr/>
      <dgm:t>
        <a:bodyPr/>
        <a:lstStyle/>
        <a:p>
          <a:endParaRPr lang="en-US"/>
        </a:p>
      </dgm:t>
    </dgm:pt>
    <dgm:pt modelId="{08BEA2B0-6431-4219-82C6-011DFCB40115}" type="pres">
      <dgm:prSet presAssocID="{4EC91380-8D61-46B0-A8B6-9CD8FDE74331}" presName="vert0" presStyleCnt="0">
        <dgm:presLayoutVars>
          <dgm:dir/>
          <dgm:animOne val="branch"/>
          <dgm:animLvl val="lvl"/>
        </dgm:presLayoutVars>
      </dgm:prSet>
      <dgm:spPr/>
    </dgm:pt>
    <dgm:pt modelId="{F8CCDCF9-37C3-4971-899E-9D972A02B8FF}" type="pres">
      <dgm:prSet presAssocID="{004DDB2B-FFEA-494E-A307-C9FBD1686D34}" presName="thickLine" presStyleLbl="alignNode1" presStyleIdx="0" presStyleCnt="1"/>
      <dgm:spPr/>
    </dgm:pt>
    <dgm:pt modelId="{E327B446-AEEF-4873-9D99-641BFF5A18C9}" type="pres">
      <dgm:prSet presAssocID="{004DDB2B-FFEA-494E-A307-C9FBD1686D34}" presName="horz1" presStyleCnt="0"/>
      <dgm:spPr/>
    </dgm:pt>
    <dgm:pt modelId="{763959EA-1CCC-4C7B-8F41-3900B2DD59E1}" type="pres">
      <dgm:prSet presAssocID="{004DDB2B-FFEA-494E-A307-C9FBD1686D34}" presName="tx1" presStyleLbl="revTx" presStyleIdx="0" presStyleCnt="1"/>
      <dgm:spPr/>
    </dgm:pt>
    <dgm:pt modelId="{B9ACC3DC-5844-4315-9B7E-7E43A7F4134D}" type="pres">
      <dgm:prSet presAssocID="{004DDB2B-FFEA-494E-A307-C9FBD1686D34}" presName="vert1" presStyleCnt="0"/>
      <dgm:spPr/>
    </dgm:pt>
  </dgm:ptLst>
  <dgm:cxnLst>
    <dgm:cxn modelId="{14E6FBF5-BD67-4C91-972E-4A6A6DB54596}" srcId="{4EC91380-8D61-46B0-A8B6-9CD8FDE74331}" destId="{004DDB2B-FFEA-494E-A307-C9FBD1686D34}" srcOrd="0" destOrd="0" parTransId="{338A78F7-5CC6-406A-9F6A-970A11083334}" sibTransId="{6C73C10B-C21D-4372-99C3-68A614E58C50}"/>
    <dgm:cxn modelId="{F8AF009C-6F88-42E5-814E-2B9B6A760D52}" type="presOf" srcId="{004DDB2B-FFEA-494E-A307-C9FBD1686D34}" destId="{763959EA-1CCC-4C7B-8F41-3900B2DD59E1}" srcOrd="0" destOrd="0" presId="urn:microsoft.com/office/officeart/2008/layout/LinedList"/>
    <dgm:cxn modelId="{070ABEB1-7AC0-4FC5-92BF-4AA498018422}" type="presOf" srcId="{4EC91380-8D61-46B0-A8B6-9CD8FDE74331}" destId="{08BEA2B0-6431-4219-82C6-011DFCB40115}" srcOrd="0" destOrd="0" presId="urn:microsoft.com/office/officeart/2008/layout/LinedList"/>
    <dgm:cxn modelId="{3C8DFD07-21D1-4C82-8FDD-2E48561E4C78}" type="presParOf" srcId="{08BEA2B0-6431-4219-82C6-011DFCB40115}" destId="{F8CCDCF9-37C3-4971-899E-9D972A02B8FF}" srcOrd="0" destOrd="0" presId="urn:microsoft.com/office/officeart/2008/layout/LinedList"/>
    <dgm:cxn modelId="{D312EF9C-FAAF-4CF0-A249-B2A7C7BBECF4}" type="presParOf" srcId="{08BEA2B0-6431-4219-82C6-011DFCB40115}" destId="{E327B446-AEEF-4873-9D99-641BFF5A18C9}" srcOrd="1" destOrd="0" presId="urn:microsoft.com/office/officeart/2008/layout/LinedList"/>
    <dgm:cxn modelId="{23532357-123E-4A7A-905C-EB1F3E14BA1D}" type="presParOf" srcId="{E327B446-AEEF-4873-9D99-641BFF5A18C9}" destId="{763959EA-1CCC-4C7B-8F41-3900B2DD59E1}" srcOrd="0" destOrd="0" presId="urn:microsoft.com/office/officeart/2008/layout/LinedList"/>
    <dgm:cxn modelId="{92E6BC07-BD46-48D2-BB60-1F6135BAB6CF}" type="presParOf" srcId="{E327B446-AEEF-4873-9D99-641BFF5A18C9}" destId="{B9ACC3DC-5844-4315-9B7E-7E43A7F4134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709E7969-1DE6-4046-AF8E-E66BEFEE1D4B}"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F4491C6E-1761-47C8-A44C-289693B11326}">
      <dgm:prSet/>
      <dgm:spPr/>
      <dgm:t>
        <a:bodyPr/>
        <a:lstStyle/>
        <a:p>
          <a:pPr rtl="0"/>
          <a:r>
            <a:rPr lang="en-US" b="1" smtClean="0"/>
            <a:t>Ultrasonography</a:t>
          </a:r>
          <a:endParaRPr lang="en-US"/>
        </a:p>
      </dgm:t>
    </dgm:pt>
    <dgm:pt modelId="{CC9F777D-90CA-41CC-A740-025EC2DD2C14}" type="parTrans" cxnId="{AA3CF85B-CFD6-4B6B-8D07-A2928B0E90F9}">
      <dgm:prSet/>
      <dgm:spPr/>
      <dgm:t>
        <a:bodyPr/>
        <a:lstStyle/>
        <a:p>
          <a:endParaRPr lang="en-US"/>
        </a:p>
      </dgm:t>
    </dgm:pt>
    <dgm:pt modelId="{A136C3C1-FFA9-4740-B566-9A9339E9F0E2}" type="sibTrans" cxnId="{AA3CF85B-CFD6-4B6B-8D07-A2928B0E90F9}">
      <dgm:prSet/>
      <dgm:spPr/>
      <dgm:t>
        <a:bodyPr/>
        <a:lstStyle/>
        <a:p>
          <a:endParaRPr lang="en-US"/>
        </a:p>
      </dgm:t>
    </dgm:pt>
    <dgm:pt modelId="{BDE10C17-E876-4804-9CE2-9B9399886541}" type="pres">
      <dgm:prSet presAssocID="{709E7969-1DE6-4046-AF8E-E66BEFEE1D4B}" presName="vert0" presStyleCnt="0">
        <dgm:presLayoutVars>
          <dgm:dir/>
          <dgm:animOne val="branch"/>
          <dgm:animLvl val="lvl"/>
        </dgm:presLayoutVars>
      </dgm:prSet>
      <dgm:spPr/>
    </dgm:pt>
    <dgm:pt modelId="{C0BB050B-A6B4-4062-90AE-C1C037A6A664}" type="pres">
      <dgm:prSet presAssocID="{F4491C6E-1761-47C8-A44C-289693B11326}" presName="thickLine" presStyleLbl="alignNode1" presStyleIdx="0" presStyleCnt="1"/>
      <dgm:spPr/>
    </dgm:pt>
    <dgm:pt modelId="{76C80267-BB40-43B1-A866-DD1B3458ACBF}" type="pres">
      <dgm:prSet presAssocID="{F4491C6E-1761-47C8-A44C-289693B11326}" presName="horz1" presStyleCnt="0"/>
      <dgm:spPr/>
    </dgm:pt>
    <dgm:pt modelId="{2DDEE5B5-DDF7-455F-B025-A57B9C60C653}" type="pres">
      <dgm:prSet presAssocID="{F4491C6E-1761-47C8-A44C-289693B11326}" presName="tx1" presStyleLbl="revTx" presStyleIdx="0" presStyleCnt="1"/>
      <dgm:spPr/>
    </dgm:pt>
    <dgm:pt modelId="{68B39A21-9791-48E0-AC60-0AC0F3F2B1B6}" type="pres">
      <dgm:prSet presAssocID="{F4491C6E-1761-47C8-A44C-289693B11326}" presName="vert1" presStyleCnt="0"/>
      <dgm:spPr/>
    </dgm:pt>
  </dgm:ptLst>
  <dgm:cxnLst>
    <dgm:cxn modelId="{AA3CF85B-CFD6-4B6B-8D07-A2928B0E90F9}" srcId="{709E7969-1DE6-4046-AF8E-E66BEFEE1D4B}" destId="{F4491C6E-1761-47C8-A44C-289693B11326}" srcOrd="0" destOrd="0" parTransId="{CC9F777D-90CA-41CC-A740-025EC2DD2C14}" sibTransId="{A136C3C1-FFA9-4740-B566-9A9339E9F0E2}"/>
    <dgm:cxn modelId="{86AAAE0C-C51F-4CB7-9250-712AAFF3C00C}" type="presOf" srcId="{F4491C6E-1761-47C8-A44C-289693B11326}" destId="{2DDEE5B5-DDF7-455F-B025-A57B9C60C653}" srcOrd="0" destOrd="0" presId="urn:microsoft.com/office/officeart/2008/layout/LinedList"/>
    <dgm:cxn modelId="{EDBE543D-4494-4544-8C93-27191ABC3449}" type="presOf" srcId="{709E7969-1DE6-4046-AF8E-E66BEFEE1D4B}" destId="{BDE10C17-E876-4804-9CE2-9B9399886541}" srcOrd="0" destOrd="0" presId="urn:microsoft.com/office/officeart/2008/layout/LinedList"/>
    <dgm:cxn modelId="{3178ECFE-DC2F-478E-869C-8467A58B7401}" type="presParOf" srcId="{BDE10C17-E876-4804-9CE2-9B9399886541}" destId="{C0BB050B-A6B4-4062-90AE-C1C037A6A664}" srcOrd="0" destOrd="0" presId="urn:microsoft.com/office/officeart/2008/layout/LinedList"/>
    <dgm:cxn modelId="{D2E85C79-E46F-4A4D-8C18-5CD8CB4DA3F8}" type="presParOf" srcId="{BDE10C17-E876-4804-9CE2-9B9399886541}" destId="{76C80267-BB40-43B1-A866-DD1B3458ACBF}" srcOrd="1" destOrd="0" presId="urn:microsoft.com/office/officeart/2008/layout/LinedList"/>
    <dgm:cxn modelId="{22E9C93D-F106-4A17-AB97-82A94DC1DE9E}" type="presParOf" srcId="{76C80267-BB40-43B1-A866-DD1B3458ACBF}" destId="{2DDEE5B5-DDF7-455F-B025-A57B9C60C653}" srcOrd="0" destOrd="0" presId="urn:microsoft.com/office/officeart/2008/layout/LinedList"/>
    <dgm:cxn modelId="{ACE9F705-9DF2-4677-91D6-32F0FD6FE227}" type="presParOf" srcId="{76C80267-BB40-43B1-A866-DD1B3458ACBF}" destId="{68B39A21-9791-48E0-AC60-0AC0F3F2B1B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A6A0A806-6E46-432A-83CF-2BC720466B9F}"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54AC8BBE-0F77-4914-8179-A4ED06BF2F37}">
      <dgm:prSet/>
      <dgm:spPr/>
      <dgm:t>
        <a:bodyPr/>
        <a:lstStyle/>
        <a:p>
          <a:pPr rtl="0"/>
          <a:r>
            <a:rPr lang="en-US" b="1" smtClean="0"/>
            <a:t>MRI</a:t>
          </a:r>
          <a:endParaRPr lang="en-US"/>
        </a:p>
      </dgm:t>
    </dgm:pt>
    <dgm:pt modelId="{B0AFCDDD-6D78-431E-8A34-09FA0B4284D6}" type="parTrans" cxnId="{DE79EE7F-E4D0-4A29-A1E8-616B885C7FE2}">
      <dgm:prSet/>
      <dgm:spPr/>
      <dgm:t>
        <a:bodyPr/>
        <a:lstStyle/>
        <a:p>
          <a:endParaRPr lang="en-US"/>
        </a:p>
      </dgm:t>
    </dgm:pt>
    <dgm:pt modelId="{13AAE41B-41D6-4377-B13E-0D3CAB913F81}" type="sibTrans" cxnId="{DE79EE7F-E4D0-4A29-A1E8-616B885C7FE2}">
      <dgm:prSet/>
      <dgm:spPr/>
      <dgm:t>
        <a:bodyPr/>
        <a:lstStyle/>
        <a:p>
          <a:endParaRPr lang="en-US"/>
        </a:p>
      </dgm:t>
    </dgm:pt>
    <dgm:pt modelId="{FA5305DD-65B7-4E59-86E7-1C66A39A2217}" type="pres">
      <dgm:prSet presAssocID="{A6A0A806-6E46-432A-83CF-2BC720466B9F}" presName="vert0" presStyleCnt="0">
        <dgm:presLayoutVars>
          <dgm:dir/>
          <dgm:animOne val="branch"/>
          <dgm:animLvl val="lvl"/>
        </dgm:presLayoutVars>
      </dgm:prSet>
      <dgm:spPr/>
    </dgm:pt>
    <dgm:pt modelId="{66995980-B6E8-475F-9CBA-E6460E7A5B59}" type="pres">
      <dgm:prSet presAssocID="{54AC8BBE-0F77-4914-8179-A4ED06BF2F37}" presName="thickLine" presStyleLbl="alignNode1" presStyleIdx="0" presStyleCnt="1"/>
      <dgm:spPr/>
    </dgm:pt>
    <dgm:pt modelId="{0BF3FD38-5FBF-4C05-A974-40DDA7D96A51}" type="pres">
      <dgm:prSet presAssocID="{54AC8BBE-0F77-4914-8179-A4ED06BF2F37}" presName="horz1" presStyleCnt="0"/>
      <dgm:spPr/>
    </dgm:pt>
    <dgm:pt modelId="{71EC54B3-3414-4CE7-B079-1661BEB5707D}" type="pres">
      <dgm:prSet presAssocID="{54AC8BBE-0F77-4914-8179-A4ED06BF2F37}" presName="tx1" presStyleLbl="revTx" presStyleIdx="0" presStyleCnt="1"/>
      <dgm:spPr/>
    </dgm:pt>
    <dgm:pt modelId="{C0F57C90-A438-42CC-9B02-F24280BE3BA3}" type="pres">
      <dgm:prSet presAssocID="{54AC8BBE-0F77-4914-8179-A4ED06BF2F37}" presName="vert1" presStyleCnt="0"/>
      <dgm:spPr/>
    </dgm:pt>
  </dgm:ptLst>
  <dgm:cxnLst>
    <dgm:cxn modelId="{CCB93B02-E4D4-4EE1-BC63-3A9AA502F1D3}" type="presOf" srcId="{A6A0A806-6E46-432A-83CF-2BC720466B9F}" destId="{FA5305DD-65B7-4E59-86E7-1C66A39A2217}" srcOrd="0" destOrd="0" presId="urn:microsoft.com/office/officeart/2008/layout/LinedList"/>
    <dgm:cxn modelId="{DE79EE7F-E4D0-4A29-A1E8-616B885C7FE2}" srcId="{A6A0A806-6E46-432A-83CF-2BC720466B9F}" destId="{54AC8BBE-0F77-4914-8179-A4ED06BF2F37}" srcOrd="0" destOrd="0" parTransId="{B0AFCDDD-6D78-431E-8A34-09FA0B4284D6}" sibTransId="{13AAE41B-41D6-4377-B13E-0D3CAB913F81}"/>
    <dgm:cxn modelId="{801A91DF-2E11-424D-861C-A17097CDF4CD}" type="presOf" srcId="{54AC8BBE-0F77-4914-8179-A4ED06BF2F37}" destId="{71EC54B3-3414-4CE7-B079-1661BEB5707D}" srcOrd="0" destOrd="0" presId="urn:microsoft.com/office/officeart/2008/layout/LinedList"/>
    <dgm:cxn modelId="{58DE4A93-C6CB-429D-A407-B2664FF6ADE7}" type="presParOf" srcId="{FA5305DD-65B7-4E59-86E7-1C66A39A2217}" destId="{66995980-B6E8-475F-9CBA-E6460E7A5B59}" srcOrd="0" destOrd="0" presId="urn:microsoft.com/office/officeart/2008/layout/LinedList"/>
    <dgm:cxn modelId="{2DF53905-291D-4B24-88BD-E82AD0C72181}" type="presParOf" srcId="{FA5305DD-65B7-4E59-86E7-1C66A39A2217}" destId="{0BF3FD38-5FBF-4C05-A974-40DDA7D96A51}" srcOrd="1" destOrd="0" presId="urn:microsoft.com/office/officeart/2008/layout/LinedList"/>
    <dgm:cxn modelId="{3FEAE4D7-C68D-4D03-A9AA-1919AC21F8FE}" type="presParOf" srcId="{0BF3FD38-5FBF-4C05-A974-40DDA7D96A51}" destId="{71EC54B3-3414-4CE7-B079-1661BEB5707D}" srcOrd="0" destOrd="0" presId="urn:microsoft.com/office/officeart/2008/layout/LinedList"/>
    <dgm:cxn modelId="{9CB448B5-F092-4E91-AFAE-3DA6746A662D}" type="presParOf" srcId="{0BF3FD38-5FBF-4C05-A974-40DDA7D96A51}" destId="{C0F57C90-A438-42CC-9B02-F24280BE3BA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D054D2B2-70C2-4F9B-ABB0-5B2DD15E67E2}"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F62A5128-1B34-409F-91A1-E5B36A13AAEC}">
      <dgm:prSet/>
      <dgm:spPr/>
      <dgm:t>
        <a:bodyPr/>
        <a:lstStyle/>
        <a:p>
          <a:pPr rtl="0"/>
          <a:r>
            <a:rPr lang="en-US" b="1" smtClean="0"/>
            <a:t>Breast Biopsy</a:t>
          </a:r>
          <a:endParaRPr lang="en-US"/>
        </a:p>
      </dgm:t>
    </dgm:pt>
    <dgm:pt modelId="{6784D2ED-1634-4F0C-ACFE-1FCE81C640FF}" type="parTrans" cxnId="{B998FD49-55FD-4C0B-8E74-87BA98F4084D}">
      <dgm:prSet/>
      <dgm:spPr/>
      <dgm:t>
        <a:bodyPr/>
        <a:lstStyle/>
        <a:p>
          <a:endParaRPr lang="en-US"/>
        </a:p>
      </dgm:t>
    </dgm:pt>
    <dgm:pt modelId="{0B3E347B-5AF1-4154-A06F-2FF03C721476}" type="sibTrans" cxnId="{B998FD49-55FD-4C0B-8E74-87BA98F4084D}">
      <dgm:prSet/>
      <dgm:spPr/>
      <dgm:t>
        <a:bodyPr/>
        <a:lstStyle/>
        <a:p>
          <a:endParaRPr lang="en-US"/>
        </a:p>
      </dgm:t>
    </dgm:pt>
    <dgm:pt modelId="{A06D6FE2-E209-41C8-A4D2-61A692D90D26}" type="pres">
      <dgm:prSet presAssocID="{D054D2B2-70C2-4F9B-ABB0-5B2DD15E67E2}" presName="vert0" presStyleCnt="0">
        <dgm:presLayoutVars>
          <dgm:dir/>
          <dgm:animOne val="branch"/>
          <dgm:animLvl val="lvl"/>
        </dgm:presLayoutVars>
      </dgm:prSet>
      <dgm:spPr/>
    </dgm:pt>
    <dgm:pt modelId="{E48F7277-A552-48A2-AB04-C43FD586968B}" type="pres">
      <dgm:prSet presAssocID="{F62A5128-1B34-409F-91A1-E5B36A13AAEC}" presName="thickLine" presStyleLbl="alignNode1" presStyleIdx="0" presStyleCnt="1"/>
      <dgm:spPr/>
    </dgm:pt>
    <dgm:pt modelId="{EE473BB0-373E-43D1-9C79-C0D07E44BA98}" type="pres">
      <dgm:prSet presAssocID="{F62A5128-1B34-409F-91A1-E5B36A13AAEC}" presName="horz1" presStyleCnt="0"/>
      <dgm:spPr/>
    </dgm:pt>
    <dgm:pt modelId="{151D13C7-13B6-411E-81B6-05E437039FBC}" type="pres">
      <dgm:prSet presAssocID="{F62A5128-1B34-409F-91A1-E5B36A13AAEC}" presName="tx1" presStyleLbl="revTx" presStyleIdx="0" presStyleCnt="1"/>
      <dgm:spPr/>
    </dgm:pt>
    <dgm:pt modelId="{B63A38ED-C9E3-4E54-AEEE-1DE7B9698480}" type="pres">
      <dgm:prSet presAssocID="{F62A5128-1B34-409F-91A1-E5B36A13AAEC}" presName="vert1" presStyleCnt="0"/>
      <dgm:spPr/>
    </dgm:pt>
  </dgm:ptLst>
  <dgm:cxnLst>
    <dgm:cxn modelId="{15C209A8-53C2-4619-A0F5-506B22A2764D}" type="presOf" srcId="{F62A5128-1B34-409F-91A1-E5B36A13AAEC}" destId="{151D13C7-13B6-411E-81B6-05E437039FBC}" srcOrd="0" destOrd="0" presId="urn:microsoft.com/office/officeart/2008/layout/LinedList"/>
    <dgm:cxn modelId="{B998FD49-55FD-4C0B-8E74-87BA98F4084D}" srcId="{D054D2B2-70C2-4F9B-ABB0-5B2DD15E67E2}" destId="{F62A5128-1B34-409F-91A1-E5B36A13AAEC}" srcOrd="0" destOrd="0" parTransId="{6784D2ED-1634-4F0C-ACFE-1FCE81C640FF}" sibTransId="{0B3E347B-5AF1-4154-A06F-2FF03C721476}"/>
    <dgm:cxn modelId="{D0FCB950-1F2B-4A65-AB2E-6505198BF701}" type="presOf" srcId="{D054D2B2-70C2-4F9B-ABB0-5B2DD15E67E2}" destId="{A06D6FE2-E209-41C8-A4D2-61A692D90D26}" srcOrd="0" destOrd="0" presId="urn:microsoft.com/office/officeart/2008/layout/LinedList"/>
    <dgm:cxn modelId="{82450C24-D349-48CC-A84C-855D4210FD69}" type="presParOf" srcId="{A06D6FE2-E209-41C8-A4D2-61A692D90D26}" destId="{E48F7277-A552-48A2-AB04-C43FD586968B}" srcOrd="0" destOrd="0" presId="urn:microsoft.com/office/officeart/2008/layout/LinedList"/>
    <dgm:cxn modelId="{02D2F0D4-2A58-459A-9F5F-BA747C7B5D84}" type="presParOf" srcId="{A06D6FE2-E209-41C8-A4D2-61A692D90D26}" destId="{EE473BB0-373E-43D1-9C79-C0D07E44BA98}" srcOrd="1" destOrd="0" presId="urn:microsoft.com/office/officeart/2008/layout/LinedList"/>
    <dgm:cxn modelId="{89D02D36-489F-4EA2-8632-F86F6B058188}" type="presParOf" srcId="{EE473BB0-373E-43D1-9C79-C0D07E44BA98}" destId="{151D13C7-13B6-411E-81B6-05E437039FBC}" srcOrd="0" destOrd="0" presId="urn:microsoft.com/office/officeart/2008/layout/LinedList"/>
    <dgm:cxn modelId="{FD942383-A75E-4B79-8E4B-C1CF5DA8DEE8}" type="presParOf" srcId="{EE473BB0-373E-43D1-9C79-C0D07E44BA98}" destId="{B63A38ED-C9E3-4E54-AEEE-1DE7B969848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545FEFAA-7783-4B91-BFE0-53D29E7A791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DEC5EDC-5ABC-47DE-A6AF-09F16428E2EB}">
      <dgm:prSet/>
      <dgm:spPr/>
      <dgm:t>
        <a:bodyPr/>
        <a:lstStyle/>
        <a:p>
          <a:pPr rtl="0"/>
          <a:r>
            <a:rPr lang="en-US" b="1" smtClean="0"/>
            <a:t>Diagnostic Pathway: Triple Assessment</a:t>
          </a:r>
          <a:endParaRPr lang="en-US"/>
        </a:p>
      </dgm:t>
    </dgm:pt>
    <dgm:pt modelId="{242B3E7E-35E2-4F35-A48B-5D68219BE043}" type="parTrans" cxnId="{8835E0C5-9233-4738-96CD-9E2D926DFB71}">
      <dgm:prSet/>
      <dgm:spPr/>
      <dgm:t>
        <a:bodyPr/>
        <a:lstStyle/>
        <a:p>
          <a:endParaRPr lang="en-US"/>
        </a:p>
      </dgm:t>
    </dgm:pt>
    <dgm:pt modelId="{7182B118-19FC-4498-9F8C-9D3AE7261554}" type="sibTrans" cxnId="{8835E0C5-9233-4738-96CD-9E2D926DFB71}">
      <dgm:prSet/>
      <dgm:spPr/>
      <dgm:t>
        <a:bodyPr/>
        <a:lstStyle/>
        <a:p>
          <a:endParaRPr lang="en-US"/>
        </a:p>
      </dgm:t>
    </dgm:pt>
    <dgm:pt modelId="{E7FC5C72-6CAB-481F-9398-F8B13B4B8B95}" type="pres">
      <dgm:prSet presAssocID="{545FEFAA-7783-4B91-BFE0-53D29E7A7913}" presName="linear" presStyleCnt="0">
        <dgm:presLayoutVars>
          <dgm:animLvl val="lvl"/>
          <dgm:resizeHandles val="exact"/>
        </dgm:presLayoutVars>
      </dgm:prSet>
      <dgm:spPr/>
    </dgm:pt>
    <dgm:pt modelId="{D4ACB988-345C-4DF7-ADE5-3A1487992C6D}" type="pres">
      <dgm:prSet presAssocID="{4DEC5EDC-5ABC-47DE-A6AF-09F16428E2EB}" presName="parentText" presStyleLbl="node1" presStyleIdx="0" presStyleCnt="1">
        <dgm:presLayoutVars>
          <dgm:chMax val="0"/>
          <dgm:bulletEnabled val="1"/>
        </dgm:presLayoutVars>
      </dgm:prSet>
      <dgm:spPr/>
    </dgm:pt>
  </dgm:ptLst>
  <dgm:cxnLst>
    <dgm:cxn modelId="{C8E80107-7756-46D5-919A-002C0DB382D0}" type="presOf" srcId="{545FEFAA-7783-4B91-BFE0-53D29E7A7913}" destId="{E7FC5C72-6CAB-481F-9398-F8B13B4B8B95}" srcOrd="0" destOrd="0" presId="urn:microsoft.com/office/officeart/2005/8/layout/vList2"/>
    <dgm:cxn modelId="{520E05AF-8647-4384-ABB3-76A5DB9402AC}" type="presOf" srcId="{4DEC5EDC-5ABC-47DE-A6AF-09F16428E2EB}" destId="{D4ACB988-345C-4DF7-ADE5-3A1487992C6D}" srcOrd="0" destOrd="0" presId="urn:microsoft.com/office/officeart/2005/8/layout/vList2"/>
    <dgm:cxn modelId="{8835E0C5-9233-4738-96CD-9E2D926DFB71}" srcId="{545FEFAA-7783-4B91-BFE0-53D29E7A7913}" destId="{4DEC5EDC-5ABC-47DE-A6AF-09F16428E2EB}" srcOrd="0" destOrd="0" parTransId="{242B3E7E-35E2-4F35-A48B-5D68219BE043}" sibTransId="{7182B118-19FC-4498-9F8C-9D3AE7261554}"/>
    <dgm:cxn modelId="{1C671F98-CEF5-433F-9196-3E926018BD51}" type="presParOf" srcId="{E7FC5C72-6CAB-481F-9398-F8B13B4B8B95}" destId="{D4ACB988-345C-4DF7-ADE5-3A1487992C6D}"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1DBB9315-4989-42D6-A73C-DEF4CD4CCA6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EBB6A2C-15FF-4DC5-832E-E59EA19B7BDF}">
      <dgm:prSet/>
      <dgm:spPr/>
      <dgm:t>
        <a:bodyPr/>
        <a:lstStyle/>
        <a:p>
          <a:pPr rtl="0"/>
          <a:r>
            <a:rPr lang="en-US" b="1" smtClean="0"/>
            <a:t>Breast Cancer Staging and Biomarkers</a:t>
          </a:r>
          <a:endParaRPr lang="en-US"/>
        </a:p>
      </dgm:t>
    </dgm:pt>
    <dgm:pt modelId="{ABAFEF89-80B5-4204-8D3D-1B4B238A8A49}" type="parTrans" cxnId="{515FD06C-3F0D-48D4-8F15-02A7907E8574}">
      <dgm:prSet/>
      <dgm:spPr/>
      <dgm:t>
        <a:bodyPr/>
        <a:lstStyle/>
        <a:p>
          <a:endParaRPr lang="en-US"/>
        </a:p>
      </dgm:t>
    </dgm:pt>
    <dgm:pt modelId="{A5657693-E641-4EDD-A1DC-46CAE7FEED88}" type="sibTrans" cxnId="{515FD06C-3F0D-48D4-8F15-02A7907E8574}">
      <dgm:prSet/>
      <dgm:spPr/>
      <dgm:t>
        <a:bodyPr/>
        <a:lstStyle/>
        <a:p>
          <a:endParaRPr lang="en-US"/>
        </a:p>
      </dgm:t>
    </dgm:pt>
    <dgm:pt modelId="{C6C548B5-0588-4206-A248-626178E823C3}" type="pres">
      <dgm:prSet presAssocID="{1DBB9315-4989-42D6-A73C-DEF4CD4CCA67}" presName="linear" presStyleCnt="0">
        <dgm:presLayoutVars>
          <dgm:animLvl val="lvl"/>
          <dgm:resizeHandles val="exact"/>
        </dgm:presLayoutVars>
      </dgm:prSet>
      <dgm:spPr/>
    </dgm:pt>
    <dgm:pt modelId="{10B6B9A5-103D-4B9B-93E4-23B27D42805D}" type="pres">
      <dgm:prSet presAssocID="{9EBB6A2C-15FF-4DC5-832E-E59EA19B7BDF}" presName="parentText" presStyleLbl="node1" presStyleIdx="0" presStyleCnt="1">
        <dgm:presLayoutVars>
          <dgm:chMax val="0"/>
          <dgm:bulletEnabled val="1"/>
        </dgm:presLayoutVars>
      </dgm:prSet>
      <dgm:spPr/>
    </dgm:pt>
  </dgm:ptLst>
  <dgm:cxnLst>
    <dgm:cxn modelId="{515FD06C-3F0D-48D4-8F15-02A7907E8574}" srcId="{1DBB9315-4989-42D6-A73C-DEF4CD4CCA67}" destId="{9EBB6A2C-15FF-4DC5-832E-E59EA19B7BDF}" srcOrd="0" destOrd="0" parTransId="{ABAFEF89-80B5-4204-8D3D-1B4B238A8A49}" sibTransId="{A5657693-E641-4EDD-A1DC-46CAE7FEED88}"/>
    <dgm:cxn modelId="{6F8713B1-5B52-4329-A486-141BE4C8CDED}" type="presOf" srcId="{9EBB6A2C-15FF-4DC5-832E-E59EA19B7BDF}" destId="{10B6B9A5-103D-4B9B-93E4-23B27D42805D}" srcOrd="0" destOrd="0" presId="urn:microsoft.com/office/officeart/2005/8/layout/vList2"/>
    <dgm:cxn modelId="{F470224A-BD7D-4A11-9F75-AE28FBF11B42}" type="presOf" srcId="{1DBB9315-4989-42D6-A73C-DEF4CD4CCA67}" destId="{C6C548B5-0588-4206-A248-626178E823C3}" srcOrd="0" destOrd="0" presId="urn:microsoft.com/office/officeart/2005/8/layout/vList2"/>
    <dgm:cxn modelId="{D87DA01F-A507-4BAA-8513-83727BD0FE92}" type="presParOf" srcId="{C6C548B5-0588-4206-A248-626178E823C3}" destId="{10B6B9A5-103D-4B9B-93E4-23B27D42805D}"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0189A6B8-8BFC-4150-BA96-CD7EF75A752D}"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43F07936-ABBF-4672-9D4A-EAA1CAF153FB}">
      <dgm:prSet/>
      <dgm:spPr/>
      <dgm:t>
        <a:bodyPr/>
        <a:lstStyle/>
        <a:p>
          <a:pPr rtl="0"/>
          <a:r>
            <a:rPr lang="en-US" b="1" smtClean="0"/>
            <a:t>TNM Stage Groupings</a:t>
          </a:r>
          <a:endParaRPr lang="en-US"/>
        </a:p>
      </dgm:t>
    </dgm:pt>
    <dgm:pt modelId="{A6490563-DA8C-4174-B6CD-AA32FC52675F}" type="parTrans" cxnId="{A7A22504-3B68-44AE-9F67-9F6DB0041363}">
      <dgm:prSet/>
      <dgm:spPr/>
      <dgm:t>
        <a:bodyPr/>
        <a:lstStyle/>
        <a:p>
          <a:endParaRPr lang="en-US"/>
        </a:p>
      </dgm:t>
    </dgm:pt>
    <dgm:pt modelId="{AA0D9DF9-BDD6-4ABF-A9A5-86D98F8E163D}" type="sibTrans" cxnId="{A7A22504-3B68-44AE-9F67-9F6DB0041363}">
      <dgm:prSet/>
      <dgm:spPr/>
      <dgm:t>
        <a:bodyPr/>
        <a:lstStyle/>
        <a:p>
          <a:endParaRPr lang="en-US"/>
        </a:p>
      </dgm:t>
    </dgm:pt>
    <dgm:pt modelId="{F19C4918-A7BF-4DD6-ADAE-C4CEEED663BA}" type="pres">
      <dgm:prSet presAssocID="{0189A6B8-8BFC-4150-BA96-CD7EF75A752D}" presName="vert0" presStyleCnt="0">
        <dgm:presLayoutVars>
          <dgm:dir/>
          <dgm:animOne val="branch"/>
          <dgm:animLvl val="lvl"/>
        </dgm:presLayoutVars>
      </dgm:prSet>
      <dgm:spPr/>
    </dgm:pt>
    <dgm:pt modelId="{E132AF40-10BA-431A-ADE9-C532D1A149C5}" type="pres">
      <dgm:prSet presAssocID="{43F07936-ABBF-4672-9D4A-EAA1CAF153FB}" presName="thickLine" presStyleLbl="alignNode1" presStyleIdx="0" presStyleCnt="1"/>
      <dgm:spPr/>
    </dgm:pt>
    <dgm:pt modelId="{D8A6B3AB-0D72-4F67-83A3-04B86C700858}" type="pres">
      <dgm:prSet presAssocID="{43F07936-ABBF-4672-9D4A-EAA1CAF153FB}" presName="horz1" presStyleCnt="0"/>
      <dgm:spPr/>
    </dgm:pt>
    <dgm:pt modelId="{BECC285A-CC22-4BAB-96E3-E7EAF0EBB906}" type="pres">
      <dgm:prSet presAssocID="{43F07936-ABBF-4672-9D4A-EAA1CAF153FB}" presName="tx1" presStyleLbl="revTx" presStyleIdx="0" presStyleCnt="1"/>
      <dgm:spPr/>
    </dgm:pt>
    <dgm:pt modelId="{B0A0670C-BFA3-4C6C-BBB3-A7CC64368EDC}" type="pres">
      <dgm:prSet presAssocID="{43F07936-ABBF-4672-9D4A-EAA1CAF153FB}" presName="vert1" presStyleCnt="0"/>
      <dgm:spPr/>
    </dgm:pt>
  </dgm:ptLst>
  <dgm:cxnLst>
    <dgm:cxn modelId="{B1C378E6-6083-4F42-A26E-457D5795C4AF}" type="presOf" srcId="{0189A6B8-8BFC-4150-BA96-CD7EF75A752D}" destId="{F19C4918-A7BF-4DD6-ADAE-C4CEEED663BA}" srcOrd="0" destOrd="0" presId="urn:microsoft.com/office/officeart/2008/layout/LinedList"/>
    <dgm:cxn modelId="{B051E3A6-1A3B-44DD-B50F-20DD09C8F36B}" type="presOf" srcId="{43F07936-ABBF-4672-9D4A-EAA1CAF153FB}" destId="{BECC285A-CC22-4BAB-96E3-E7EAF0EBB906}" srcOrd="0" destOrd="0" presId="urn:microsoft.com/office/officeart/2008/layout/LinedList"/>
    <dgm:cxn modelId="{A7A22504-3B68-44AE-9F67-9F6DB0041363}" srcId="{0189A6B8-8BFC-4150-BA96-CD7EF75A752D}" destId="{43F07936-ABBF-4672-9D4A-EAA1CAF153FB}" srcOrd="0" destOrd="0" parTransId="{A6490563-DA8C-4174-B6CD-AA32FC52675F}" sibTransId="{AA0D9DF9-BDD6-4ABF-A9A5-86D98F8E163D}"/>
    <dgm:cxn modelId="{6D1ADDB1-763D-4683-B9A0-DBB9CF0BC788}" type="presParOf" srcId="{F19C4918-A7BF-4DD6-ADAE-C4CEEED663BA}" destId="{E132AF40-10BA-431A-ADE9-C532D1A149C5}" srcOrd="0" destOrd="0" presId="urn:microsoft.com/office/officeart/2008/layout/LinedList"/>
    <dgm:cxn modelId="{193CDD35-30FD-46D6-8464-80FEC583D217}" type="presParOf" srcId="{F19C4918-A7BF-4DD6-ADAE-C4CEEED663BA}" destId="{D8A6B3AB-0D72-4F67-83A3-04B86C700858}" srcOrd="1" destOrd="0" presId="urn:microsoft.com/office/officeart/2008/layout/LinedList"/>
    <dgm:cxn modelId="{6CC39932-6567-4338-B824-F002B845657B}" type="presParOf" srcId="{D8A6B3AB-0D72-4F67-83A3-04B86C700858}" destId="{BECC285A-CC22-4BAB-96E3-E7EAF0EBB906}" srcOrd="0" destOrd="0" presId="urn:microsoft.com/office/officeart/2008/layout/LinedList"/>
    <dgm:cxn modelId="{082254EA-B60E-41E2-8CBE-C38F2C336429}" type="presParOf" srcId="{D8A6B3AB-0D72-4F67-83A3-04B86C700858}" destId="{B0A0670C-BFA3-4C6C-BBB3-A7CC64368ED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DC64CBBA-59D2-474A-9235-CD3A90FCE132}"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99C8FF20-6850-4D98-A9C2-EAD7BF9E47BB}">
      <dgm:prSet/>
      <dgm:spPr/>
      <dgm:t>
        <a:bodyPr/>
        <a:lstStyle/>
        <a:p>
          <a:pPr rtl="0"/>
          <a:r>
            <a:rPr lang="en-US" b="1" smtClean="0"/>
            <a:t>Biomarkers</a:t>
          </a:r>
          <a:endParaRPr lang="en-US"/>
        </a:p>
      </dgm:t>
    </dgm:pt>
    <dgm:pt modelId="{079AD028-6E83-4257-A069-9BA064977D55}" type="parTrans" cxnId="{51C707AD-5A5C-46D2-8D2C-864F34344901}">
      <dgm:prSet/>
      <dgm:spPr/>
      <dgm:t>
        <a:bodyPr/>
        <a:lstStyle/>
        <a:p>
          <a:endParaRPr lang="en-US"/>
        </a:p>
      </dgm:t>
    </dgm:pt>
    <dgm:pt modelId="{5D6A01F2-070E-47E8-9A04-ACDAB5B4B22F}" type="sibTrans" cxnId="{51C707AD-5A5C-46D2-8D2C-864F34344901}">
      <dgm:prSet/>
      <dgm:spPr/>
      <dgm:t>
        <a:bodyPr/>
        <a:lstStyle/>
        <a:p>
          <a:endParaRPr lang="en-US"/>
        </a:p>
      </dgm:t>
    </dgm:pt>
    <dgm:pt modelId="{705C332B-250E-4A3D-B3E4-0B524B7D0190}" type="pres">
      <dgm:prSet presAssocID="{DC64CBBA-59D2-474A-9235-CD3A90FCE132}" presName="vert0" presStyleCnt="0">
        <dgm:presLayoutVars>
          <dgm:dir/>
          <dgm:animOne val="branch"/>
          <dgm:animLvl val="lvl"/>
        </dgm:presLayoutVars>
      </dgm:prSet>
      <dgm:spPr/>
    </dgm:pt>
    <dgm:pt modelId="{93F9DFE3-DB3D-4183-B5EA-E571789BD9B9}" type="pres">
      <dgm:prSet presAssocID="{99C8FF20-6850-4D98-A9C2-EAD7BF9E47BB}" presName="thickLine" presStyleLbl="alignNode1" presStyleIdx="0" presStyleCnt="1"/>
      <dgm:spPr/>
    </dgm:pt>
    <dgm:pt modelId="{0306E9D2-98FC-4ACE-A803-08FF1D7D5ABE}" type="pres">
      <dgm:prSet presAssocID="{99C8FF20-6850-4D98-A9C2-EAD7BF9E47BB}" presName="horz1" presStyleCnt="0"/>
      <dgm:spPr/>
    </dgm:pt>
    <dgm:pt modelId="{2BAA6993-50BC-4DEF-AD5E-300C83363E4A}" type="pres">
      <dgm:prSet presAssocID="{99C8FF20-6850-4D98-A9C2-EAD7BF9E47BB}" presName="tx1" presStyleLbl="revTx" presStyleIdx="0" presStyleCnt="1"/>
      <dgm:spPr/>
    </dgm:pt>
    <dgm:pt modelId="{090D74D4-A2CE-4EA0-88EE-0595F9C150FD}" type="pres">
      <dgm:prSet presAssocID="{99C8FF20-6850-4D98-A9C2-EAD7BF9E47BB}" presName="vert1" presStyleCnt="0"/>
      <dgm:spPr/>
    </dgm:pt>
  </dgm:ptLst>
  <dgm:cxnLst>
    <dgm:cxn modelId="{51C707AD-5A5C-46D2-8D2C-864F34344901}" srcId="{DC64CBBA-59D2-474A-9235-CD3A90FCE132}" destId="{99C8FF20-6850-4D98-A9C2-EAD7BF9E47BB}" srcOrd="0" destOrd="0" parTransId="{079AD028-6E83-4257-A069-9BA064977D55}" sibTransId="{5D6A01F2-070E-47E8-9A04-ACDAB5B4B22F}"/>
    <dgm:cxn modelId="{D2F77420-5032-4CA8-96AE-45A4925BC69B}" type="presOf" srcId="{99C8FF20-6850-4D98-A9C2-EAD7BF9E47BB}" destId="{2BAA6993-50BC-4DEF-AD5E-300C83363E4A}" srcOrd="0" destOrd="0" presId="urn:microsoft.com/office/officeart/2008/layout/LinedList"/>
    <dgm:cxn modelId="{F65D8782-2250-47F2-8838-3C807CF696F5}" type="presOf" srcId="{DC64CBBA-59D2-474A-9235-CD3A90FCE132}" destId="{705C332B-250E-4A3D-B3E4-0B524B7D0190}" srcOrd="0" destOrd="0" presId="urn:microsoft.com/office/officeart/2008/layout/LinedList"/>
    <dgm:cxn modelId="{201ADAC6-E233-4BB4-9D4D-21A63F293504}" type="presParOf" srcId="{705C332B-250E-4A3D-B3E4-0B524B7D0190}" destId="{93F9DFE3-DB3D-4183-B5EA-E571789BD9B9}" srcOrd="0" destOrd="0" presId="urn:microsoft.com/office/officeart/2008/layout/LinedList"/>
    <dgm:cxn modelId="{5FC73B50-071C-44CA-AF27-88DBC2BF9DA4}" type="presParOf" srcId="{705C332B-250E-4A3D-B3E4-0B524B7D0190}" destId="{0306E9D2-98FC-4ACE-A803-08FF1D7D5ABE}" srcOrd="1" destOrd="0" presId="urn:microsoft.com/office/officeart/2008/layout/LinedList"/>
    <dgm:cxn modelId="{475D8AE9-E1E9-4D16-A020-6CD1E30EDB20}" type="presParOf" srcId="{0306E9D2-98FC-4ACE-A803-08FF1D7D5ABE}" destId="{2BAA6993-50BC-4DEF-AD5E-300C83363E4A}" srcOrd="0" destOrd="0" presId="urn:microsoft.com/office/officeart/2008/layout/LinedList"/>
    <dgm:cxn modelId="{DF1B44EB-A626-4A0A-969B-8453FBCEFC7F}" type="presParOf" srcId="{0306E9D2-98FC-4ACE-A803-08FF1D7D5ABE}" destId="{090D74D4-A2CE-4EA0-88EE-0595F9C150F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3CE2E9A6-47B1-41E6-87C0-98FAB22B5A4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3B78A1D8-50FA-417A-879B-6D911415A70F}">
      <dgm:prSet/>
      <dgm:spPr/>
      <dgm:t>
        <a:bodyPr/>
        <a:lstStyle/>
        <a:p>
          <a:pPr rtl="0"/>
          <a:r>
            <a:rPr lang="en-US" b="1" smtClean="0"/>
            <a:t>Breast Cancer Therapy</a:t>
          </a:r>
          <a:endParaRPr lang="en-US"/>
        </a:p>
      </dgm:t>
    </dgm:pt>
    <dgm:pt modelId="{8921A564-EC0B-41EA-9C9E-31BFC93C1DE7}" type="parTrans" cxnId="{D2E54CE4-BB8A-47B0-B64E-AAF60B100568}">
      <dgm:prSet/>
      <dgm:spPr/>
      <dgm:t>
        <a:bodyPr/>
        <a:lstStyle/>
        <a:p>
          <a:endParaRPr lang="en-US"/>
        </a:p>
      </dgm:t>
    </dgm:pt>
    <dgm:pt modelId="{5989D9A3-B551-476E-A5D6-B80763DF39DC}" type="sibTrans" cxnId="{D2E54CE4-BB8A-47B0-B64E-AAF60B100568}">
      <dgm:prSet/>
      <dgm:spPr/>
      <dgm:t>
        <a:bodyPr/>
        <a:lstStyle/>
        <a:p>
          <a:endParaRPr lang="en-US"/>
        </a:p>
      </dgm:t>
    </dgm:pt>
    <dgm:pt modelId="{D6EEFF28-40EE-4A4C-81BB-E5B668433AD9}" type="pres">
      <dgm:prSet presAssocID="{3CE2E9A6-47B1-41E6-87C0-98FAB22B5A49}" presName="linear" presStyleCnt="0">
        <dgm:presLayoutVars>
          <dgm:animLvl val="lvl"/>
          <dgm:resizeHandles val="exact"/>
        </dgm:presLayoutVars>
      </dgm:prSet>
      <dgm:spPr/>
    </dgm:pt>
    <dgm:pt modelId="{2F473C8B-7B7E-4A64-BEBC-E00A7A8B82CF}" type="pres">
      <dgm:prSet presAssocID="{3B78A1D8-50FA-417A-879B-6D911415A70F}" presName="parentText" presStyleLbl="node1" presStyleIdx="0" presStyleCnt="1">
        <dgm:presLayoutVars>
          <dgm:chMax val="0"/>
          <dgm:bulletEnabled val="1"/>
        </dgm:presLayoutVars>
      </dgm:prSet>
      <dgm:spPr/>
    </dgm:pt>
  </dgm:ptLst>
  <dgm:cxnLst>
    <dgm:cxn modelId="{AEBC73D1-31C1-4448-9EE9-2FE2113A3EA2}" type="presOf" srcId="{3CE2E9A6-47B1-41E6-87C0-98FAB22B5A49}" destId="{D6EEFF28-40EE-4A4C-81BB-E5B668433AD9}" srcOrd="0" destOrd="0" presId="urn:microsoft.com/office/officeart/2005/8/layout/vList2"/>
    <dgm:cxn modelId="{AC2ED282-6718-4D1C-ADA7-A6CD98664B52}" type="presOf" srcId="{3B78A1D8-50FA-417A-879B-6D911415A70F}" destId="{2F473C8B-7B7E-4A64-BEBC-E00A7A8B82CF}" srcOrd="0" destOrd="0" presId="urn:microsoft.com/office/officeart/2005/8/layout/vList2"/>
    <dgm:cxn modelId="{D2E54CE4-BB8A-47B0-B64E-AAF60B100568}" srcId="{3CE2E9A6-47B1-41E6-87C0-98FAB22B5A49}" destId="{3B78A1D8-50FA-417A-879B-6D911415A70F}" srcOrd="0" destOrd="0" parTransId="{8921A564-EC0B-41EA-9C9E-31BFC93C1DE7}" sibTransId="{5989D9A3-B551-476E-A5D6-B80763DF39DC}"/>
    <dgm:cxn modelId="{036204FD-1568-4408-BCB4-032F4D7F84F8}" type="presParOf" srcId="{D6EEFF28-40EE-4A4C-81BB-E5B668433AD9}" destId="{2F473C8B-7B7E-4A64-BEBC-E00A7A8B82CF}"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33410180-125E-4D90-B872-93846B4F018B}"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47267700-F335-476F-9AB2-5047C90CCCC7}">
      <dgm:prSet/>
      <dgm:spPr/>
      <dgm:t>
        <a:bodyPr/>
        <a:lstStyle/>
        <a:p>
          <a:pPr rtl="0"/>
          <a:r>
            <a:rPr lang="en-US" b="1" smtClean="0"/>
            <a:t>Overview: Treatment Pathway by Stage</a:t>
          </a:r>
          <a:endParaRPr lang="en-US"/>
        </a:p>
      </dgm:t>
    </dgm:pt>
    <dgm:pt modelId="{5A0A57B9-56A3-4A1E-97FE-34D96D7E3FA1}" type="parTrans" cxnId="{0BE3A899-8D41-4FAD-A00D-A98C69C3382D}">
      <dgm:prSet/>
      <dgm:spPr/>
      <dgm:t>
        <a:bodyPr/>
        <a:lstStyle/>
        <a:p>
          <a:endParaRPr lang="en-US"/>
        </a:p>
      </dgm:t>
    </dgm:pt>
    <dgm:pt modelId="{E6FC8B23-40AB-4205-9833-CC80F4FF0DA9}" type="sibTrans" cxnId="{0BE3A899-8D41-4FAD-A00D-A98C69C3382D}">
      <dgm:prSet/>
      <dgm:spPr/>
      <dgm:t>
        <a:bodyPr/>
        <a:lstStyle/>
        <a:p>
          <a:endParaRPr lang="en-US"/>
        </a:p>
      </dgm:t>
    </dgm:pt>
    <dgm:pt modelId="{34325532-7FCA-4B86-968C-AF29FB4E3B87}" type="pres">
      <dgm:prSet presAssocID="{33410180-125E-4D90-B872-93846B4F018B}" presName="vert0" presStyleCnt="0">
        <dgm:presLayoutVars>
          <dgm:dir/>
          <dgm:animOne val="branch"/>
          <dgm:animLvl val="lvl"/>
        </dgm:presLayoutVars>
      </dgm:prSet>
      <dgm:spPr/>
    </dgm:pt>
    <dgm:pt modelId="{C1D99406-6C2B-41CE-9410-3C774AA8F1B3}" type="pres">
      <dgm:prSet presAssocID="{47267700-F335-476F-9AB2-5047C90CCCC7}" presName="thickLine" presStyleLbl="alignNode1" presStyleIdx="0" presStyleCnt="1"/>
      <dgm:spPr/>
    </dgm:pt>
    <dgm:pt modelId="{58C99335-A1E1-4B2D-A0E3-B90867F67368}" type="pres">
      <dgm:prSet presAssocID="{47267700-F335-476F-9AB2-5047C90CCCC7}" presName="horz1" presStyleCnt="0"/>
      <dgm:spPr/>
    </dgm:pt>
    <dgm:pt modelId="{A9C14E3E-E8DA-4C52-948B-E348952C4D7F}" type="pres">
      <dgm:prSet presAssocID="{47267700-F335-476F-9AB2-5047C90CCCC7}" presName="tx1" presStyleLbl="revTx" presStyleIdx="0" presStyleCnt="1"/>
      <dgm:spPr/>
    </dgm:pt>
    <dgm:pt modelId="{AA920F0F-BC99-4B66-9CB5-E2E29D8A6E9F}" type="pres">
      <dgm:prSet presAssocID="{47267700-F335-476F-9AB2-5047C90CCCC7}" presName="vert1" presStyleCnt="0"/>
      <dgm:spPr/>
    </dgm:pt>
  </dgm:ptLst>
  <dgm:cxnLst>
    <dgm:cxn modelId="{B06C0B4B-2B34-4AFA-8143-06CDDA59C0A8}" type="presOf" srcId="{47267700-F335-476F-9AB2-5047C90CCCC7}" destId="{A9C14E3E-E8DA-4C52-948B-E348952C4D7F}" srcOrd="0" destOrd="0" presId="urn:microsoft.com/office/officeart/2008/layout/LinedList"/>
    <dgm:cxn modelId="{57B36990-5911-4B59-8A53-1A876F5D4F8B}" type="presOf" srcId="{33410180-125E-4D90-B872-93846B4F018B}" destId="{34325532-7FCA-4B86-968C-AF29FB4E3B87}" srcOrd="0" destOrd="0" presId="urn:microsoft.com/office/officeart/2008/layout/LinedList"/>
    <dgm:cxn modelId="{0BE3A899-8D41-4FAD-A00D-A98C69C3382D}" srcId="{33410180-125E-4D90-B872-93846B4F018B}" destId="{47267700-F335-476F-9AB2-5047C90CCCC7}" srcOrd="0" destOrd="0" parTransId="{5A0A57B9-56A3-4A1E-97FE-34D96D7E3FA1}" sibTransId="{E6FC8B23-40AB-4205-9833-CC80F4FF0DA9}"/>
    <dgm:cxn modelId="{D54A166B-D106-43A3-BC0D-1822FC35DD9C}" type="presParOf" srcId="{34325532-7FCA-4B86-968C-AF29FB4E3B87}" destId="{C1D99406-6C2B-41CE-9410-3C774AA8F1B3}" srcOrd="0" destOrd="0" presId="urn:microsoft.com/office/officeart/2008/layout/LinedList"/>
    <dgm:cxn modelId="{6EB9F9A7-9C65-499A-AC90-32C8716DF22C}" type="presParOf" srcId="{34325532-7FCA-4B86-968C-AF29FB4E3B87}" destId="{58C99335-A1E1-4B2D-A0E3-B90867F67368}" srcOrd="1" destOrd="0" presId="urn:microsoft.com/office/officeart/2008/layout/LinedList"/>
    <dgm:cxn modelId="{E5D5105A-9061-4C14-877A-C65BF77D9D44}" type="presParOf" srcId="{58C99335-A1E1-4B2D-A0E3-B90867F67368}" destId="{A9C14E3E-E8DA-4C52-948B-E348952C4D7F}" srcOrd="0" destOrd="0" presId="urn:microsoft.com/office/officeart/2008/layout/LinedList"/>
    <dgm:cxn modelId="{218D2629-1ABA-42B0-9B10-71905A92F30D}" type="presParOf" srcId="{58C99335-A1E1-4B2D-A0E3-B90867F67368}" destId="{AA920F0F-BC99-4B66-9CB5-E2E29D8A6E9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96C3A327-82D8-45AE-B2AB-DFCD20E421E2}"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US"/>
        </a:p>
      </dgm:t>
    </dgm:pt>
    <dgm:pt modelId="{C68823AD-7AF5-4B41-8A16-6EAFB234AA14}">
      <dgm:prSet/>
      <dgm:spPr/>
      <dgm:t>
        <a:bodyPr/>
        <a:lstStyle/>
        <a:p>
          <a:pPr rtl="0"/>
          <a:r>
            <a:rPr lang="en-US" b="1" smtClean="0"/>
            <a:t>Non-Invasive Breast Cancer (Stage 0): LCIS</a:t>
          </a:r>
          <a:endParaRPr lang="en-US"/>
        </a:p>
      </dgm:t>
    </dgm:pt>
    <dgm:pt modelId="{24EC6F40-EDAC-4A21-BBB7-E2E5690F0185}" type="parTrans" cxnId="{1F37C50A-A53B-44C2-8B92-B13B7CE4C087}">
      <dgm:prSet/>
      <dgm:spPr/>
      <dgm:t>
        <a:bodyPr/>
        <a:lstStyle/>
        <a:p>
          <a:endParaRPr lang="en-US"/>
        </a:p>
      </dgm:t>
    </dgm:pt>
    <dgm:pt modelId="{C4E894B8-5D91-4E50-936C-7A41FDA24413}" type="sibTrans" cxnId="{1F37C50A-A53B-44C2-8B92-B13B7CE4C087}">
      <dgm:prSet/>
      <dgm:spPr/>
      <dgm:t>
        <a:bodyPr/>
        <a:lstStyle/>
        <a:p>
          <a:endParaRPr lang="en-US"/>
        </a:p>
      </dgm:t>
    </dgm:pt>
    <dgm:pt modelId="{E7E07F1A-85A2-4132-A756-C4C1DA7F0B7F}" type="pres">
      <dgm:prSet presAssocID="{96C3A327-82D8-45AE-B2AB-DFCD20E421E2}" presName="Name0" presStyleCnt="0">
        <dgm:presLayoutVars>
          <dgm:chMax val="7"/>
          <dgm:dir/>
          <dgm:animLvl val="lvl"/>
          <dgm:resizeHandles val="exact"/>
        </dgm:presLayoutVars>
      </dgm:prSet>
      <dgm:spPr/>
    </dgm:pt>
    <dgm:pt modelId="{E33D6950-72A4-43FF-8067-F35B0CA5FC79}" type="pres">
      <dgm:prSet presAssocID="{C68823AD-7AF5-4B41-8A16-6EAFB234AA14}" presName="circle1" presStyleLbl="node1" presStyleIdx="0" presStyleCnt="1"/>
      <dgm:spPr/>
    </dgm:pt>
    <dgm:pt modelId="{A9C73D22-CFAB-44E9-8F5C-137ED79C308A}" type="pres">
      <dgm:prSet presAssocID="{C68823AD-7AF5-4B41-8A16-6EAFB234AA14}" presName="space" presStyleCnt="0"/>
      <dgm:spPr/>
    </dgm:pt>
    <dgm:pt modelId="{1040D069-BF18-40B0-ADE1-993D09AE655A}" type="pres">
      <dgm:prSet presAssocID="{C68823AD-7AF5-4B41-8A16-6EAFB234AA14}" presName="rect1" presStyleLbl="alignAcc1" presStyleIdx="0" presStyleCnt="1"/>
      <dgm:spPr/>
    </dgm:pt>
    <dgm:pt modelId="{57EC40B9-7E40-45EE-8524-85972DA6D5A8}" type="pres">
      <dgm:prSet presAssocID="{C68823AD-7AF5-4B41-8A16-6EAFB234AA14}" presName="rect1ParTxNoCh" presStyleLbl="alignAcc1" presStyleIdx="0" presStyleCnt="1">
        <dgm:presLayoutVars>
          <dgm:chMax val="1"/>
          <dgm:bulletEnabled val="1"/>
        </dgm:presLayoutVars>
      </dgm:prSet>
      <dgm:spPr/>
    </dgm:pt>
  </dgm:ptLst>
  <dgm:cxnLst>
    <dgm:cxn modelId="{1F37C50A-A53B-44C2-8B92-B13B7CE4C087}" srcId="{96C3A327-82D8-45AE-B2AB-DFCD20E421E2}" destId="{C68823AD-7AF5-4B41-8A16-6EAFB234AA14}" srcOrd="0" destOrd="0" parTransId="{24EC6F40-EDAC-4A21-BBB7-E2E5690F0185}" sibTransId="{C4E894B8-5D91-4E50-936C-7A41FDA24413}"/>
    <dgm:cxn modelId="{50E20985-D166-4AB7-9EEB-C23DFE045B49}" type="presOf" srcId="{C68823AD-7AF5-4B41-8A16-6EAFB234AA14}" destId="{1040D069-BF18-40B0-ADE1-993D09AE655A}" srcOrd="0" destOrd="0" presId="urn:microsoft.com/office/officeart/2005/8/layout/target3"/>
    <dgm:cxn modelId="{493A4B61-FF9C-4A38-BA27-DC511EAABD4D}" type="presOf" srcId="{96C3A327-82D8-45AE-B2AB-DFCD20E421E2}" destId="{E7E07F1A-85A2-4132-A756-C4C1DA7F0B7F}" srcOrd="0" destOrd="0" presId="urn:microsoft.com/office/officeart/2005/8/layout/target3"/>
    <dgm:cxn modelId="{45DBB014-006F-485B-A6E3-E06C211AD936}" type="presOf" srcId="{C68823AD-7AF5-4B41-8A16-6EAFB234AA14}" destId="{57EC40B9-7E40-45EE-8524-85972DA6D5A8}" srcOrd="1" destOrd="0" presId="urn:microsoft.com/office/officeart/2005/8/layout/target3"/>
    <dgm:cxn modelId="{7649C5C1-6AE6-4D7F-B18D-4085660E50FB}" type="presParOf" srcId="{E7E07F1A-85A2-4132-A756-C4C1DA7F0B7F}" destId="{E33D6950-72A4-43FF-8067-F35B0CA5FC79}" srcOrd="0" destOrd="0" presId="urn:microsoft.com/office/officeart/2005/8/layout/target3"/>
    <dgm:cxn modelId="{538E5EA6-ACF7-4A6C-89E4-BA21C19DE18A}" type="presParOf" srcId="{E7E07F1A-85A2-4132-A756-C4C1DA7F0B7F}" destId="{A9C73D22-CFAB-44E9-8F5C-137ED79C308A}" srcOrd="1" destOrd="0" presId="urn:microsoft.com/office/officeart/2005/8/layout/target3"/>
    <dgm:cxn modelId="{46E33FF9-0991-4204-ADE0-6B374F57F302}" type="presParOf" srcId="{E7E07F1A-85A2-4132-A756-C4C1DA7F0B7F}" destId="{1040D069-BF18-40B0-ADE1-993D09AE655A}" srcOrd="2" destOrd="0" presId="urn:microsoft.com/office/officeart/2005/8/layout/target3"/>
    <dgm:cxn modelId="{B1DBB5FF-388E-495A-9866-20FFF92BD48B}" type="presParOf" srcId="{E7E07F1A-85A2-4132-A756-C4C1DA7F0B7F}" destId="{57EC40B9-7E40-45EE-8524-85972DA6D5A8}"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BC883C29-CCB4-4546-A3CA-73859DB98ED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612DE13-F282-482C-8B1A-51466562E9DE}">
      <dgm:prSet custT="1"/>
      <dgm:spPr/>
      <dgm:t>
        <a:bodyPr/>
        <a:lstStyle/>
        <a:p>
          <a:pPr rtl="0"/>
          <a:r>
            <a:rPr lang="en-US" sz="1400" i="1" dirty="0" smtClean="0"/>
            <a:t>No benefit to excising classic LCIS alone — disease is diffuse and risk is equal in both breasts. Pleomorphic or florid LCIS (aggressive variants) behave more like DCIS — consider excision to clear margins.</a:t>
          </a:r>
          <a:endParaRPr lang="en-US" sz="1400" dirty="0"/>
        </a:p>
      </dgm:t>
    </dgm:pt>
    <dgm:pt modelId="{03C0FED6-D5FB-418A-A1D1-FB4DD4C654CB}" type="parTrans" cxnId="{D2D5212E-5594-486B-B74E-9827CB9BE0E1}">
      <dgm:prSet/>
      <dgm:spPr/>
      <dgm:t>
        <a:bodyPr/>
        <a:lstStyle/>
        <a:p>
          <a:endParaRPr lang="en-US"/>
        </a:p>
      </dgm:t>
    </dgm:pt>
    <dgm:pt modelId="{D10D2C26-F9C0-4E33-9CD0-2FA570FB92A1}" type="sibTrans" cxnId="{D2D5212E-5594-486B-B74E-9827CB9BE0E1}">
      <dgm:prSet/>
      <dgm:spPr/>
      <dgm:t>
        <a:bodyPr/>
        <a:lstStyle/>
        <a:p>
          <a:endParaRPr lang="en-US"/>
        </a:p>
      </dgm:t>
    </dgm:pt>
    <dgm:pt modelId="{454D020A-3E54-4906-955F-0BAE7EB67F0F}" type="pres">
      <dgm:prSet presAssocID="{BC883C29-CCB4-4546-A3CA-73859DB98ED5}" presName="linear" presStyleCnt="0">
        <dgm:presLayoutVars>
          <dgm:animLvl val="lvl"/>
          <dgm:resizeHandles val="exact"/>
        </dgm:presLayoutVars>
      </dgm:prSet>
      <dgm:spPr/>
    </dgm:pt>
    <dgm:pt modelId="{D1D9783D-F650-41EE-9BB9-674AC17B732E}" type="pres">
      <dgm:prSet presAssocID="{2612DE13-F282-482C-8B1A-51466562E9DE}" presName="parentText" presStyleLbl="node1" presStyleIdx="0" presStyleCnt="1" custScaleY="244467">
        <dgm:presLayoutVars>
          <dgm:chMax val="0"/>
          <dgm:bulletEnabled val="1"/>
        </dgm:presLayoutVars>
      </dgm:prSet>
      <dgm:spPr/>
    </dgm:pt>
  </dgm:ptLst>
  <dgm:cxnLst>
    <dgm:cxn modelId="{D2D5212E-5594-486B-B74E-9827CB9BE0E1}" srcId="{BC883C29-CCB4-4546-A3CA-73859DB98ED5}" destId="{2612DE13-F282-482C-8B1A-51466562E9DE}" srcOrd="0" destOrd="0" parTransId="{03C0FED6-D5FB-418A-A1D1-FB4DD4C654CB}" sibTransId="{D10D2C26-F9C0-4E33-9CD0-2FA570FB92A1}"/>
    <dgm:cxn modelId="{592BDB86-7785-477E-91C1-FA0C2662BBB0}" type="presOf" srcId="{BC883C29-CCB4-4546-A3CA-73859DB98ED5}" destId="{454D020A-3E54-4906-955F-0BAE7EB67F0F}" srcOrd="0" destOrd="0" presId="urn:microsoft.com/office/officeart/2005/8/layout/vList2"/>
    <dgm:cxn modelId="{2B95A56B-F30F-4642-A987-40864404FAF8}" type="presOf" srcId="{2612DE13-F282-482C-8B1A-51466562E9DE}" destId="{D1D9783D-F650-41EE-9BB9-674AC17B732E}" srcOrd="0" destOrd="0" presId="urn:microsoft.com/office/officeart/2005/8/layout/vList2"/>
    <dgm:cxn modelId="{C46B112D-47BB-4637-BA21-50499D48E38A}" type="presParOf" srcId="{454D020A-3E54-4906-955F-0BAE7EB67F0F}" destId="{D1D9783D-F650-41EE-9BB9-674AC17B732E}"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B2EBD6D6-085D-4AE0-A6A8-6F85E4E4A9FF}" type="doc">
      <dgm:prSet loTypeId="urn:microsoft.com/office/officeart/2005/8/layout/target3" loCatId="list" qsTypeId="urn:microsoft.com/office/officeart/2005/8/quickstyle/simple1" qsCatId="simple" csTypeId="urn:microsoft.com/office/officeart/2005/8/colors/accent1_2" csCatId="accent1"/>
      <dgm:spPr/>
      <dgm:t>
        <a:bodyPr/>
        <a:lstStyle/>
        <a:p>
          <a:endParaRPr lang="en-US"/>
        </a:p>
      </dgm:t>
    </dgm:pt>
    <dgm:pt modelId="{BF2770CC-0996-4FA3-AEA8-9DE1550C5108}">
      <dgm:prSet/>
      <dgm:spPr/>
      <dgm:t>
        <a:bodyPr/>
        <a:lstStyle/>
        <a:p>
          <a:pPr rtl="0"/>
          <a:r>
            <a:rPr lang="en-US" b="1" dirty="0" smtClean="0"/>
            <a:t>Non-Invasive Breast Cancer (Stage 0): DCIS</a:t>
          </a:r>
          <a:endParaRPr lang="en-US" dirty="0"/>
        </a:p>
      </dgm:t>
    </dgm:pt>
    <dgm:pt modelId="{D67A01E1-F0BC-4E31-A1FC-4EC9D15D0432}" type="parTrans" cxnId="{4593CC66-C788-4D75-8D84-9ABF08400A85}">
      <dgm:prSet/>
      <dgm:spPr/>
      <dgm:t>
        <a:bodyPr/>
        <a:lstStyle/>
        <a:p>
          <a:endParaRPr lang="en-US"/>
        </a:p>
      </dgm:t>
    </dgm:pt>
    <dgm:pt modelId="{635D3F31-0F32-4544-BE1D-85C3A71C9819}" type="sibTrans" cxnId="{4593CC66-C788-4D75-8D84-9ABF08400A85}">
      <dgm:prSet/>
      <dgm:spPr/>
      <dgm:t>
        <a:bodyPr/>
        <a:lstStyle/>
        <a:p>
          <a:endParaRPr lang="en-US"/>
        </a:p>
      </dgm:t>
    </dgm:pt>
    <dgm:pt modelId="{6D3C6C5B-79B9-4C2A-90D6-AD96B64378B6}" type="pres">
      <dgm:prSet presAssocID="{B2EBD6D6-085D-4AE0-A6A8-6F85E4E4A9FF}" presName="Name0" presStyleCnt="0">
        <dgm:presLayoutVars>
          <dgm:chMax val="7"/>
          <dgm:dir/>
          <dgm:animLvl val="lvl"/>
          <dgm:resizeHandles val="exact"/>
        </dgm:presLayoutVars>
      </dgm:prSet>
      <dgm:spPr/>
    </dgm:pt>
    <dgm:pt modelId="{C0F85CA2-C206-46E3-ABD4-BE98F2F6F6D4}" type="pres">
      <dgm:prSet presAssocID="{BF2770CC-0996-4FA3-AEA8-9DE1550C5108}" presName="circle1" presStyleLbl="node1" presStyleIdx="0" presStyleCnt="1"/>
      <dgm:spPr/>
    </dgm:pt>
    <dgm:pt modelId="{ECDDD2E8-C868-49B7-8B56-49B67CDA19DF}" type="pres">
      <dgm:prSet presAssocID="{BF2770CC-0996-4FA3-AEA8-9DE1550C5108}" presName="space" presStyleCnt="0"/>
      <dgm:spPr/>
    </dgm:pt>
    <dgm:pt modelId="{8A6B1531-5131-4C75-B70C-AB1EEDCE499D}" type="pres">
      <dgm:prSet presAssocID="{BF2770CC-0996-4FA3-AEA8-9DE1550C5108}" presName="rect1" presStyleLbl="alignAcc1" presStyleIdx="0" presStyleCnt="1"/>
      <dgm:spPr/>
    </dgm:pt>
    <dgm:pt modelId="{EE8CEFD6-D6A8-4F02-97E3-92B9210FF350}" type="pres">
      <dgm:prSet presAssocID="{BF2770CC-0996-4FA3-AEA8-9DE1550C5108}" presName="rect1ParTxNoCh" presStyleLbl="alignAcc1" presStyleIdx="0" presStyleCnt="1">
        <dgm:presLayoutVars>
          <dgm:chMax val="1"/>
          <dgm:bulletEnabled val="1"/>
        </dgm:presLayoutVars>
      </dgm:prSet>
      <dgm:spPr/>
    </dgm:pt>
  </dgm:ptLst>
  <dgm:cxnLst>
    <dgm:cxn modelId="{4593CC66-C788-4D75-8D84-9ABF08400A85}" srcId="{B2EBD6D6-085D-4AE0-A6A8-6F85E4E4A9FF}" destId="{BF2770CC-0996-4FA3-AEA8-9DE1550C5108}" srcOrd="0" destOrd="0" parTransId="{D67A01E1-F0BC-4E31-A1FC-4EC9D15D0432}" sibTransId="{635D3F31-0F32-4544-BE1D-85C3A71C9819}"/>
    <dgm:cxn modelId="{4204F096-4382-4769-B83A-E30B5C6CCAE3}" type="presOf" srcId="{BF2770CC-0996-4FA3-AEA8-9DE1550C5108}" destId="{EE8CEFD6-D6A8-4F02-97E3-92B9210FF350}" srcOrd="1" destOrd="0" presId="urn:microsoft.com/office/officeart/2005/8/layout/target3"/>
    <dgm:cxn modelId="{1C3C0191-998A-4AF3-BF47-B9877C755E33}" type="presOf" srcId="{B2EBD6D6-085D-4AE0-A6A8-6F85E4E4A9FF}" destId="{6D3C6C5B-79B9-4C2A-90D6-AD96B64378B6}" srcOrd="0" destOrd="0" presId="urn:microsoft.com/office/officeart/2005/8/layout/target3"/>
    <dgm:cxn modelId="{E4C3B1A1-146B-4A5F-BAC1-C20B065814E4}" type="presOf" srcId="{BF2770CC-0996-4FA3-AEA8-9DE1550C5108}" destId="{8A6B1531-5131-4C75-B70C-AB1EEDCE499D}" srcOrd="0" destOrd="0" presId="urn:microsoft.com/office/officeart/2005/8/layout/target3"/>
    <dgm:cxn modelId="{1132AC5D-39CC-49AA-B6F4-41EBFBD4CFC8}" type="presParOf" srcId="{6D3C6C5B-79B9-4C2A-90D6-AD96B64378B6}" destId="{C0F85CA2-C206-46E3-ABD4-BE98F2F6F6D4}" srcOrd="0" destOrd="0" presId="urn:microsoft.com/office/officeart/2005/8/layout/target3"/>
    <dgm:cxn modelId="{980EA167-6573-475C-9436-89C6D995062A}" type="presParOf" srcId="{6D3C6C5B-79B9-4C2A-90D6-AD96B64378B6}" destId="{ECDDD2E8-C868-49B7-8B56-49B67CDA19DF}" srcOrd="1" destOrd="0" presId="urn:microsoft.com/office/officeart/2005/8/layout/target3"/>
    <dgm:cxn modelId="{C1170C8C-E88E-4218-82F5-86D9227F5ABD}" type="presParOf" srcId="{6D3C6C5B-79B9-4C2A-90D6-AD96B64378B6}" destId="{8A6B1531-5131-4C75-B70C-AB1EEDCE499D}" srcOrd="2" destOrd="0" presId="urn:microsoft.com/office/officeart/2005/8/layout/target3"/>
    <dgm:cxn modelId="{EFA48C72-6DE3-4E03-B8D0-30898D35D121}" type="presParOf" srcId="{6D3C6C5B-79B9-4C2A-90D6-AD96B64378B6}" destId="{EE8CEFD6-D6A8-4F02-97E3-92B9210FF350}"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3C6A9922-6B82-48AA-9DBF-EA62B1640B4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D08D4AC-155E-4F27-B19B-DED629BCD275}">
      <dgm:prSet/>
      <dgm:spPr/>
      <dgm:t>
        <a:bodyPr/>
        <a:lstStyle/>
        <a:p>
          <a:pPr rtl="0"/>
          <a:r>
            <a:rPr lang="en-US" b="1" i="1" smtClean="0"/>
            <a:t>ER-positive DCIS: adjuvant tamoxifen (or an aromatase inhibitor postmenopausally) for 5 years after BCS+RT lowers ipsilateral recurrence.</a:t>
          </a:r>
          <a:endParaRPr lang="en-US"/>
        </a:p>
      </dgm:t>
    </dgm:pt>
    <dgm:pt modelId="{5139DCDE-7972-407E-A082-75BBEEDB6D29}" type="parTrans" cxnId="{27029644-A20E-46AD-8A82-CC01A7491798}">
      <dgm:prSet/>
      <dgm:spPr/>
      <dgm:t>
        <a:bodyPr/>
        <a:lstStyle/>
        <a:p>
          <a:endParaRPr lang="en-US"/>
        </a:p>
      </dgm:t>
    </dgm:pt>
    <dgm:pt modelId="{29DFD78F-1992-4C75-A27B-F3754810DF84}" type="sibTrans" cxnId="{27029644-A20E-46AD-8A82-CC01A7491798}">
      <dgm:prSet/>
      <dgm:spPr/>
      <dgm:t>
        <a:bodyPr/>
        <a:lstStyle/>
        <a:p>
          <a:endParaRPr lang="en-US"/>
        </a:p>
      </dgm:t>
    </dgm:pt>
    <dgm:pt modelId="{0F52671D-A1CB-4091-B12A-A23387CE26F2}" type="pres">
      <dgm:prSet presAssocID="{3C6A9922-6B82-48AA-9DBF-EA62B1640B47}" presName="linear" presStyleCnt="0">
        <dgm:presLayoutVars>
          <dgm:animLvl val="lvl"/>
          <dgm:resizeHandles val="exact"/>
        </dgm:presLayoutVars>
      </dgm:prSet>
      <dgm:spPr/>
    </dgm:pt>
    <dgm:pt modelId="{F9676F54-7924-4E3C-96CE-B15A595D5006}" type="pres">
      <dgm:prSet presAssocID="{DD08D4AC-155E-4F27-B19B-DED629BCD275}" presName="parentText" presStyleLbl="node1" presStyleIdx="0" presStyleCnt="1">
        <dgm:presLayoutVars>
          <dgm:chMax val="0"/>
          <dgm:bulletEnabled val="1"/>
        </dgm:presLayoutVars>
      </dgm:prSet>
      <dgm:spPr/>
    </dgm:pt>
  </dgm:ptLst>
  <dgm:cxnLst>
    <dgm:cxn modelId="{AF1164B7-4E9B-466D-AD54-0A29F9E28A05}" type="presOf" srcId="{3C6A9922-6B82-48AA-9DBF-EA62B1640B47}" destId="{0F52671D-A1CB-4091-B12A-A23387CE26F2}" srcOrd="0" destOrd="0" presId="urn:microsoft.com/office/officeart/2005/8/layout/vList2"/>
    <dgm:cxn modelId="{27029644-A20E-46AD-8A82-CC01A7491798}" srcId="{3C6A9922-6B82-48AA-9DBF-EA62B1640B47}" destId="{DD08D4AC-155E-4F27-B19B-DED629BCD275}" srcOrd="0" destOrd="0" parTransId="{5139DCDE-7972-407E-A082-75BBEEDB6D29}" sibTransId="{29DFD78F-1992-4C75-A27B-F3754810DF84}"/>
    <dgm:cxn modelId="{95A16847-955D-4F2B-8C64-F8AA2A25D22C}" type="presOf" srcId="{DD08D4AC-155E-4F27-B19B-DED629BCD275}" destId="{F9676F54-7924-4E3C-96CE-B15A595D5006}" srcOrd="0" destOrd="0" presId="urn:microsoft.com/office/officeart/2005/8/layout/vList2"/>
    <dgm:cxn modelId="{9C56FA90-AD45-4CEC-8328-0A90BEFC1C5D}" type="presParOf" srcId="{0F52671D-A1CB-4091-B12A-A23387CE26F2}" destId="{F9676F54-7924-4E3C-96CE-B15A595D5006}"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F88711C7-4F07-4DAB-A9F2-D4CE9B38EBC5}"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US"/>
        </a:p>
      </dgm:t>
    </dgm:pt>
    <dgm:pt modelId="{D792FA49-7907-4775-9264-25EBD94C328D}">
      <dgm:prSet/>
      <dgm:spPr/>
      <dgm:t>
        <a:bodyPr/>
        <a:lstStyle/>
        <a:p>
          <a:pPr rtl="0"/>
          <a:r>
            <a:rPr lang="en-US" b="1" smtClean="0"/>
            <a:t>Early Invasive Breast Cancer (Stage I, IIA, or IIB)</a:t>
          </a:r>
          <a:endParaRPr lang="en-US"/>
        </a:p>
      </dgm:t>
    </dgm:pt>
    <dgm:pt modelId="{88B5C381-E3EC-4630-94E0-699B061788A8}" type="parTrans" cxnId="{82953A19-B345-4DD4-A280-D69FB1310585}">
      <dgm:prSet/>
      <dgm:spPr/>
      <dgm:t>
        <a:bodyPr/>
        <a:lstStyle/>
        <a:p>
          <a:endParaRPr lang="en-US"/>
        </a:p>
      </dgm:t>
    </dgm:pt>
    <dgm:pt modelId="{10361294-ED62-4A14-900C-56387C145BE8}" type="sibTrans" cxnId="{82953A19-B345-4DD4-A280-D69FB1310585}">
      <dgm:prSet/>
      <dgm:spPr/>
      <dgm:t>
        <a:bodyPr/>
        <a:lstStyle/>
        <a:p>
          <a:endParaRPr lang="en-US"/>
        </a:p>
      </dgm:t>
    </dgm:pt>
    <dgm:pt modelId="{FD3C5BB2-B592-482B-B9E5-C6FB6987AAC8}" type="pres">
      <dgm:prSet presAssocID="{F88711C7-4F07-4DAB-A9F2-D4CE9B38EBC5}" presName="Name0" presStyleCnt="0">
        <dgm:presLayoutVars>
          <dgm:chMax val="7"/>
          <dgm:dir/>
          <dgm:animLvl val="lvl"/>
          <dgm:resizeHandles val="exact"/>
        </dgm:presLayoutVars>
      </dgm:prSet>
      <dgm:spPr/>
    </dgm:pt>
    <dgm:pt modelId="{A646839C-BA0C-48B7-B371-EAB2EE11B704}" type="pres">
      <dgm:prSet presAssocID="{D792FA49-7907-4775-9264-25EBD94C328D}" presName="circle1" presStyleLbl="node1" presStyleIdx="0" presStyleCnt="1"/>
      <dgm:spPr/>
    </dgm:pt>
    <dgm:pt modelId="{39A856A5-E199-4A20-B959-C06E0CA525CC}" type="pres">
      <dgm:prSet presAssocID="{D792FA49-7907-4775-9264-25EBD94C328D}" presName="space" presStyleCnt="0"/>
      <dgm:spPr/>
    </dgm:pt>
    <dgm:pt modelId="{92DEFD6E-6A65-4885-AF83-0B87FCCD308D}" type="pres">
      <dgm:prSet presAssocID="{D792FA49-7907-4775-9264-25EBD94C328D}" presName="rect1" presStyleLbl="alignAcc1" presStyleIdx="0" presStyleCnt="1"/>
      <dgm:spPr/>
    </dgm:pt>
    <dgm:pt modelId="{8D2138A1-AED7-459E-8E91-B3397A629127}" type="pres">
      <dgm:prSet presAssocID="{D792FA49-7907-4775-9264-25EBD94C328D}" presName="rect1ParTxNoCh" presStyleLbl="alignAcc1" presStyleIdx="0" presStyleCnt="1">
        <dgm:presLayoutVars>
          <dgm:chMax val="1"/>
          <dgm:bulletEnabled val="1"/>
        </dgm:presLayoutVars>
      </dgm:prSet>
      <dgm:spPr/>
    </dgm:pt>
  </dgm:ptLst>
  <dgm:cxnLst>
    <dgm:cxn modelId="{4DD71CCF-045B-483D-B246-4E30DB04A726}" type="presOf" srcId="{D792FA49-7907-4775-9264-25EBD94C328D}" destId="{8D2138A1-AED7-459E-8E91-B3397A629127}" srcOrd="1" destOrd="0" presId="urn:microsoft.com/office/officeart/2005/8/layout/target3"/>
    <dgm:cxn modelId="{43162FA5-FD9D-429A-85FE-A27685CC3910}" type="presOf" srcId="{D792FA49-7907-4775-9264-25EBD94C328D}" destId="{92DEFD6E-6A65-4885-AF83-0B87FCCD308D}" srcOrd="0" destOrd="0" presId="urn:microsoft.com/office/officeart/2005/8/layout/target3"/>
    <dgm:cxn modelId="{13243E15-DD03-4BFC-999D-3A28FB9DCBFD}" type="presOf" srcId="{F88711C7-4F07-4DAB-A9F2-D4CE9B38EBC5}" destId="{FD3C5BB2-B592-482B-B9E5-C6FB6987AAC8}" srcOrd="0" destOrd="0" presId="urn:microsoft.com/office/officeart/2005/8/layout/target3"/>
    <dgm:cxn modelId="{82953A19-B345-4DD4-A280-D69FB1310585}" srcId="{F88711C7-4F07-4DAB-A9F2-D4CE9B38EBC5}" destId="{D792FA49-7907-4775-9264-25EBD94C328D}" srcOrd="0" destOrd="0" parTransId="{88B5C381-E3EC-4630-94E0-699B061788A8}" sibTransId="{10361294-ED62-4A14-900C-56387C145BE8}"/>
    <dgm:cxn modelId="{C143FC55-C489-425C-8DA5-575036A3AAFE}" type="presParOf" srcId="{FD3C5BB2-B592-482B-B9E5-C6FB6987AAC8}" destId="{A646839C-BA0C-48B7-B371-EAB2EE11B704}" srcOrd="0" destOrd="0" presId="urn:microsoft.com/office/officeart/2005/8/layout/target3"/>
    <dgm:cxn modelId="{AF6AC19C-21C9-49F6-8B6C-84594E97ACF7}" type="presParOf" srcId="{FD3C5BB2-B592-482B-B9E5-C6FB6987AAC8}" destId="{39A856A5-E199-4A20-B959-C06E0CA525CC}" srcOrd="1" destOrd="0" presId="urn:microsoft.com/office/officeart/2005/8/layout/target3"/>
    <dgm:cxn modelId="{B7BBA80F-50BC-41C2-A1AC-51EDD5095331}" type="presParOf" srcId="{FD3C5BB2-B592-482B-B9E5-C6FB6987AAC8}" destId="{92DEFD6E-6A65-4885-AF83-0B87FCCD308D}" srcOrd="2" destOrd="0" presId="urn:microsoft.com/office/officeart/2005/8/layout/target3"/>
    <dgm:cxn modelId="{8854121D-49E8-440D-BB37-C6802512562A}" type="presParOf" srcId="{FD3C5BB2-B592-482B-B9E5-C6FB6987AAC8}" destId="{8D2138A1-AED7-459E-8E91-B3397A629127}"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D5C45B4D-536E-44EC-86DE-065DE5E247A0}"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C5F0EA28-5CF4-47C2-9896-EF62E86DEF1D}">
      <dgm:prSet/>
      <dgm:spPr/>
      <dgm:t>
        <a:bodyPr/>
        <a:lstStyle/>
        <a:p>
          <a:pPr rtl="0"/>
          <a:r>
            <a:rPr lang="en-US" b="1" smtClean="0"/>
            <a:t>Adjuvant Chemotherapy Regimens by HER2 Status</a:t>
          </a:r>
          <a:endParaRPr lang="en-US"/>
        </a:p>
      </dgm:t>
    </dgm:pt>
    <dgm:pt modelId="{5354205B-EACE-48BF-B312-2ABAAC84B912}" type="parTrans" cxnId="{3DF12919-9DCA-498A-96DD-4A5B4A8F45B4}">
      <dgm:prSet/>
      <dgm:spPr/>
      <dgm:t>
        <a:bodyPr/>
        <a:lstStyle/>
        <a:p>
          <a:endParaRPr lang="en-US"/>
        </a:p>
      </dgm:t>
    </dgm:pt>
    <dgm:pt modelId="{D03A7559-3388-4D32-8EDB-0DFD401566E8}" type="sibTrans" cxnId="{3DF12919-9DCA-498A-96DD-4A5B4A8F45B4}">
      <dgm:prSet/>
      <dgm:spPr/>
      <dgm:t>
        <a:bodyPr/>
        <a:lstStyle/>
        <a:p>
          <a:endParaRPr lang="en-US"/>
        </a:p>
      </dgm:t>
    </dgm:pt>
    <dgm:pt modelId="{4120461E-CC37-46B4-925C-9C0BA54FA4D2}" type="pres">
      <dgm:prSet presAssocID="{D5C45B4D-536E-44EC-86DE-065DE5E247A0}" presName="vert0" presStyleCnt="0">
        <dgm:presLayoutVars>
          <dgm:dir/>
          <dgm:animOne val="branch"/>
          <dgm:animLvl val="lvl"/>
        </dgm:presLayoutVars>
      </dgm:prSet>
      <dgm:spPr/>
    </dgm:pt>
    <dgm:pt modelId="{5DB8DA0E-AE9A-4BF7-B3B7-59760597501C}" type="pres">
      <dgm:prSet presAssocID="{C5F0EA28-5CF4-47C2-9896-EF62E86DEF1D}" presName="thickLine" presStyleLbl="alignNode1" presStyleIdx="0" presStyleCnt="1"/>
      <dgm:spPr/>
    </dgm:pt>
    <dgm:pt modelId="{D35133FE-1465-40D0-B09A-D8AED63C32DE}" type="pres">
      <dgm:prSet presAssocID="{C5F0EA28-5CF4-47C2-9896-EF62E86DEF1D}" presName="horz1" presStyleCnt="0"/>
      <dgm:spPr/>
    </dgm:pt>
    <dgm:pt modelId="{7AB01B52-354D-4905-A0E5-3D4A14298B0D}" type="pres">
      <dgm:prSet presAssocID="{C5F0EA28-5CF4-47C2-9896-EF62E86DEF1D}" presName="tx1" presStyleLbl="revTx" presStyleIdx="0" presStyleCnt="1"/>
      <dgm:spPr/>
    </dgm:pt>
    <dgm:pt modelId="{2C15F8C1-F798-44ED-8801-E51B560D6299}" type="pres">
      <dgm:prSet presAssocID="{C5F0EA28-5CF4-47C2-9896-EF62E86DEF1D}" presName="vert1" presStyleCnt="0"/>
      <dgm:spPr/>
    </dgm:pt>
  </dgm:ptLst>
  <dgm:cxnLst>
    <dgm:cxn modelId="{45E50355-8755-4379-86FC-ADC767779B72}" type="presOf" srcId="{D5C45B4D-536E-44EC-86DE-065DE5E247A0}" destId="{4120461E-CC37-46B4-925C-9C0BA54FA4D2}" srcOrd="0" destOrd="0" presId="urn:microsoft.com/office/officeart/2008/layout/LinedList"/>
    <dgm:cxn modelId="{3DF12919-9DCA-498A-96DD-4A5B4A8F45B4}" srcId="{D5C45B4D-536E-44EC-86DE-065DE5E247A0}" destId="{C5F0EA28-5CF4-47C2-9896-EF62E86DEF1D}" srcOrd="0" destOrd="0" parTransId="{5354205B-EACE-48BF-B312-2ABAAC84B912}" sibTransId="{D03A7559-3388-4D32-8EDB-0DFD401566E8}"/>
    <dgm:cxn modelId="{18D2E781-E1F2-4EAE-AC31-5D61374F0652}" type="presOf" srcId="{C5F0EA28-5CF4-47C2-9896-EF62E86DEF1D}" destId="{7AB01B52-354D-4905-A0E5-3D4A14298B0D}" srcOrd="0" destOrd="0" presId="urn:microsoft.com/office/officeart/2008/layout/LinedList"/>
    <dgm:cxn modelId="{C43E0AB0-E7D1-4907-89AB-1E357BD0845B}" type="presParOf" srcId="{4120461E-CC37-46B4-925C-9C0BA54FA4D2}" destId="{5DB8DA0E-AE9A-4BF7-B3B7-59760597501C}" srcOrd="0" destOrd="0" presId="urn:microsoft.com/office/officeart/2008/layout/LinedList"/>
    <dgm:cxn modelId="{4A61DFA3-6BCC-4A85-B57B-C5C6C585A055}" type="presParOf" srcId="{4120461E-CC37-46B4-925C-9C0BA54FA4D2}" destId="{D35133FE-1465-40D0-B09A-D8AED63C32DE}" srcOrd="1" destOrd="0" presId="urn:microsoft.com/office/officeart/2008/layout/LinedList"/>
    <dgm:cxn modelId="{27615995-0CEC-4487-A953-152F5A493C47}" type="presParOf" srcId="{D35133FE-1465-40D0-B09A-D8AED63C32DE}" destId="{7AB01B52-354D-4905-A0E5-3D4A14298B0D}" srcOrd="0" destOrd="0" presId="urn:microsoft.com/office/officeart/2008/layout/LinedList"/>
    <dgm:cxn modelId="{2411AC0F-032F-4707-A3AB-C4AAE250EF90}" type="presParOf" srcId="{D35133FE-1465-40D0-B09A-D8AED63C32DE}" destId="{2C15F8C1-F798-44ED-8801-E51B560D629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3EDFFA30-DE74-426F-B1C9-3DD3CC166D5B}"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EB5B5ABD-4BA3-4D83-A7FA-11F1144DC12B}">
      <dgm:prSet/>
      <dgm:spPr/>
      <dgm:t>
        <a:bodyPr/>
        <a:lstStyle/>
        <a:p>
          <a:pPr rtl="0"/>
          <a:r>
            <a:rPr lang="en-US" i="1" smtClean="0"/>
            <a:t>AC = doxorubicin + cyclophosphamide; TC = docetaxel + cyclophosphamide; TCH(P) = docetaxel + carboplatin + trastuzumab ± pertuzumab; KEYNOTE-522 = pembrolizumab-based regimen for stage II–III triple-negative disease. Complete anti-HER2 therapy to 1 year. Add capecitabine (CREATE-X) or olaparib (OlympiA, if germline BRCA) for residual disease after neoadjuvant therapy.</a:t>
          </a:r>
          <a:endParaRPr lang="en-US"/>
        </a:p>
      </dgm:t>
    </dgm:pt>
    <dgm:pt modelId="{05BD0151-A5E1-42F4-9B66-FE5D2030CF07}" type="parTrans" cxnId="{85E2BF79-3012-4A57-A9CC-A7A70298077B}">
      <dgm:prSet/>
      <dgm:spPr/>
      <dgm:t>
        <a:bodyPr/>
        <a:lstStyle/>
        <a:p>
          <a:endParaRPr lang="en-US"/>
        </a:p>
      </dgm:t>
    </dgm:pt>
    <dgm:pt modelId="{739E6212-E376-4E17-8BCC-D07BF0D3ECA3}" type="sibTrans" cxnId="{85E2BF79-3012-4A57-A9CC-A7A70298077B}">
      <dgm:prSet/>
      <dgm:spPr/>
      <dgm:t>
        <a:bodyPr/>
        <a:lstStyle/>
        <a:p>
          <a:endParaRPr lang="en-US"/>
        </a:p>
      </dgm:t>
    </dgm:pt>
    <dgm:pt modelId="{69769AED-F0F2-4EB1-A4D9-597629788D50}" type="pres">
      <dgm:prSet presAssocID="{3EDFFA30-DE74-426F-B1C9-3DD3CC166D5B}" presName="vert0" presStyleCnt="0">
        <dgm:presLayoutVars>
          <dgm:dir/>
          <dgm:animOne val="branch"/>
          <dgm:animLvl val="lvl"/>
        </dgm:presLayoutVars>
      </dgm:prSet>
      <dgm:spPr/>
    </dgm:pt>
    <dgm:pt modelId="{1A7D1DC2-7178-4B64-8915-409F0758928C}" type="pres">
      <dgm:prSet presAssocID="{EB5B5ABD-4BA3-4D83-A7FA-11F1144DC12B}" presName="thickLine" presStyleLbl="alignNode1" presStyleIdx="0" presStyleCnt="1"/>
      <dgm:spPr/>
    </dgm:pt>
    <dgm:pt modelId="{0AE298A0-E597-49A8-A08F-85F8ABBFBB7F}" type="pres">
      <dgm:prSet presAssocID="{EB5B5ABD-4BA3-4D83-A7FA-11F1144DC12B}" presName="horz1" presStyleCnt="0"/>
      <dgm:spPr/>
    </dgm:pt>
    <dgm:pt modelId="{855C371C-B2BE-46F4-9E2A-218D8CF5885E}" type="pres">
      <dgm:prSet presAssocID="{EB5B5ABD-4BA3-4D83-A7FA-11F1144DC12B}" presName="tx1" presStyleLbl="revTx" presStyleIdx="0" presStyleCnt="1"/>
      <dgm:spPr/>
    </dgm:pt>
    <dgm:pt modelId="{81FA0E1B-B275-42DB-B7A4-FCD8AC3C09BA}" type="pres">
      <dgm:prSet presAssocID="{EB5B5ABD-4BA3-4D83-A7FA-11F1144DC12B}" presName="vert1" presStyleCnt="0"/>
      <dgm:spPr/>
    </dgm:pt>
  </dgm:ptLst>
  <dgm:cxnLst>
    <dgm:cxn modelId="{85E2BF79-3012-4A57-A9CC-A7A70298077B}" srcId="{3EDFFA30-DE74-426F-B1C9-3DD3CC166D5B}" destId="{EB5B5ABD-4BA3-4D83-A7FA-11F1144DC12B}" srcOrd="0" destOrd="0" parTransId="{05BD0151-A5E1-42F4-9B66-FE5D2030CF07}" sibTransId="{739E6212-E376-4E17-8BCC-D07BF0D3ECA3}"/>
    <dgm:cxn modelId="{9FC5DADC-B182-4425-8194-AFF1844E1763}" type="presOf" srcId="{3EDFFA30-DE74-426F-B1C9-3DD3CC166D5B}" destId="{69769AED-F0F2-4EB1-A4D9-597629788D50}" srcOrd="0" destOrd="0" presId="urn:microsoft.com/office/officeart/2008/layout/LinedList"/>
    <dgm:cxn modelId="{F5C51407-50B4-4784-A454-BFCC7348F2BF}" type="presOf" srcId="{EB5B5ABD-4BA3-4D83-A7FA-11F1144DC12B}" destId="{855C371C-B2BE-46F4-9E2A-218D8CF5885E}" srcOrd="0" destOrd="0" presId="urn:microsoft.com/office/officeart/2008/layout/LinedList"/>
    <dgm:cxn modelId="{D354CAE4-712E-46E6-A16F-027BE7A7F8CC}" type="presParOf" srcId="{69769AED-F0F2-4EB1-A4D9-597629788D50}" destId="{1A7D1DC2-7178-4B64-8915-409F0758928C}" srcOrd="0" destOrd="0" presId="urn:microsoft.com/office/officeart/2008/layout/LinedList"/>
    <dgm:cxn modelId="{36E0587F-D2A8-4FF7-96F1-F0FB68582419}" type="presParOf" srcId="{69769AED-F0F2-4EB1-A4D9-597629788D50}" destId="{0AE298A0-E597-49A8-A08F-85F8ABBFBB7F}" srcOrd="1" destOrd="0" presId="urn:microsoft.com/office/officeart/2008/layout/LinedList"/>
    <dgm:cxn modelId="{6900E963-8040-40E1-B5F8-BC7227FF7C79}" type="presParOf" srcId="{0AE298A0-E597-49A8-A08F-85F8ABBFBB7F}" destId="{855C371C-B2BE-46F4-9E2A-218D8CF5885E}" srcOrd="0" destOrd="0" presId="urn:microsoft.com/office/officeart/2008/layout/LinedList"/>
    <dgm:cxn modelId="{08EC6F8E-62FC-447A-ADF0-85535D99E989}" type="presParOf" srcId="{0AE298A0-E597-49A8-A08F-85F8ABBFBB7F}" destId="{81FA0E1B-B275-42DB-B7A4-FCD8AC3C09BA}"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739D8923-B99F-4CA6-82A2-E6B3BC18E98C}"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7C1B4DC4-FD65-4A9B-B779-27B5681AB084}">
      <dgm:prSet/>
      <dgm:spPr/>
      <dgm:t>
        <a:bodyPr/>
        <a:lstStyle/>
        <a:p>
          <a:pPr rtl="0"/>
          <a:r>
            <a:rPr lang="en-US" b="1" smtClean="0"/>
            <a:t>Endocrine Therapy: Agents and Use</a:t>
          </a:r>
          <a:endParaRPr lang="en-US"/>
        </a:p>
      </dgm:t>
    </dgm:pt>
    <dgm:pt modelId="{3BC324F1-68D9-4D2F-8E23-F79A1F45FAEA}" type="parTrans" cxnId="{5124B6E2-89BD-483B-A4BF-991DABC9F1B3}">
      <dgm:prSet/>
      <dgm:spPr/>
      <dgm:t>
        <a:bodyPr/>
        <a:lstStyle/>
        <a:p>
          <a:endParaRPr lang="en-US"/>
        </a:p>
      </dgm:t>
    </dgm:pt>
    <dgm:pt modelId="{9C96FF2A-929B-4E55-8D2B-0975BFA885C5}" type="sibTrans" cxnId="{5124B6E2-89BD-483B-A4BF-991DABC9F1B3}">
      <dgm:prSet/>
      <dgm:spPr/>
      <dgm:t>
        <a:bodyPr/>
        <a:lstStyle/>
        <a:p>
          <a:endParaRPr lang="en-US"/>
        </a:p>
      </dgm:t>
    </dgm:pt>
    <dgm:pt modelId="{DC7F9523-29D7-4D81-A7F6-5182183C6B8B}" type="pres">
      <dgm:prSet presAssocID="{739D8923-B99F-4CA6-82A2-E6B3BC18E98C}" presName="vert0" presStyleCnt="0">
        <dgm:presLayoutVars>
          <dgm:dir/>
          <dgm:animOne val="branch"/>
          <dgm:animLvl val="lvl"/>
        </dgm:presLayoutVars>
      </dgm:prSet>
      <dgm:spPr/>
    </dgm:pt>
    <dgm:pt modelId="{DCF499C7-E8F8-4F13-BA1E-0B068F6DB604}" type="pres">
      <dgm:prSet presAssocID="{7C1B4DC4-FD65-4A9B-B779-27B5681AB084}" presName="thickLine" presStyleLbl="alignNode1" presStyleIdx="0" presStyleCnt="1"/>
      <dgm:spPr/>
    </dgm:pt>
    <dgm:pt modelId="{AB5376EB-E40F-4A7A-881A-E9918C83AFAC}" type="pres">
      <dgm:prSet presAssocID="{7C1B4DC4-FD65-4A9B-B779-27B5681AB084}" presName="horz1" presStyleCnt="0"/>
      <dgm:spPr/>
    </dgm:pt>
    <dgm:pt modelId="{12208B29-7B52-4781-9492-2C6F21E44993}" type="pres">
      <dgm:prSet presAssocID="{7C1B4DC4-FD65-4A9B-B779-27B5681AB084}" presName="tx1" presStyleLbl="revTx" presStyleIdx="0" presStyleCnt="1"/>
      <dgm:spPr/>
    </dgm:pt>
    <dgm:pt modelId="{CF3EA433-BF09-4673-982A-8553BA26C299}" type="pres">
      <dgm:prSet presAssocID="{7C1B4DC4-FD65-4A9B-B779-27B5681AB084}" presName="vert1" presStyleCnt="0"/>
      <dgm:spPr/>
    </dgm:pt>
  </dgm:ptLst>
  <dgm:cxnLst>
    <dgm:cxn modelId="{5124B6E2-89BD-483B-A4BF-991DABC9F1B3}" srcId="{739D8923-B99F-4CA6-82A2-E6B3BC18E98C}" destId="{7C1B4DC4-FD65-4A9B-B779-27B5681AB084}" srcOrd="0" destOrd="0" parTransId="{3BC324F1-68D9-4D2F-8E23-F79A1F45FAEA}" sibTransId="{9C96FF2A-929B-4E55-8D2B-0975BFA885C5}"/>
    <dgm:cxn modelId="{6BCEA219-678E-418A-ACA0-B1D4ABCC1BB3}" type="presOf" srcId="{739D8923-B99F-4CA6-82A2-E6B3BC18E98C}" destId="{DC7F9523-29D7-4D81-A7F6-5182183C6B8B}" srcOrd="0" destOrd="0" presId="urn:microsoft.com/office/officeart/2008/layout/LinedList"/>
    <dgm:cxn modelId="{EEC67351-E288-4617-85AC-AECDC0306E1B}" type="presOf" srcId="{7C1B4DC4-FD65-4A9B-B779-27B5681AB084}" destId="{12208B29-7B52-4781-9492-2C6F21E44993}" srcOrd="0" destOrd="0" presId="urn:microsoft.com/office/officeart/2008/layout/LinedList"/>
    <dgm:cxn modelId="{FB71C5AF-2373-4B65-9C4A-B3E940044262}" type="presParOf" srcId="{DC7F9523-29D7-4D81-A7F6-5182183C6B8B}" destId="{DCF499C7-E8F8-4F13-BA1E-0B068F6DB604}" srcOrd="0" destOrd="0" presId="urn:microsoft.com/office/officeart/2008/layout/LinedList"/>
    <dgm:cxn modelId="{0563809B-DE51-42B6-A887-81741F75CDFA}" type="presParOf" srcId="{DC7F9523-29D7-4D81-A7F6-5182183C6B8B}" destId="{AB5376EB-E40F-4A7A-881A-E9918C83AFAC}" srcOrd="1" destOrd="0" presId="urn:microsoft.com/office/officeart/2008/layout/LinedList"/>
    <dgm:cxn modelId="{3A372B2B-232F-46F4-AD8F-DF154273F594}" type="presParOf" srcId="{AB5376EB-E40F-4A7A-881A-E9918C83AFAC}" destId="{12208B29-7B52-4781-9492-2C6F21E44993}" srcOrd="0" destOrd="0" presId="urn:microsoft.com/office/officeart/2008/layout/LinedList"/>
    <dgm:cxn modelId="{CE6A3EA8-3A62-47C1-89E4-59427F25F49D}" type="presParOf" srcId="{AB5376EB-E40F-4A7A-881A-E9918C83AFAC}" destId="{CF3EA433-BF09-4673-982A-8553BA26C29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E7E76024-865A-441C-B13C-D8F80EB6BCDE}"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D75A7E9B-C7C2-4828-B2F2-DE72263B4A2A}">
      <dgm:prSet/>
      <dgm:spPr/>
      <dgm:t>
        <a:bodyPr/>
        <a:lstStyle/>
        <a:p>
          <a:pPr rtl="0"/>
          <a:r>
            <a:rPr lang="en-US" b="1" smtClean="0"/>
            <a:t>HER2-Targeted Therapy Across the Disease Course</a:t>
          </a:r>
          <a:endParaRPr lang="en-US"/>
        </a:p>
      </dgm:t>
    </dgm:pt>
    <dgm:pt modelId="{21AD06AB-7198-42E4-BFDE-C3CCF0D0EB52}" type="parTrans" cxnId="{E73AF11D-DE7C-459F-9964-FF73F8640C62}">
      <dgm:prSet/>
      <dgm:spPr/>
      <dgm:t>
        <a:bodyPr/>
        <a:lstStyle/>
        <a:p>
          <a:endParaRPr lang="en-US"/>
        </a:p>
      </dgm:t>
    </dgm:pt>
    <dgm:pt modelId="{D3639944-19DD-419F-BBA2-474160CD6167}" type="sibTrans" cxnId="{E73AF11D-DE7C-459F-9964-FF73F8640C62}">
      <dgm:prSet/>
      <dgm:spPr/>
      <dgm:t>
        <a:bodyPr/>
        <a:lstStyle/>
        <a:p>
          <a:endParaRPr lang="en-US"/>
        </a:p>
      </dgm:t>
    </dgm:pt>
    <dgm:pt modelId="{94F4F8F5-6A3E-46C4-9AEE-09F9EEEBA904}" type="pres">
      <dgm:prSet presAssocID="{E7E76024-865A-441C-B13C-D8F80EB6BCDE}" presName="vert0" presStyleCnt="0">
        <dgm:presLayoutVars>
          <dgm:dir/>
          <dgm:animOne val="branch"/>
          <dgm:animLvl val="lvl"/>
        </dgm:presLayoutVars>
      </dgm:prSet>
      <dgm:spPr/>
    </dgm:pt>
    <dgm:pt modelId="{EC92A054-60DB-43B4-9D2A-E1DA2EA301EA}" type="pres">
      <dgm:prSet presAssocID="{D75A7E9B-C7C2-4828-B2F2-DE72263B4A2A}" presName="thickLine" presStyleLbl="alignNode1" presStyleIdx="0" presStyleCnt="1"/>
      <dgm:spPr/>
    </dgm:pt>
    <dgm:pt modelId="{3BAF4F62-A5BE-4ED7-B666-C25AD2B439B4}" type="pres">
      <dgm:prSet presAssocID="{D75A7E9B-C7C2-4828-B2F2-DE72263B4A2A}" presName="horz1" presStyleCnt="0"/>
      <dgm:spPr/>
    </dgm:pt>
    <dgm:pt modelId="{C0526F10-4E4C-4DC8-97FF-B9B4DDA54686}" type="pres">
      <dgm:prSet presAssocID="{D75A7E9B-C7C2-4828-B2F2-DE72263B4A2A}" presName="tx1" presStyleLbl="revTx" presStyleIdx="0" presStyleCnt="1"/>
      <dgm:spPr/>
    </dgm:pt>
    <dgm:pt modelId="{6446D941-4C07-4F43-BF4B-63DDA5275941}" type="pres">
      <dgm:prSet presAssocID="{D75A7E9B-C7C2-4828-B2F2-DE72263B4A2A}" presName="vert1" presStyleCnt="0"/>
      <dgm:spPr/>
    </dgm:pt>
  </dgm:ptLst>
  <dgm:cxnLst>
    <dgm:cxn modelId="{DA7AE35D-68D0-4134-A293-E9FE62D97CEE}" type="presOf" srcId="{E7E76024-865A-441C-B13C-D8F80EB6BCDE}" destId="{94F4F8F5-6A3E-46C4-9AEE-09F9EEEBA904}" srcOrd="0" destOrd="0" presId="urn:microsoft.com/office/officeart/2008/layout/LinedList"/>
    <dgm:cxn modelId="{24913548-CCD3-4E45-8758-A1E6D49C88D7}" type="presOf" srcId="{D75A7E9B-C7C2-4828-B2F2-DE72263B4A2A}" destId="{C0526F10-4E4C-4DC8-97FF-B9B4DDA54686}" srcOrd="0" destOrd="0" presId="urn:microsoft.com/office/officeart/2008/layout/LinedList"/>
    <dgm:cxn modelId="{E73AF11D-DE7C-459F-9964-FF73F8640C62}" srcId="{E7E76024-865A-441C-B13C-D8F80EB6BCDE}" destId="{D75A7E9B-C7C2-4828-B2F2-DE72263B4A2A}" srcOrd="0" destOrd="0" parTransId="{21AD06AB-7198-42E4-BFDE-C3CCF0D0EB52}" sibTransId="{D3639944-19DD-419F-BBA2-474160CD6167}"/>
    <dgm:cxn modelId="{AD3A4ADB-A2D9-4893-A113-A734E936D395}" type="presParOf" srcId="{94F4F8F5-6A3E-46C4-9AEE-09F9EEEBA904}" destId="{EC92A054-60DB-43B4-9D2A-E1DA2EA301EA}" srcOrd="0" destOrd="0" presId="urn:microsoft.com/office/officeart/2008/layout/LinedList"/>
    <dgm:cxn modelId="{8B00B3B1-EA76-4A54-A4A6-2AF011F2DDE2}" type="presParOf" srcId="{94F4F8F5-6A3E-46C4-9AEE-09F9EEEBA904}" destId="{3BAF4F62-A5BE-4ED7-B666-C25AD2B439B4}" srcOrd="1" destOrd="0" presId="urn:microsoft.com/office/officeart/2008/layout/LinedList"/>
    <dgm:cxn modelId="{978CD365-D3EA-4784-8A5E-DEF22A6164EF}" type="presParOf" srcId="{3BAF4F62-A5BE-4ED7-B666-C25AD2B439B4}" destId="{C0526F10-4E4C-4DC8-97FF-B9B4DDA54686}" srcOrd="0" destOrd="0" presId="urn:microsoft.com/office/officeart/2008/layout/LinedList"/>
    <dgm:cxn modelId="{7D00D7F1-5CF5-424D-8AC6-049120761F87}" type="presParOf" srcId="{3BAF4F62-A5BE-4ED7-B666-C25AD2B439B4}" destId="{6446D941-4C07-4F43-BF4B-63DDA527594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33FD70C9-A0EC-496C-B834-E9C93D8E91D0}"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US"/>
        </a:p>
      </dgm:t>
    </dgm:pt>
    <dgm:pt modelId="{88E938BA-0F7C-4D4E-9876-BC99F4183B2D}">
      <dgm:prSet/>
      <dgm:spPr/>
      <dgm:t>
        <a:bodyPr/>
        <a:lstStyle/>
        <a:p>
          <a:pPr rtl="0"/>
          <a:r>
            <a:rPr lang="en-US" b="1" smtClean="0"/>
            <a:t>Advanced Local-Regional Breast Cancer (Stage IIIA or IIIB)</a:t>
          </a:r>
          <a:endParaRPr lang="en-US"/>
        </a:p>
      </dgm:t>
    </dgm:pt>
    <dgm:pt modelId="{F2E9F275-99CF-4C91-B404-30998D875FAD}" type="parTrans" cxnId="{5D5DA9A6-CAFB-4183-9DD6-0192435EF660}">
      <dgm:prSet/>
      <dgm:spPr/>
      <dgm:t>
        <a:bodyPr/>
        <a:lstStyle/>
        <a:p>
          <a:endParaRPr lang="en-US"/>
        </a:p>
      </dgm:t>
    </dgm:pt>
    <dgm:pt modelId="{9F669CBC-5A4A-4370-BBF0-7CF4A10E541B}" type="sibTrans" cxnId="{5D5DA9A6-CAFB-4183-9DD6-0192435EF660}">
      <dgm:prSet/>
      <dgm:spPr/>
      <dgm:t>
        <a:bodyPr/>
        <a:lstStyle/>
        <a:p>
          <a:endParaRPr lang="en-US"/>
        </a:p>
      </dgm:t>
    </dgm:pt>
    <dgm:pt modelId="{14E7CE93-CE8B-4A72-8E19-95D385249625}" type="pres">
      <dgm:prSet presAssocID="{33FD70C9-A0EC-496C-B834-E9C93D8E91D0}" presName="Name0" presStyleCnt="0">
        <dgm:presLayoutVars>
          <dgm:chMax val="7"/>
          <dgm:dir/>
          <dgm:animLvl val="lvl"/>
          <dgm:resizeHandles val="exact"/>
        </dgm:presLayoutVars>
      </dgm:prSet>
      <dgm:spPr/>
    </dgm:pt>
    <dgm:pt modelId="{10C534C6-DA79-4A6A-8457-338D62EAF9E7}" type="pres">
      <dgm:prSet presAssocID="{88E938BA-0F7C-4D4E-9876-BC99F4183B2D}" presName="circle1" presStyleLbl="node1" presStyleIdx="0" presStyleCnt="1"/>
      <dgm:spPr/>
    </dgm:pt>
    <dgm:pt modelId="{5A71F48A-6DB6-48F8-B015-D87DB47109F5}" type="pres">
      <dgm:prSet presAssocID="{88E938BA-0F7C-4D4E-9876-BC99F4183B2D}" presName="space" presStyleCnt="0"/>
      <dgm:spPr/>
    </dgm:pt>
    <dgm:pt modelId="{8A9270FC-E5B7-4E47-B45F-6FC633047409}" type="pres">
      <dgm:prSet presAssocID="{88E938BA-0F7C-4D4E-9876-BC99F4183B2D}" presName="rect1" presStyleLbl="alignAcc1" presStyleIdx="0" presStyleCnt="1"/>
      <dgm:spPr/>
    </dgm:pt>
    <dgm:pt modelId="{97DD9CA0-42CB-4E2C-A050-DE69BF7E397A}" type="pres">
      <dgm:prSet presAssocID="{88E938BA-0F7C-4D4E-9876-BC99F4183B2D}" presName="rect1ParTxNoCh" presStyleLbl="alignAcc1" presStyleIdx="0" presStyleCnt="1">
        <dgm:presLayoutVars>
          <dgm:chMax val="1"/>
          <dgm:bulletEnabled val="1"/>
        </dgm:presLayoutVars>
      </dgm:prSet>
      <dgm:spPr/>
    </dgm:pt>
  </dgm:ptLst>
  <dgm:cxnLst>
    <dgm:cxn modelId="{5D5DA9A6-CAFB-4183-9DD6-0192435EF660}" srcId="{33FD70C9-A0EC-496C-B834-E9C93D8E91D0}" destId="{88E938BA-0F7C-4D4E-9876-BC99F4183B2D}" srcOrd="0" destOrd="0" parTransId="{F2E9F275-99CF-4C91-B404-30998D875FAD}" sibTransId="{9F669CBC-5A4A-4370-BBF0-7CF4A10E541B}"/>
    <dgm:cxn modelId="{0C030441-3997-4920-94B0-807040185F0B}" type="presOf" srcId="{88E938BA-0F7C-4D4E-9876-BC99F4183B2D}" destId="{97DD9CA0-42CB-4E2C-A050-DE69BF7E397A}" srcOrd="1" destOrd="0" presId="urn:microsoft.com/office/officeart/2005/8/layout/target3"/>
    <dgm:cxn modelId="{4D1160C1-4384-49B1-95BA-9FB34CDEA163}" type="presOf" srcId="{88E938BA-0F7C-4D4E-9876-BC99F4183B2D}" destId="{8A9270FC-E5B7-4E47-B45F-6FC633047409}" srcOrd="0" destOrd="0" presId="urn:microsoft.com/office/officeart/2005/8/layout/target3"/>
    <dgm:cxn modelId="{B01B5FC6-AD40-4FFC-A123-85F9ED3681F8}" type="presOf" srcId="{33FD70C9-A0EC-496C-B834-E9C93D8E91D0}" destId="{14E7CE93-CE8B-4A72-8E19-95D385249625}" srcOrd="0" destOrd="0" presId="urn:microsoft.com/office/officeart/2005/8/layout/target3"/>
    <dgm:cxn modelId="{9E7CB6CE-D34D-4F70-9032-61485EE3FC39}" type="presParOf" srcId="{14E7CE93-CE8B-4A72-8E19-95D385249625}" destId="{10C534C6-DA79-4A6A-8457-338D62EAF9E7}" srcOrd="0" destOrd="0" presId="urn:microsoft.com/office/officeart/2005/8/layout/target3"/>
    <dgm:cxn modelId="{6801B013-F286-46FD-819C-E668042DB582}" type="presParOf" srcId="{14E7CE93-CE8B-4A72-8E19-95D385249625}" destId="{5A71F48A-6DB6-48F8-B015-D87DB47109F5}" srcOrd="1" destOrd="0" presId="urn:microsoft.com/office/officeart/2005/8/layout/target3"/>
    <dgm:cxn modelId="{C3AB88F2-0967-4B43-970B-8067B423F80D}" type="presParOf" srcId="{14E7CE93-CE8B-4A72-8E19-95D385249625}" destId="{8A9270FC-E5B7-4E47-B45F-6FC633047409}" srcOrd="2" destOrd="0" presId="urn:microsoft.com/office/officeart/2005/8/layout/target3"/>
    <dgm:cxn modelId="{894E6892-859E-4F89-8E9F-D2AE176E7083}" type="presParOf" srcId="{14E7CE93-CE8B-4A72-8E19-95D385249625}" destId="{97DD9CA0-42CB-4E2C-A050-DE69BF7E397A}"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C97C2C5A-7BF8-451F-9483-E7D2D0280C7D}"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US"/>
        </a:p>
      </dgm:t>
    </dgm:pt>
    <dgm:pt modelId="{C3D6A75E-5D08-4373-878B-F0D7E505AB87}">
      <dgm:prSet/>
      <dgm:spPr/>
      <dgm:t>
        <a:bodyPr/>
        <a:lstStyle/>
        <a:p>
          <a:pPr rtl="0"/>
          <a:r>
            <a:rPr lang="en-US" b="1" smtClean="0"/>
            <a:t>Distant Metastases (Stage IV)</a:t>
          </a:r>
          <a:endParaRPr lang="en-US"/>
        </a:p>
      </dgm:t>
    </dgm:pt>
    <dgm:pt modelId="{2AEBB4C7-599F-4D9B-A1CC-01CAB498C616}" type="parTrans" cxnId="{ABB066D9-BFA6-4452-9AC3-2589D38874AF}">
      <dgm:prSet/>
      <dgm:spPr/>
      <dgm:t>
        <a:bodyPr/>
        <a:lstStyle/>
        <a:p>
          <a:endParaRPr lang="en-US"/>
        </a:p>
      </dgm:t>
    </dgm:pt>
    <dgm:pt modelId="{BD82FF4C-E444-4D18-B114-03455B4F7C43}" type="sibTrans" cxnId="{ABB066D9-BFA6-4452-9AC3-2589D38874AF}">
      <dgm:prSet/>
      <dgm:spPr/>
      <dgm:t>
        <a:bodyPr/>
        <a:lstStyle/>
        <a:p>
          <a:endParaRPr lang="en-US"/>
        </a:p>
      </dgm:t>
    </dgm:pt>
    <dgm:pt modelId="{E84EEC16-E8D9-4B10-A92B-3291BDE36C49}" type="pres">
      <dgm:prSet presAssocID="{C97C2C5A-7BF8-451F-9483-E7D2D0280C7D}" presName="Name0" presStyleCnt="0">
        <dgm:presLayoutVars>
          <dgm:chMax val="7"/>
          <dgm:dir/>
          <dgm:animLvl val="lvl"/>
          <dgm:resizeHandles val="exact"/>
        </dgm:presLayoutVars>
      </dgm:prSet>
      <dgm:spPr/>
    </dgm:pt>
    <dgm:pt modelId="{8B7E3757-4027-4455-80F5-29A68517AE7A}" type="pres">
      <dgm:prSet presAssocID="{C3D6A75E-5D08-4373-878B-F0D7E505AB87}" presName="circle1" presStyleLbl="node1" presStyleIdx="0" presStyleCnt="1"/>
      <dgm:spPr/>
    </dgm:pt>
    <dgm:pt modelId="{60029BAB-4548-4132-8589-B5B2216C2B5B}" type="pres">
      <dgm:prSet presAssocID="{C3D6A75E-5D08-4373-878B-F0D7E505AB87}" presName="space" presStyleCnt="0"/>
      <dgm:spPr/>
    </dgm:pt>
    <dgm:pt modelId="{6F1193AE-8196-44CD-976F-44EE5996039C}" type="pres">
      <dgm:prSet presAssocID="{C3D6A75E-5D08-4373-878B-F0D7E505AB87}" presName="rect1" presStyleLbl="alignAcc1" presStyleIdx="0" presStyleCnt="1"/>
      <dgm:spPr/>
    </dgm:pt>
    <dgm:pt modelId="{FFD814F7-C7FD-429A-A079-C99875D2A0F6}" type="pres">
      <dgm:prSet presAssocID="{C3D6A75E-5D08-4373-878B-F0D7E505AB87}" presName="rect1ParTxNoCh" presStyleLbl="alignAcc1" presStyleIdx="0" presStyleCnt="1">
        <dgm:presLayoutVars>
          <dgm:chMax val="1"/>
          <dgm:bulletEnabled val="1"/>
        </dgm:presLayoutVars>
      </dgm:prSet>
      <dgm:spPr/>
    </dgm:pt>
  </dgm:ptLst>
  <dgm:cxnLst>
    <dgm:cxn modelId="{ABB066D9-BFA6-4452-9AC3-2589D38874AF}" srcId="{C97C2C5A-7BF8-451F-9483-E7D2D0280C7D}" destId="{C3D6A75E-5D08-4373-878B-F0D7E505AB87}" srcOrd="0" destOrd="0" parTransId="{2AEBB4C7-599F-4D9B-A1CC-01CAB498C616}" sibTransId="{BD82FF4C-E444-4D18-B114-03455B4F7C43}"/>
    <dgm:cxn modelId="{F12D496B-C2B0-4DA3-8E07-A35306875FDC}" type="presOf" srcId="{C3D6A75E-5D08-4373-878B-F0D7E505AB87}" destId="{6F1193AE-8196-44CD-976F-44EE5996039C}" srcOrd="0" destOrd="0" presId="urn:microsoft.com/office/officeart/2005/8/layout/target3"/>
    <dgm:cxn modelId="{C0D90792-5C4B-438E-91B0-B9C5A431AE53}" type="presOf" srcId="{C3D6A75E-5D08-4373-878B-F0D7E505AB87}" destId="{FFD814F7-C7FD-429A-A079-C99875D2A0F6}" srcOrd="1" destOrd="0" presId="urn:microsoft.com/office/officeart/2005/8/layout/target3"/>
    <dgm:cxn modelId="{38137E1F-58DC-4122-802E-D320AF301A2F}" type="presOf" srcId="{C97C2C5A-7BF8-451F-9483-E7D2D0280C7D}" destId="{E84EEC16-E8D9-4B10-A92B-3291BDE36C49}" srcOrd="0" destOrd="0" presId="urn:microsoft.com/office/officeart/2005/8/layout/target3"/>
    <dgm:cxn modelId="{E0755264-0B9B-4DC2-B3AD-1BC3B0A36B76}" type="presParOf" srcId="{E84EEC16-E8D9-4B10-A92B-3291BDE36C49}" destId="{8B7E3757-4027-4455-80F5-29A68517AE7A}" srcOrd="0" destOrd="0" presId="urn:microsoft.com/office/officeart/2005/8/layout/target3"/>
    <dgm:cxn modelId="{7A5EE804-8F5B-4A10-8E03-F2D6FAEACE16}" type="presParOf" srcId="{E84EEC16-E8D9-4B10-A92B-3291BDE36C49}" destId="{60029BAB-4548-4132-8589-B5B2216C2B5B}" srcOrd="1" destOrd="0" presId="urn:microsoft.com/office/officeart/2005/8/layout/target3"/>
    <dgm:cxn modelId="{D1128434-87C4-4F72-863E-53DCCDAEDCFA}" type="presParOf" srcId="{E84EEC16-E8D9-4B10-A92B-3291BDE36C49}" destId="{6F1193AE-8196-44CD-976F-44EE5996039C}" srcOrd="2" destOrd="0" presId="urn:microsoft.com/office/officeart/2005/8/layout/target3"/>
    <dgm:cxn modelId="{F595CC65-B8E6-4172-ACEE-9D5A02502A3F}" type="presParOf" srcId="{E84EEC16-E8D9-4B10-A92B-3291BDE36C49}" destId="{FFD814F7-C7FD-429A-A079-C99875D2A0F6}"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19769F46-C40C-4D78-98EC-80B2FDF820D0}"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D1D674B9-4488-41D7-90D8-938A81206ACE}">
      <dgm:prSet/>
      <dgm:spPr/>
      <dgm:t>
        <a:bodyPr/>
        <a:lstStyle/>
        <a:p>
          <a:pPr rtl="0"/>
          <a:r>
            <a:rPr lang="en-US" b="1" dirty="0" smtClean="0"/>
            <a:t>Stage IV: Systemic Therapy by Subtype</a:t>
          </a:r>
          <a:endParaRPr lang="en-US" dirty="0"/>
        </a:p>
      </dgm:t>
    </dgm:pt>
    <dgm:pt modelId="{F8B861FD-665C-48AA-A0EF-10D78A89E6A4}" type="parTrans" cxnId="{170D0BDC-6BC4-4643-9299-F59297D29B87}">
      <dgm:prSet/>
      <dgm:spPr/>
      <dgm:t>
        <a:bodyPr/>
        <a:lstStyle/>
        <a:p>
          <a:endParaRPr lang="en-US"/>
        </a:p>
      </dgm:t>
    </dgm:pt>
    <dgm:pt modelId="{159DAD5C-ABA3-46F5-A390-0661A697F91A}" type="sibTrans" cxnId="{170D0BDC-6BC4-4643-9299-F59297D29B87}">
      <dgm:prSet/>
      <dgm:spPr/>
      <dgm:t>
        <a:bodyPr/>
        <a:lstStyle/>
        <a:p>
          <a:endParaRPr lang="en-US"/>
        </a:p>
      </dgm:t>
    </dgm:pt>
    <dgm:pt modelId="{32E91589-A733-4BD2-987E-4345E9412D98}" type="pres">
      <dgm:prSet presAssocID="{19769F46-C40C-4D78-98EC-80B2FDF820D0}" presName="vert0" presStyleCnt="0">
        <dgm:presLayoutVars>
          <dgm:dir/>
          <dgm:animOne val="branch"/>
          <dgm:animLvl val="lvl"/>
        </dgm:presLayoutVars>
      </dgm:prSet>
      <dgm:spPr/>
    </dgm:pt>
    <dgm:pt modelId="{696C34FF-44D9-4739-8C70-711BFC8185F8}" type="pres">
      <dgm:prSet presAssocID="{D1D674B9-4488-41D7-90D8-938A81206ACE}" presName="thickLine" presStyleLbl="alignNode1" presStyleIdx="0" presStyleCnt="1"/>
      <dgm:spPr/>
    </dgm:pt>
    <dgm:pt modelId="{54793745-7ACF-480F-B272-C8E50DAEEA7E}" type="pres">
      <dgm:prSet presAssocID="{D1D674B9-4488-41D7-90D8-938A81206ACE}" presName="horz1" presStyleCnt="0"/>
      <dgm:spPr/>
    </dgm:pt>
    <dgm:pt modelId="{5C8F4B38-8348-40A0-BFCD-504F4E10D826}" type="pres">
      <dgm:prSet presAssocID="{D1D674B9-4488-41D7-90D8-938A81206ACE}" presName="tx1" presStyleLbl="revTx" presStyleIdx="0" presStyleCnt="1"/>
      <dgm:spPr/>
    </dgm:pt>
    <dgm:pt modelId="{4A8EC007-8757-473E-94DD-5EC01280E24B}" type="pres">
      <dgm:prSet presAssocID="{D1D674B9-4488-41D7-90D8-938A81206ACE}" presName="vert1" presStyleCnt="0"/>
      <dgm:spPr/>
    </dgm:pt>
  </dgm:ptLst>
  <dgm:cxnLst>
    <dgm:cxn modelId="{0AE0CCF6-DC76-40CC-BD32-12895C511FAA}" type="presOf" srcId="{19769F46-C40C-4D78-98EC-80B2FDF820D0}" destId="{32E91589-A733-4BD2-987E-4345E9412D98}" srcOrd="0" destOrd="0" presId="urn:microsoft.com/office/officeart/2008/layout/LinedList"/>
    <dgm:cxn modelId="{170D0BDC-6BC4-4643-9299-F59297D29B87}" srcId="{19769F46-C40C-4D78-98EC-80B2FDF820D0}" destId="{D1D674B9-4488-41D7-90D8-938A81206ACE}" srcOrd="0" destOrd="0" parTransId="{F8B861FD-665C-48AA-A0EF-10D78A89E6A4}" sibTransId="{159DAD5C-ABA3-46F5-A390-0661A697F91A}"/>
    <dgm:cxn modelId="{AA44EA64-3BF0-4A26-AE8E-DDB7C3F198B0}" type="presOf" srcId="{D1D674B9-4488-41D7-90D8-938A81206ACE}" destId="{5C8F4B38-8348-40A0-BFCD-504F4E10D826}" srcOrd="0" destOrd="0" presId="urn:microsoft.com/office/officeart/2008/layout/LinedList"/>
    <dgm:cxn modelId="{2DF08394-21D7-4627-B7BE-0D8E1357EEBA}" type="presParOf" srcId="{32E91589-A733-4BD2-987E-4345E9412D98}" destId="{696C34FF-44D9-4739-8C70-711BFC8185F8}" srcOrd="0" destOrd="0" presId="urn:microsoft.com/office/officeart/2008/layout/LinedList"/>
    <dgm:cxn modelId="{B4BBF944-01E6-4218-83F3-F41D82B1DF9F}" type="presParOf" srcId="{32E91589-A733-4BD2-987E-4345E9412D98}" destId="{54793745-7ACF-480F-B272-C8E50DAEEA7E}" srcOrd="1" destOrd="0" presId="urn:microsoft.com/office/officeart/2008/layout/LinedList"/>
    <dgm:cxn modelId="{DF28F0ED-E5C1-4946-BA1F-796D7160387C}" type="presParOf" srcId="{54793745-7ACF-480F-B272-C8E50DAEEA7E}" destId="{5C8F4B38-8348-40A0-BFCD-504F4E10D826}" srcOrd="0" destOrd="0" presId="urn:microsoft.com/office/officeart/2008/layout/LinedList"/>
    <dgm:cxn modelId="{8EF9B639-9F11-4EC4-9E62-090FAFBBB78C}" type="presParOf" srcId="{54793745-7ACF-480F-B272-C8E50DAEEA7E}" destId="{4A8EC007-8757-473E-94DD-5EC01280E24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E823DF2B-C37C-4E34-9B3D-AE8B32799183}"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213B6225-982C-4E9A-AFDC-F9C44F191F18}">
      <dgm:prSet/>
      <dgm:spPr/>
      <dgm:t>
        <a:bodyPr/>
        <a:lstStyle/>
        <a:p>
          <a:pPr rtl="0"/>
          <a:r>
            <a:rPr lang="en-US" i="1" smtClean="0"/>
            <a:t>CDK4/6i = cyclin-dependent kinase 4/6 inhibitor; T-DXd = trastuzumab deruxtecan; T-DM1 = ado-trastuzumab emtansine; PARP inhibitor = poly(ADP-ribose) polymerase inhibitor. Bone-modifying agents (zoledronic acid or denosumab) and palliative radiotherapy/surgery are used alongside systemic therapy as indicated.</a:t>
          </a:r>
          <a:endParaRPr lang="en-US"/>
        </a:p>
      </dgm:t>
    </dgm:pt>
    <dgm:pt modelId="{47126EE5-6DAE-477F-B0E0-73DBB4B3AFE8}" type="parTrans" cxnId="{71639ACD-3A56-4E69-BAEF-1F6692FE8374}">
      <dgm:prSet/>
      <dgm:spPr/>
      <dgm:t>
        <a:bodyPr/>
        <a:lstStyle/>
        <a:p>
          <a:endParaRPr lang="en-US"/>
        </a:p>
      </dgm:t>
    </dgm:pt>
    <dgm:pt modelId="{B5F89896-18A0-4C5B-AF46-8AB583D52BDF}" type="sibTrans" cxnId="{71639ACD-3A56-4E69-BAEF-1F6692FE8374}">
      <dgm:prSet/>
      <dgm:spPr/>
      <dgm:t>
        <a:bodyPr/>
        <a:lstStyle/>
        <a:p>
          <a:endParaRPr lang="en-US"/>
        </a:p>
      </dgm:t>
    </dgm:pt>
    <dgm:pt modelId="{93720BD8-4F4C-4772-AE67-3397A33440C6}" type="pres">
      <dgm:prSet presAssocID="{E823DF2B-C37C-4E34-9B3D-AE8B32799183}" presName="vert0" presStyleCnt="0">
        <dgm:presLayoutVars>
          <dgm:dir/>
          <dgm:animOne val="branch"/>
          <dgm:animLvl val="lvl"/>
        </dgm:presLayoutVars>
      </dgm:prSet>
      <dgm:spPr/>
    </dgm:pt>
    <dgm:pt modelId="{8856A737-FF6F-4840-81E5-C122CC172972}" type="pres">
      <dgm:prSet presAssocID="{213B6225-982C-4E9A-AFDC-F9C44F191F18}" presName="thickLine" presStyleLbl="alignNode1" presStyleIdx="0" presStyleCnt="1"/>
      <dgm:spPr/>
    </dgm:pt>
    <dgm:pt modelId="{7C847B61-340D-437E-AF57-0D52844B63B5}" type="pres">
      <dgm:prSet presAssocID="{213B6225-982C-4E9A-AFDC-F9C44F191F18}" presName="horz1" presStyleCnt="0"/>
      <dgm:spPr/>
    </dgm:pt>
    <dgm:pt modelId="{43F2CF8A-392C-466D-BAC1-2505FEDBB976}" type="pres">
      <dgm:prSet presAssocID="{213B6225-982C-4E9A-AFDC-F9C44F191F18}" presName="tx1" presStyleLbl="revTx" presStyleIdx="0" presStyleCnt="1"/>
      <dgm:spPr/>
    </dgm:pt>
    <dgm:pt modelId="{FDF4506A-3401-4C21-8A6D-7BE466A2C70E}" type="pres">
      <dgm:prSet presAssocID="{213B6225-982C-4E9A-AFDC-F9C44F191F18}" presName="vert1" presStyleCnt="0"/>
      <dgm:spPr/>
    </dgm:pt>
  </dgm:ptLst>
  <dgm:cxnLst>
    <dgm:cxn modelId="{89486126-2530-4537-B8F8-A17DF16EED5C}" type="presOf" srcId="{E823DF2B-C37C-4E34-9B3D-AE8B32799183}" destId="{93720BD8-4F4C-4772-AE67-3397A33440C6}" srcOrd="0" destOrd="0" presId="urn:microsoft.com/office/officeart/2008/layout/LinedList"/>
    <dgm:cxn modelId="{DA751BE3-9E3E-4A3B-BE89-9E0E02DBD46C}" type="presOf" srcId="{213B6225-982C-4E9A-AFDC-F9C44F191F18}" destId="{43F2CF8A-392C-466D-BAC1-2505FEDBB976}" srcOrd="0" destOrd="0" presId="urn:microsoft.com/office/officeart/2008/layout/LinedList"/>
    <dgm:cxn modelId="{71639ACD-3A56-4E69-BAEF-1F6692FE8374}" srcId="{E823DF2B-C37C-4E34-9B3D-AE8B32799183}" destId="{213B6225-982C-4E9A-AFDC-F9C44F191F18}" srcOrd="0" destOrd="0" parTransId="{47126EE5-6DAE-477F-B0E0-73DBB4B3AFE8}" sibTransId="{B5F89896-18A0-4C5B-AF46-8AB583D52BDF}"/>
    <dgm:cxn modelId="{3AFC69EB-59F2-4F9D-802F-511546E5CC52}" type="presParOf" srcId="{93720BD8-4F4C-4772-AE67-3397A33440C6}" destId="{8856A737-FF6F-4840-81E5-C122CC172972}" srcOrd="0" destOrd="0" presId="urn:microsoft.com/office/officeart/2008/layout/LinedList"/>
    <dgm:cxn modelId="{CD1C2826-1789-438A-94C7-438999FD6432}" type="presParOf" srcId="{93720BD8-4F4C-4772-AE67-3397A33440C6}" destId="{7C847B61-340D-437E-AF57-0D52844B63B5}" srcOrd="1" destOrd="0" presId="urn:microsoft.com/office/officeart/2008/layout/LinedList"/>
    <dgm:cxn modelId="{C37D6604-3E1E-439F-A5D0-9FE735D8CC74}" type="presParOf" srcId="{7C847B61-340D-437E-AF57-0D52844B63B5}" destId="{43F2CF8A-392C-466D-BAC1-2505FEDBB976}" srcOrd="0" destOrd="0" presId="urn:microsoft.com/office/officeart/2008/layout/LinedList"/>
    <dgm:cxn modelId="{C3C0A8AC-868F-40EF-9957-1F33F6538850}" type="presParOf" srcId="{7C847B61-340D-437E-AF57-0D52844B63B5}" destId="{FDF4506A-3401-4C21-8A6D-7BE466A2C70E}"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7D5A3578-D636-439C-80AD-C5F001EF74C2}"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2869AF2A-733E-4BAE-B824-7D7E93108175}">
      <dgm:prSet/>
      <dgm:spPr/>
      <dgm:t>
        <a:bodyPr/>
        <a:lstStyle/>
        <a:p>
          <a:pPr rtl="0"/>
          <a:r>
            <a:rPr lang="en-US" b="1" smtClean="0"/>
            <a:t>Stage IV: Local Therapy for Palliation</a:t>
          </a:r>
          <a:endParaRPr lang="en-US"/>
        </a:p>
      </dgm:t>
    </dgm:pt>
    <dgm:pt modelId="{FE44CE77-FE03-4B38-A53D-16F76EA5F92D}" type="parTrans" cxnId="{02055E5E-F1F0-4081-B2CA-FD837D9A007C}">
      <dgm:prSet/>
      <dgm:spPr/>
      <dgm:t>
        <a:bodyPr/>
        <a:lstStyle/>
        <a:p>
          <a:endParaRPr lang="en-US"/>
        </a:p>
      </dgm:t>
    </dgm:pt>
    <dgm:pt modelId="{FEB52CED-522D-47D2-9573-B51355AD000B}" type="sibTrans" cxnId="{02055E5E-F1F0-4081-B2CA-FD837D9A007C}">
      <dgm:prSet/>
      <dgm:spPr/>
      <dgm:t>
        <a:bodyPr/>
        <a:lstStyle/>
        <a:p>
          <a:endParaRPr lang="en-US"/>
        </a:p>
      </dgm:t>
    </dgm:pt>
    <dgm:pt modelId="{0509A951-F6DD-451C-A1EE-F1E25E4B53C5}" type="pres">
      <dgm:prSet presAssocID="{7D5A3578-D636-439C-80AD-C5F001EF74C2}" presName="vert0" presStyleCnt="0">
        <dgm:presLayoutVars>
          <dgm:dir/>
          <dgm:animOne val="branch"/>
          <dgm:animLvl val="lvl"/>
        </dgm:presLayoutVars>
      </dgm:prSet>
      <dgm:spPr/>
    </dgm:pt>
    <dgm:pt modelId="{4E55943F-9E7B-4A42-B371-766FDB2D6247}" type="pres">
      <dgm:prSet presAssocID="{2869AF2A-733E-4BAE-B824-7D7E93108175}" presName="thickLine" presStyleLbl="alignNode1" presStyleIdx="0" presStyleCnt="1"/>
      <dgm:spPr/>
    </dgm:pt>
    <dgm:pt modelId="{15F45D83-E50C-46F9-926B-BD296842D150}" type="pres">
      <dgm:prSet presAssocID="{2869AF2A-733E-4BAE-B824-7D7E93108175}" presName="horz1" presStyleCnt="0"/>
      <dgm:spPr/>
    </dgm:pt>
    <dgm:pt modelId="{9ADADFED-9BBC-447E-9677-6FB874D533A4}" type="pres">
      <dgm:prSet presAssocID="{2869AF2A-733E-4BAE-B824-7D7E93108175}" presName="tx1" presStyleLbl="revTx" presStyleIdx="0" presStyleCnt="1"/>
      <dgm:spPr/>
    </dgm:pt>
    <dgm:pt modelId="{B0BCA898-E2A7-4071-853C-2D54098DF146}" type="pres">
      <dgm:prSet presAssocID="{2869AF2A-733E-4BAE-B824-7D7E93108175}" presName="vert1" presStyleCnt="0"/>
      <dgm:spPr/>
    </dgm:pt>
  </dgm:ptLst>
  <dgm:cxnLst>
    <dgm:cxn modelId="{71A00EAA-9B98-4DEF-9908-2503FDEAF509}" type="presOf" srcId="{2869AF2A-733E-4BAE-B824-7D7E93108175}" destId="{9ADADFED-9BBC-447E-9677-6FB874D533A4}" srcOrd="0" destOrd="0" presId="urn:microsoft.com/office/officeart/2008/layout/LinedList"/>
    <dgm:cxn modelId="{F53F14F6-6E49-4BAA-AC07-EF985ABEFCCF}" type="presOf" srcId="{7D5A3578-D636-439C-80AD-C5F001EF74C2}" destId="{0509A951-F6DD-451C-A1EE-F1E25E4B53C5}" srcOrd="0" destOrd="0" presId="urn:microsoft.com/office/officeart/2008/layout/LinedList"/>
    <dgm:cxn modelId="{02055E5E-F1F0-4081-B2CA-FD837D9A007C}" srcId="{7D5A3578-D636-439C-80AD-C5F001EF74C2}" destId="{2869AF2A-733E-4BAE-B824-7D7E93108175}" srcOrd="0" destOrd="0" parTransId="{FE44CE77-FE03-4B38-A53D-16F76EA5F92D}" sibTransId="{FEB52CED-522D-47D2-9573-B51355AD000B}"/>
    <dgm:cxn modelId="{752FD5C6-1A9B-4F0F-8471-84DEDD73AD24}" type="presParOf" srcId="{0509A951-F6DD-451C-A1EE-F1E25E4B53C5}" destId="{4E55943F-9E7B-4A42-B371-766FDB2D6247}" srcOrd="0" destOrd="0" presId="urn:microsoft.com/office/officeart/2008/layout/LinedList"/>
    <dgm:cxn modelId="{61B2F47C-3506-4169-AF48-CD73BCCE6AEC}" type="presParOf" srcId="{0509A951-F6DD-451C-A1EE-F1E25E4B53C5}" destId="{15F45D83-E50C-46F9-926B-BD296842D150}" srcOrd="1" destOrd="0" presId="urn:microsoft.com/office/officeart/2008/layout/LinedList"/>
    <dgm:cxn modelId="{4C83BF21-BB0B-412E-8063-F5049444DB7B}" type="presParOf" srcId="{15F45D83-E50C-46F9-926B-BD296842D150}" destId="{9ADADFED-9BBC-447E-9677-6FB874D533A4}" srcOrd="0" destOrd="0" presId="urn:microsoft.com/office/officeart/2008/layout/LinedList"/>
    <dgm:cxn modelId="{CED1F2AF-AA35-4493-B0E7-9BADFEF74759}" type="presParOf" srcId="{15F45D83-E50C-46F9-926B-BD296842D150}" destId="{B0BCA898-E2A7-4071-853C-2D54098DF14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414D07DB-44B9-411A-ACC6-D5C96673DBD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F85F71C-D526-4DAA-A66D-1686F880841F}">
      <dgm:prSet custT="1"/>
      <dgm:spPr/>
      <dgm:t>
        <a:bodyPr/>
        <a:lstStyle/>
        <a:p>
          <a:pPr rtl="0"/>
          <a:r>
            <a:rPr lang="en-US" sz="1400" i="1" dirty="0" smtClean="0"/>
            <a:t>Whether to resect the primary </a:t>
          </a:r>
          <a:r>
            <a:rPr lang="en-US" sz="1400" i="1" dirty="0" err="1" smtClean="0"/>
            <a:t>tumour</a:t>
          </a:r>
          <a:r>
            <a:rPr lang="en-US" sz="1400" i="1" dirty="0" smtClean="0"/>
            <a:t> in de novo stage IV disease remains controversial; reserve for palliation of symptomatic/</a:t>
          </a:r>
          <a:r>
            <a:rPr lang="en-US" sz="1400" i="1" dirty="0" err="1" smtClean="0"/>
            <a:t>fungating</a:t>
          </a:r>
          <a:r>
            <a:rPr lang="en-US" sz="1400" i="1" dirty="0" smtClean="0"/>
            <a:t> disease or multidisciplinary-selected </a:t>
          </a:r>
          <a:r>
            <a:rPr lang="en-US" sz="1400" i="1" dirty="0" err="1" smtClean="0"/>
            <a:t>oligometastatic</a:t>
          </a:r>
          <a:r>
            <a:rPr lang="en-US" sz="1400" i="1" dirty="0" smtClean="0"/>
            <a:t> cases.</a:t>
          </a:r>
          <a:endParaRPr lang="en-US" sz="1400" dirty="0"/>
        </a:p>
      </dgm:t>
    </dgm:pt>
    <dgm:pt modelId="{6B4FC94B-5BD8-4E42-B432-AFDF1DBA1943}" type="parTrans" cxnId="{C1FF3558-FA7D-40AD-B019-43B1985D7EAA}">
      <dgm:prSet/>
      <dgm:spPr/>
      <dgm:t>
        <a:bodyPr/>
        <a:lstStyle/>
        <a:p>
          <a:endParaRPr lang="en-US" sz="3200"/>
        </a:p>
      </dgm:t>
    </dgm:pt>
    <dgm:pt modelId="{A38334F4-26E9-4089-9346-F5691062881D}" type="sibTrans" cxnId="{C1FF3558-FA7D-40AD-B019-43B1985D7EAA}">
      <dgm:prSet/>
      <dgm:spPr/>
      <dgm:t>
        <a:bodyPr/>
        <a:lstStyle/>
        <a:p>
          <a:endParaRPr lang="en-US" sz="3200"/>
        </a:p>
      </dgm:t>
    </dgm:pt>
    <dgm:pt modelId="{C368871F-CCEE-4E4B-949B-F3FA2706CB4C}" type="pres">
      <dgm:prSet presAssocID="{414D07DB-44B9-411A-ACC6-D5C96673DBDB}" presName="linear" presStyleCnt="0">
        <dgm:presLayoutVars>
          <dgm:animLvl val="lvl"/>
          <dgm:resizeHandles val="exact"/>
        </dgm:presLayoutVars>
      </dgm:prSet>
      <dgm:spPr/>
    </dgm:pt>
    <dgm:pt modelId="{5542E7FB-C2F7-4181-B836-E723F090CB66}" type="pres">
      <dgm:prSet presAssocID="{AF85F71C-D526-4DAA-A66D-1686F880841F}" presName="parentText" presStyleLbl="node1" presStyleIdx="0" presStyleCnt="1" custScaleY="183174">
        <dgm:presLayoutVars>
          <dgm:chMax val="0"/>
          <dgm:bulletEnabled val="1"/>
        </dgm:presLayoutVars>
      </dgm:prSet>
      <dgm:spPr/>
    </dgm:pt>
  </dgm:ptLst>
  <dgm:cxnLst>
    <dgm:cxn modelId="{49814E72-D025-41B8-BCD2-C43C54EC1452}" type="presOf" srcId="{AF85F71C-D526-4DAA-A66D-1686F880841F}" destId="{5542E7FB-C2F7-4181-B836-E723F090CB66}" srcOrd="0" destOrd="0" presId="urn:microsoft.com/office/officeart/2005/8/layout/vList2"/>
    <dgm:cxn modelId="{C1FF3558-FA7D-40AD-B019-43B1985D7EAA}" srcId="{414D07DB-44B9-411A-ACC6-D5C96673DBDB}" destId="{AF85F71C-D526-4DAA-A66D-1686F880841F}" srcOrd="0" destOrd="0" parTransId="{6B4FC94B-5BD8-4E42-B432-AFDF1DBA1943}" sibTransId="{A38334F4-26E9-4089-9346-F5691062881D}"/>
    <dgm:cxn modelId="{E1C19053-8A76-42DD-B2EA-46806184D8D0}" type="presOf" srcId="{414D07DB-44B9-411A-ACC6-D5C96673DBDB}" destId="{C368871F-CCEE-4E4B-949B-F3FA2706CB4C}" srcOrd="0" destOrd="0" presId="urn:microsoft.com/office/officeart/2005/8/layout/vList2"/>
    <dgm:cxn modelId="{04A79524-4AA8-4568-B822-61B31BED16A5}" type="presParOf" srcId="{C368871F-CCEE-4E4B-949B-F3FA2706CB4C}" destId="{5542E7FB-C2F7-4181-B836-E723F090CB66}"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F2084781-08A3-4ABB-B034-40F7875A6C0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9332912-EBA3-447E-816C-EB554D6B1BCC}">
      <dgm:prSet/>
      <dgm:spPr/>
      <dgm:t>
        <a:bodyPr/>
        <a:lstStyle/>
        <a:p>
          <a:pPr rtl="0"/>
          <a:r>
            <a:rPr lang="en-US" b="1" smtClean="0"/>
            <a:t>Axillary Staging: Decision Pathway</a:t>
          </a:r>
          <a:endParaRPr lang="en-US"/>
        </a:p>
      </dgm:t>
    </dgm:pt>
    <dgm:pt modelId="{A4562058-BB5A-41AB-ACD4-779989489339}" type="parTrans" cxnId="{B9ED3B44-AABA-44D4-ACED-D1DA8FD9C5D3}">
      <dgm:prSet/>
      <dgm:spPr/>
      <dgm:t>
        <a:bodyPr/>
        <a:lstStyle/>
        <a:p>
          <a:endParaRPr lang="en-US"/>
        </a:p>
      </dgm:t>
    </dgm:pt>
    <dgm:pt modelId="{709263B6-7CAD-4D36-801F-8008A42F4185}" type="sibTrans" cxnId="{B9ED3B44-AABA-44D4-ACED-D1DA8FD9C5D3}">
      <dgm:prSet/>
      <dgm:spPr/>
      <dgm:t>
        <a:bodyPr/>
        <a:lstStyle/>
        <a:p>
          <a:endParaRPr lang="en-US"/>
        </a:p>
      </dgm:t>
    </dgm:pt>
    <dgm:pt modelId="{4A275786-023D-4CF1-AF46-AC65036DC441}" type="pres">
      <dgm:prSet presAssocID="{F2084781-08A3-4ABB-B034-40F7875A6C01}" presName="linear" presStyleCnt="0">
        <dgm:presLayoutVars>
          <dgm:animLvl val="lvl"/>
          <dgm:resizeHandles val="exact"/>
        </dgm:presLayoutVars>
      </dgm:prSet>
      <dgm:spPr/>
    </dgm:pt>
    <dgm:pt modelId="{A71EF34C-0BDE-4BAD-8081-997DABDA3A82}" type="pres">
      <dgm:prSet presAssocID="{49332912-EBA3-447E-816C-EB554D6B1BCC}" presName="parentText" presStyleLbl="node1" presStyleIdx="0" presStyleCnt="1">
        <dgm:presLayoutVars>
          <dgm:chMax val="0"/>
          <dgm:bulletEnabled val="1"/>
        </dgm:presLayoutVars>
      </dgm:prSet>
      <dgm:spPr/>
    </dgm:pt>
  </dgm:ptLst>
  <dgm:cxnLst>
    <dgm:cxn modelId="{3AF316E8-0308-427B-947E-F3632027B6FB}" type="presOf" srcId="{49332912-EBA3-447E-816C-EB554D6B1BCC}" destId="{A71EF34C-0BDE-4BAD-8081-997DABDA3A82}" srcOrd="0" destOrd="0" presId="urn:microsoft.com/office/officeart/2005/8/layout/vList2"/>
    <dgm:cxn modelId="{B9ED3B44-AABA-44D4-ACED-D1DA8FD9C5D3}" srcId="{F2084781-08A3-4ABB-B034-40F7875A6C01}" destId="{49332912-EBA3-447E-816C-EB554D6B1BCC}" srcOrd="0" destOrd="0" parTransId="{A4562058-BB5A-41AB-ACD4-779989489339}" sibTransId="{709263B6-7CAD-4D36-801F-8008A42F4185}"/>
    <dgm:cxn modelId="{183F8BD7-63CC-4EE5-81C2-5B88B6DEDE64}" type="presOf" srcId="{F2084781-08A3-4ABB-B034-40F7875A6C01}" destId="{4A275786-023D-4CF1-AF46-AC65036DC441}" srcOrd="0" destOrd="0" presId="urn:microsoft.com/office/officeart/2005/8/layout/vList2"/>
    <dgm:cxn modelId="{0F065B27-AE4B-4D1D-A2A3-29058A1F8F0B}" type="presParOf" srcId="{4A275786-023D-4CF1-AF46-AC65036DC441}" destId="{A71EF34C-0BDE-4BAD-8081-997DABDA3A82}"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7.xml><?xml version="1.0" encoding="utf-8"?>
<dgm:dataModel xmlns:dgm="http://schemas.openxmlformats.org/drawingml/2006/diagram" xmlns:a="http://schemas.openxmlformats.org/drawingml/2006/main">
  <dgm:ptLst>
    <dgm:pt modelId="{9399A2C6-2A53-4F15-A70F-9524FD1AA67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4F77192-1B68-41AE-9FF5-4D5BCBA42959}">
      <dgm:prSet/>
      <dgm:spPr/>
      <dgm:t>
        <a:bodyPr/>
        <a:lstStyle/>
        <a:p>
          <a:pPr rtl="0"/>
          <a:r>
            <a:rPr lang="en-US" b="1" smtClean="0"/>
            <a:t>Inflammatory Breast Carcinoma</a:t>
          </a:r>
          <a:endParaRPr lang="en-US"/>
        </a:p>
      </dgm:t>
    </dgm:pt>
    <dgm:pt modelId="{8E85DD0C-8483-43FB-9FA3-9ABCEC145E94}" type="parTrans" cxnId="{776581F4-33C0-4B53-9C02-69D16E8B0D89}">
      <dgm:prSet/>
      <dgm:spPr/>
      <dgm:t>
        <a:bodyPr/>
        <a:lstStyle/>
        <a:p>
          <a:endParaRPr lang="en-US"/>
        </a:p>
      </dgm:t>
    </dgm:pt>
    <dgm:pt modelId="{D6C3F82B-05DC-4404-AC84-D6CFE4FDCCD4}" type="sibTrans" cxnId="{776581F4-33C0-4B53-9C02-69D16E8B0D89}">
      <dgm:prSet/>
      <dgm:spPr/>
      <dgm:t>
        <a:bodyPr/>
        <a:lstStyle/>
        <a:p>
          <a:endParaRPr lang="en-US"/>
        </a:p>
      </dgm:t>
    </dgm:pt>
    <dgm:pt modelId="{FBBF704C-1BBF-4AC1-A345-4FDE3A8675F0}" type="pres">
      <dgm:prSet presAssocID="{9399A2C6-2A53-4F15-A70F-9524FD1AA674}" presName="linear" presStyleCnt="0">
        <dgm:presLayoutVars>
          <dgm:animLvl val="lvl"/>
          <dgm:resizeHandles val="exact"/>
        </dgm:presLayoutVars>
      </dgm:prSet>
      <dgm:spPr/>
    </dgm:pt>
    <dgm:pt modelId="{B8CDC555-B00E-4216-A5CB-1BD38D6F71C1}" type="pres">
      <dgm:prSet presAssocID="{94F77192-1B68-41AE-9FF5-4D5BCBA42959}" presName="parentText" presStyleLbl="node1" presStyleIdx="0" presStyleCnt="1">
        <dgm:presLayoutVars>
          <dgm:chMax val="0"/>
          <dgm:bulletEnabled val="1"/>
        </dgm:presLayoutVars>
      </dgm:prSet>
      <dgm:spPr/>
    </dgm:pt>
  </dgm:ptLst>
  <dgm:cxnLst>
    <dgm:cxn modelId="{776581F4-33C0-4B53-9C02-69D16E8B0D89}" srcId="{9399A2C6-2A53-4F15-A70F-9524FD1AA674}" destId="{94F77192-1B68-41AE-9FF5-4D5BCBA42959}" srcOrd="0" destOrd="0" parTransId="{8E85DD0C-8483-43FB-9FA3-9ABCEC145E94}" sibTransId="{D6C3F82B-05DC-4404-AC84-D6CFE4FDCCD4}"/>
    <dgm:cxn modelId="{9057EBFB-7B86-4B6B-99C1-88FB57386F9F}" type="presOf" srcId="{94F77192-1B68-41AE-9FF5-4D5BCBA42959}" destId="{B8CDC555-B00E-4216-A5CB-1BD38D6F71C1}" srcOrd="0" destOrd="0" presId="urn:microsoft.com/office/officeart/2005/8/layout/vList2"/>
    <dgm:cxn modelId="{D46BD82D-45C8-47F1-A833-4408D1601205}" type="presOf" srcId="{9399A2C6-2A53-4F15-A70F-9524FD1AA674}" destId="{FBBF704C-1BBF-4AC1-A345-4FDE3A8675F0}" srcOrd="0" destOrd="0" presId="urn:microsoft.com/office/officeart/2005/8/layout/vList2"/>
    <dgm:cxn modelId="{3C59FE84-246B-47A7-A541-90F3601091B3}" type="presParOf" srcId="{FBBF704C-1BBF-4AC1-A345-4FDE3A8675F0}" destId="{B8CDC555-B00E-4216-A5CB-1BD38D6F71C1}"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9.xml><?xml version="1.0" encoding="utf-8"?>
<dgm:dataModel xmlns:dgm="http://schemas.openxmlformats.org/drawingml/2006/diagram" xmlns:a="http://schemas.openxmlformats.org/drawingml/2006/main">
  <dgm:ptLst>
    <dgm:pt modelId="{C5CDFB7F-2F6F-4BB0-B081-82AF7463BB09}" type="doc">
      <dgm:prSet loTypeId="urn:microsoft.com/office/officeart/2005/8/layout/target3" loCatId="list" qsTypeId="urn:microsoft.com/office/officeart/2005/8/quickstyle/simple1" qsCatId="simple" csTypeId="urn:microsoft.com/office/officeart/2005/8/colors/accent1_2" csCatId="accent1"/>
      <dgm:spPr/>
      <dgm:t>
        <a:bodyPr/>
        <a:lstStyle/>
        <a:p>
          <a:endParaRPr lang="en-US"/>
        </a:p>
      </dgm:t>
    </dgm:pt>
    <dgm:pt modelId="{29B8EBC6-524E-4936-83C9-7A8DA1CCF2C4}">
      <dgm:prSet/>
      <dgm:spPr/>
      <dgm:t>
        <a:bodyPr/>
        <a:lstStyle/>
        <a:p>
          <a:pPr rtl="0"/>
          <a:r>
            <a:rPr lang="en-US" b="1" smtClean="0"/>
            <a:t>Male Breast Cancer</a:t>
          </a:r>
          <a:endParaRPr lang="en-US"/>
        </a:p>
      </dgm:t>
    </dgm:pt>
    <dgm:pt modelId="{993E18D7-F84A-48F4-94E6-08DF1FAF724F}" type="parTrans" cxnId="{6D528495-8DF6-46C0-A348-CAE4673BB61B}">
      <dgm:prSet/>
      <dgm:spPr/>
      <dgm:t>
        <a:bodyPr/>
        <a:lstStyle/>
        <a:p>
          <a:endParaRPr lang="en-US"/>
        </a:p>
      </dgm:t>
    </dgm:pt>
    <dgm:pt modelId="{CB69B3A7-BE95-4878-85B0-FFA627C673CE}" type="sibTrans" cxnId="{6D528495-8DF6-46C0-A348-CAE4673BB61B}">
      <dgm:prSet/>
      <dgm:spPr/>
      <dgm:t>
        <a:bodyPr/>
        <a:lstStyle/>
        <a:p>
          <a:endParaRPr lang="en-US"/>
        </a:p>
      </dgm:t>
    </dgm:pt>
    <dgm:pt modelId="{1426A1D0-BD25-47A1-9906-87C734BBDB9F}" type="pres">
      <dgm:prSet presAssocID="{C5CDFB7F-2F6F-4BB0-B081-82AF7463BB09}" presName="Name0" presStyleCnt="0">
        <dgm:presLayoutVars>
          <dgm:chMax val="7"/>
          <dgm:dir/>
          <dgm:animLvl val="lvl"/>
          <dgm:resizeHandles val="exact"/>
        </dgm:presLayoutVars>
      </dgm:prSet>
      <dgm:spPr/>
    </dgm:pt>
    <dgm:pt modelId="{22810661-87F9-4BBC-91F5-20E9CFB9859F}" type="pres">
      <dgm:prSet presAssocID="{29B8EBC6-524E-4936-83C9-7A8DA1CCF2C4}" presName="circle1" presStyleLbl="node1" presStyleIdx="0" presStyleCnt="1"/>
      <dgm:spPr/>
    </dgm:pt>
    <dgm:pt modelId="{48E1475F-EF50-4470-BB47-E4C01464BC6F}" type="pres">
      <dgm:prSet presAssocID="{29B8EBC6-524E-4936-83C9-7A8DA1CCF2C4}" presName="space" presStyleCnt="0"/>
      <dgm:spPr/>
    </dgm:pt>
    <dgm:pt modelId="{4B36FE3F-A319-4EC2-93C8-FA4C1BB77531}" type="pres">
      <dgm:prSet presAssocID="{29B8EBC6-524E-4936-83C9-7A8DA1CCF2C4}" presName="rect1" presStyleLbl="alignAcc1" presStyleIdx="0" presStyleCnt="1"/>
      <dgm:spPr/>
    </dgm:pt>
    <dgm:pt modelId="{E086B58D-6A3A-497C-BD7A-A0D01E36FE10}" type="pres">
      <dgm:prSet presAssocID="{29B8EBC6-524E-4936-83C9-7A8DA1CCF2C4}" presName="rect1ParTxNoCh" presStyleLbl="alignAcc1" presStyleIdx="0" presStyleCnt="1">
        <dgm:presLayoutVars>
          <dgm:chMax val="1"/>
          <dgm:bulletEnabled val="1"/>
        </dgm:presLayoutVars>
      </dgm:prSet>
      <dgm:spPr/>
    </dgm:pt>
  </dgm:ptLst>
  <dgm:cxnLst>
    <dgm:cxn modelId="{9B164D19-8284-4535-AC04-B5807D3D8A67}" type="presOf" srcId="{29B8EBC6-524E-4936-83C9-7A8DA1CCF2C4}" destId="{4B36FE3F-A319-4EC2-93C8-FA4C1BB77531}" srcOrd="0" destOrd="0" presId="urn:microsoft.com/office/officeart/2005/8/layout/target3"/>
    <dgm:cxn modelId="{F7812261-CD22-4782-992C-BC0F7B58DAE1}" type="presOf" srcId="{29B8EBC6-524E-4936-83C9-7A8DA1CCF2C4}" destId="{E086B58D-6A3A-497C-BD7A-A0D01E36FE10}" srcOrd="1" destOrd="0" presId="urn:microsoft.com/office/officeart/2005/8/layout/target3"/>
    <dgm:cxn modelId="{744FEC90-735E-4B01-960E-CBB195429C97}" type="presOf" srcId="{C5CDFB7F-2F6F-4BB0-B081-82AF7463BB09}" destId="{1426A1D0-BD25-47A1-9906-87C734BBDB9F}" srcOrd="0" destOrd="0" presId="urn:microsoft.com/office/officeart/2005/8/layout/target3"/>
    <dgm:cxn modelId="{6D528495-8DF6-46C0-A348-CAE4673BB61B}" srcId="{C5CDFB7F-2F6F-4BB0-B081-82AF7463BB09}" destId="{29B8EBC6-524E-4936-83C9-7A8DA1CCF2C4}" srcOrd="0" destOrd="0" parTransId="{993E18D7-F84A-48F4-94E6-08DF1FAF724F}" sibTransId="{CB69B3A7-BE95-4878-85B0-FFA627C673CE}"/>
    <dgm:cxn modelId="{B3A1525A-0A9C-4E72-B4D7-91E141CF5449}" type="presParOf" srcId="{1426A1D0-BD25-47A1-9906-87C734BBDB9F}" destId="{22810661-87F9-4BBC-91F5-20E9CFB9859F}" srcOrd="0" destOrd="0" presId="urn:microsoft.com/office/officeart/2005/8/layout/target3"/>
    <dgm:cxn modelId="{86663B30-2788-4873-89FF-C026C770D381}" type="presParOf" srcId="{1426A1D0-BD25-47A1-9906-87C734BBDB9F}" destId="{48E1475F-EF50-4470-BB47-E4C01464BC6F}" srcOrd="1" destOrd="0" presId="urn:microsoft.com/office/officeart/2005/8/layout/target3"/>
    <dgm:cxn modelId="{02E259D1-B379-4A5E-9305-1BBD7DB0AC2E}" type="presParOf" srcId="{1426A1D0-BD25-47A1-9906-87C734BBDB9F}" destId="{4B36FE3F-A319-4EC2-93C8-FA4C1BB77531}" srcOrd="2" destOrd="0" presId="urn:microsoft.com/office/officeart/2005/8/layout/target3"/>
    <dgm:cxn modelId="{F4C7D603-06FE-42DD-A1FB-FE647FD18A7C}" type="presParOf" srcId="{1426A1D0-BD25-47A1-9906-87C734BBDB9F}" destId="{E086B58D-6A3A-497C-BD7A-A0D01E36FE10}"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0.xml><?xml version="1.0" encoding="utf-8"?>
<dgm:dataModel xmlns:dgm="http://schemas.openxmlformats.org/drawingml/2006/diagram" xmlns:a="http://schemas.openxmlformats.org/drawingml/2006/main">
  <dgm:ptLst>
    <dgm:pt modelId="{D0018858-DFFB-47B1-8FC9-5D10F7AFED05}" type="doc">
      <dgm:prSet loTypeId="urn:microsoft.com/office/officeart/2005/8/layout/target3" loCatId="relationship" qsTypeId="urn:microsoft.com/office/officeart/2005/8/quickstyle/simple3" qsCatId="simple" csTypeId="urn:microsoft.com/office/officeart/2005/8/colors/accent1_2" csCatId="accent1"/>
      <dgm:spPr/>
      <dgm:t>
        <a:bodyPr/>
        <a:lstStyle/>
        <a:p>
          <a:endParaRPr lang="en-US"/>
        </a:p>
      </dgm:t>
    </dgm:pt>
    <dgm:pt modelId="{309B31E2-4919-4CA2-AE05-13A44FF6A1F1}">
      <dgm:prSet/>
      <dgm:spPr/>
      <dgm:t>
        <a:bodyPr/>
        <a:lstStyle/>
        <a:p>
          <a:pPr rtl="0"/>
          <a:r>
            <a:rPr lang="en-US" b="1" dirty="0" smtClean="0"/>
            <a:t>Male Breast Cancer (Cont.)</a:t>
          </a:r>
          <a:endParaRPr lang="en-US" dirty="0"/>
        </a:p>
      </dgm:t>
    </dgm:pt>
    <dgm:pt modelId="{61CDABEA-9FF3-48D7-AB95-5EFA3FA8243F}" type="parTrans" cxnId="{AEE955CD-3975-47CA-B660-389169420351}">
      <dgm:prSet/>
      <dgm:spPr/>
      <dgm:t>
        <a:bodyPr/>
        <a:lstStyle/>
        <a:p>
          <a:endParaRPr lang="en-US"/>
        </a:p>
      </dgm:t>
    </dgm:pt>
    <dgm:pt modelId="{E1BC3D3D-E3CA-425A-B18E-A948410BFDC1}" type="sibTrans" cxnId="{AEE955CD-3975-47CA-B660-389169420351}">
      <dgm:prSet/>
      <dgm:spPr/>
      <dgm:t>
        <a:bodyPr/>
        <a:lstStyle/>
        <a:p>
          <a:endParaRPr lang="en-US"/>
        </a:p>
      </dgm:t>
    </dgm:pt>
    <dgm:pt modelId="{730265F2-E9F0-43A4-A8C0-7DB08601119D}" type="pres">
      <dgm:prSet presAssocID="{D0018858-DFFB-47B1-8FC9-5D10F7AFED05}" presName="Name0" presStyleCnt="0">
        <dgm:presLayoutVars>
          <dgm:chMax val="7"/>
          <dgm:dir/>
          <dgm:animLvl val="lvl"/>
          <dgm:resizeHandles val="exact"/>
        </dgm:presLayoutVars>
      </dgm:prSet>
      <dgm:spPr/>
    </dgm:pt>
    <dgm:pt modelId="{809F8CFC-C80B-4A92-BA84-1F15FFD3E920}" type="pres">
      <dgm:prSet presAssocID="{309B31E2-4919-4CA2-AE05-13A44FF6A1F1}" presName="circle1" presStyleLbl="node1" presStyleIdx="0" presStyleCnt="1"/>
      <dgm:spPr/>
    </dgm:pt>
    <dgm:pt modelId="{5E0C8236-DA06-4289-85B4-D23F5F0C0498}" type="pres">
      <dgm:prSet presAssocID="{309B31E2-4919-4CA2-AE05-13A44FF6A1F1}" presName="space" presStyleCnt="0"/>
      <dgm:spPr/>
    </dgm:pt>
    <dgm:pt modelId="{70FF5641-0F10-4696-B245-C3F265F3C5B2}" type="pres">
      <dgm:prSet presAssocID="{309B31E2-4919-4CA2-AE05-13A44FF6A1F1}" presName="rect1" presStyleLbl="alignAcc1" presStyleIdx="0" presStyleCnt="1"/>
      <dgm:spPr/>
    </dgm:pt>
    <dgm:pt modelId="{56394374-C535-424E-88E2-B60690AFD257}" type="pres">
      <dgm:prSet presAssocID="{309B31E2-4919-4CA2-AE05-13A44FF6A1F1}" presName="rect1ParTxNoCh" presStyleLbl="alignAcc1" presStyleIdx="0" presStyleCnt="1">
        <dgm:presLayoutVars>
          <dgm:chMax val="1"/>
          <dgm:bulletEnabled val="1"/>
        </dgm:presLayoutVars>
      </dgm:prSet>
      <dgm:spPr/>
    </dgm:pt>
  </dgm:ptLst>
  <dgm:cxnLst>
    <dgm:cxn modelId="{AEE955CD-3975-47CA-B660-389169420351}" srcId="{D0018858-DFFB-47B1-8FC9-5D10F7AFED05}" destId="{309B31E2-4919-4CA2-AE05-13A44FF6A1F1}" srcOrd="0" destOrd="0" parTransId="{61CDABEA-9FF3-48D7-AB95-5EFA3FA8243F}" sibTransId="{E1BC3D3D-E3CA-425A-B18E-A948410BFDC1}"/>
    <dgm:cxn modelId="{B3B97E5A-7865-473E-830F-84DBB60F6DA4}" type="presOf" srcId="{309B31E2-4919-4CA2-AE05-13A44FF6A1F1}" destId="{70FF5641-0F10-4696-B245-C3F265F3C5B2}" srcOrd="0" destOrd="0" presId="urn:microsoft.com/office/officeart/2005/8/layout/target3"/>
    <dgm:cxn modelId="{53A93684-20E5-4EB1-8AE3-B9846BDFA664}" type="presOf" srcId="{309B31E2-4919-4CA2-AE05-13A44FF6A1F1}" destId="{56394374-C535-424E-88E2-B60690AFD257}" srcOrd="1" destOrd="0" presId="urn:microsoft.com/office/officeart/2005/8/layout/target3"/>
    <dgm:cxn modelId="{CF4C1A7C-06AD-4306-AEF6-0E8983C8A7D1}" type="presOf" srcId="{D0018858-DFFB-47B1-8FC9-5D10F7AFED05}" destId="{730265F2-E9F0-43A4-A8C0-7DB08601119D}" srcOrd="0" destOrd="0" presId="urn:microsoft.com/office/officeart/2005/8/layout/target3"/>
    <dgm:cxn modelId="{15250186-57ED-4931-803D-A04144756680}" type="presParOf" srcId="{730265F2-E9F0-43A4-A8C0-7DB08601119D}" destId="{809F8CFC-C80B-4A92-BA84-1F15FFD3E920}" srcOrd="0" destOrd="0" presId="urn:microsoft.com/office/officeart/2005/8/layout/target3"/>
    <dgm:cxn modelId="{A54A162C-510E-4D98-914A-D2DD9AB2CC9B}" type="presParOf" srcId="{730265F2-E9F0-43A4-A8C0-7DB08601119D}" destId="{5E0C8236-DA06-4289-85B4-D23F5F0C0498}" srcOrd="1" destOrd="0" presId="urn:microsoft.com/office/officeart/2005/8/layout/target3"/>
    <dgm:cxn modelId="{060AD359-144B-423C-8EB7-D9025A901061}" type="presParOf" srcId="{730265F2-E9F0-43A4-A8C0-7DB08601119D}" destId="{70FF5641-0F10-4696-B245-C3F265F3C5B2}" srcOrd="2" destOrd="0" presId="urn:microsoft.com/office/officeart/2005/8/layout/target3"/>
    <dgm:cxn modelId="{032B59D1-14E8-4FD3-B041-BA37D49862C5}" type="presParOf" srcId="{730265F2-E9F0-43A4-A8C0-7DB08601119D}" destId="{56394374-C535-424E-88E2-B60690AFD257}"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2.xml><?xml version="1.0" encoding="utf-8"?>
<dgm:dataModel xmlns:dgm="http://schemas.openxmlformats.org/drawingml/2006/diagram" xmlns:a="http://schemas.openxmlformats.org/drawingml/2006/main">
  <dgm:ptLst>
    <dgm:pt modelId="{12CCF245-C201-491F-84A2-A9DD6A4BE765}"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en-US"/>
        </a:p>
      </dgm:t>
    </dgm:pt>
    <dgm:pt modelId="{D385BA3B-3372-4903-B9DA-0FB54852AF43}">
      <dgm:prSet/>
      <dgm:spPr/>
      <dgm:t>
        <a:bodyPr/>
        <a:lstStyle/>
        <a:p>
          <a:pPr rtl="0"/>
          <a:r>
            <a:rPr lang="en-US" b="1" dirty="0" smtClean="0"/>
            <a:t>Follow-Up and Survivorship</a:t>
          </a:r>
          <a:endParaRPr lang="en-US" dirty="0"/>
        </a:p>
      </dgm:t>
    </dgm:pt>
    <dgm:pt modelId="{19830408-2198-4027-97DA-2727E700E791}" type="parTrans" cxnId="{72EB2DD3-3142-4EF2-B21E-124DEF91842F}">
      <dgm:prSet/>
      <dgm:spPr/>
      <dgm:t>
        <a:bodyPr/>
        <a:lstStyle/>
        <a:p>
          <a:endParaRPr lang="en-US"/>
        </a:p>
      </dgm:t>
    </dgm:pt>
    <dgm:pt modelId="{9F68A2DA-FDF6-42D4-9C07-DD68D1EFFC05}" type="sibTrans" cxnId="{72EB2DD3-3142-4EF2-B21E-124DEF91842F}">
      <dgm:prSet/>
      <dgm:spPr/>
      <dgm:t>
        <a:bodyPr/>
        <a:lstStyle/>
        <a:p>
          <a:endParaRPr lang="en-US"/>
        </a:p>
      </dgm:t>
    </dgm:pt>
    <dgm:pt modelId="{23F755B3-7F65-4FD0-8626-449DB3486707}" type="pres">
      <dgm:prSet presAssocID="{12CCF245-C201-491F-84A2-A9DD6A4BE765}" presName="linearFlow" presStyleCnt="0">
        <dgm:presLayoutVars>
          <dgm:dir/>
          <dgm:resizeHandles val="exact"/>
        </dgm:presLayoutVars>
      </dgm:prSet>
      <dgm:spPr/>
    </dgm:pt>
    <dgm:pt modelId="{AD3CA21C-AE35-4083-B5DA-3070F4C751F1}" type="pres">
      <dgm:prSet presAssocID="{D385BA3B-3372-4903-B9DA-0FB54852AF43}" presName="composite" presStyleCnt="0"/>
      <dgm:spPr/>
    </dgm:pt>
    <dgm:pt modelId="{74AC8902-5A1F-4120-A572-3728C18A7A7A}" type="pres">
      <dgm:prSet presAssocID="{D385BA3B-3372-4903-B9DA-0FB54852AF43}" presName="imgShp" presStyleLbl="fgImgPlace1" presStyleIdx="0" presStyleCnt="1"/>
      <dgm:spPr/>
    </dgm:pt>
    <dgm:pt modelId="{55B70B43-5A70-4665-80B9-2458FEF81C3C}" type="pres">
      <dgm:prSet presAssocID="{D385BA3B-3372-4903-B9DA-0FB54852AF43}" presName="txShp" presStyleLbl="node1" presStyleIdx="0" presStyleCnt="1">
        <dgm:presLayoutVars>
          <dgm:bulletEnabled val="1"/>
        </dgm:presLayoutVars>
      </dgm:prSet>
      <dgm:spPr/>
    </dgm:pt>
  </dgm:ptLst>
  <dgm:cxnLst>
    <dgm:cxn modelId="{72EB2DD3-3142-4EF2-B21E-124DEF91842F}" srcId="{12CCF245-C201-491F-84A2-A9DD6A4BE765}" destId="{D385BA3B-3372-4903-B9DA-0FB54852AF43}" srcOrd="0" destOrd="0" parTransId="{19830408-2198-4027-97DA-2727E700E791}" sibTransId="{9F68A2DA-FDF6-42D4-9C07-DD68D1EFFC05}"/>
    <dgm:cxn modelId="{904D453B-CF56-4D42-83C0-EABD9A8DD2F6}" type="presOf" srcId="{D385BA3B-3372-4903-B9DA-0FB54852AF43}" destId="{55B70B43-5A70-4665-80B9-2458FEF81C3C}" srcOrd="0" destOrd="0" presId="urn:microsoft.com/office/officeart/2005/8/layout/vList3"/>
    <dgm:cxn modelId="{D2FE22CF-F149-4913-92C9-9AF81D20CA7F}" type="presOf" srcId="{12CCF245-C201-491F-84A2-A9DD6A4BE765}" destId="{23F755B3-7F65-4FD0-8626-449DB3486707}" srcOrd="0" destOrd="0" presId="urn:microsoft.com/office/officeart/2005/8/layout/vList3"/>
    <dgm:cxn modelId="{B8C85D60-E2D6-426E-A0F5-D8F2DAE9D547}" type="presParOf" srcId="{23F755B3-7F65-4FD0-8626-449DB3486707}" destId="{AD3CA21C-AE35-4083-B5DA-3070F4C751F1}" srcOrd="0" destOrd="0" presId="urn:microsoft.com/office/officeart/2005/8/layout/vList3"/>
    <dgm:cxn modelId="{CC5CFCAD-0FE6-4C1D-8836-04183323E85C}" type="presParOf" srcId="{AD3CA21C-AE35-4083-B5DA-3070F4C751F1}" destId="{74AC8902-5A1F-4120-A572-3728C18A7A7A}" srcOrd="0" destOrd="0" presId="urn:microsoft.com/office/officeart/2005/8/layout/vList3"/>
    <dgm:cxn modelId="{DBE68AF8-29D8-477F-81EE-634EF5245F45}" type="presParOf" srcId="{AD3CA21C-AE35-4083-B5DA-3070F4C751F1}" destId="{55B70B43-5A70-4665-80B9-2458FEF81C3C}"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3.xml><?xml version="1.0" encoding="utf-8"?>
<dgm:dataModel xmlns:dgm="http://schemas.openxmlformats.org/drawingml/2006/diagram" xmlns:a="http://schemas.openxmlformats.org/drawingml/2006/main">
  <dgm:ptLst>
    <dgm:pt modelId="{02A8B03A-8731-4549-971B-FD036D8090FF}"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916BE3F2-98EF-475E-A681-2C9386F5FF0B}">
      <dgm:prSet/>
      <dgm:spPr/>
      <dgm:t>
        <a:bodyPr/>
        <a:lstStyle/>
        <a:p>
          <a:pPr rtl="0"/>
          <a:r>
            <a:rPr lang="en-US" b="1" dirty="0" smtClean="0"/>
            <a:t>References</a:t>
          </a:r>
          <a:endParaRPr lang="en-US" dirty="0"/>
        </a:p>
      </dgm:t>
    </dgm:pt>
    <dgm:pt modelId="{68635E7A-8986-4163-A21F-23BB6F8BDF29}" type="parTrans" cxnId="{09806173-2BAD-4228-9B9F-EEC291C75852}">
      <dgm:prSet/>
      <dgm:spPr/>
      <dgm:t>
        <a:bodyPr/>
        <a:lstStyle/>
        <a:p>
          <a:endParaRPr lang="en-US"/>
        </a:p>
      </dgm:t>
    </dgm:pt>
    <dgm:pt modelId="{11F681B1-EAA0-42EA-8B1E-6D1BC450A371}" type="sibTrans" cxnId="{09806173-2BAD-4228-9B9F-EEC291C75852}">
      <dgm:prSet/>
      <dgm:spPr/>
      <dgm:t>
        <a:bodyPr/>
        <a:lstStyle/>
        <a:p>
          <a:endParaRPr lang="en-US"/>
        </a:p>
      </dgm:t>
    </dgm:pt>
    <dgm:pt modelId="{69DA82A7-9C98-4BE6-933D-4E9C500F9992}" type="pres">
      <dgm:prSet presAssocID="{02A8B03A-8731-4549-971B-FD036D8090FF}" presName="linear" presStyleCnt="0">
        <dgm:presLayoutVars>
          <dgm:dir/>
          <dgm:animLvl val="lvl"/>
          <dgm:resizeHandles val="exact"/>
        </dgm:presLayoutVars>
      </dgm:prSet>
      <dgm:spPr/>
    </dgm:pt>
    <dgm:pt modelId="{73BBFA0E-B23C-44A9-9A45-82D1CE60A071}" type="pres">
      <dgm:prSet presAssocID="{916BE3F2-98EF-475E-A681-2C9386F5FF0B}" presName="parentLin" presStyleCnt="0"/>
      <dgm:spPr/>
    </dgm:pt>
    <dgm:pt modelId="{FF2A7F15-2964-48D7-AF41-4E0B7AD4C45C}" type="pres">
      <dgm:prSet presAssocID="{916BE3F2-98EF-475E-A681-2C9386F5FF0B}" presName="parentLeftMargin" presStyleLbl="node1" presStyleIdx="0" presStyleCnt="1"/>
      <dgm:spPr/>
    </dgm:pt>
    <dgm:pt modelId="{6C9D1704-A183-43F2-AD5E-478F8C106879}" type="pres">
      <dgm:prSet presAssocID="{916BE3F2-98EF-475E-A681-2C9386F5FF0B}" presName="parentText" presStyleLbl="node1" presStyleIdx="0" presStyleCnt="1">
        <dgm:presLayoutVars>
          <dgm:chMax val="0"/>
          <dgm:bulletEnabled val="1"/>
        </dgm:presLayoutVars>
      </dgm:prSet>
      <dgm:spPr/>
    </dgm:pt>
    <dgm:pt modelId="{FEE6C12D-CA18-4172-A4EA-05A5A229C6E3}" type="pres">
      <dgm:prSet presAssocID="{916BE3F2-98EF-475E-A681-2C9386F5FF0B}" presName="negativeSpace" presStyleCnt="0"/>
      <dgm:spPr/>
    </dgm:pt>
    <dgm:pt modelId="{25993E88-82F1-4485-8160-8D02D1C607C9}" type="pres">
      <dgm:prSet presAssocID="{916BE3F2-98EF-475E-A681-2C9386F5FF0B}" presName="childText" presStyleLbl="conFgAcc1" presStyleIdx="0" presStyleCnt="1">
        <dgm:presLayoutVars>
          <dgm:bulletEnabled val="1"/>
        </dgm:presLayoutVars>
      </dgm:prSet>
      <dgm:spPr/>
    </dgm:pt>
  </dgm:ptLst>
  <dgm:cxnLst>
    <dgm:cxn modelId="{8EA76FFA-077C-44AB-826D-E7F23E1B3A08}" type="presOf" srcId="{916BE3F2-98EF-475E-A681-2C9386F5FF0B}" destId="{FF2A7F15-2964-48D7-AF41-4E0B7AD4C45C}" srcOrd="0" destOrd="0" presId="urn:microsoft.com/office/officeart/2005/8/layout/list1"/>
    <dgm:cxn modelId="{751C27E9-5D45-4BA8-8006-5A8FE82951FC}" type="presOf" srcId="{916BE3F2-98EF-475E-A681-2C9386F5FF0B}" destId="{6C9D1704-A183-43F2-AD5E-478F8C106879}" srcOrd="1" destOrd="0" presId="urn:microsoft.com/office/officeart/2005/8/layout/list1"/>
    <dgm:cxn modelId="{A64335F7-8A72-4D58-91FC-A7EF7BDAC986}" type="presOf" srcId="{02A8B03A-8731-4549-971B-FD036D8090FF}" destId="{69DA82A7-9C98-4BE6-933D-4E9C500F9992}" srcOrd="0" destOrd="0" presId="urn:microsoft.com/office/officeart/2005/8/layout/list1"/>
    <dgm:cxn modelId="{09806173-2BAD-4228-9B9F-EEC291C75852}" srcId="{02A8B03A-8731-4549-971B-FD036D8090FF}" destId="{916BE3F2-98EF-475E-A681-2C9386F5FF0B}" srcOrd="0" destOrd="0" parTransId="{68635E7A-8986-4163-A21F-23BB6F8BDF29}" sibTransId="{11F681B1-EAA0-42EA-8B1E-6D1BC450A371}"/>
    <dgm:cxn modelId="{115BEAF8-2A96-485E-8172-ED21F2DF3486}" type="presParOf" srcId="{69DA82A7-9C98-4BE6-933D-4E9C500F9992}" destId="{73BBFA0E-B23C-44A9-9A45-82D1CE60A071}" srcOrd="0" destOrd="0" presId="urn:microsoft.com/office/officeart/2005/8/layout/list1"/>
    <dgm:cxn modelId="{C019BC68-64D1-4C88-BAA4-DBBB02614776}" type="presParOf" srcId="{73BBFA0E-B23C-44A9-9A45-82D1CE60A071}" destId="{FF2A7F15-2964-48D7-AF41-4E0B7AD4C45C}" srcOrd="0" destOrd="0" presId="urn:microsoft.com/office/officeart/2005/8/layout/list1"/>
    <dgm:cxn modelId="{F5EAB71B-C641-45FF-B868-76F10AA45A80}" type="presParOf" srcId="{73BBFA0E-B23C-44A9-9A45-82D1CE60A071}" destId="{6C9D1704-A183-43F2-AD5E-478F8C106879}" srcOrd="1" destOrd="0" presId="urn:microsoft.com/office/officeart/2005/8/layout/list1"/>
    <dgm:cxn modelId="{69FDE17D-EE90-4194-A113-927F2ED90C06}" type="presParOf" srcId="{69DA82A7-9C98-4BE6-933D-4E9C500F9992}" destId="{FEE6C12D-CA18-4172-A4EA-05A5A229C6E3}" srcOrd="1" destOrd="0" presId="urn:microsoft.com/office/officeart/2005/8/layout/list1"/>
    <dgm:cxn modelId="{469BDE0D-E4CA-4D8B-9D69-912FAFC6ABE9}" type="presParOf" srcId="{69DA82A7-9C98-4BE6-933D-4E9C500F9992}" destId="{25993E88-82F1-4485-8160-8D02D1C607C9}"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4.xml><?xml version="1.0" encoding="utf-8"?>
<dgm:dataModel xmlns:dgm="http://schemas.openxmlformats.org/drawingml/2006/diagram" xmlns:a="http://schemas.openxmlformats.org/drawingml/2006/main">
  <dgm:ptLst>
    <dgm:pt modelId="{0248E767-DEE3-419F-8C1E-1A28870A4A5F}" type="doc">
      <dgm:prSet loTypeId="urn:microsoft.com/office/officeart/2008/layout/HexagonCluster" loCatId="relationship" qsTypeId="urn:microsoft.com/office/officeart/2005/8/quickstyle/simple1" qsCatId="simple" csTypeId="urn:microsoft.com/office/officeart/2005/8/colors/accent1_2" csCatId="accent1" phldr="1"/>
      <dgm:spPr/>
      <dgm:t>
        <a:bodyPr/>
        <a:lstStyle/>
        <a:p>
          <a:endParaRPr lang="en-US"/>
        </a:p>
      </dgm:t>
    </dgm:pt>
    <dgm:pt modelId="{E52C7873-9A9E-4410-9212-8854291320F4}">
      <dgm:prSet/>
      <dgm:spPr/>
      <dgm:t>
        <a:bodyPr/>
        <a:lstStyle/>
        <a:p>
          <a:pPr rtl="0"/>
          <a:r>
            <a:rPr lang="en-US" b="1" smtClean="0"/>
            <a:t>Thank you</a:t>
          </a:r>
          <a:endParaRPr lang="en-US"/>
        </a:p>
      </dgm:t>
    </dgm:pt>
    <dgm:pt modelId="{FC9290E1-00F3-49A5-8729-F59C37AB4B43}" type="parTrans" cxnId="{17DF098F-265B-4289-B7B0-847D792865E7}">
      <dgm:prSet/>
      <dgm:spPr/>
      <dgm:t>
        <a:bodyPr/>
        <a:lstStyle/>
        <a:p>
          <a:endParaRPr lang="en-US"/>
        </a:p>
      </dgm:t>
    </dgm:pt>
    <dgm:pt modelId="{A5CEB863-E188-483F-8F5C-9DB27E6CE1CC}" type="sibTrans" cxnId="{17DF098F-265B-4289-B7B0-847D792865E7}">
      <dgm:prSet/>
      <dgm:spPr/>
      <dgm:t>
        <a:bodyPr/>
        <a:lstStyle/>
        <a:p>
          <a:endParaRPr lang="en-US"/>
        </a:p>
      </dgm:t>
    </dgm:pt>
    <dgm:pt modelId="{2FC3F678-6CA4-418B-AB6C-E81B076A1D42}" type="pres">
      <dgm:prSet presAssocID="{0248E767-DEE3-419F-8C1E-1A28870A4A5F}" presName="Name0" presStyleCnt="0">
        <dgm:presLayoutVars>
          <dgm:chMax val="21"/>
          <dgm:chPref val="21"/>
        </dgm:presLayoutVars>
      </dgm:prSet>
      <dgm:spPr/>
    </dgm:pt>
    <dgm:pt modelId="{BDA3B07A-B954-4C08-8B2C-EF6ECB1FD810}" type="pres">
      <dgm:prSet presAssocID="{E52C7873-9A9E-4410-9212-8854291320F4}" presName="text1" presStyleCnt="0"/>
      <dgm:spPr/>
    </dgm:pt>
    <dgm:pt modelId="{8781B811-E703-4A15-A984-D5973B2EC9EF}" type="pres">
      <dgm:prSet presAssocID="{E52C7873-9A9E-4410-9212-8854291320F4}" presName="textRepeatNode" presStyleLbl="alignNode1" presStyleIdx="0" presStyleCnt="1">
        <dgm:presLayoutVars>
          <dgm:chMax val="0"/>
          <dgm:chPref val="0"/>
          <dgm:bulletEnabled val="1"/>
        </dgm:presLayoutVars>
      </dgm:prSet>
      <dgm:spPr/>
    </dgm:pt>
    <dgm:pt modelId="{4A0655EC-7CAC-4F56-8321-94A809989788}" type="pres">
      <dgm:prSet presAssocID="{E52C7873-9A9E-4410-9212-8854291320F4}" presName="textaccent1" presStyleCnt="0"/>
      <dgm:spPr/>
    </dgm:pt>
    <dgm:pt modelId="{07AAD661-2B46-4BC8-A8CA-BA8E0A7565BA}" type="pres">
      <dgm:prSet presAssocID="{E52C7873-9A9E-4410-9212-8854291320F4}" presName="accentRepeatNode" presStyleLbl="solidAlignAcc1" presStyleIdx="0" presStyleCnt="2"/>
      <dgm:spPr/>
    </dgm:pt>
    <dgm:pt modelId="{5BCC077E-D166-40BD-904F-E1DB8A2C1716}" type="pres">
      <dgm:prSet presAssocID="{A5CEB863-E188-483F-8F5C-9DB27E6CE1CC}" presName="image1" presStyleCnt="0"/>
      <dgm:spPr/>
    </dgm:pt>
    <dgm:pt modelId="{E2782B30-26D3-4609-B3B0-362C9C486658}" type="pres">
      <dgm:prSet presAssocID="{A5CEB863-E188-483F-8F5C-9DB27E6CE1CC}" presName="imageRepeatNode" presStyleLbl="alignAcc1" presStyleIdx="0" presStyleCnt="1"/>
      <dgm:spPr/>
    </dgm:pt>
    <dgm:pt modelId="{B32B65C5-9A81-40AC-9613-F0FE30C9B0E3}" type="pres">
      <dgm:prSet presAssocID="{A5CEB863-E188-483F-8F5C-9DB27E6CE1CC}" presName="imageaccent1" presStyleCnt="0"/>
      <dgm:spPr/>
    </dgm:pt>
    <dgm:pt modelId="{A08C1EBC-053E-4F55-BA78-0BD979655388}" type="pres">
      <dgm:prSet presAssocID="{A5CEB863-E188-483F-8F5C-9DB27E6CE1CC}" presName="accentRepeatNode" presStyleLbl="solidAlignAcc1" presStyleIdx="1" presStyleCnt="2"/>
      <dgm:spPr/>
    </dgm:pt>
  </dgm:ptLst>
  <dgm:cxnLst>
    <dgm:cxn modelId="{C10EB45B-E99B-4B3C-B9A3-57D6DD6D707B}" type="presOf" srcId="{E52C7873-9A9E-4410-9212-8854291320F4}" destId="{8781B811-E703-4A15-A984-D5973B2EC9EF}" srcOrd="0" destOrd="0" presId="urn:microsoft.com/office/officeart/2008/layout/HexagonCluster"/>
    <dgm:cxn modelId="{17DF098F-265B-4289-B7B0-847D792865E7}" srcId="{0248E767-DEE3-419F-8C1E-1A28870A4A5F}" destId="{E52C7873-9A9E-4410-9212-8854291320F4}" srcOrd="0" destOrd="0" parTransId="{FC9290E1-00F3-49A5-8729-F59C37AB4B43}" sibTransId="{A5CEB863-E188-483F-8F5C-9DB27E6CE1CC}"/>
    <dgm:cxn modelId="{80190B37-3DFF-490E-B71A-F137F955656F}" type="presOf" srcId="{A5CEB863-E188-483F-8F5C-9DB27E6CE1CC}" destId="{E2782B30-26D3-4609-B3B0-362C9C486658}" srcOrd="0" destOrd="0" presId="urn:microsoft.com/office/officeart/2008/layout/HexagonCluster"/>
    <dgm:cxn modelId="{926DB69F-8546-496D-8B97-7B0753F4735B}" type="presOf" srcId="{0248E767-DEE3-419F-8C1E-1A28870A4A5F}" destId="{2FC3F678-6CA4-418B-AB6C-E81B076A1D42}" srcOrd="0" destOrd="0" presId="urn:microsoft.com/office/officeart/2008/layout/HexagonCluster"/>
    <dgm:cxn modelId="{785321CF-55B3-43EC-B411-09A04CA9532F}" type="presParOf" srcId="{2FC3F678-6CA4-418B-AB6C-E81B076A1D42}" destId="{BDA3B07A-B954-4C08-8B2C-EF6ECB1FD810}" srcOrd="0" destOrd="0" presId="urn:microsoft.com/office/officeart/2008/layout/HexagonCluster"/>
    <dgm:cxn modelId="{0C6DB080-9A53-495C-889F-1FB6CBBC5F5E}" type="presParOf" srcId="{BDA3B07A-B954-4C08-8B2C-EF6ECB1FD810}" destId="{8781B811-E703-4A15-A984-D5973B2EC9EF}" srcOrd="0" destOrd="0" presId="urn:microsoft.com/office/officeart/2008/layout/HexagonCluster"/>
    <dgm:cxn modelId="{5D86D3A8-0D2F-4691-81BB-F99B10C34012}" type="presParOf" srcId="{2FC3F678-6CA4-418B-AB6C-E81B076A1D42}" destId="{4A0655EC-7CAC-4F56-8321-94A809989788}" srcOrd="1" destOrd="0" presId="urn:microsoft.com/office/officeart/2008/layout/HexagonCluster"/>
    <dgm:cxn modelId="{7462B68F-B546-4C68-AE5D-1698C77CC536}" type="presParOf" srcId="{4A0655EC-7CAC-4F56-8321-94A809989788}" destId="{07AAD661-2B46-4BC8-A8CA-BA8E0A7565BA}" srcOrd="0" destOrd="0" presId="urn:microsoft.com/office/officeart/2008/layout/HexagonCluster"/>
    <dgm:cxn modelId="{6913A364-E2B2-4008-911F-464102296415}" type="presParOf" srcId="{2FC3F678-6CA4-418B-AB6C-E81B076A1D42}" destId="{5BCC077E-D166-40BD-904F-E1DB8A2C1716}" srcOrd="2" destOrd="0" presId="urn:microsoft.com/office/officeart/2008/layout/HexagonCluster"/>
    <dgm:cxn modelId="{E3B6BAEA-412F-4B0B-91B8-F06E43728C04}" type="presParOf" srcId="{5BCC077E-D166-40BD-904F-E1DB8A2C1716}" destId="{E2782B30-26D3-4609-B3B0-362C9C486658}" srcOrd="0" destOrd="0" presId="urn:microsoft.com/office/officeart/2008/layout/HexagonCluster"/>
    <dgm:cxn modelId="{94CD110C-5A36-4BCB-BA2A-008F7219542D}" type="presParOf" srcId="{2FC3F678-6CA4-418B-AB6C-E81B076A1D42}" destId="{B32B65C5-9A81-40AC-9613-F0FE30C9B0E3}" srcOrd="3" destOrd="0" presId="urn:microsoft.com/office/officeart/2008/layout/HexagonCluster"/>
    <dgm:cxn modelId="{76CD584A-FE41-48F8-A9E6-7DF3E36B2C34}" type="presParOf" srcId="{B32B65C5-9A81-40AC-9613-F0FE30C9B0E3}" destId="{A08C1EBC-053E-4F55-BA78-0BD979655388}" srcOrd="0" destOrd="0" presId="urn:microsoft.com/office/officeart/2008/layout/HexagonCluster"/>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C512CC-4261-44EE-88F9-F1A50ABE2321}">
      <dsp:nvSpPr>
        <dsp:cNvPr id="0" name=""/>
        <dsp:cNvSpPr/>
      </dsp:nvSpPr>
      <dsp:spPr>
        <a:xfrm>
          <a:off x="0" y="0"/>
          <a:ext cx="1920240" cy="1920240"/>
        </a:xfrm>
        <a:prstGeom prst="pie">
          <a:avLst>
            <a:gd name="adj1" fmla="val 5400000"/>
            <a:gd name="adj2" fmla="val 1620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A515D1-76C7-44F0-9377-E710BBCCFC0C}">
      <dsp:nvSpPr>
        <dsp:cNvPr id="0" name=""/>
        <dsp:cNvSpPr/>
      </dsp:nvSpPr>
      <dsp:spPr>
        <a:xfrm>
          <a:off x="960120" y="0"/>
          <a:ext cx="9037289" cy="192024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5740" tIns="205740" rIns="205740" bIns="205740" numCol="1" spcCol="1270" anchor="ctr" anchorCtr="0">
          <a:noAutofit/>
        </a:bodyPr>
        <a:lstStyle/>
        <a:p>
          <a:pPr lvl="0" algn="ctr" defTabSz="2400300" rtl="0">
            <a:lnSpc>
              <a:spcPct val="90000"/>
            </a:lnSpc>
            <a:spcBef>
              <a:spcPct val="0"/>
            </a:spcBef>
            <a:spcAft>
              <a:spcPct val="35000"/>
            </a:spcAft>
          </a:pPr>
          <a:r>
            <a:rPr lang="en-US" sz="5400" b="1" kern="1200" dirty="0" smtClean="0"/>
            <a:t>BREAST CANCER MANAGEMENT</a:t>
          </a:r>
          <a:endParaRPr lang="en-US" sz="5400" kern="1200" dirty="0"/>
        </a:p>
      </dsp:txBody>
      <dsp:txXfrm>
        <a:off x="960120" y="0"/>
        <a:ext cx="9037289" cy="19202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53B470-8F2A-48C3-96B6-ED02D65683FB}">
      <dsp:nvSpPr>
        <dsp:cNvPr id="0" name=""/>
        <dsp:cNvSpPr/>
      </dsp:nvSpPr>
      <dsp:spPr>
        <a:xfrm rot="16200000">
          <a:off x="1634366" y="-1629363"/>
          <a:ext cx="1554480" cy="4813206"/>
        </a:xfrm>
        <a:prstGeom prst="flowChartManualOperati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0" tIns="0" rIns="147685" bIns="0" numCol="1" spcCol="1270" anchor="ctr"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300" b="1" kern="1200" dirty="0" smtClean="0"/>
            <a:t>ADVISORS: EBS Unit</a:t>
          </a:r>
        </a:p>
      </dsp:txBody>
      <dsp:txXfrm rot="5400000">
        <a:off x="5003" y="310896"/>
        <a:ext cx="4813206" cy="932688"/>
      </dsp:txXfrm>
    </dsp:sp>
    <dsp:sp modelId="{61453E86-3899-47FB-A546-FB2184317A91}">
      <dsp:nvSpPr>
        <dsp:cNvPr id="0" name=""/>
        <dsp:cNvSpPr/>
      </dsp:nvSpPr>
      <dsp:spPr>
        <a:xfrm rot="16200000">
          <a:off x="6813566" y="-1629363"/>
          <a:ext cx="1554480" cy="4813206"/>
        </a:xfrm>
        <a:prstGeom prst="flowChartManualOperati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0" tIns="0" rIns="147685" bIns="0" numCol="1" spcCol="1270" anchor="ctr" anchorCtr="0">
          <a:noAutofit/>
        </a:bodyPr>
        <a:lstStyle/>
        <a:p>
          <a:pPr marR="0" lvl="0" algn="ctr" defTabSz="1022350" rtl="0" eaLnBrk="1" fontAlgn="auto" latinLnBrk="0" hangingPunct="1">
            <a:lnSpc>
              <a:spcPct val="90000"/>
            </a:lnSpc>
            <a:spcBef>
              <a:spcPct val="0"/>
            </a:spcBef>
            <a:spcAft>
              <a:spcPct val="35000"/>
            </a:spcAft>
            <a:buClrTx/>
            <a:buSzTx/>
            <a:buFontTx/>
            <a:tabLst/>
            <a:defRPr/>
          </a:pPr>
          <a:r>
            <a:rPr lang="en-US" sz="2300" b="1" kern="1200" dirty="0" smtClean="0"/>
            <a:t>Prepared by: Dr. </a:t>
          </a:r>
          <a:r>
            <a:rPr lang="en-US" sz="2300" b="1" kern="1200" dirty="0" err="1" smtClean="0"/>
            <a:t>Muluamlak</a:t>
          </a:r>
          <a:r>
            <a:rPr lang="en-US" sz="2300" b="1" kern="1200" dirty="0" smtClean="0"/>
            <a:t> – GSR-3</a:t>
          </a:r>
          <a:endParaRPr lang="en-US" sz="2300" kern="1200" dirty="0" smtClean="0"/>
        </a:p>
        <a:p>
          <a:pPr lvl="0" algn="ctr" defTabSz="1022350" rtl="0">
            <a:lnSpc>
              <a:spcPct val="90000"/>
            </a:lnSpc>
            <a:spcBef>
              <a:spcPct val="0"/>
            </a:spcBef>
            <a:spcAft>
              <a:spcPct val="35000"/>
            </a:spcAft>
          </a:pPr>
          <a:endParaRPr lang="en-US" sz="2300" kern="1200" dirty="0"/>
        </a:p>
      </dsp:txBody>
      <dsp:txXfrm rot="5400000">
        <a:off x="5184203" y="310896"/>
        <a:ext cx="4813206" cy="93268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5C7E6B-6D38-45E1-A581-D35C44F44EAB}">
      <dsp:nvSpPr>
        <dsp:cNvPr id="0" name=""/>
        <dsp:cNvSpPr/>
      </dsp:nvSpPr>
      <dsp:spPr>
        <a:xfrm>
          <a:off x="0" y="359"/>
          <a:ext cx="1109469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en-US" sz="4000" b="1" kern="1200" smtClean="0"/>
            <a:t>Outlines</a:t>
          </a:r>
          <a:endParaRPr lang="en-US" sz="4000" kern="1200"/>
        </a:p>
      </dsp:txBody>
      <dsp:txXfrm>
        <a:off x="46834" y="47193"/>
        <a:ext cx="11001022" cy="86573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EFDE43-E778-4DFF-A293-EBC7FADD92E0}">
      <dsp:nvSpPr>
        <dsp:cNvPr id="0" name=""/>
        <dsp:cNvSpPr/>
      </dsp:nvSpPr>
      <dsp:spPr>
        <a:xfrm>
          <a:off x="0" y="359"/>
          <a:ext cx="1109469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en-US" sz="4000" b="1" kern="1200" smtClean="0"/>
            <a:t>Brief Anatomy</a:t>
          </a:r>
          <a:endParaRPr lang="en-US" sz="4000" kern="1200"/>
        </a:p>
      </dsp:txBody>
      <dsp:txXfrm>
        <a:off x="46834" y="47193"/>
        <a:ext cx="11001022" cy="86573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2C8DD8-4BF1-45F7-8970-190AC0421E1D}">
      <dsp:nvSpPr>
        <dsp:cNvPr id="0" name=""/>
        <dsp:cNvSpPr/>
      </dsp:nvSpPr>
      <dsp:spPr>
        <a:xfrm>
          <a:off x="0" y="359"/>
          <a:ext cx="1109469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en-US" sz="4000" b="1" kern="1200" smtClean="0"/>
            <a:t>Physiology of the Breast</a:t>
          </a:r>
          <a:endParaRPr lang="en-US" sz="4000" kern="1200"/>
        </a:p>
      </dsp:txBody>
      <dsp:txXfrm>
        <a:off x="46834" y="47193"/>
        <a:ext cx="11001022" cy="86573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87D707-0BD0-48EC-A1A2-149FB38BBF33}">
      <dsp:nvSpPr>
        <dsp:cNvPr id="0" name=""/>
        <dsp:cNvSpPr/>
      </dsp:nvSpPr>
      <dsp:spPr>
        <a:xfrm>
          <a:off x="0" y="359"/>
          <a:ext cx="1109469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en-US" sz="4000" b="1" kern="1200" smtClean="0"/>
            <a:t>Epidemiology and Risk Factors</a:t>
          </a:r>
          <a:endParaRPr lang="en-US" sz="4000" kern="1200"/>
        </a:p>
      </dsp:txBody>
      <dsp:txXfrm>
        <a:off x="46834" y="47193"/>
        <a:ext cx="11001022" cy="86573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D97871-C8BF-49D8-8269-AFAE3319A575}">
      <dsp:nvSpPr>
        <dsp:cNvPr id="0" name=""/>
        <dsp:cNvSpPr/>
      </dsp:nvSpPr>
      <dsp:spPr>
        <a:xfrm>
          <a:off x="0" y="0"/>
          <a:ext cx="110946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447389-0587-4DE4-B582-90E9BC1B749B}">
      <dsp:nvSpPr>
        <dsp:cNvPr id="0" name=""/>
        <dsp:cNvSpPr/>
      </dsp:nvSpPr>
      <dsp:spPr>
        <a:xfrm>
          <a:off x="0" y="0"/>
          <a:ext cx="11094690" cy="960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lvl="0" algn="l" defTabSz="1955800" rtl="0">
            <a:lnSpc>
              <a:spcPct val="90000"/>
            </a:lnSpc>
            <a:spcBef>
              <a:spcPct val="0"/>
            </a:spcBef>
            <a:spcAft>
              <a:spcPct val="35000"/>
            </a:spcAft>
          </a:pPr>
          <a:r>
            <a:rPr lang="en-US" sz="4400" b="1" kern="1200" smtClean="0"/>
            <a:t>Ethiopia</a:t>
          </a:r>
          <a:endParaRPr lang="en-US" sz="4400" kern="1200"/>
        </a:p>
      </dsp:txBody>
      <dsp:txXfrm>
        <a:off x="0" y="0"/>
        <a:ext cx="11094690" cy="96012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19C911-BCA1-48A0-89D1-0C01E4117F11}">
      <dsp:nvSpPr>
        <dsp:cNvPr id="0" name=""/>
        <dsp:cNvSpPr/>
      </dsp:nvSpPr>
      <dsp:spPr>
        <a:xfrm>
          <a:off x="0" y="359"/>
          <a:ext cx="1109469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en-US" sz="4000" b="1" kern="1200" smtClean="0"/>
            <a:t>Risk Factors for Breast Cancer</a:t>
          </a:r>
          <a:endParaRPr lang="en-US" sz="4000" kern="1200"/>
        </a:p>
      </dsp:txBody>
      <dsp:txXfrm>
        <a:off x="46834" y="47193"/>
        <a:ext cx="11001022" cy="86573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05CBA7-DCED-42E3-88B2-25E5E6B65F80}">
      <dsp:nvSpPr>
        <dsp:cNvPr id="0" name=""/>
        <dsp:cNvSpPr/>
      </dsp:nvSpPr>
      <dsp:spPr>
        <a:xfrm>
          <a:off x="0" y="359"/>
          <a:ext cx="1109469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en-US" sz="4000" b="1" kern="1200" smtClean="0"/>
            <a:t>Risk Assessment</a:t>
          </a:r>
          <a:endParaRPr lang="en-US" sz="4000" kern="1200"/>
        </a:p>
      </dsp:txBody>
      <dsp:txXfrm>
        <a:off x="46834" y="47193"/>
        <a:ext cx="11001022" cy="86573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5841CF-2646-44EE-BBBE-1BE163281719}">
      <dsp:nvSpPr>
        <dsp:cNvPr id="0" name=""/>
        <dsp:cNvSpPr/>
      </dsp:nvSpPr>
      <dsp:spPr>
        <a:xfrm>
          <a:off x="0" y="359"/>
          <a:ext cx="1109469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en-US" sz="4000" b="1" kern="1200" smtClean="0"/>
            <a:t>Risk Assessment Models</a:t>
          </a:r>
          <a:endParaRPr lang="en-US" sz="4000" kern="1200"/>
        </a:p>
      </dsp:txBody>
      <dsp:txXfrm>
        <a:off x="46834" y="47193"/>
        <a:ext cx="11001022" cy="86573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473841-1824-44C8-8C5B-03F27F67067E}">
      <dsp:nvSpPr>
        <dsp:cNvPr id="0" name=""/>
        <dsp:cNvSpPr/>
      </dsp:nvSpPr>
      <dsp:spPr>
        <a:xfrm>
          <a:off x="0" y="359"/>
          <a:ext cx="1109469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en-US" sz="4000" b="1" kern="1200" smtClean="0"/>
            <a:t>Risk Management</a:t>
          </a:r>
          <a:endParaRPr lang="en-US" sz="4000" kern="1200"/>
        </a:p>
      </dsp:txBody>
      <dsp:txXfrm>
        <a:off x="46834" y="47193"/>
        <a:ext cx="11001022" cy="86573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44F554-5B79-446E-9C70-6346229A73AF}">
      <dsp:nvSpPr>
        <dsp:cNvPr id="0" name=""/>
        <dsp:cNvSpPr/>
      </dsp:nvSpPr>
      <dsp:spPr>
        <a:xfrm>
          <a:off x="0" y="359"/>
          <a:ext cx="1109469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en-US" sz="4000" b="1" kern="1200" smtClean="0"/>
            <a:t>Breast Cancer Screening</a:t>
          </a:r>
          <a:endParaRPr lang="en-US" sz="4000" kern="1200"/>
        </a:p>
      </dsp:txBody>
      <dsp:txXfrm>
        <a:off x="46834" y="47193"/>
        <a:ext cx="11001022" cy="86573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823878-305F-45C8-A3B4-80A53D84BD72}">
      <dsp:nvSpPr>
        <dsp:cNvPr id="0" name=""/>
        <dsp:cNvSpPr/>
      </dsp:nvSpPr>
      <dsp:spPr>
        <a:xfrm>
          <a:off x="0" y="0"/>
          <a:ext cx="110946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21C0FB-89D9-4CD1-96CD-5F18260583A6}">
      <dsp:nvSpPr>
        <dsp:cNvPr id="0" name=""/>
        <dsp:cNvSpPr/>
      </dsp:nvSpPr>
      <dsp:spPr>
        <a:xfrm>
          <a:off x="0" y="0"/>
          <a:ext cx="11094690" cy="960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lvl="0" algn="l" defTabSz="1955800" rtl="0">
            <a:lnSpc>
              <a:spcPct val="90000"/>
            </a:lnSpc>
            <a:spcBef>
              <a:spcPct val="0"/>
            </a:spcBef>
            <a:spcAft>
              <a:spcPct val="35000"/>
            </a:spcAft>
          </a:pPr>
          <a:r>
            <a:rPr lang="en-US" sz="4400" b="1" kern="1200" dirty="0" smtClean="0"/>
            <a:t>Breast Cancer Screening</a:t>
          </a:r>
          <a:endParaRPr lang="en-US" sz="4400" kern="1200" dirty="0"/>
        </a:p>
      </dsp:txBody>
      <dsp:txXfrm>
        <a:off x="0" y="0"/>
        <a:ext cx="11094690" cy="96012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7E7D12-36E5-4D5F-B655-42876049BF3C}">
      <dsp:nvSpPr>
        <dsp:cNvPr id="0" name=""/>
        <dsp:cNvSpPr/>
      </dsp:nvSpPr>
      <dsp:spPr>
        <a:xfrm>
          <a:off x="0" y="0"/>
          <a:ext cx="110946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AC8EFA-EF8C-4BB6-A2B9-B19BC8923895}">
      <dsp:nvSpPr>
        <dsp:cNvPr id="0" name=""/>
        <dsp:cNvSpPr/>
      </dsp:nvSpPr>
      <dsp:spPr>
        <a:xfrm>
          <a:off x="0" y="0"/>
          <a:ext cx="11094690" cy="960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lvl="0" algn="l" defTabSz="1955800" rtl="0">
            <a:lnSpc>
              <a:spcPct val="90000"/>
            </a:lnSpc>
            <a:spcBef>
              <a:spcPct val="0"/>
            </a:spcBef>
            <a:spcAft>
              <a:spcPct val="35000"/>
            </a:spcAft>
          </a:pPr>
          <a:r>
            <a:rPr lang="en-US" sz="4400" b="1" kern="1200" dirty="0" smtClean="0"/>
            <a:t>Recommendations… Average Risk</a:t>
          </a:r>
          <a:endParaRPr lang="en-US" sz="4400" kern="1200" dirty="0"/>
        </a:p>
      </dsp:txBody>
      <dsp:txXfrm>
        <a:off x="0" y="0"/>
        <a:ext cx="11094690" cy="96012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DE6C7D-CFB4-49BA-BE87-CCDAA452A1BB}">
      <dsp:nvSpPr>
        <dsp:cNvPr id="0" name=""/>
        <dsp:cNvSpPr/>
      </dsp:nvSpPr>
      <dsp:spPr>
        <a:xfrm>
          <a:off x="0" y="0"/>
          <a:ext cx="110946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34B8A2-AB6F-4FA1-8401-07C2822BA00D}">
      <dsp:nvSpPr>
        <dsp:cNvPr id="0" name=""/>
        <dsp:cNvSpPr/>
      </dsp:nvSpPr>
      <dsp:spPr>
        <a:xfrm>
          <a:off x="0" y="0"/>
          <a:ext cx="11094690" cy="960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lvl="0" algn="l" defTabSz="1955800" rtl="0">
            <a:lnSpc>
              <a:spcPct val="90000"/>
            </a:lnSpc>
            <a:spcBef>
              <a:spcPct val="0"/>
            </a:spcBef>
            <a:spcAft>
              <a:spcPct val="35000"/>
            </a:spcAft>
          </a:pPr>
          <a:r>
            <a:rPr lang="en-US" sz="4400" b="1" kern="1200" dirty="0" smtClean="0"/>
            <a:t>Recommendations… High Risk</a:t>
          </a:r>
          <a:endParaRPr lang="en-US" sz="4400" kern="1200" dirty="0"/>
        </a:p>
      </dsp:txBody>
      <dsp:txXfrm>
        <a:off x="0" y="0"/>
        <a:ext cx="11094690" cy="96012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E52431-2ACF-4B13-A060-C48BBC822D8A}">
      <dsp:nvSpPr>
        <dsp:cNvPr id="0" name=""/>
        <dsp:cNvSpPr/>
      </dsp:nvSpPr>
      <dsp:spPr>
        <a:xfrm>
          <a:off x="0" y="0"/>
          <a:ext cx="960120" cy="960120"/>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AC8D97-3087-4697-A1EF-670707428C3B}">
      <dsp:nvSpPr>
        <dsp:cNvPr id="0" name=""/>
        <dsp:cNvSpPr/>
      </dsp:nvSpPr>
      <dsp:spPr>
        <a:xfrm>
          <a:off x="480059" y="0"/>
          <a:ext cx="10614630" cy="96012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lvl="0" algn="ctr" defTabSz="1955800" rtl="0">
            <a:lnSpc>
              <a:spcPct val="90000"/>
            </a:lnSpc>
            <a:spcBef>
              <a:spcPct val="0"/>
            </a:spcBef>
            <a:spcAft>
              <a:spcPct val="35000"/>
            </a:spcAft>
          </a:pPr>
          <a:r>
            <a:rPr lang="en-US" sz="4400" b="1" kern="1200" dirty="0" smtClean="0"/>
            <a:t>Chemo-Prevention</a:t>
          </a:r>
          <a:endParaRPr lang="en-US" sz="4400" kern="1200" dirty="0"/>
        </a:p>
      </dsp:txBody>
      <dsp:txXfrm>
        <a:off x="480059" y="0"/>
        <a:ext cx="10614630" cy="96012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6D492F-8670-4606-A6E6-20919336EBE0}">
      <dsp:nvSpPr>
        <dsp:cNvPr id="0" name=""/>
        <dsp:cNvSpPr/>
      </dsp:nvSpPr>
      <dsp:spPr>
        <a:xfrm>
          <a:off x="0" y="0"/>
          <a:ext cx="960120" cy="960120"/>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D5E0B5-0591-4245-9D2D-CDF1CE3D6CDE}">
      <dsp:nvSpPr>
        <dsp:cNvPr id="0" name=""/>
        <dsp:cNvSpPr/>
      </dsp:nvSpPr>
      <dsp:spPr>
        <a:xfrm>
          <a:off x="480059" y="0"/>
          <a:ext cx="10614630" cy="96012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lvl="0" algn="ctr" defTabSz="1955800" rtl="0">
            <a:lnSpc>
              <a:spcPct val="90000"/>
            </a:lnSpc>
            <a:spcBef>
              <a:spcPct val="0"/>
            </a:spcBef>
            <a:spcAft>
              <a:spcPct val="35000"/>
            </a:spcAft>
          </a:pPr>
          <a:r>
            <a:rPr lang="en-US" sz="4400" b="1" kern="1200" dirty="0" smtClean="0"/>
            <a:t>Risk-Reducing Surgery</a:t>
          </a:r>
          <a:endParaRPr lang="en-US" sz="4400" kern="1200" dirty="0"/>
        </a:p>
      </dsp:txBody>
      <dsp:txXfrm>
        <a:off x="480059" y="0"/>
        <a:ext cx="10614630" cy="96012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07BA39-7A4B-4F0D-9247-6726BA833DC9}">
      <dsp:nvSpPr>
        <dsp:cNvPr id="0" name=""/>
        <dsp:cNvSpPr/>
      </dsp:nvSpPr>
      <dsp:spPr>
        <a:xfrm>
          <a:off x="0" y="359"/>
          <a:ext cx="1109469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en-US" sz="4000" b="1" kern="1200" smtClean="0"/>
            <a:t>BRCA Associated Cancers</a:t>
          </a:r>
          <a:endParaRPr lang="en-US" sz="4000" kern="1200"/>
        </a:p>
      </dsp:txBody>
      <dsp:txXfrm>
        <a:off x="46834" y="47193"/>
        <a:ext cx="11001022" cy="865732"/>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FE4013-6398-46F3-8BD3-768B9B219E8D}">
      <dsp:nvSpPr>
        <dsp:cNvPr id="0" name=""/>
        <dsp:cNvSpPr/>
      </dsp:nvSpPr>
      <dsp:spPr>
        <a:xfrm>
          <a:off x="0" y="359"/>
          <a:ext cx="1109469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en-US" sz="4000" b="1" kern="1200" smtClean="0"/>
            <a:t>Natural History of Breast Cancer</a:t>
          </a:r>
          <a:endParaRPr lang="en-US" sz="4000" kern="1200"/>
        </a:p>
      </dsp:txBody>
      <dsp:txXfrm>
        <a:off x="46834" y="47193"/>
        <a:ext cx="11001022" cy="86573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7D4687-33B1-43D7-AB0E-AFCDB6041D9B}">
      <dsp:nvSpPr>
        <dsp:cNvPr id="0" name=""/>
        <dsp:cNvSpPr/>
      </dsp:nvSpPr>
      <dsp:spPr>
        <a:xfrm>
          <a:off x="0" y="0"/>
          <a:ext cx="110946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71A34D-82CE-4331-96D7-B2CCFFE61C78}">
      <dsp:nvSpPr>
        <dsp:cNvPr id="0" name=""/>
        <dsp:cNvSpPr/>
      </dsp:nvSpPr>
      <dsp:spPr>
        <a:xfrm>
          <a:off x="0" y="0"/>
          <a:ext cx="11094690" cy="960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lvl="0" algn="l" defTabSz="1955800" rtl="0">
            <a:lnSpc>
              <a:spcPct val="90000"/>
            </a:lnSpc>
            <a:spcBef>
              <a:spcPct val="0"/>
            </a:spcBef>
            <a:spcAft>
              <a:spcPct val="35000"/>
            </a:spcAft>
          </a:pPr>
          <a:r>
            <a:rPr lang="en-US" sz="4400" b="1" kern="1200" smtClean="0"/>
            <a:t>Natural History…</a:t>
          </a:r>
          <a:endParaRPr lang="en-US" sz="4400" kern="1200"/>
        </a:p>
      </dsp:txBody>
      <dsp:txXfrm>
        <a:off x="0" y="0"/>
        <a:ext cx="11094690" cy="960120"/>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6F32CB-6197-4060-8963-43924CA8A930}">
      <dsp:nvSpPr>
        <dsp:cNvPr id="0" name=""/>
        <dsp:cNvSpPr/>
      </dsp:nvSpPr>
      <dsp:spPr>
        <a:xfrm>
          <a:off x="0" y="359"/>
          <a:ext cx="1109469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en-US" sz="4000" b="1" kern="1200" smtClean="0"/>
            <a:t>Histopathology of Breast Cancer</a:t>
          </a:r>
          <a:endParaRPr lang="en-US" sz="4000" kern="1200"/>
        </a:p>
      </dsp:txBody>
      <dsp:txXfrm>
        <a:off x="46834" y="47193"/>
        <a:ext cx="11001022" cy="865732"/>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035B75-7EFA-4433-9B78-9C83D8CE112A}">
      <dsp:nvSpPr>
        <dsp:cNvPr id="0" name=""/>
        <dsp:cNvSpPr/>
      </dsp:nvSpPr>
      <dsp:spPr>
        <a:xfrm>
          <a:off x="0" y="0"/>
          <a:ext cx="960120" cy="960120"/>
        </a:xfrm>
        <a:prstGeom prst="pie">
          <a:avLst>
            <a:gd name="adj1" fmla="val 5400000"/>
            <a:gd name="adj2" fmla="val 1620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93506ADD-DCB5-44A6-AEAA-289B16276D2F}">
      <dsp:nvSpPr>
        <dsp:cNvPr id="0" name=""/>
        <dsp:cNvSpPr/>
      </dsp:nvSpPr>
      <dsp:spPr>
        <a:xfrm>
          <a:off x="480059" y="0"/>
          <a:ext cx="10614630" cy="960120"/>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lvl="0" algn="ctr" defTabSz="1955800" rtl="0">
            <a:lnSpc>
              <a:spcPct val="90000"/>
            </a:lnSpc>
            <a:spcBef>
              <a:spcPct val="0"/>
            </a:spcBef>
            <a:spcAft>
              <a:spcPct val="35000"/>
            </a:spcAft>
          </a:pPr>
          <a:r>
            <a:rPr lang="en-US" sz="4400" b="1" kern="1200" smtClean="0"/>
            <a:t>LCIS</a:t>
          </a:r>
          <a:endParaRPr lang="en-US" sz="4400" kern="1200"/>
        </a:p>
      </dsp:txBody>
      <dsp:txXfrm>
        <a:off x="480059" y="0"/>
        <a:ext cx="10614630" cy="960120"/>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ACCEDE-8853-4B24-91EB-2C1518518C04}">
      <dsp:nvSpPr>
        <dsp:cNvPr id="0" name=""/>
        <dsp:cNvSpPr/>
      </dsp:nvSpPr>
      <dsp:spPr>
        <a:xfrm>
          <a:off x="0" y="0"/>
          <a:ext cx="960120" cy="960120"/>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DC2C5A-6636-40C4-B149-68AA18B8F772}">
      <dsp:nvSpPr>
        <dsp:cNvPr id="0" name=""/>
        <dsp:cNvSpPr/>
      </dsp:nvSpPr>
      <dsp:spPr>
        <a:xfrm>
          <a:off x="480059" y="0"/>
          <a:ext cx="10614630" cy="96012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lvl="0" algn="ctr" defTabSz="1955800" rtl="0">
            <a:lnSpc>
              <a:spcPct val="90000"/>
            </a:lnSpc>
            <a:spcBef>
              <a:spcPct val="0"/>
            </a:spcBef>
            <a:spcAft>
              <a:spcPct val="35000"/>
            </a:spcAft>
          </a:pPr>
          <a:r>
            <a:rPr lang="en-US" sz="4400" b="1" kern="1200" smtClean="0"/>
            <a:t>DCIS</a:t>
          </a:r>
          <a:endParaRPr lang="en-US" sz="4400" kern="1200"/>
        </a:p>
      </dsp:txBody>
      <dsp:txXfrm>
        <a:off x="480059" y="0"/>
        <a:ext cx="10614630" cy="960120"/>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1CB9A6-4602-4DDB-AD2F-2AD18F4E4CBB}">
      <dsp:nvSpPr>
        <dsp:cNvPr id="0" name=""/>
        <dsp:cNvSpPr/>
      </dsp:nvSpPr>
      <dsp:spPr>
        <a:xfrm>
          <a:off x="0" y="0"/>
          <a:ext cx="960120" cy="960120"/>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2FF55F8-F1F8-47AA-9D9F-07A18A050DE4}">
      <dsp:nvSpPr>
        <dsp:cNvPr id="0" name=""/>
        <dsp:cNvSpPr/>
      </dsp:nvSpPr>
      <dsp:spPr>
        <a:xfrm>
          <a:off x="480059" y="0"/>
          <a:ext cx="10614630" cy="96012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lvl="0" algn="ctr" defTabSz="1955800" rtl="0">
            <a:lnSpc>
              <a:spcPct val="90000"/>
            </a:lnSpc>
            <a:spcBef>
              <a:spcPct val="0"/>
            </a:spcBef>
            <a:spcAft>
              <a:spcPct val="35000"/>
            </a:spcAft>
          </a:pPr>
          <a:r>
            <a:rPr lang="en-US" sz="4400" b="1" kern="1200" dirty="0" smtClean="0"/>
            <a:t>Invasive Breast Cancer</a:t>
          </a:r>
          <a:endParaRPr lang="en-US" sz="4400" kern="1200" dirty="0"/>
        </a:p>
      </dsp:txBody>
      <dsp:txXfrm>
        <a:off x="480059" y="0"/>
        <a:ext cx="10614630" cy="960120"/>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96F69D-3BFC-4E60-A446-C7B2F579DDE9}">
      <dsp:nvSpPr>
        <dsp:cNvPr id="0" name=""/>
        <dsp:cNvSpPr/>
      </dsp:nvSpPr>
      <dsp:spPr>
        <a:xfrm>
          <a:off x="0" y="359"/>
          <a:ext cx="1109469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en-US" sz="4000" b="1" kern="1200" smtClean="0"/>
            <a:t>Diagnosis of Breast Cancer</a:t>
          </a:r>
          <a:endParaRPr lang="en-US" sz="4000" kern="1200"/>
        </a:p>
      </dsp:txBody>
      <dsp:txXfrm>
        <a:off x="46834" y="47193"/>
        <a:ext cx="11001022" cy="865732"/>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CD3911-9509-4CAB-9E2C-14E86B48974A}">
      <dsp:nvSpPr>
        <dsp:cNvPr id="0" name=""/>
        <dsp:cNvSpPr/>
      </dsp:nvSpPr>
      <dsp:spPr>
        <a:xfrm>
          <a:off x="0" y="0"/>
          <a:ext cx="110946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1889FF-6DA4-47C1-9E19-70F448694E61}">
      <dsp:nvSpPr>
        <dsp:cNvPr id="0" name=""/>
        <dsp:cNvSpPr/>
      </dsp:nvSpPr>
      <dsp:spPr>
        <a:xfrm>
          <a:off x="0" y="0"/>
          <a:ext cx="11094690" cy="960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lvl="0" algn="l" defTabSz="1955800" rtl="0">
            <a:lnSpc>
              <a:spcPct val="90000"/>
            </a:lnSpc>
            <a:spcBef>
              <a:spcPct val="0"/>
            </a:spcBef>
            <a:spcAft>
              <a:spcPct val="35000"/>
            </a:spcAft>
          </a:pPr>
          <a:r>
            <a:rPr lang="en-US" sz="4400" b="1" kern="1200" smtClean="0"/>
            <a:t>Examination</a:t>
          </a:r>
          <a:endParaRPr lang="en-US" sz="4400" kern="1200"/>
        </a:p>
      </dsp:txBody>
      <dsp:txXfrm>
        <a:off x="0" y="0"/>
        <a:ext cx="11094690" cy="960120"/>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7C3120-24EC-4A84-B547-997C361BA08B}">
      <dsp:nvSpPr>
        <dsp:cNvPr id="0" name=""/>
        <dsp:cNvSpPr/>
      </dsp:nvSpPr>
      <dsp:spPr>
        <a:xfrm>
          <a:off x="0" y="0"/>
          <a:ext cx="110946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EAD834-5341-4319-A55E-1C325B5B50E3}">
      <dsp:nvSpPr>
        <dsp:cNvPr id="0" name=""/>
        <dsp:cNvSpPr/>
      </dsp:nvSpPr>
      <dsp:spPr>
        <a:xfrm>
          <a:off x="0" y="0"/>
          <a:ext cx="11094690" cy="960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lvl="0" algn="l" defTabSz="1955800" rtl="0">
            <a:lnSpc>
              <a:spcPct val="90000"/>
            </a:lnSpc>
            <a:spcBef>
              <a:spcPct val="0"/>
            </a:spcBef>
            <a:spcAft>
              <a:spcPct val="35000"/>
            </a:spcAft>
          </a:pPr>
          <a:r>
            <a:rPr lang="en-US" sz="4400" b="1" kern="1200" smtClean="0"/>
            <a:t>Imaging Techniques</a:t>
          </a:r>
          <a:endParaRPr lang="en-US" sz="4400" kern="1200"/>
        </a:p>
      </dsp:txBody>
      <dsp:txXfrm>
        <a:off x="0" y="0"/>
        <a:ext cx="11094690" cy="960120"/>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20EA32-48FD-4853-B37D-EBAFAD3A1FFB}">
      <dsp:nvSpPr>
        <dsp:cNvPr id="0" name=""/>
        <dsp:cNvSpPr/>
      </dsp:nvSpPr>
      <dsp:spPr>
        <a:xfrm>
          <a:off x="0" y="0"/>
          <a:ext cx="110946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025D29-7A91-4F97-8C74-5309BB34AD2D}">
      <dsp:nvSpPr>
        <dsp:cNvPr id="0" name=""/>
        <dsp:cNvSpPr/>
      </dsp:nvSpPr>
      <dsp:spPr>
        <a:xfrm>
          <a:off x="0" y="0"/>
          <a:ext cx="11094690" cy="960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lvl="0" algn="l" defTabSz="1955800" rtl="0">
            <a:lnSpc>
              <a:spcPct val="90000"/>
            </a:lnSpc>
            <a:spcBef>
              <a:spcPct val="0"/>
            </a:spcBef>
            <a:spcAft>
              <a:spcPct val="35000"/>
            </a:spcAft>
          </a:pPr>
          <a:r>
            <a:rPr lang="en-US" sz="4400" b="1" kern="1200" smtClean="0"/>
            <a:t>Mammography</a:t>
          </a:r>
          <a:endParaRPr lang="en-US" sz="4400" kern="1200"/>
        </a:p>
      </dsp:txBody>
      <dsp:txXfrm>
        <a:off x="0" y="0"/>
        <a:ext cx="11094690" cy="960120"/>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CCDCF9-37C3-4971-899E-9D972A02B8FF}">
      <dsp:nvSpPr>
        <dsp:cNvPr id="0" name=""/>
        <dsp:cNvSpPr/>
      </dsp:nvSpPr>
      <dsp:spPr>
        <a:xfrm>
          <a:off x="0" y="0"/>
          <a:ext cx="110946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3959EA-1CCC-4C7B-8F41-3900B2DD59E1}">
      <dsp:nvSpPr>
        <dsp:cNvPr id="0" name=""/>
        <dsp:cNvSpPr/>
      </dsp:nvSpPr>
      <dsp:spPr>
        <a:xfrm>
          <a:off x="0" y="0"/>
          <a:ext cx="11094690" cy="960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lvl="0" algn="l" defTabSz="1955800" rtl="0">
            <a:lnSpc>
              <a:spcPct val="90000"/>
            </a:lnSpc>
            <a:spcBef>
              <a:spcPct val="0"/>
            </a:spcBef>
            <a:spcAft>
              <a:spcPct val="35000"/>
            </a:spcAft>
          </a:pPr>
          <a:r>
            <a:rPr lang="en-US" sz="4400" b="1" kern="1200" smtClean="0"/>
            <a:t>Mammography (Cont.)</a:t>
          </a:r>
          <a:endParaRPr lang="en-US" sz="4400" kern="1200"/>
        </a:p>
      </dsp:txBody>
      <dsp:txXfrm>
        <a:off x="0" y="0"/>
        <a:ext cx="11094690" cy="960120"/>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BB050B-A6B4-4062-90AE-C1C037A6A664}">
      <dsp:nvSpPr>
        <dsp:cNvPr id="0" name=""/>
        <dsp:cNvSpPr/>
      </dsp:nvSpPr>
      <dsp:spPr>
        <a:xfrm>
          <a:off x="0" y="0"/>
          <a:ext cx="110946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DEE5B5-DDF7-455F-B025-A57B9C60C653}">
      <dsp:nvSpPr>
        <dsp:cNvPr id="0" name=""/>
        <dsp:cNvSpPr/>
      </dsp:nvSpPr>
      <dsp:spPr>
        <a:xfrm>
          <a:off x="0" y="0"/>
          <a:ext cx="11094690" cy="960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lvl="0" algn="l" defTabSz="1955800" rtl="0">
            <a:lnSpc>
              <a:spcPct val="90000"/>
            </a:lnSpc>
            <a:spcBef>
              <a:spcPct val="0"/>
            </a:spcBef>
            <a:spcAft>
              <a:spcPct val="35000"/>
            </a:spcAft>
          </a:pPr>
          <a:r>
            <a:rPr lang="en-US" sz="4400" b="1" kern="1200" smtClean="0"/>
            <a:t>Ultrasonography</a:t>
          </a:r>
          <a:endParaRPr lang="en-US" sz="4400" kern="1200"/>
        </a:p>
      </dsp:txBody>
      <dsp:txXfrm>
        <a:off x="0" y="0"/>
        <a:ext cx="11094690" cy="960120"/>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995980-B6E8-475F-9CBA-E6460E7A5B59}">
      <dsp:nvSpPr>
        <dsp:cNvPr id="0" name=""/>
        <dsp:cNvSpPr/>
      </dsp:nvSpPr>
      <dsp:spPr>
        <a:xfrm>
          <a:off x="0" y="0"/>
          <a:ext cx="110946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EC54B3-3414-4CE7-B079-1661BEB5707D}">
      <dsp:nvSpPr>
        <dsp:cNvPr id="0" name=""/>
        <dsp:cNvSpPr/>
      </dsp:nvSpPr>
      <dsp:spPr>
        <a:xfrm>
          <a:off x="0" y="0"/>
          <a:ext cx="11094690" cy="960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lvl="0" algn="l" defTabSz="1955800" rtl="0">
            <a:lnSpc>
              <a:spcPct val="90000"/>
            </a:lnSpc>
            <a:spcBef>
              <a:spcPct val="0"/>
            </a:spcBef>
            <a:spcAft>
              <a:spcPct val="35000"/>
            </a:spcAft>
          </a:pPr>
          <a:r>
            <a:rPr lang="en-US" sz="4400" b="1" kern="1200" smtClean="0"/>
            <a:t>MRI</a:t>
          </a:r>
          <a:endParaRPr lang="en-US" sz="4400" kern="1200"/>
        </a:p>
      </dsp:txBody>
      <dsp:txXfrm>
        <a:off x="0" y="0"/>
        <a:ext cx="11094690" cy="960120"/>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8F7277-A552-48A2-AB04-C43FD586968B}">
      <dsp:nvSpPr>
        <dsp:cNvPr id="0" name=""/>
        <dsp:cNvSpPr/>
      </dsp:nvSpPr>
      <dsp:spPr>
        <a:xfrm>
          <a:off x="0" y="0"/>
          <a:ext cx="110946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1D13C7-13B6-411E-81B6-05E437039FBC}">
      <dsp:nvSpPr>
        <dsp:cNvPr id="0" name=""/>
        <dsp:cNvSpPr/>
      </dsp:nvSpPr>
      <dsp:spPr>
        <a:xfrm>
          <a:off x="0" y="0"/>
          <a:ext cx="11094690" cy="960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lvl="0" algn="l" defTabSz="1955800" rtl="0">
            <a:lnSpc>
              <a:spcPct val="90000"/>
            </a:lnSpc>
            <a:spcBef>
              <a:spcPct val="0"/>
            </a:spcBef>
            <a:spcAft>
              <a:spcPct val="35000"/>
            </a:spcAft>
          </a:pPr>
          <a:r>
            <a:rPr lang="en-US" sz="4400" b="1" kern="1200" smtClean="0"/>
            <a:t>Breast Biopsy</a:t>
          </a:r>
          <a:endParaRPr lang="en-US" sz="4400" kern="1200"/>
        </a:p>
      </dsp:txBody>
      <dsp:txXfrm>
        <a:off x="0" y="0"/>
        <a:ext cx="11094690" cy="960120"/>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ACB988-345C-4DF7-ADE5-3A1487992C6D}">
      <dsp:nvSpPr>
        <dsp:cNvPr id="0" name=""/>
        <dsp:cNvSpPr/>
      </dsp:nvSpPr>
      <dsp:spPr>
        <a:xfrm>
          <a:off x="0" y="359"/>
          <a:ext cx="1109469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en-US" sz="4000" b="1" kern="1200" smtClean="0"/>
            <a:t>Diagnostic Pathway: Triple Assessment</a:t>
          </a:r>
          <a:endParaRPr lang="en-US" sz="4000" kern="1200"/>
        </a:p>
      </dsp:txBody>
      <dsp:txXfrm>
        <a:off x="46834" y="47193"/>
        <a:ext cx="11001022" cy="865732"/>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B6B9A5-103D-4B9B-93E4-23B27D42805D}">
      <dsp:nvSpPr>
        <dsp:cNvPr id="0" name=""/>
        <dsp:cNvSpPr/>
      </dsp:nvSpPr>
      <dsp:spPr>
        <a:xfrm>
          <a:off x="0" y="359"/>
          <a:ext cx="1109469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en-US" sz="4000" b="1" kern="1200" smtClean="0"/>
            <a:t>Breast Cancer Staging and Biomarkers</a:t>
          </a:r>
          <a:endParaRPr lang="en-US" sz="4000" kern="1200"/>
        </a:p>
      </dsp:txBody>
      <dsp:txXfrm>
        <a:off x="46834" y="47193"/>
        <a:ext cx="11001022" cy="865732"/>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32AF40-10BA-431A-ADE9-C532D1A149C5}">
      <dsp:nvSpPr>
        <dsp:cNvPr id="0" name=""/>
        <dsp:cNvSpPr/>
      </dsp:nvSpPr>
      <dsp:spPr>
        <a:xfrm>
          <a:off x="0" y="0"/>
          <a:ext cx="110946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CC285A-CC22-4BAB-96E3-E7EAF0EBB906}">
      <dsp:nvSpPr>
        <dsp:cNvPr id="0" name=""/>
        <dsp:cNvSpPr/>
      </dsp:nvSpPr>
      <dsp:spPr>
        <a:xfrm>
          <a:off x="0" y="0"/>
          <a:ext cx="11094690" cy="960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lvl="0" algn="l" defTabSz="1955800" rtl="0">
            <a:lnSpc>
              <a:spcPct val="90000"/>
            </a:lnSpc>
            <a:spcBef>
              <a:spcPct val="0"/>
            </a:spcBef>
            <a:spcAft>
              <a:spcPct val="35000"/>
            </a:spcAft>
          </a:pPr>
          <a:r>
            <a:rPr lang="en-US" sz="4400" b="1" kern="1200" smtClean="0"/>
            <a:t>TNM Stage Groupings</a:t>
          </a:r>
          <a:endParaRPr lang="en-US" sz="4400" kern="1200"/>
        </a:p>
      </dsp:txBody>
      <dsp:txXfrm>
        <a:off x="0" y="0"/>
        <a:ext cx="11094690" cy="960120"/>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F9DFE3-DB3D-4183-B5EA-E571789BD9B9}">
      <dsp:nvSpPr>
        <dsp:cNvPr id="0" name=""/>
        <dsp:cNvSpPr/>
      </dsp:nvSpPr>
      <dsp:spPr>
        <a:xfrm>
          <a:off x="0" y="0"/>
          <a:ext cx="110946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BAA6993-50BC-4DEF-AD5E-300C83363E4A}">
      <dsp:nvSpPr>
        <dsp:cNvPr id="0" name=""/>
        <dsp:cNvSpPr/>
      </dsp:nvSpPr>
      <dsp:spPr>
        <a:xfrm>
          <a:off x="0" y="0"/>
          <a:ext cx="11094690" cy="960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lvl="0" algn="l" defTabSz="1955800" rtl="0">
            <a:lnSpc>
              <a:spcPct val="90000"/>
            </a:lnSpc>
            <a:spcBef>
              <a:spcPct val="0"/>
            </a:spcBef>
            <a:spcAft>
              <a:spcPct val="35000"/>
            </a:spcAft>
          </a:pPr>
          <a:r>
            <a:rPr lang="en-US" sz="4400" b="1" kern="1200" smtClean="0"/>
            <a:t>Biomarkers</a:t>
          </a:r>
          <a:endParaRPr lang="en-US" sz="4400" kern="1200"/>
        </a:p>
      </dsp:txBody>
      <dsp:txXfrm>
        <a:off x="0" y="0"/>
        <a:ext cx="11094690" cy="960120"/>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473C8B-7B7E-4A64-BEBC-E00A7A8B82CF}">
      <dsp:nvSpPr>
        <dsp:cNvPr id="0" name=""/>
        <dsp:cNvSpPr/>
      </dsp:nvSpPr>
      <dsp:spPr>
        <a:xfrm>
          <a:off x="0" y="359"/>
          <a:ext cx="1109469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en-US" sz="4000" b="1" kern="1200" smtClean="0"/>
            <a:t>Breast Cancer Therapy</a:t>
          </a:r>
          <a:endParaRPr lang="en-US" sz="4000" kern="1200"/>
        </a:p>
      </dsp:txBody>
      <dsp:txXfrm>
        <a:off x="46834" y="47193"/>
        <a:ext cx="11001022" cy="865732"/>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D99406-6C2B-41CE-9410-3C774AA8F1B3}">
      <dsp:nvSpPr>
        <dsp:cNvPr id="0" name=""/>
        <dsp:cNvSpPr/>
      </dsp:nvSpPr>
      <dsp:spPr>
        <a:xfrm>
          <a:off x="0" y="0"/>
          <a:ext cx="110946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C14E3E-E8DA-4C52-948B-E348952C4D7F}">
      <dsp:nvSpPr>
        <dsp:cNvPr id="0" name=""/>
        <dsp:cNvSpPr/>
      </dsp:nvSpPr>
      <dsp:spPr>
        <a:xfrm>
          <a:off x="0" y="0"/>
          <a:ext cx="11094690" cy="960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lvl="0" algn="l" defTabSz="1955800" rtl="0">
            <a:lnSpc>
              <a:spcPct val="90000"/>
            </a:lnSpc>
            <a:spcBef>
              <a:spcPct val="0"/>
            </a:spcBef>
            <a:spcAft>
              <a:spcPct val="35000"/>
            </a:spcAft>
          </a:pPr>
          <a:r>
            <a:rPr lang="en-US" sz="4400" b="1" kern="1200" smtClean="0"/>
            <a:t>Overview: Treatment Pathway by Stage</a:t>
          </a:r>
          <a:endParaRPr lang="en-US" sz="4400" kern="1200"/>
        </a:p>
      </dsp:txBody>
      <dsp:txXfrm>
        <a:off x="0" y="0"/>
        <a:ext cx="11094690" cy="960120"/>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3D6950-72A4-43FF-8067-F35B0CA5FC79}">
      <dsp:nvSpPr>
        <dsp:cNvPr id="0" name=""/>
        <dsp:cNvSpPr/>
      </dsp:nvSpPr>
      <dsp:spPr>
        <a:xfrm>
          <a:off x="0" y="0"/>
          <a:ext cx="960120" cy="960120"/>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40D069-BF18-40B0-ADE1-993D09AE655A}">
      <dsp:nvSpPr>
        <dsp:cNvPr id="0" name=""/>
        <dsp:cNvSpPr/>
      </dsp:nvSpPr>
      <dsp:spPr>
        <a:xfrm>
          <a:off x="480059" y="0"/>
          <a:ext cx="10614630" cy="96012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lvl="0" algn="ctr" defTabSz="1955800" rtl="0">
            <a:lnSpc>
              <a:spcPct val="90000"/>
            </a:lnSpc>
            <a:spcBef>
              <a:spcPct val="0"/>
            </a:spcBef>
            <a:spcAft>
              <a:spcPct val="35000"/>
            </a:spcAft>
          </a:pPr>
          <a:r>
            <a:rPr lang="en-US" sz="4400" b="1" kern="1200" smtClean="0"/>
            <a:t>Non-Invasive Breast Cancer (Stage 0): LCIS</a:t>
          </a:r>
          <a:endParaRPr lang="en-US" sz="4400" kern="1200"/>
        </a:p>
      </dsp:txBody>
      <dsp:txXfrm>
        <a:off x="480059" y="0"/>
        <a:ext cx="10614630" cy="960120"/>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D9783D-F650-41EE-9BB9-674AC17B732E}">
      <dsp:nvSpPr>
        <dsp:cNvPr id="0" name=""/>
        <dsp:cNvSpPr/>
      </dsp:nvSpPr>
      <dsp:spPr>
        <a:xfrm>
          <a:off x="0" y="237"/>
          <a:ext cx="11094690" cy="4852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i="1" kern="1200" dirty="0" smtClean="0"/>
            <a:t>No benefit to excising classic LCIS alone — disease is diffuse and risk is equal in both breasts. Pleomorphic or florid LCIS (aggressive variants) behave more like DCIS — consider excision to clear margins.</a:t>
          </a:r>
          <a:endParaRPr lang="en-US" sz="1400" kern="1200" dirty="0"/>
        </a:p>
      </dsp:txBody>
      <dsp:txXfrm>
        <a:off x="23690" y="23927"/>
        <a:ext cx="11047310" cy="437915"/>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F85CA2-C206-46E3-ABD4-BE98F2F6F6D4}">
      <dsp:nvSpPr>
        <dsp:cNvPr id="0" name=""/>
        <dsp:cNvSpPr/>
      </dsp:nvSpPr>
      <dsp:spPr>
        <a:xfrm>
          <a:off x="0" y="0"/>
          <a:ext cx="960120" cy="960120"/>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6B1531-5131-4C75-B70C-AB1EEDCE499D}">
      <dsp:nvSpPr>
        <dsp:cNvPr id="0" name=""/>
        <dsp:cNvSpPr/>
      </dsp:nvSpPr>
      <dsp:spPr>
        <a:xfrm>
          <a:off x="480059" y="0"/>
          <a:ext cx="10614630" cy="96012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lvl="0" algn="ctr" defTabSz="1955800" rtl="0">
            <a:lnSpc>
              <a:spcPct val="90000"/>
            </a:lnSpc>
            <a:spcBef>
              <a:spcPct val="0"/>
            </a:spcBef>
            <a:spcAft>
              <a:spcPct val="35000"/>
            </a:spcAft>
          </a:pPr>
          <a:r>
            <a:rPr lang="en-US" sz="4400" b="1" kern="1200" dirty="0" smtClean="0"/>
            <a:t>Non-Invasive Breast Cancer (Stage 0): DCIS</a:t>
          </a:r>
          <a:endParaRPr lang="en-US" sz="4400" kern="1200" dirty="0"/>
        </a:p>
      </dsp:txBody>
      <dsp:txXfrm>
        <a:off x="480059" y="0"/>
        <a:ext cx="10614630" cy="960120"/>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676F54-7924-4E3C-96CE-B15A595D5006}">
      <dsp:nvSpPr>
        <dsp:cNvPr id="0" name=""/>
        <dsp:cNvSpPr/>
      </dsp:nvSpPr>
      <dsp:spPr>
        <a:xfrm>
          <a:off x="0" y="4117"/>
          <a:ext cx="11094690" cy="31180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l" defTabSz="577850" rtl="0">
            <a:lnSpc>
              <a:spcPct val="90000"/>
            </a:lnSpc>
            <a:spcBef>
              <a:spcPct val="0"/>
            </a:spcBef>
            <a:spcAft>
              <a:spcPct val="35000"/>
            </a:spcAft>
          </a:pPr>
          <a:r>
            <a:rPr lang="en-US" sz="1300" b="1" i="1" kern="1200" smtClean="0"/>
            <a:t>ER-positive DCIS: adjuvant tamoxifen (or an aromatase inhibitor postmenopausally) for 5 years after BCS+RT lowers ipsilateral recurrence.</a:t>
          </a:r>
          <a:endParaRPr lang="en-US" sz="1300" kern="1200"/>
        </a:p>
      </dsp:txBody>
      <dsp:txXfrm>
        <a:off x="15221" y="19338"/>
        <a:ext cx="11064248" cy="281363"/>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46839C-BA0C-48B7-B371-EAB2EE11B704}">
      <dsp:nvSpPr>
        <dsp:cNvPr id="0" name=""/>
        <dsp:cNvSpPr/>
      </dsp:nvSpPr>
      <dsp:spPr>
        <a:xfrm>
          <a:off x="0" y="0"/>
          <a:ext cx="960120" cy="960120"/>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2DEFD6E-6A65-4885-AF83-0B87FCCD308D}">
      <dsp:nvSpPr>
        <dsp:cNvPr id="0" name=""/>
        <dsp:cNvSpPr/>
      </dsp:nvSpPr>
      <dsp:spPr>
        <a:xfrm>
          <a:off x="480059" y="0"/>
          <a:ext cx="10614630" cy="96012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6210" tIns="156210" rIns="156210" bIns="156210" numCol="1" spcCol="1270" anchor="ctr" anchorCtr="0">
          <a:noAutofit/>
        </a:bodyPr>
        <a:lstStyle/>
        <a:p>
          <a:pPr lvl="0" algn="ctr" defTabSz="1822450" rtl="0">
            <a:lnSpc>
              <a:spcPct val="90000"/>
            </a:lnSpc>
            <a:spcBef>
              <a:spcPct val="0"/>
            </a:spcBef>
            <a:spcAft>
              <a:spcPct val="35000"/>
            </a:spcAft>
          </a:pPr>
          <a:r>
            <a:rPr lang="en-US" sz="4100" b="1" kern="1200" smtClean="0"/>
            <a:t>Early Invasive Breast Cancer (Stage I, IIA, or IIB)</a:t>
          </a:r>
          <a:endParaRPr lang="en-US" sz="4100" kern="1200"/>
        </a:p>
      </dsp:txBody>
      <dsp:txXfrm>
        <a:off x="480059" y="0"/>
        <a:ext cx="10614630" cy="960120"/>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B8DA0E-AE9A-4BF7-B3B7-59760597501C}">
      <dsp:nvSpPr>
        <dsp:cNvPr id="0" name=""/>
        <dsp:cNvSpPr/>
      </dsp:nvSpPr>
      <dsp:spPr>
        <a:xfrm>
          <a:off x="0" y="0"/>
          <a:ext cx="110946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B01B52-354D-4905-A0E5-3D4A14298B0D}">
      <dsp:nvSpPr>
        <dsp:cNvPr id="0" name=""/>
        <dsp:cNvSpPr/>
      </dsp:nvSpPr>
      <dsp:spPr>
        <a:xfrm>
          <a:off x="0" y="0"/>
          <a:ext cx="11094690" cy="960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lvl="0" algn="l" defTabSz="1778000" rtl="0">
            <a:lnSpc>
              <a:spcPct val="90000"/>
            </a:lnSpc>
            <a:spcBef>
              <a:spcPct val="0"/>
            </a:spcBef>
            <a:spcAft>
              <a:spcPct val="35000"/>
            </a:spcAft>
          </a:pPr>
          <a:r>
            <a:rPr lang="en-US" sz="4000" b="1" kern="1200" smtClean="0"/>
            <a:t>Adjuvant Chemotherapy Regimens by HER2 Status</a:t>
          </a:r>
          <a:endParaRPr lang="en-US" sz="4000" kern="1200"/>
        </a:p>
      </dsp:txBody>
      <dsp:txXfrm>
        <a:off x="0" y="0"/>
        <a:ext cx="11094690" cy="960120"/>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7D1DC2-7178-4B64-8915-409F0758928C}">
      <dsp:nvSpPr>
        <dsp:cNvPr id="0" name=""/>
        <dsp:cNvSpPr/>
      </dsp:nvSpPr>
      <dsp:spPr>
        <a:xfrm>
          <a:off x="0" y="0"/>
          <a:ext cx="110946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5C371C-B2BE-46F4-9E2A-218D8CF5885E}">
      <dsp:nvSpPr>
        <dsp:cNvPr id="0" name=""/>
        <dsp:cNvSpPr/>
      </dsp:nvSpPr>
      <dsp:spPr>
        <a:xfrm>
          <a:off x="0" y="0"/>
          <a:ext cx="11094690" cy="1460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lvl="0" algn="l" defTabSz="933450" rtl="0">
            <a:lnSpc>
              <a:spcPct val="90000"/>
            </a:lnSpc>
            <a:spcBef>
              <a:spcPct val="0"/>
            </a:spcBef>
            <a:spcAft>
              <a:spcPct val="35000"/>
            </a:spcAft>
          </a:pPr>
          <a:r>
            <a:rPr lang="en-US" sz="2100" i="1" kern="1200" smtClean="0"/>
            <a:t>AC = doxorubicin + cyclophosphamide; TC = docetaxel + cyclophosphamide; TCH(P) = docetaxel + carboplatin + trastuzumab ± pertuzumab; KEYNOTE-522 = pembrolizumab-based regimen for stage II–III triple-negative disease. Complete anti-HER2 therapy to 1 year. Add capecitabine (CREATE-X) or olaparib (OlympiA, if germline BRCA) for residual disease after neoadjuvant therapy.</a:t>
          </a:r>
          <a:endParaRPr lang="en-US" sz="2100" kern="1200"/>
        </a:p>
      </dsp:txBody>
      <dsp:txXfrm>
        <a:off x="0" y="0"/>
        <a:ext cx="11094690" cy="1460945"/>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F499C7-E8F8-4F13-BA1E-0B068F6DB604}">
      <dsp:nvSpPr>
        <dsp:cNvPr id="0" name=""/>
        <dsp:cNvSpPr/>
      </dsp:nvSpPr>
      <dsp:spPr>
        <a:xfrm>
          <a:off x="0" y="0"/>
          <a:ext cx="110946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208B29-7B52-4781-9492-2C6F21E44993}">
      <dsp:nvSpPr>
        <dsp:cNvPr id="0" name=""/>
        <dsp:cNvSpPr/>
      </dsp:nvSpPr>
      <dsp:spPr>
        <a:xfrm>
          <a:off x="0" y="0"/>
          <a:ext cx="11094690" cy="960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lvl="0" algn="l" defTabSz="1955800" rtl="0">
            <a:lnSpc>
              <a:spcPct val="90000"/>
            </a:lnSpc>
            <a:spcBef>
              <a:spcPct val="0"/>
            </a:spcBef>
            <a:spcAft>
              <a:spcPct val="35000"/>
            </a:spcAft>
          </a:pPr>
          <a:r>
            <a:rPr lang="en-US" sz="4400" b="1" kern="1200" smtClean="0"/>
            <a:t>Endocrine Therapy: Agents and Use</a:t>
          </a:r>
          <a:endParaRPr lang="en-US" sz="4400" kern="1200"/>
        </a:p>
      </dsp:txBody>
      <dsp:txXfrm>
        <a:off x="0" y="0"/>
        <a:ext cx="11094690" cy="960120"/>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92A054-60DB-43B4-9D2A-E1DA2EA301EA}">
      <dsp:nvSpPr>
        <dsp:cNvPr id="0" name=""/>
        <dsp:cNvSpPr/>
      </dsp:nvSpPr>
      <dsp:spPr>
        <a:xfrm>
          <a:off x="0" y="0"/>
          <a:ext cx="110946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526F10-4E4C-4DC8-97FF-B9B4DDA54686}">
      <dsp:nvSpPr>
        <dsp:cNvPr id="0" name=""/>
        <dsp:cNvSpPr/>
      </dsp:nvSpPr>
      <dsp:spPr>
        <a:xfrm>
          <a:off x="0" y="0"/>
          <a:ext cx="11094690" cy="960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210" tIns="156210" rIns="156210" bIns="156210" numCol="1" spcCol="1270" anchor="t" anchorCtr="0">
          <a:noAutofit/>
        </a:bodyPr>
        <a:lstStyle/>
        <a:p>
          <a:pPr lvl="0" algn="l" defTabSz="1822450" rtl="0">
            <a:lnSpc>
              <a:spcPct val="90000"/>
            </a:lnSpc>
            <a:spcBef>
              <a:spcPct val="0"/>
            </a:spcBef>
            <a:spcAft>
              <a:spcPct val="35000"/>
            </a:spcAft>
          </a:pPr>
          <a:r>
            <a:rPr lang="en-US" sz="4100" b="1" kern="1200" smtClean="0"/>
            <a:t>HER2-Targeted Therapy Across the Disease Course</a:t>
          </a:r>
          <a:endParaRPr lang="en-US" sz="4100" kern="1200"/>
        </a:p>
      </dsp:txBody>
      <dsp:txXfrm>
        <a:off x="0" y="0"/>
        <a:ext cx="11094690" cy="960120"/>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C534C6-DA79-4A6A-8457-338D62EAF9E7}">
      <dsp:nvSpPr>
        <dsp:cNvPr id="0" name=""/>
        <dsp:cNvSpPr/>
      </dsp:nvSpPr>
      <dsp:spPr>
        <a:xfrm>
          <a:off x="0" y="0"/>
          <a:ext cx="960120" cy="960120"/>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9270FC-E5B7-4E47-B45F-6FC633047409}">
      <dsp:nvSpPr>
        <dsp:cNvPr id="0" name=""/>
        <dsp:cNvSpPr/>
      </dsp:nvSpPr>
      <dsp:spPr>
        <a:xfrm>
          <a:off x="480059" y="0"/>
          <a:ext cx="10614630" cy="96012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9540" tIns="129540" rIns="129540" bIns="129540" numCol="1" spcCol="1270" anchor="ctr" anchorCtr="0">
          <a:noAutofit/>
        </a:bodyPr>
        <a:lstStyle/>
        <a:p>
          <a:pPr lvl="0" algn="ctr" defTabSz="1511300" rtl="0">
            <a:lnSpc>
              <a:spcPct val="90000"/>
            </a:lnSpc>
            <a:spcBef>
              <a:spcPct val="0"/>
            </a:spcBef>
            <a:spcAft>
              <a:spcPct val="35000"/>
            </a:spcAft>
          </a:pPr>
          <a:r>
            <a:rPr lang="en-US" sz="3400" b="1" kern="1200" smtClean="0"/>
            <a:t>Advanced Local-Regional Breast Cancer (Stage IIIA or IIIB)</a:t>
          </a:r>
          <a:endParaRPr lang="en-US" sz="3400" kern="1200"/>
        </a:p>
      </dsp:txBody>
      <dsp:txXfrm>
        <a:off x="480059" y="0"/>
        <a:ext cx="10614630" cy="960120"/>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7E3757-4027-4455-80F5-29A68517AE7A}">
      <dsp:nvSpPr>
        <dsp:cNvPr id="0" name=""/>
        <dsp:cNvSpPr/>
      </dsp:nvSpPr>
      <dsp:spPr>
        <a:xfrm>
          <a:off x="0" y="0"/>
          <a:ext cx="960120" cy="960120"/>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1193AE-8196-44CD-976F-44EE5996039C}">
      <dsp:nvSpPr>
        <dsp:cNvPr id="0" name=""/>
        <dsp:cNvSpPr/>
      </dsp:nvSpPr>
      <dsp:spPr>
        <a:xfrm>
          <a:off x="480059" y="0"/>
          <a:ext cx="10614630" cy="96012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lvl="0" algn="ctr" defTabSz="1955800" rtl="0">
            <a:lnSpc>
              <a:spcPct val="90000"/>
            </a:lnSpc>
            <a:spcBef>
              <a:spcPct val="0"/>
            </a:spcBef>
            <a:spcAft>
              <a:spcPct val="35000"/>
            </a:spcAft>
          </a:pPr>
          <a:r>
            <a:rPr lang="en-US" sz="4400" b="1" kern="1200" smtClean="0"/>
            <a:t>Distant Metastases (Stage IV)</a:t>
          </a:r>
          <a:endParaRPr lang="en-US" sz="4400" kern="1200"/>
        </a:p>
      </dsp:txBody>
      <dsp:txXfrm>
        <a:off x="480059" y="0"/>
        <a:ext cx="10614630" cy="960120"/>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6C34FF-44D9-4739-8C70-711BFC8185F8}">
      <dsp:nvSpPr>
        <dsp:cNvPr id="0" name=""/>
        <dsp:cNvSpPr/>
      </dsp:nvSpPr>
      <dsp:spPr>
        <a:xfrm>
          <a:off x="0" y="0"/>
          <a:ext cx="110946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8F4B38-8348-40A0-BFCD-504F4E10D826}">
      <dsp:nvSpPr>
        <dsp:cNvPr id="0" name=""/>
        <dsp:cNvSpPr/>
      </dsp:nvSpPr>
      <dsp:spPr>
        <a:xfrm>
          <a:off x="0" y="0"/>
          <a:ext cx="11094690" cy="960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lvl="0" algn="l" defTabSz="1955800" rtl="0">
            <a:lnSpc>
              <a:spcPct val="90000"/>
            </a:lnSpc>
            <a:spcBef>
              <a:spcPct val="0"/>
            </a:spcBef>
            <a:spcAft>
              <a:spcPct val="35000"/>
            </a:spcAft>
          </a:pPr>
          <a:r>
            <a:rPr lang="en-US" sz="4400" b="1" kern="1200" dirty="0" smtClean="0"/>
            <a:t>Stage IV: Systemic Therapy by Subtype</a:t>
          </a:r>
          <a:endParaRPr lang="en-US" sz="4400" kern="1200" dirty="0"/>
        </a:p>
      </dsp:txBody>
      <dsp:txXfrm>
        <a:off x="0" y="0"/>
        <a:ext cx="11094690" cy="960120"/>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56A737-FF6F-4840-81E5-C122CC172972}">
      <dsp:nvSpPr>
        <dsp:cNvPr id="0" name=""/>
        <dsp:cNvSpPr/>
      </dsp:nvSpPr>
      <dsp:spPr>
        <a:xfrm>
          <a:off x="0" y="0"/>
          <a:ext cx="110946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F2CF8A-392C-466D-BAC1-2505FEDBB976}">
      <dsp:nvSpPr>
        <dsp:cNvPr id="0" name=""/>
        <dsp:cNvSpPr/>
      </dsp:nvSpPr>
      <dsp:spPr>
        <a:xfrm>
          <a:off x="0" y="0"/>
          <a:ext cx="11094690" cy="996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rtl="0">
            <a:lnSpc>
              <a:spcPct val="90000"/>
            </a:lnSpc>
            <a:spcBef>
              <a:spcPct val="0"/>
            </a:spcBef>
            <a:spcAft>
              <a:spcPct val="35000"/>
            </a:spcAft>
          </a:pPr>
          <a:r>
            <a:rPr lang="en-US" sz="1900" i="1" kern="1200" smtClean="0"/>
            <a:t>CDK4/6i = cyclin-dependent kinase 4/6 inhibitor; T-DXd = trastuzumab deruxtecan; T-DM1 = ado-trastuzumab emtansine; PARP inhibitor = poly(ADP-ribose) polymerase inhibitor. Bone-modifying agents (zoledronic acid or denosumab) and palliative radiotherapy/surgery are used alongside systemic therapy as indicated.</a:t>
          </a:r>
          <a:endParaRPr lang="en-US" sz="1900" kern="1200"/>
        </a:p>
      </dsp:txBody>
      <dsp:txXfrm>
        <a:off x="0" y="0"/>
        <a:ext cx="11094690" cy="996824"/>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55943F-9E7B-4A42-B371-766FDB2D6247}">
      <dsp:nvSpPr>
        <dsp:cNvPr id="0" name=""/>
        <dsp:cNvSpPr/>
      </dsp:nvSpPr>
      <dsp:spPr>
        <a:xfrm>
          <a:off x="0" y="0"/>
          <a:ext cx="1109469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DADFED-9BBC-447E-9677-6FB874D533A4}">
      <dsp:nvSpPr>
        <dsp:cNvPr id="0" name=""/>
        <dsp:cNvSpPr/>
      </dsp:nvSpPr>
      <dsp:spPr>
        <a:xfrm>
          <a:off x="0" y="0"/>
          <a:ext cx="11094690" cy="960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lvl="0" algn="l" defTabSz="1955800" rtl="0">
            <a:lnSpc>
              <a:spcPct val="90000"/>
            </a:lnSpc>
            <a:spcBef>
              <a:spcPct val="0"/>
            </a:spcBef>
            <a:spcAft>
              <a:spcPct val="35000"/>
            </a:spcAft>
          </a:pPr>
          <a:r>
            <a:rPr lang="en-US" sz="4400" b="1" kern="1200" smtClean="0"/>
            <a:t>Stage IV: Local Therapy for Palliation</a:t>
          </a:r>
          <a:endParaRPr lang="en-US" sz="4400" kern="1200"/>
        </a:p>
      </dsp:txBody>
      <dsp:txXfrm>
        <a:off x="0" y="0"/>
        <a:ext cx="11094690" cy="960120"/>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42E7FB-C2F7-4181-B836-E723F090CB66}">
      <dsp:nvSpPr>
        <dsp:cNvPr id="0" name=""/>
        <dsp:cNvSpPr/>
      </dsp:nvSpPr>
      <dsp:spPr>
        <a:xfrm>
          <a:off x="0" y="14286"/>
          <a:ext cx="11094690" cy="4714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i="1" kern="1200" dirty="0" smtClean="0"/>
            <a:t>Whether to resect the primary </a:t>
          </a:r>
          <a:r>
            <a:rPr lang="en-US" sz="1400" i="1" kern="1200" dirty="0" err="1" smtClean="0"/>
            <a:t>tumour</a:t>
          </a:r>
          <a:r>
            <a:rPr lang="en-US" sz="1400" i="1" kern="1200" dirty="0" smtClean="0"/>
            <a:t> in de novo stage IV disease remains controversial; reserve for palliation of symptomatic/</a:t>
          </a:r>
          <a:r>
            <a:rPr lang="en-US" sz="1400" i="1" kern="1200" dirty="0" err="1" smtClean="0"/>
            <a:t>fungating</a:t>
          </a:r>
          <a:r>
            <a:rPr lang="en-US" sz="1400" i="1" kern="1200" dirty="0" smtClean="0"/>
            <a:t> disease or multidisciplinary-selected </a:t>
          </a:r>
          <a:r>
            <a:rPr lang="en-US" sz="1400" i="1" kern="1200" dirty="0" err="1" smtClean="0"/>
            <a:t>oligometastatic</a:t>
          </a:r>
          <a:r>
            <a:rPr lang="en-US" sz="1400" i="1" kern="1200" dirty="0" smtClean="0"/>
            <a:t> cases.</a:t>
          </a:r>
          <a:endParaRPr lang="en-US" sz="1400" kern="1200" dirty="0"/>
        </a:p>
      </dsp:txBody>
      <dsp:txXfrm>
        <a:off x="23016" y="37302"/>
        <a:ext cx="11048658" cy="425457"/>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1EF34C-0BDE-4BAD-8081-997DABDA3A82}">
      <dsp:nvSpPr>
        <dsp:cNvPr id="0" name=""/>
        <dsp:cNvSpPr/>
      </dsp:nvSpPr>
      <dsp:spPr>
        <a:xfrm>
          <a:off x="0" y="359"/>
          <a:ext cx="1109469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en-US" sz="4000" b="1" kern="1200" smtClean="0"/>
            <a:t>Axillary Staging: Decision Pathway</a:t>
          </a:r>
          <a:endParaRPr lang="en-US" sz="4000" kern="1200"/>
        </a:p>
      </dsp:txBody>
      <dsp:txXfrm>
        <a:off x="46834" y="47193"/>
        <a:ext cx="11001022" cy="865732"/>
      </dsp:txXfrm>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CDC555-B00E-4216-A5CB-1BD38D6F71C1}">
      <dsp:nvSpPr>
        <dsp:cNvPr id="0" name=""/>
        <dsp:cNvSpPr/>
      </dsp:nvSpPr>
      <dsp:spPr>
        <a:xfrm>
          <a:off x="0" y="359"/>
          <a:ext cx="11094690" cy="959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en-US" sz="4000" b="1" kern="1200" smtClean="0"/>
            <a:t>Inflammatory Breast Carcinoma</a:t>
          </a:r>
          <a:endParaRPr lang="en-US" sz="4000" kern="1200"/>
        </a:p>
      </dsp:txBody>
      <dsp:txXfrm>
        <a:off x="46834" y="47193"/>
        <a:ext cx="11001022" cy="865732"/>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810661-87F9-4BBC-91F5-20E9CFB9859F}">
      <dsp:nvSpPr>
        <dsp:cNvPr id="0" name=""/>
        <dsp:cNvSpPr/>
      </dsp:nvSpPr>
      <dsp:spPr>
        <a:xfrm>
          <a:off x="0" y="0"/>
          <a:ext cx="960120" cy="960120"/>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36FE3F-A319-4EC2-93C8-FA4C1BB77531}">
      <dsp:nvSpPr>
        <dsp:cNvPr id="0" name=""/>
        <dsp:cNvSpPr/>
      </dsp:nvSpPr>
      <dsp:spPr>
        <a:xfrm>
          <a:off x="480059" y="0"/>
          <a:ext cx="10614630" cy="96012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lvl="0" algn="ctr" defTabSz="1955800" rtl="0">
            <a:lnSpc>
              <a:spcPct val="90000"/>
            </a:lnSpc>
            <a:spcBef>
              <a:spcPct val="0"/>
            </a:spcBef>
            <a:spcAft>
              <a:spcPct val="35000"/>
            </a:spcAft>
          </a:pPr>
          <a:r>
            <a:rPr lang="en-US" sz="4400" b="1" kern="1200" smtClean="0"/>
            <a:t>Male Breast Cancer</a:t>
          </a:r>
          <a:endParaRPr lang="en-US" sz="4400" kern="1200"/>
        </a:p>
      </dsp:txBody>
      <dsp:txXfrm>
        <a:off x="480059" y="0"/>
        <a:ext cx="10614630" cy="960120"/>
      </dsp:txXfrm>
    </dsp:sp>
  </dsp:spTree>
</dsp:drawing>
</file>

<file path=ppt/diagrams/drawing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9F8CFC-C80B-4A92-BA84-1F15FFD3E920}">
      <dsp:nvSpPr>
        <dsp:cNvPr id="0" name=""/>
        <dsp:cNvSpPr/>
      </dsp:nvSpPr>
      <dsp:spPr>
        <a:xfrm>
          <a:off x="0" y="0"/>
          <a:ext cx="960120" cy="960120"/>
        </a:xfrm>
        <a:prstGeom prst="pie">
          <a:avLst>
            <a:gd name="adj1" fmla="val 5400000"/>
            <a:gd name="adj2" fmla="val 1620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70FF5641-0F10-4696-B245-C3F265F3C5B2}">
      <dsp:nvSpPr>
        <dsp:cNvPr id="0" name=""/>
        <dsp:cNvSpPr/>
      </dsp:nvSpPr>
      <dsp:spPr>
        <a:xfrm>
          <a:off x="480059" y="0"/>
          <a:ext cx="10614630" cy="960120"/>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lvl="0" algn="ctr" defTabSz="1955800" rtl="0">
            <a:lnSpc>
              <a:spcPct val="90000"/>
            </a:lnSpc>
            <a:spcBef>
              <a:spcPct val="0"/>
            </a:spcBef>
            <a:spcAft>
              <a:spcPct val="35000"/>
            </a:spcAft>
          </a:pPr>
          <a:r>
            <a:rPr lang="en-US" sz="4400" b="1" kern="1200" dirty="0" smtClean="0"/>
            <a:t>Male Breast Cancer (Cont.)</a:t>
          </a:r>
          <a:endParaRPr lang="en-US" sz="4400" kern="1200" dirty="0"/>
        </a:p>
      </dsp:txBody>
      <dsp:txXfrm>
        <a:off x="480059" y="0"/>
        <a:ext cx="10614630" cy="960120"/>
      </dsp:txXfrm>
    </dsp:sp>
  </dsp:spTree>
</dsp:drawing>
</file>

<file path=ppt/diagrams/drawing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B70B43-5A70-4665-80B9-2458FEF81C3C}">
      <dsp:nvSpPr>
        <dsp:cNvPr id="0" name=""/>
        <dsp:cNvSpPr/>
      </dsp:nvSpPr>
      <dsp:spPr>
        <a:xfrm rot="10800000">
          <a:off x="2098390" y="0"/>
          <a:ext cx="7377968" cy="960120"/>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3386" tIns="167640" rIns="312928" bIns="167640" numCol="1" spcCol="1270" anchor="ctr" anchorCtr="0">
          <a:noAutofit/>
        </a:bodyPr>
        <a:lstStyle/>
        <a:p>
          <a:pPr lvl="0" algn="ctr" defTabSz="1955800" rtl="0">
            <a:lnSpc>
              <a:spcPct val="90000"/>
            </a:lnSpc>
            <a:spcBef>
              <a:spcPct val="0"/>
            </a:spcBef>
            <a:spcAft>
              <a:spcPct val="35000"/>
            </a:spcAft>
          </a:pPr>
          <a:r>
            <a:rPr lang="en-US" sz="4400" b="1" kern="1200" dirty="0" smtClean="0"/>
            <a:t>Follow-Up and Survivorship</a:t>
          </a:r>
          <a:endParaRPr lang="en-US" sz="4400" kern="1200" dirty="0"/>
        </a:p>
      </dsp:txBody>
      <dsp:txXfrm rot="10800000">
        <a:off x="2338420" y="0"/>
        <a:ext cx="7137938" cy="960120"/>
      </dsp:txXfrm>
    </dsp:sp>
    <dsp:sp modelId="{74AC8902-5A1F-4120-A572-3728C18A7A7A}">
      <dsp:nvSpPr>
        <dsp:cNvPr id="0" name=""/>
        <dsp:cNvSpPr/>
      </dsp:nvSpPr>
      <dsp:spPr>
        <a:xfrm>
          <a:off x="1618330" y="0"/>
          <a:ext cx="960120" cy="960120"/>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993E88-82F1-4485-8160-8D02D1C607C9}">
      <dsp:nvSpPr>
        <dsp:cNvPr id="0" name=""/>
        <dsp:cNvSpPr/>
      </dsp:nvSpPr>
      <dsp:spPr>
        <a:xfrm>
          <a:off x="0" y="354780"/>
          <a:ext cx="11094690" cy="604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C9D1704-A183-43F2-AD5E-478F8C106879}">
      <dsp:nvSpPr>
        <dsp:cNvPr id="0" name=""/>
        <dsp:cNvSpPr/>
      </dsp:nvSpPr>
      <dsp:spPr>
        <a:xfrm>
          <a:off x="554734" y="540"/>
          <a:ext cx="7766283" cy="708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3547" tIns="0" rIns="293547" bIns="0" numCol="1" spcCol="1270" anchor="ctr" anchorCtr="0">
          <a:noAutofit/>
        </a:bodyPr>
        <a:lstStyle/>
        <a:p>
          <a:pPr lvl="0" algn="l" defTabSz="1066800" rtl="0">
            <a:lnSpc>
              <a:spcPct val="90000"/>
            </a:lnSpc>
            <a:spcBef>
              <a:spcPct val="0"/>
            </a:spcBef>
            <a:spcAft>
              <a:spcPct val="35000"/>
            </a:spcAft>
          </a:pPr>
          <a:r>
            <a:rPr lang="en-US" sz="2400" b="1" kern="1200" dirty="0" smtClean="0"/>
            <a:t>References</a:t>
          </a:r>
          <a:endParaRPr lang="en-US" sz="2400" kern="1200" dirty="0"/>
        </a:p>
      </dsp:txBody>
      <dsp:txXfrm>
        <a:off x="589319" y="35125"/>
        <a:ext cx="7697113" cy="639310"/>
      </dsp:txXfrm>
    </dsp:sp>
  </dsp:spTree>
</dsp:drawing>
</file>

<file path=ppt/diagrams/drawing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81B811-E703-4A15-A984-D5973B2EC9EF}">
      <dsp:nvSpPr>
        <dsp:cNvPr id="0" name=""/>
        <dsp:cNvSpPr/>
      </dsp:nvSpPr>
      <dsp:spPr>
        <a:xfrm>
          <a:off x="3512267" y="731634"/>
          <a:ext cx="1605868" cy="1382915"/>
        </a:xfrm>
        <a:prstGeom prst="hexagon">
          <a:avLst>
            <a:gd name="adj" fmla="val 25000"/>
            <a:gd name="vf" fmla="val 11547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39370" rIns="0" bIns="39370" numCol="1" spcCol="1270" anchor="ctr" anchorCtr="0">
          <a:noAutofit/>
        </a:bodyPr>
        <a:lstStyle/>
        <a:p>
          <a:pPr lvl="0" algn="ctr" defTabSz="1377950" rtl="0">
            <a:lnSpc>
              <a:spcPct val="90000"/>
            </a:lnSpc>
            <a:spcBef>
              <a:spcPct val="0"/>
            </a:spcBef>
            <a:spcAft>
              <a:spcPct val="35000"/>
            </a:spcAft>
          </a:pPr>
          <a:r>
            <a:rPr lang="en-US" sz="3100" b="1" kern="1200" smtClean="0"/>
            <a:t>Thank you</a:t>
          </a:r>
          <a:endParaRPr lang="en-US" sz="3100" kern="1200"/>
        </a:p>
      </dsp:txBody>
      <dsp:txXfrm>
        <a:off x="3761332" y="946120"/>
        <a:ext cx="1107738" cy="953943"/>
      </dsp:txXfrm>
    </dsp:sp>
    <dsp:sp modelId="{07AAD661-2B46-4BC8-A8CA-BA8E0A7565BA}">
      <dsp:nvSpPr>
        <dsp:cNvPr id="0" name=""/>
        <dsp:cNvSpPr/>
      </dsp:nvSpPr>
      <dsp:spPr>
        <a:xfrm>
          <a:off x="3549517" y="1342316"/>
          <a:ext cx="187424" cy="161763"/>
        </a:xfrm>
        <a:prstGeom prst="hexagon">
          <a:avLst>
            <a:gd name="adj" fmla="val 25000"/>
            <a:gd name="vf" fmla="val 115470"/>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2782B30-26D3-4609-B3B0-362C9C486658}">
      <dsp:nvSpPr>
        <dsp:cNvPr id="0" name=""/>
        <dsp:cNvSpPr/>
      </dsp:nvSpPr>
      <dsp:spPr>
        <a:xfrm>
          <a:off x="2185042" y="0"/>
          <a:ext cx="1603814" cy="1382492"/>
        </a:xfrm>
        <a:prstGeom prst="hexagon">
          <a:avLst>
            <a:gd name="adj" fmla="val 25000"/>
            <a:gd name="vf" fmla="val 11547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08C1EBC-053E-4F55-BA78-0BD979655388}">
      <dsp:nvSpPr>
        <dsp:cNvPr id="0" name=""/>
        <dsp:cNvSpPr/>
      </dsp:nvSpPr>
      <dsp:spPr>
        <a:xfrm>
          <a:off x="3270873" y="1191126"/>
          <a:ext cx="187424" cy="161763"/>
        </a:xfrm>
        <a:prstGeom prst="hexagon">
          <a:avLst>
            <a:gd name="adj" fmla="val 25000"/>
            <a:gd name="vf" fmla="val 115470"/>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6.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9.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3.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8.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49.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5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9.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60.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6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6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4.xml><?xml version="1.0" encoding="utf-8"?>
<dgm:layoutDef xmlns:dgm="http://schemas.openxmlformats.org/drawingml/2006/diagram" xmlns:a="http://schemas.openxmlformats.org/drawingml/2006/main" uniqueId="urn:microsoft.com/office/officeart/2008/layout/HexagonCluster">
  <dgm:title val=""/>
  <dgm:desc val=""/>
  <dgm:catLst>
    <dgm:cat type="picture" pri="21000"/>
    <dgm:cat type="relationship" pri="3200"/>
    <dgm:cat type="pictureconvert" pri="21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21"/>
      <dgm:chPref val="21"/>
    </dgm:varLst>
    <dgm:shape xmlns:r="http://schemas.openxmlformats.org/officeDocument/2006/relationships" r:blip="">
      <dgm:adjLst/>
    </dgm:shape>
    <dgm:choose name="Name1">
      <dgm:if name="Name2" axis="ch" ptType="node" func="cnt" op="equ" val="1">
        <dgm:alg type="composite">
          <dgm:param type="ar" val="1.3871"/>
        </dgm:alg>
        <dgm:constrLst>
          <dgm:constr type="primFontSz" for="des" ptType="node" op="equ" val="65"/>
          <dgm:constr type="l" for="ch" forName="text1" refType="w" fact="0.4525"/>
          <dgm:constr type="t" for="ch" forName="text1" refType="h" fact="0.346"/>
          <dgm:constr type="w" for="ch" forName="text1" refType="w" fact="0.5475"/>
          <dgm:constr type="h" for="ch" forName="text1" refType="h" fact="0.654"/>
          <dgm:constr type="l" for="ch" forName="textaccent1" refType="w" fact="0.4652"/>
          <dgm:constr type="t" for="ch" forName="textaccent1" refType="h" fact="0.6348"/>
          <dgm:constr type="w" for="ch" forName="textaccent1" refType="w" fact="0.0639"/>
          <dgm:constr type="h" for="ch" forName="textaccent1" refType="h" fact="0.0765"/>
          <dgm:constr type="l" for="ch" forName="image1" refType="w" fact="0"/>
          <dgm:constr type="t" for="ch" forName="image1" refType="h" fact="0"/>
          <dgm:constr type="w" for="ch" forName="image1" refType="w" fact="0.5468"/>
          <dgm:constr type="h" for="ch" forName="image1" refType="h" fact="0.6538"/>
          <dgm:constr type="l" for="ch" forName="imageaccent1" refType="w" fact="0.3702"/>
          <dgm:constr type="t" for="ch" forName="imageaccent1" refType="h" fact="0.5633"/>
          <dgm:constr type="w" for="ch" forName="imageaccent1" refType="w" fact="0.0639"/>
          <dgm:constr type="h" for="ch" forName="imageaccent1" refType="h" fact="0.0765"/>
        </dgm:constrLst>
      </dgm:if>
      <dgm:if name="Name3" axis="ch" ptType="node" func="cnt" op="equ" val="2">
        <dgm:alg type="composite">
          <dgm:param type="ar" val="2.6443"/>
        </dgm:alg>
        <dgm:constrLst>
          <dgm:constr type="primFontSz" for="des" ptType="node" op="equ" val="65"/>
          <dgm:constr type="l" for="ch" forName="text1" refType="w" fact="0.2383"/>
          <dgm:constr type="t" for="ch" forName="text1" refType="h" fact="0.3501"/>
          <dgm:constr type="w" for="ch" forName="text1" refType="w" fact="0.285"/>
          <dgm:constr type="h" for="ch" forName="text1" refType="h" fact="0.6499"/>
          <dgm:constr type="l" for="ch" forName="textaccent1" refType="w" fact="0.2472"/>
          <dgm:constr type="t" for="ch" forName="textaccent1" refType="h" fact="0.6371"/>
          <dgm:constr type="w" for="ch" forName="textaccent1" refType="w" fact="0.0333"/>
          <dgm:constr type="h" for="ch" forName="textaccent1" refType="h" fact="0.076"/>
          <dgm:constr type="l" for="ch" forName="image1" refType="w" fact="0"/>
          <dgm:constr type="t" for="ch" forName="image1" refType="h" fact="0"/>
          <dgm:constr type="w" for="ch" forName="image1" refType="w" fact="0.285"/>
          <dgm:constr type="h" for="ch" forName="image1" refType="h" fact="0.6499"/>
          <dgm:constr type="l" for="ch" forName="imageaccent1" refType="w" fact="0.1942"/>
          <dgm:constr type="t" for="ch" forName="imageaccent1" refType="h" fact="0.5602"/>
          <dgm:constr type="w" for="ch" forName="imageaccent1" refType="w" fact="0.0333"/>
          <dgm:constr type="h" for="ch" forName="imageaccent1" refType="h" fact="0.076"/>
          <dgm:constr type="l" for="ch" forName="text2" refType="w" fact="0.4767"/>
          <dgm:constr type="t" for="ch" forName="text2" refType="h" fact="0"/>
          <dgm:constr type="w" for="ch" forName="text2" refType="w" fact="0.285"/>
          <dgm:constr type="h" for="ch" forName="text2" refType="h" fact="0.6499"/>
          <dgm:constr type="l" for="ch" forName="textaccent2" refType="w" fact="0.6709"/>
          <dgm:constr type="t" for="ch" forName="textaccent2" refType="h" fact="0.5602"/>
          <dgm:constr type="w" for="ch" forName="textaccent2" refType="w" fact="0.0333"/>
          <dgm:constr type="h" for="ch" forName="textaccent2" refType="h" fact="0.076"/>
          <dgm:constr type="l" for="ch" forName="image2" refType="w" fact="0.715"/>
          <dgm:constr type="t" for="ch" forName="image2" refType="h" fact="0.3501"/>
          <dgm:constr type="w" for="ch" forName="image2" refType="w" fact="0.285"/>
          <dgm:constr type="h" for="ch" forName="image2" refType="h" fact="0.6499"/>
          <dgm:constr type="l" for="ch" forName="imageaccent2" refType="w" fact="0.7239"/>
          <dgm:constr type="t" for="ch" forName="imageaccent2" refType="h" fact="0.6371"/>
          <dgm:constr type="w" for="ch" forName="imageaccent2" refType="w" fact="0.0333"/>
          <dgm:constr type="h" for="ch" forName="imageaccent2" refType="h" fact="0.076"/>
        </dgm:constrLst>
      </dgm:if>
      <dgm:if name="Name4" axis="ch" ptType="node" func="cnt" op="equ" val="3">
        <dgm:alg type="composite">
          <dgm:param type="ar" val="1.5623"/>
        </dgm:alg>
        <dgm:constrLst>
          <dgm:constr type="primFontSz" for="des" ptType="node" op="equ" val="65"/>
          <dgm:constr type="l" for="ch" forName="text1" refType="w" fact="0.2402"/>
          <dgm:constr type="t" for="ch" forName="text1" refType="h" fact="0.6215"/>
          <dgm:constr type="w" for="ch" forName="text1" refType="w" fact="0.281"/>
          <dgm:constr type="h" for="ch" forName="text1" refType="h" fact="0.3785"/>
          <dgm:constr type="l" for="ch" forName="textaccent1" refType="w" fact="0.2475"/>
          <dgm:constr type="t" for="ch" forName="textaccent1" refType="h" fact="0.7886"/>
          <dgm:constr type="w" for="ch" forName="textaccent1" refType="w" fact="0.0329"/>
          <dgm:constr type="h" for="ch" forName="textaccent1" refType="h" fact="0.0443"/>
          <dgm:constr type="l" for="ch" forName="image1" refType="w" fact="0"/>
          <dgm:constr type="t" for="ch" forName="image1" refType="h" fact="0.4182"/>
          <dgm:constr type="w" for="ch" forName="image1" refType="w" fact="0.281"/>
          <dgm:constr type="h" for="ch" forName="image1" refType="h" fact="0.3785"/>
          <dgm:constr type="l" for="ch" forName="imageaccent1" refType="w" fact="0.1913"/>
          <dgm:constr type="t" for="ch" forName="imageaccent1" refType="h" fact="0.7467"/>
          <dgm:constr type="w" for="ch" forName="imageaccent1" refType="w" fact="0.0329"/>
          <dgm:constr type="h" for="ch" forName="imageaccent1" refType="h" fact="0.0443"/>
          <dgm:constr type="l" for="ch" forName="text2" refType="w" fact="0.4796"/>
          <dgm:constr type="t" for="ch" forName="text2" refType="h" fact="0.4137"/>
          <dgm:constr type="w" for="ch" forName="text2" refType="w" fact="0.281"/>
          <dgm:constr type="h" for="ch" forName="text2" refType="h" fact="0.3785"/>
          <dgm:constr type="l" for="ch" forName="textaccent2" refType="w" fact="0.6717"/>
          <dgm:constr type="t" for="ch" forName="textaccent2" refType="h" fact="0.7418"/>
          <dgm:constr type="w" for="ch" forName="textaccent2" refType="w" fact="0.0329"/>
          <dgm:constr type="h" for="ch" forName="textaccent2" refType="h" fact="0.0443"/>
          <dgm:constr type="l" for="ch" forName="image2" refType="w" fact="0.719"/>
          <dgm:constr type="t" for="ch" forName="image2" refType="h" fact="0.6215"/>
          <dgm:constr type="w" for="ch" forName="image2" refType="w" fact="0.281"/>
          <dgm:constr type="h" for="ch" forName="image2" refType="h" fact="0.3785"/>
          <dgm:constr type="l" for="ch" forName="imageaccent2" refType="w" fact="0.7263"/>
          <dgm:constr type="t" for="ch" forName="imageaccent2" refType="h" fact="0.7886"/>
          <dgm:constr type="w" for="ch" forName="imageaccent2" refType="w" fact="0.0329"/>
          <dgm:constr type="h" for="ch" forName="imageaccent2" refType="h" fact="0.0443"/>
          <dgm:constr type="l" for="ch" forName="text3" refType="w" fact="0.2402"/>
          <dgm:constr type="t" for="ch" forName="text3" refType="h" fact="0.2068"/>
          <dgm:constr type="w" for="ch" forName="text3" refType="w" fact="0.281"/>
          <dgm:constr type="h" for="ch" forName="text3" refType="h" fact="0.3785"/>
          <dgm:constr type="l" for="ch" forName="textaccent3" refType="w" fact="0.4307"/>
          <dgm:constr type="t" for="ch" forName="textaccent3" refType="h" fact="0.215"/>
          <dgm:constr type="w" for="ch" forName="textaccent3" refType="w" fact="0.0329"/>
          <dgm:constr type="h" for="ch" forName="textaccent3" refType="h" fact="0.0443"/>
          <dgm:constr type="l" for="ch" forName="image3" refType="w" fact="0.4796"/>
          <dgm:constr type="t" for="ch" forName="image3" refType="h" fact="0"/>
          <dgm:constr type="w" for="ch" forName="image3" refType="w" fact="0.281"/>
          <dgm:constr type="h" for="ch" forName="image3" refType="h" fact="0.3785"/>
          <dgm:constr type="l" for="ch" forName="imageaccent3" refType="w" fact="0.4879"/>
          <dgm:constr type="t" for="ch" forName="imageaccent3" refType="h" fact="0.1662"/>
          <dgm:constr type="w" for="ch" forName="imageaccent3" refType="w" fact="0.0329"/>
          <dgm:constr type="h" for="ch" forName="imageaccent3" refType="h" fact="0.0443"/>
        </dgm:constrLst>
      </dgm:if>
      <dgm:if name="Name5" axis="ch" ptType="node" func="cnt" op="equ" val="4">
        <dgm:alg type="composite">
          <dgm:param type="ar" val="1.943"/>
        </dgm:alg>
        <dgm:constrLst>
          <dgm:constr type="primFontSz" for="des" ptType="node" op="equ" val="65"/>
          <dgm:constr type="l" for="ch" forName="image2" refType="w" fact="0.5787"/>
          <dgm:constr type="t" for="ch" forName="image2" refType="h" fact="0.6208"/>
          <dgm:constr type="w" for="ch" forName="image2" refType="w" fact="0.227"/>
          <dgm:constr type="h" for="ch" forName="image2" refType="h" fact="0.3786"/>
          <dgm:constr type="l" for="ch" forName="text4" refType="w" fact="0.5787"/>
          <dgm:constr type="t" for="ch" forName="text4" refType="h" fact="0.2081"/>
          <dgm:constr type="w" for="ch" forName="text4" refType="w" fact="0.227"/>
          <dgm:constr type="h" for="ch" forName="text4" refType="h" fact="0.3786"/>
          <dgm:constr type="l" for="ch" forName="text2" refType="w" fact="0.3852"/>
          <dgm:constr type="t" for="ch" forName="text2" refType="h" fact="0.4127"/>
          <dgm:constr type="w" for="ch" forName="text2" refType="w" fact="0.227"/>
          <dgm:constr type="h" for="ch" forName="text2" refType="h" fact="0.3786"/>
          <dgm:constr type="l" for="ch" forName="image3" refType="w" fact="0.3852"/>
          <dgm:constr type="t" for="ch" forName="image3" refType="h" fact="0"/>
          <dgm:constr type="w" for="ch" forName="image3" refType="w" fact="0.227"/>
          <dgm:constr type="h" for="ch" forName="image3" refType="h" fact="0.3786"/>
          <dgm:constr type="l" for="ch" forName="text1" refType="w" fact="0.1927"/>
          <dgm:constr type="t" for="ch" forName="text1" refType="h" fact="0.6214"/>
          <dgm:constr type="w" for="ch" forName="text1" refType="w" fact="0.227"/>
          <dgm:constr type="h" for="ch" forName="text1" refType="h" fact="0.3786"/>
          <dgm:constr type="l" for="ch" forName="textaccent1" refType="w" fact="0.1998"/>
          <dgm:constr type="t" for="ch" forName="textaccent1" refType="h" fact="0.7887"/>
          <dgm:constr type="w" for="ch" forName="textaccent1" refType="w" fact="0.0265"/>
          <dgm:constr type="h" for="ch" forName="textaccent1" refType="h" fact="0.0444"/>
          <dgm:constr type="l" for="ch" forName="image1" refType="w" fact="0"/>
          <dgm:constr type="t" for="ch" forName="image1" refType="h" fact="0.4156"/>
          <dgm:constr type="w" for="ch" forName="image1" refType="w" fact="0.227"/>
          <dgm:constr type="h" for="ch" forName="image1" refType="h" fact="0.3786"/>
          <dgm:constr type="l" for="ch" forName="imageaccent1" refType="w" fact="0.1537"/>
          <dgm:constr type="t" for="ch" forName="imageaccent1" refType="h" fact="0.7417"/>
          <dgm:constr type="w" for="ch" forName="imageaccent1" refType="w" fact="0.0265"/>
          <dgm:constr type="h" for="ch" forName="imageaccent1" refType="h" fact="0.0444"/>
          <dgm:constr type="l" for="ch" forName="textaccent2" refType="w" fact="0.5407"/>
          <dgm:constr type="t" for="ch" forName="textaccent2" refType="h" fact="0.7384"/>
          <dgm:constr type="w" for="ch" forName="textaccent2" refType="w" fact="0.0265"/>
          <dgm:constr type="h" for="ch" forName="textaccent2" refType="h" fact="0.0444"/>
          <dgm:constr type="l" for="ch" forName="imageaccent2" refType="w" fact="0.5839"/>
          <dgm:constr type="t" for="ch" forName="imageaccent2" refType="h" fact="0.7904"/>
          <dgm:constr type="w" for="ch" forName="imageaccent2" refType="w" fact="0.0265"/>
          <dgm:constr type="h" for="ch" forName="imageaccent2" refType="h" fact="0.0444"/>
          <dgm:constr type="l" for="ch" forName="text3" refType="w" fact="0.1927"/>
          <dgm:constr type="t" for="ch" forName="text3" refType="h" fact="0.2087"/>
          <dgm:constr type="w" for="ch" forName="text3" refType="w" fact="0.227"/>
          <dgm:constr type="h" for="ch" forName="text3" refType="h" fact="0.3786"/>
          <dgm:constr type="l" for="ch" forName="textaccent3" refType="w" fact="0.3472"/>
          <dgm:constr type="t" for="ch" forName="textaccent3" refType="h" fact="0.2165"/>
          <dgm:constr type="w" for="ch" forName="textaccent3" refType="w" fact="0.0265"/>
          <dgm:constr type="h" for="ch" forName="textaccent3" refType="h" fact="0.0444"/>
          <dgm:constr type="l" for="ch" forName="imageaccent3" refType="w" fact="0.3904"/>
          <dgm:constr type="t" for="ch" forName="imageaccent3" refType="h" fact="0.1678"/>
          <dgm:constr type="w" for="ch" forName="imageaccent3" refType="w" fact="0.0265"/>
          <dgm:constr type="h" for="ch" forName="imageaccent3" refType="h" fact="0.0444"/>
          <dgm:constr type="l" for="ch" forName="textaccent4" refType="w" fact="0.7739"/>
          <dgm:constr type="t" for="ch" forName="textaccent4" refType="h" fact="0.3752"/>
          <dgm:constr type="w" for="ch" forName="textaccent4" refType="w" fact="0.0265"/>
          <dgm:constr type="h" for="ch" forName="textaccent4" refType="h" fact="0.0444"/>
          <dgm:constr type="l" for="ch" forName="image4" refType="w" fact="0.773"/>
          <dgm:constr type="t" for="ch" forName="image4" refType="h" fact="0.4162"/>
          <dgm:constr type="w" for="ch" forName="image4" refType="w" fact="0.227"/>
          <dgm:constr type="h" for="ch" forName="image4" refType="h" fact="0.3786"/>
          <dgm:constr type="l" for="ch" forName="imageaccent4" refType="w" fact="0.8188"/>
          <dgm:constr type="t" for="ch" forName="imageaccent4" refType="h" fact="0.4229"/>
          <dgm:constr type="w" for="ch" forName="imageaccent4" refType="w" fact="0.0265"/>
          <dgm:constr type="h" for="ch" forName="imageaccent4" refType="h" fact="0.0444"/>
        </dgm:constrLst>
      </dgm:if>
      <dgm:if name="Name6" axis="ch" ptType="node" func="cnt" op="equ" val="5">
        <dgm:alg type="composite">
          <dgm:param type="ar" val="2.3203"/>
        </dgm:alg>
        <dgm:constrLst>
          <dgm:constr type="primFontSz" for="des" ptType="node" op="equ" val="65"/>
          <dgm:constr type="l" for="ch" forName="image4" refType="w" fact="0.6491"/>
          <dgm:constr type="t" for="ch" forName="image4" refType="h" fact="0.4193"/>
          <dgm:constr type="w" for="ch" forName="image4" refType="w" fact="0.1886"/>
          <dgm:constr type="h" for="ch" forName="image4" refType="h" fact="0.3757"/>
          <dgm:constr type="l" for="ch" forName="text5" refType="w" fact="0.6491"/>
          <dgm:constr type="t" for="ch" forName="text5" refType="h" fact="0.004"/>
          <dgm:constr type="w" for="ch" forName="text5" refType="w" fact="0.1886"/>
          <dgm:constr type="h" for="ch" forName="text5" refType="h" fact="0.3757"/>
          <dgm:constr type="l" for="ch" forName="image5" refType="w" fact="0.8114"/>
          <dgm:constr type="t" for="ch" forName="image5" refType="h" fact="0.2136"/>
          <dgm:constr type="w" for="ch" forName="image5" refType="w" fact="0.1886"/>
          <dgm:constr type="h" for="ch" forName="image5" refType="h" fact="0.3757"/>
          <dgm:constr type="l" for="ch" forName="image2" refType="w" fact="0.4868"/>
          <dgm:constr type="t" for="ch" forName="image2" refType="h" fact="0.6235"/>
          <dgm:constr type="w" for="ch" forName="image2" refType="w" fact="0.1886"/>
          <dgm:constr type="h" for="ch" forName="image2" refType="h" fact="0.3757"/>
          <dgm:constr type="l" for="ch" forName="text4" refType="w" fact="0.4868"/>
          <dgm:constr type="t" for="ch" forName="text4" refType="h" fact="0.2081"/>
          <dgm:constr type="w" for="ch" forName="text4" refType="w" fact="0.1886"/>
          <dgm:constr type="h" for="ch" forName="text4" refType="h" fact="0.3757"/>
          <dgm:constr type="l" for="ch" forName="text2" refType="w" fact="0.3246"/>
          <dgm:constr type="t" for="ch" forName="text2" refType="h" fact="0.4154"/>
          <dgm:constr type="w" for="ch" forName="text2" refType="w" fact="0.1886"/>
          <dgm:constr type="h" for="ch" forName="text2" refType="h" fact="0.3757"/>
          <dgm:constr type="l" for="ch" forName="image3" refType="w" fact="0.3246"/>
          <dgm:constr type="t" for="ch" forName="image3" refType="h" fact="0"/>
          <dgm:constr type="w" for="ch" forName="image3" refType="w" fact="0.1886"/>
          <dgm:constr type="h" for="ch" forName="image3" refType="h" fact="0.3757"/>
          <dgm:constr type="l" for="ch" forName="text1" refType="w" fact="0.1623"/>
          <dgm:constr type="t" for="ch" forName="text1" refType="h" fact="0.6243"/>
          <dgm:constr type="w" for="ch" forName="text1" refType="w" fact="0.1886"/>
          <dgm:constr type="h" for="ch" forName="text1" refType="h" fact="0.3757"/>
          <dgm:constr type="l" for="ch" forName="text3" refType="w" fact="0.1623"/>
          <dgm:constr type="t" for="ch" forName="text3" refType="h" fact="0.2089"/>
          <dgm:constr type="w" for="ch" forName="text3" refType="w" fact="0.1886"/>
          <dgm:constr type="h" for="ch" forName="text3" refType="h" fact="0.3757"/>
          <dgm:constr type="l" for="ch" forName="textaccent1" refType="w" fact="0.1668"/>
          <dgm:constr type="t" for="ch" forName="textaccent1" refType="h" fact="0.7923"/>
          <dgm:constr type="w" for="ch" forName="textaccent1" refType="w" fact="0.022"/>
          <dgm:constr type="h" for="ch" forName="textaccent1" refType="h" fact="0.044"/>
          <dgm:constr type="l" for="ch" forName="image1" refType="w" fact="0"/>
          <dgm:constr type="t" for="ch" forName="image1" refType="h" fact="0.4166"/>
          <dgm:constr type="w" for="ch" forName="image1" refType="w" fact="0.1886"/>
          <dgm:constr type="h" for="ch" forName="image1" refType="h" fact="0.3757"/>
          <dgm:constr type="l" for="ch" forName="imageaccent1" refType="w" fact="0.1292"/>
          <dgm:constr type="t" for="ch" forName="imageaccent1" refType="h" fact="0.7424"/>
          <dgm:constr type="w" for="ch" forName="imageaccent1" refType="w" fact="0.022"/>
          <dgm:constr type="h" for="ch" forName="imageaccent1" refType="h" fact="0.044"/>
          <dgm:constr type="l" for="ch" forName="textaccent2" refType="w" fact="0.4544"/>
          <dgm:constr type="t" for="ch" forName="textaccent2" refType="h" fact="0.7404"/>
          <dgm:constr type="w" for="ch" forName="textaccent2" refType="w" fact="0.022"/>
          <dgm:constr type="h" for="ch" forName="textaccent2" refType="h" fact="0.044"/>
          <dgm:constr type="l" for="ch" forName="imageaccent2" refType="w" fact="0.4914"/>
          <dgm:constr type="t" for="ch" forName="imageaccent2" refType="h" fact="0.7907"/>
          <dgm:constr type="w" for="ch" forName="imageaccent2" refType="w" fact="0.022"/>
          <dgm:constr type="h" for="ch" forName="imageaccent2" refType="h" fact="0.044"/>
          <dgm:constr type="l" for="ch" forName="textaccent3" refType="w" fact="0.2915"/>
          <dgm:constr type="t" for="ch" forName="textaccent3" refType="h" fact="0.216"/>
          <dgm:constr type="w" for="ch" forName="textaccent3" refType="w" fact="0.022"/>
          <dgm:constr type="h" for="ch" forName="textaccent3" refType="h" fact="0.044"/>
          <dgm:constr type="l" for="ch" forName="imageaccent3" refType="w" fact="0.3299"/>
          <dgm:constr type="t" for="ch" forName="imageaccent3" refType="h" fact="0.1665"/>
          <dgm:constr type="w" for="ch" forName="imageaccent3" refType="w" fact="0.022"/>
          <dgm:constr type="h" for="ch" forName="imageaccent3" refType="h" fact="0.044"/>
          <dgm:constr type="l" for="ch" forName="textaccent4" refType="w" fact="0.65"/>
          <dgm:constr type="t" for="ch" forName="textaccent4" refType="h" fact="0.3746"/>
          <dgm:constr type="w" for="ch" forName="textaccent4" refType="w" fact="0.022"/>
          <dgm:constr type="h" for="ch" forName="textaccent4" refType="h" fact="0.044"/>
          <dgm:constr type="l" for="ch" forName="imageaccent4" refType="w" fact="0.6859"/>
          <dgm:constr type="t" for="ch" forName="imageaccent4" refType="h" fact="0.4261"/>
          <dgm:constr type="w" for="ch" forName="imageaccent4" refType="w" fact="0.022"/>
          <dgm:constr type="h" for="ch" forName="imageaccent4" refType="h" fact="0.044"/>
          <dgm:constr type="l" for="ch" forName="textaccent5" refType="w" fact="0.8123"/>
          <dgm:constr type="t" for="ch" forName="textaccent5" refType="h" fact="0.1724"/>
          <dgm:constr type="w" for="ch" forName="textaccent5" refType="w" fact="0.022"/>
          <dgm:constr type="h" for="ch" forName="textaccent5" refType="h" fact="0.044"/>
          <dgm:constr type="l" for="ch" forName="imageaccent5" refType="w" fact="0.849"/>
          <dgm:constr type="t" for="ch" forName="imageaccent5" refType="h" fact="0.222"/>
          <dgm:constr type="w" for="ch" forName="imageaccent5" refType="w" fact="0.022"/>
          <dgm:constr type="h" for="ch" forName="imageaccent5" refType="h" fact="0.044"/>
        </dgm:constrLst>
      </dgm:if>
      <dgm:if name="Name7" axis="ch" ptType="node" func="cnt" op="equ" val="6">
        <dgm:alg type="composite">
          <dgm:param type="ar" val="1.9179"/>
        </dgm:alg>
        <dgm:constrLst>
          <dgm:constr type="primFontSz" for="des" ptType="node" op="equ" val="65"/>
          <dgm:constr type="l" for="ch" forName="image4" refType="w" fact="0.6491"/>
          <dgm:constr type="t" for="ch" forName="image4" refType="h" fact="0.3466"/>
          <dgm:constr type="w" for="ch" forName="image4" refType="w" fact="0.1886"/>
          <dgm:constr type="h" for="ch" forName="image4" refType="h" fact="0.3106"/>
          <dgm:constr type="l" for="ch" forName="text5" refType="w" fact="0.6491"/>
          <dgm:constr type="t" for="ch" forName="text5" refType="h" fact="0.0033"/>
          <dgm:constr type="w" for="ch" forName="text5" refType="w" fact="0.1886"/>
          <dgm:constr type="h" for="ch" forName="text5" refType="h" fact="0.3106"/>
          <dgm:constr type="l" for="ch" forName="image5" refType="w" fact="0.8114"/>
          <dgm:constr type="t" for="ch" forName="image5" refType="h" fact="0.1766"/>
          <dgm:constr type="w" for="ch" forName="image5" refType="w" fact="0.1886"/>
          <dgm:constr type="h" for="ch" forName="image5" refType="h" fact="0.3106"/>
          <dgm:constr type="l" for="ch" forName="image2" refType="w" fact="0.4868"/>
          <dgm:constr type="t" for="ch" forName="image2" refType="h" fact="0.5154"/>
          <dgm:constr type="w" for="ch" forName="image2" refType="w" fact="0.1886"/>
          <dgm:constr type="h" for="ch" forName="image2" refType="h" fact="0.3106"/>
          <dgm:constr type="l" for="ch" forName="text4" refType="w" fact="0.4868"/>
          <dgm:constr type="t" for="ch" forName="text4" refType="h" fact="0.172"/>
          <dgm:constr type="w" for="ch" forName="text4" refType="w" fact="0.1886"/>
          <dgm:constr type="h" for="ch" forName="text4" refType="h" fact="0.3106"/>
          <dgm:constr type="l" for="ch" forName="text2" refType="w" fact="0.3246"/>
          <dgm:constr type="t" for="ch" forName="text2" refType="h" fact="0.3434"/>
          <dgm:constr type="w" for="ch" forName="text2" refType="w" fact="0.1886"/>
          <dgm:constr type="h" for="ch" forName="text2" refType="h" fact="0.3106"/>
          <dgm:constr type="l" for="ch" forName="image3" refType="w" fact="0.3246"/>
          <dgm:constr type="t" for="ch" forName="image3" refType="h" fact="0"/>
          <dgm:constr type="w" for="ch" forName="image3" refType="w" fact="0.1886"/>
          <dgm:constr type="h" for="ch" forName="image3" refType="h" fact="0.3106"/>
          <dgm:constr type="l" for="ch" forName="text1" refType="w" fact="0.1623"/>
          <dgm:constr type="t" for="ch" forName="text1" refType="h" fact="0.516"/>
          <dgm:constr type="w" for="ch" forName="text1" refType="w" fact="0.1886"/>
          <dgm:constr type="h" for="ch" forName="text1" refType="h" fact="0.3106"/>
          <dgm:constr type="l" for="ch" forName="text3" refType="w" fact="0.1623"/>
          <dgm:constr type="t" for="ch" forName="text3" refType="h" fact="0.1727"/>
          <dgm:constr type="w" for="ch" forName="text3" refType="w" fact="0.1886"/>
          <dgm:constr type="h" for="ch" forName="text3" refType="h" fact="0.3106"/>
          <dgm:constr type="l" for="ch" forName="textaccent1" refType="w" fact="0.1668"/>
          <dgm:constr type="t" for="ch" forName="textaccent1" refType="h" fact="0.6549"/>
          <dgm:constr type="w" for="ch" forName="textaccent1" refType="w" fact="0.022"/>
          <dgm:constr type="h" for="ch" forName="textaccent1" refType="h" fact="0.0364"/>
          <dgm:constr type="l" for="ch" forName="image1" refType="w" fact="0"/>
          <dgm:constr type="t" for="ch" forName="image1" refType="h" fact="0.3443"/>
          <dgm:constr type="w" for="ch" forName="image1" refType="w" fact="0.1886"/>
          <dgm:constr type="h" for="ch" forName="image1" refType="h" fact="0.3106"/>
          <dgm:constr type="l" for="ch" forName="imageaccent1" refType="w" fact="0.1292"/>
          <dgm:constr type="t" for="ch" forName="imageaccent1" refType="h" fact="0.6137"/>
          <dgm:constr type="w" for="ch" forName="imageaccent1" refType="w" fact="0.022"/>
          <dgm:constr type="h" for="ch" forName="imageaccent1" refType="h" fact="0.0364"/>
          <dgm:constr type="l" for="ch" forName="textaccent2" refType="w" fact="0.4544"/>
          <dgm:constr type="t" for="ch" forName="textaccent2" refType="h" fact="0.612"/>
          <dgm:constr type="w" for="ch" forName="textaccent2" refType="w" fact="0.022"/>
          <dgm:constr type="h" for="ch" forName="textaccent2" refType="h" fact="0.0364"/>
          <dgm:constr type="l" for="ch" forName="imageaccent2" refType="w" fact="0.4914"/>
          <dgm:constr type="t" for="ch" forName="imageaccent2" refType="h" fact="0.6536"/>
          <dgm:constr type="w" for="ch" forName="imageaccent2" refType="w" fact="0.022"/>
          <dgm:constr type="h" for="ch" forName="imageaccent2" refType="h" fact="0.0364"/>
          <dgm:constr type="l" for="ch" forName="textaccent3" refType="w" fact="0.2915"/>
          <dgm:constr type="t" for="ch" forName="textaccent3" refType="h" fact="0.1786"/>
          <dgm:constr type="w" for="ch" forName="textaccent3" refType="w" fact="0.022"/>
          <dgm:constr type="h" for="ch" forName="textaccent3" refType="h" fact="0.0364"/>
          <dgm:constr type="l" for="ch" forName="imageaccent3" refType="w" fact="0.3299"/>
          <dgm:constr type="t" for="ch" forName="imageaccent3" refType="h" fact="0.1376"/>
          <dgm:constr type="w" for="ch" forName="imageaccent3" refType="w" fact="0.022"/>
          <dgm:constr type="h" for="ch" forName="imageaccent3" refType="h" fact="0.0364"/>
          <dgm:constr type="l" for="ch" forName="textaccent4" refType="w" fact="0.65"/>
          <dgm:constr type="t" for="ch" forName="textaccent4" refType="h" fact="0.3096"/>
          <dgm:constr type="w" for="ch" forName="textaccent4" refType="w" fact="0.022"/>
          <dgm:constr type="h" for="ch" forName="textaccent4" refType="h" fact="0.0364"/>
          <dgm:constr type="l" for="ch" forName="imageaccent4" refType="w" fact="0.6859"/>
          <dgm:constr type="t" for="ch" forName="imageaccent4" refType="h" fact="0.3522"/>
          <dgm:constr type="w" for="ch" forName="imageaccent4" refType="w" fact="0.022"/>
          <dgm:constr type="h" for="ch" forName="imageaccent4" refType="h" fact="0.0364"/>
          <dgm:constr type="l" for="ch" forName="textaccent5" refType="w" fact="0.8123"/>
          <dgm:constr type="t" for="ch" forName="textaccent5" refType="h" fact="0.1425"/>
          <dgm:constr type="w" for="ch" forName="textaccent5" refType="w" fact="0.022"/>
          <dgm:constr type="h" for="ch" forName="textaccent5" refType="h" fact="0.0364"/>
          <dgm:constr type="l" for="ch" forName="imageaccent5" refType="w" fact="0.849"/>
          <dgm:constr type="t" for="ch" forName="imageaccent5" refType="h" fact="0.1835"/>
          <dgm:constr type="w" for="ch" forName="imageaccent5" refType="w" fact="0.022"/>
          <dgm:constr type="h" for="ch" forName="imageaccent5" refType="h" fact="0.0364"/>
          <dgm:constr type="l" for="ch" forName="image6" refType="w" fact="0.6491"/>
          <dgm:constr type="t" for="ch" forName="image6" refType="h" fact="0.6894"/>
          <dgm:constr type="w" for="ch" forName="image6" refType="w" fact="0.1886"/>
          <dgm:constr type="h" for="ch" forName="image6" refType="h" fact="0.3106"/>
          <dgm:constr type="l" for="ch" forName="text6" refType="w" fact="0.8114"/>
          <dgm:constr type="t" for="ch" forName="text6" refType="h" fact="0.5194"/>
          <dgm:constr type="w" for="ch" forName="text6" refType="w" fact="0.1886"/>
          <dgm:constr type="h" for="ch" forName="text6" refType="h" fact="0.3106"/>
          <dgm:constr type="l" for="ch" forName="imageaccent6" refType="w" fact="0.8138"/>
          <dgm:constr type="t" for="ch" forName="imageaccent6" refType="h" fact="0.8257"/>
          <dgm:constr type="w" for="ch" forName="imageaccent6" refType="w" fact="0.022"/>
          <dgm:constr type="h" for="ch" forName="imageaccent6" refType="h" fact="0.0364"/>
          <dgm:constr type="l" for="ch" forName="textaccent6" refType="w" fact="0.8488"/>
          <dgm:constr type="t" for="ch" forName="textaccent6" refType="h" fact="0.7914"/>
          <dgm:constr type="w" for="ch" forName="textaccent6" refType="w" fact="0.022"/>
          <dgm:constr type="h" for="ch" forName="textaccent6" refType="h" fact="0.0364"/>
        </dgm:constrLst>
      </dgm:if>
      <dgm:if name="Name8" axis="ch" ptType="node" func="cnt" op="equ" val="7">
        <dgm:alg type="composite">
          <dgm:param type="ar" val="1.6382"/>
        </dgm:alg>
        <dgm:constrLst>
          <dgm:constr type="primFontSz" for="des" ptType="node" op="equ" val="65"/>
          <dgm:constr type="l" for="ch" forName="image4" refType="w" fact="0.6491"/>
          <dgm:constr type="t" for="ch" forName="image4" refType="h" fact="0.2961"/>
          <dgm:constr type="w" for="ch" forName="image4" refType="w" fact="0.1886"/>
          <dgm:constr type="h" for="ch" forName="image4" refType="h" fact="0.2653"/>
          <dgm:constr type="l" for="ch" forName="text5" refType="w" fact="0.6491"/>
          <dgm:constr type="t" for="ch" forName="text5" refType="h" fact="0.0028"/>
          <dgm:constr type="w" for="ch" forName="text5" refType="w" fact="0.1886"/>
          <dgm:constr type="h" for="ch" forName="text5" refType="h" fact="0.2653"/>
          <dgm:constr type="l" for="ch" forName="image5" refType="w" fact="0.8114"/>
          <dgm:constr type="t" for="ch" forName="image5" refType="h" fact="0.1508"/>
          <dgm:constr type="w" for="ch" forName="image5" refType="w" fact="0.1886"/>
          <dgm:constr type="h" for="ch" forName="image5" refType="h" fact="0.2653"/>
          <dgm:constr type="l" for="ch" forName="image2" refType="w" fact="0.4868"/>
          <dgm:constr type="t" for="ch" forName="image2" refType="h" fact="0.4402"/>
          <dgm:constr type="w" for="ch" forName="image2" refType="w" fact="0.1886"/>
          <dgm:constr type="h" for="ch" forName="image2" refType="h" fact="0.2653"/>
          <dgm:constr type="l" for="ch" forName="text4" refType="w" fact="0.4868"/>
          <dgm:constr type="t" for="ch" forName="text4" refType="h" fact="0.1469"/>
          <dgm:constr type="w" for="ch" forName="text4" refType="w" fact="0.1886"/>
          <dgm:constr type="h" for="ch" forName="text4" refType="h" fact="0.2653"/>
          <dgm:constr type="l" for="ch" forName="text2" refType="w" fact="0.3246"/>
          <dgm:constr type="t" for="ch" forName="text2" refType="h" fact="0.2933"/>
          <dgm:constr type="w" for="ch" forName="text2" refType="w" fact="0.1886"/>
          <dgm:constr type="h" for="ch" forName="text2" refType="h" fact="0.2653"/>
          <dgm:constr type="l" for="ch" forName="image3" refType="w" fact="0.3246"/>
          <dgm:constr type="t" for="ch" forName="image3" refType="h" fact="0"/>
          <dgm:constr type="w" for="ch" forName="image3" refType="w" fact="0.1886"/>
          <dgm:constr type="h" for="ch" forName="image3" refType="h" fact="0.2653"/>
          <dgm:constr type="l" for="ch" forName="text1" refType="w" fact="0.1623"/>
          <dgm:constr type="t" for="ch" forName="text1" refType="h" fact="0.4408"/>
          <dgm:constr type="w" for="ch" forName="text1" refType="w" fact="0.1886"/>
          <dgm:constr type="h" for="ch" forName="text1" refType="h" fact="0.2653"/>
          <dgm:constr type="l" for="ch" forName="text3" refType="w" fact="0.1623"/>
          <dgm:constr type="t" for="ch" forName="text3" refType="h" fact="0.1475"/>
          <dgm:constr type="w" for="ch" forName="text3" refType="w" fact="0.1886"/>
          <dgm:constr type="h" for="ch" forName="text3" refType="h" fact="0.2653"/>
          <dgm:constr type="l" for="ch" forName="textaccent1" refType="w" fact="0.1668"/>
          <dgm:constr type="t" for="ch" forName="textaccent1" refType="h" fact="0.5594"/>
          <dgm:constr type="w" for="ch" forName="textaccent1" refType="w" fact="0.022"/>
          <dgm:constr type="h" for="ch" forName="textaccent1" refType="h" fact="0.0311"/>
          <dgm:constr type="l" for="ch" forName="image1" refType="w" fact="0"/>
          <dgm:constr type="t" for="ch" forName="image1" refType="h" fact="0.2941"/>
          <dgm:constr type="w" for="ch" forName="image1" refType="w" fact="0.1886"/>
          <dgm:constr type="h" for="ch" forName="image1" refType="h" fact="0.2653"/>
          <dgm:constr type="l" for="ch" forName="imageaccent1" refType="w" fact="0.1292"/>
          <dgm:constr type="t" for="ch" forName="imageaccent1" refType="h" fact="0.5242"/>
          <dgm:constr type="w" for="ch" forName="imageaccent1" refType="w" fact="0.022"/>
          <dgm:constr type="h" for="ch" forName="imageaccent1" refType="h" fact="0.0311"/>
          <dgm:constr type="l" for="ch" forName="textaccent2" refType="w" fact="0.4544"/>
          <dgm:constr type="t" for="ch" forName="textaccent2" refType="h" fact="0.5228"/>
          <dgm:constr type="w" for="ch" forName="textaccent2" refType="w" fact="0.022"/>
          <dgm:constr type="h" for="ch" forName="textaccent2" refType="h" fact="0.0311"/>
          <dgm:constr type="l" for="ch" forName="imageaccent2" refType="w" fact="0.4914"/>
          <dgm:constr type="t" for="ch" forName="imageaccent2" refType="h" fact="0.5583"/>
          <dgm:constr type="w" for="ch" forName="imageaccent2" refType="w" fact="0.022"/>
          <dgm:constr type="h" for="ch" forName="imageaccent2" refType="h" fact="0.0311"/>
          <dgm:constr type="l" for="ch" forName="textaccent3" refType="w" fact="0.2907"/>
          <dgm:constr type="t" for="ch" forName="textaccent3" refType="h" fact="0.1511"/>
          <dgm:constr type="w" for="ch" forName="textaccent3" refType="w" fact="0.022"/>
          <dgm:constr type="h" for="ch" forName="textaccent3" refType="h" fact="0.0311"/>
          <dgm:constr type="l" for="ch" forName="imageaccent3" refType="w" fact="0.3299"/>
          <dgm:constr type="t" for="ch" forName="imageaccent3" refType="h" fact="0.1175"/>
          <dgm:constr type="w" for="ch" forName="imageaccent3" refType="w" fact="0.022"/>
          <dgm:constr type="h" for="ch" forName="imageaccent3" refType="h" fact="0.0311"/>
          <dgm:constr type="l" for="ch" forName="textaccent4" refType="w" fact="0.65"/>
          <dgm:constr type="t" for="ch" forName="textaccent4" refType="h" fact="0.2645"/>
          <dgm:constr type="w" for="ch" forName="textaccent4" refType="w" fact="0.022"/>
          <dgm:constr type="h" for="ch" forName="textaccent4" refType="h" fact="0.0311"/>
          <dgm:constr type="l" for="ch" forName="imageaccent4" refType="w" fact="0.6859"/>
          <dgm:constr type="t" for="ch" forName="imageaccent4" refType="h" fact="0.3008"/>
          <dgm:constr type="w" for="ch" forName="imageaccent4" refType="w" fact="0.022"/>
          <dgm:constr type="h" for="ch" forName="imageaccent4" refType="h" fact="0.0311"/>
          <dgm:constr type="l" for="ch" forName="textaccent5" refType="w" fact="0.8123"/>
          <dgm:constr type="t" for="ch" forName="textaccent5" refType="h" fact="0.1217"/>
          <dgm:constr type="w" for="ch" forName="textaccent5" refType="w" fact="0.022"/>
          <dgm:constr type="h" for="ch" forName="textaccent5" refType="h" fact="0.0311"/>
          <dgm:constr type="l" for="ch" forName="imageaccent5" refType="w" fact="0.849"/>
          <dgm:constr type="t" for="ch" forName="imageaccent5" refType="h" fact="0.1567"/>
          <dgm:constr type="w" for="ch" forName="imageaccent5" refType="w" fact="0.022"/>
          <dgm:constr type="h" for="ch" forName="imageaccent5" refType="h" fact="0.0311"/>
          <dgm:constr type="l" for="ch" forName="image6" refType="w" fact="0.6491"/>
          <dgm:constr type="t" for="ch" forName="image6" refType="h" fact="0.5889"/>
          <dgm:constr type="w" for="ch" forName="image6" refType="w" fact="0.1886"/>
          <dgm:constr type="h" for="ch" forName="image6" refType="h" fact="0.2653"/>
          <dgm:constr type="l" for="ch" forName="text6" refType="w" fact="0.8114"/>
          <dgm:constr type="t" for="ch" forName="text6" refType="h" fact="0.4436"/>
          <dgm:constr type="w" for="ch" forName="text6" refType="w" fact="0.1886"/>
          <dgm:constr type="h" for="ch" forName="text6" refType="h" fact="0.2653"/>
          <dgm:constr type="l" for="ch" forName="imageaccent6" refType="w" fact="0.8138"/>
          <dgm:constr type="t" for="ch" forName="imageaccent6" refType="h" fact="0.7053"/>
          <dgm:constr type="w" for="ch" forName="imageaccent6" refType="w" fact="0.022"/>
          <dgm:constr type="h" for="ch" forName="imageaccent6" refType="h" fact="0.0311"/>
          <dgm:constr type="l" for="ch" forName="textaccent6" refType="w" fact="0.8488"/>
          <dgm:constr type="t" for="ch" forName="textaccent6" refType="h" fact="0.676"/>
          <dgm:constr type="w" for="ch" forName="textaccent6" refType="w" fact="0.022"/>
          <dgm:constr type="h" for="ch" forName="textaccent6" refType="h" fact="0.0311"/>
          <dgm:constr type="l" for="ch" forName="text7" refType="w" fact="0.3244"/>
          <dgm:constr type="t" for="ch" forName="text7" refType="h" fact="0.5872"/>
          <dgm:constr type="w" for="ch" forName="text7" refType="w" fact="0.1886"/>
          <dgm:constr type="h" for="ch" forName="text7" refType="h" fact="0.2653"/>
          <dgm:constr type="l" for="ch" forName="image7" refType="w" fact="0.1622"/>
          <dgm:constr type="t" for="ch" forName="image7" refType="h" fact="0.7347"/>
          <dgm:constr type="w" for="ch" forName="image7" refType="w" fact="0.1886"/>
          <dgm:constr type="h" for="ch" forName="image7" refType="h" fact="0.2653"/>
          <dgm:constr type="l" for="ch" forName="imageaccent7" refType="w" fact="0.2905"/>
          <dgm:constr type="t" for="ch" forName="imageaccent7" refType="h" fact="0.7384"/>
          <dgm:constr type="w" for="ch" forName="imageaccent7" refType="w" fact="0.022"/>
          <dgm:constr type="h" for="ch" forName="imageaccent7" refType="h" fact="0.0311"/>
          <dgm:constr type="l" for="ch" forName="textaccent7" refType="w" fact="0.3298"/>
          <dgm:constr type="t" for="ch" forName="textaccent7" refType="h" fact="0.7048"/>
          <dgm:constr type="w" for="ch" forName="textaccent7" refType="w" fact="0.022"/>
          <dgm:constr type="h" for="ch" forName="textaccent7" refType="h" fact="0.0311"/>
        </dgm:constrLst>
      </dgm:if>
      <dgm:if name="Name9" axis="ch" ptType="node" func="cnt" op="equ" val="8">
        <dgm:alg type="composite">
          <dgm:param type="ar" val="1.8974"/>
        </dgm:alg>
        <dgm:constrLst>
          <dgm:constr type="primFontSz" for="des" ptType="node" op="equ" val="65"/>
          <dgm:constr type="l" for="ch" forName="image4" refType="w" fact="0.5589"/>
          <dgm:constr type="t" for="ch" forName="image4" refType="h" fact="0.2952"/>
          <dgm:constr type="w" for="ch" forName="image4" refType="w" fact="0.1624"/>
          <dgm:constr type="h" for="ch" forName="image4" refType="h" fact="0.2645"/>
          <dgm:constr type="l" for="ch" forName="text5" refType="w" fact="0.5589"/>
          <dgm:constr type="t" for="ch" forName="text5" refType="h" fact="0.0028"/>
          <dgm:constr type="w" for="ch" forName="text5" refType="w" fact="0.1624"/>
          <dgm:constr type="h" for="ch" forName="text5" refType="h" fact="0.2645"/>
          <dgm:constr type="l" for="ch" forName="image5" refType="w" fact="0.6986"/>
          <dgm:constr type="t" for="ch" forName="image5" refType="h" fact="0.1504"/>
          <dgm:constr type="w" for="ch" forName="image5" refType="w" fact="0.1624"/>
          <dgm:constr type="h" for="ch" forName="image5" refType="h" fact="0.2645"/>
          <dgm:constr type="l" for="ch" forName="image2" refType="w" fact="0.4192"/>
          <dgm:constr type="t" for="ch" forName="image2" refType="h" fact="0.439"/>
          <dgm:constr type="w" for="ch" forName="image2" refType="w" fact="0.1624"/>
          <dgm:constr type="h" for="ch" forName="image2" refType="h" fact="0.2645"/>
          <dgm:constr type="l" for="ch" forName="text4" refType="w" fact="0.4192"/>
          <dgm:constr type="t" for="ch" forName="text4" refType="h" fact="0.1465"/>
          <dgm:constr type="w" for="ch" forName="text4" refType="w" fact="0.1624"/>
          <dgm:constr type="h" for="ch" forName="text4" refType="h" fact="0.2645"/>
          <dgm:constr type="l" for="ch" forName="text2" refType="w" fact="0.2794"/>
          <dgm:constr type="t" for="ch" forName="text2" refType="h" fact="0.2925"/>
          <dgm:constr type="w" for="ch" forName="text2" refType="w" fact="0.1624"/>
          <dgm:constr type="h" for="ch" forName="text2" refType="h" fact="0.2645"/>
          <dgm:constr type="l" for="ch" forName="image3" refType="w" fact="0.2794"/>
          <dgm:constr type="t" for="ch" forName="image3" refType="h" fact="0"/>
          <dgm:constr type="w" for="ch" forName="image3" refType="w" fact="0.1624"/>
          <dgm:constr type="h" for="ch" forName="image3" refType="h" fact="0.2645"/>
          <dgm:constr type="l" for="ch" forName="text1" refType="w" fact="0.1397"/>
          <dgm:constr type="t" for="ch" forName="text1" refType="h" fact="0.4395"/>
          <dgm:constr type="w" for="ch" forName="text1" refType="w" fact="0.1624"/>
          <dgm:constr type="h" for="ch" forName="text1" refType="h" fact="0.2645"/>
          <dgm:constr type="l" for="ch" forName="text3" refType="w" fact="0.1397"/>
          <dgm:constr type="t" for="ch" forName="text3" refType="h" fact="0.1471"/>
          <dgm:constr type="w" for="ch" forName="text3" refType="w" fact="0.1624"/>
          <dgm:constr type="h" for="ch" forName="text3" refType="h" fact="0.2645"/>
          <dgm:constr type="l" for="ch" forName="textaccent1" refType="w" fact="0.1436"/>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4"/>
          <dgm:constr type="h" for="ch" forName="image1" refType="h" fact="0.2645"/>
          <dgm:constr type="l" for="ch" forName="imageaccent1" refType="w" fact="0.1112"/>
          <dgm:constr type="t" for="ch" forName="imageaccent1" refType="h" fact="0.5227"/>
          <dgm:constr type="w" for="ch" forName="imageaccent1" refType="w" fact="0.0189"/>
          <dgm:constr type="h" for="ch" forName="imageaccent1" refType="h" fact="0.031"/>
          <dgm:constr type="l" for="ch" forName="textaccent2" refType="w" fact="0.3912"/>
          <dgm:constr type="t" for="ch" forName="textaccent2" refType="h" fact="0.5213"/>
          <dgm:constr type="w" for="ch" forName="textaccent2" refType="w" fact="0.0189"/>
          <dgm:constr type="h" for="ch" forName="textaccent2" refType="h" fact="0.031"/>
          <dgm:constr type="l" for="ch" forName="imageaccent2" refType="w" fact="0.4231"/>
          <dgm:constr type="t" for="ch" forName="imageaccent2" refType="h" fact="0.5567"/>
          <dgm:constr type="w" for="ch" forName="imageaccent2" refType="w" fact="0.0189"/>
          <dgm:constr type="h" for="ch" forName="imageaccent2" refType="h" fact="0.031"/>
          <dgm:constr type="l" for="ch" forName="textaccent3" refType="w" fact="0.2502"/>
          <dgm:constr type="t" for="ch" forName="textaccent3" refType="h" fact="0.1507"/>
          <dgm:constr type="w" for="ch" forName="textaccent3" refType="w" fact="0.0189"/>
          <dgm:constr type="h" for="ch" forName="textaccent3" refType="h" fact="0.031"/>
          <dgm:constr type="l" for="ch" forName="imageaccent3" refType="w" fact="0.2841"/>
          <dgm:constr type="t" for="ch" forName="imageaccent3" refType="h" fact="0.1172"/>
          <dgm:constr type="w" for="ch" forName="imageaccent3" refType="w" fact="0.0189"/>
          <dgm:constr type="h" for="ch" forName="imageaccent3" refType="h" fact="0.031"/>
          <dgm:constr type="l" for="ch" forName="textaccent4" refType="w" fact="0.5596"/>
          <dgm:constr type="t" for="ch" forName="textaccent4" refType="h" fact="0.2637"/>
          <dgm:constr type="w" for="ch" forName="textaccent4" refType="w" fact="0.0189"/>
          <dgm:constr type="h" for="ch" forName="textaccent4" refType="h" fact="0.031"/>
          <dgm:constr type="l" for="ch" forName="imageaccent4" refType="w" fact="0.5905"/>
          <dgm:constr type="t" for="ch" forName="imageaccent4" refType="h" fact="0.3"/>
          <dgm:constr type="w" for="ch" forName="imageaccent4" refType="w" fact="0.0189"/>
          <dgm:constr type="h" for="ch" forName="imageaccent4" refType="h" fact="0.031"/>
          <dgm:constr type="l" for="ch" forName="textaccent5" refType="w" fact="0.6993"/>
          <dgm:constr type="t" for="ch" forName="textaccent5" refType="h" fact="0.1214"/>
          <dgm:constr type="w" for="ch" forName="textaccent5" refType="w" fact="0.0189"/>
          <dgm:constr type="h" for="ch" forName="textaccent5" refType="h" fact="0.031"/>
          <dgm:constr type="l" for="ch" forName="imageaccent5" refType="w" fact="0.731"/>
          <dgm:constr type="t" for="ch" forName="imageaccent5" refType="h" fact="0.1563"/>
          <dgm:constr type="w" for="ch" forName="imageaccent5" refType="w" fact="0.0189"/>
          <dgm:constr type="h" for="ch" forName="imageaccent5" refType="h" fact="0.031"/>
          <dgm:constr type="l" for="ch" forName="image6" refType="w" fact="0.5589"/>
          <dgm:constr type="t" for="ch" forName="image6" refType="h" fact="0.5872"/>
          <dgm:constr type="w" for="ch" forName="image6" refType="w" fact="0.1624"/>
          <dgm:constr type="h" for="ch" forName="image6" refType="h" fact="0.2645"/>
          <dgm:constr type="l" for="ch" forName="text6" refType="w" fact="0.6986"/>
          <dgm:constr type="t" for="ch" forName="text6" refType="h" fact="0.4424"/>
          <dgm:constr type="w" for="ch" forName="text6" refType="w" fact="0.1624"/>
          <dgm:constr type="h" for="ch" forName="text6" refType="h" fact="0.2645"/>
          <dgm:constr type="l" for="ch" forName="imageaccent6" refType="w" fact="0.7007"/>
          <dgm:constr type="t" for="ch" forName="imageaccent6" refType="h" fact="0.7033"/>
          <dgm:constr type="w" for="ch" forName="imageaccent6" refType="w" fact="0.0189"/>
          <dgm:constr type="h" for="ch" forName="imageaccent6" refType="h" fact="0.031"/>
          <dgm:constr type="l" for="ch" forName="textaccent6" refType="w" fact="0.7308"/>
          <dgm:constr type="t" for="ch" forName="textaccent6" refType="h" fact="0.6741"/>
          <dgm:constr type="w" for="ch" forName="textaccent6" refType="w" fact="0.0189"/>
          <dgm:constr type="h" for="ch" forName="textaccent6" refType="h" fact="0.031"/>
          <dgm:constr type="l" for="ch" forName="text7" refType="w" fact="0.2793"/>
          <dgm:constr type="t" for="ch" forName="text7" refType="h" fact="0.5856"/>
          <dgm:constr type="w" for="ch" forName="text7" refType="w" fact="0.1624"/>
          <dgm:constr type="h" for="ch" forName="text7" refType="h" fact="0.2645"/>
          <dgm:constr type="l" for="ch" forName="image7" refType="w" fact="0.1396"/>
          <dgm:constr type="t" for="ch" forName="image7" refType="h" fact="0.7326"/>
          <dgm:constr type="w" for="ch" forName="image7" refType="w" fact="0.1624"/>
          <dgm:constr type="h" for="ch" forName="image7" refType="h" fact="0.2645"/>
          <dgm:constr type="l" for="ch" forName="imageaccent7" refType="w" fact="0.2501"/>
          <dgm:constr type="t" for="ch" forName="imageaccent7" refType="h" fact="0.7363"/>
          <dgm:constr type="w" for="ch" forName="imageaccent7" refType="w" fact="0.0189"/>
          <dgm:constr type="h" for="ch" forName="imageaccent7" refType="h" fact="0.031"/>
          <dgm:constr type="l" for="ch" forName="textaccent7" refType="w" fact="0.284"/>
          <dgm:constr type="t" for="ch" forName="textaccent7" refType="h" fact="0.7028"/>
          <dgm:constr type="w" for="ch" forName="textaccent7" refType="w" fact="0.0189"/>
          <dgm:constr type="h" for="ch" forName="textaccent7" refType="h" fact="0.031"/>
          <dgm:constr type="l" for="ch" forName="image8" refType="w" fact="0.6979"/>
          <dgm:constr type="t" for="ch" forName="image8" refType="h" fact="0.7355"/>
          <dgm:constr type="w" for="ch" forName="image8" refType="w" fact="0.1624"/>
          <dgm:constr type="h" for="ch" forName="image8" refType="h" fact="0.2645"/>
          <dgm:constr type="l" for="ch" forName="text8" refType="w" fact="0.8376"/>
          <dgm:constr type="t" for="ch" forName="text8" refType="h" fact="0.5906"/>
          <dgm:constr type="w" for="ch" forName="text8" refType="w" fact="0.1624"/>
          <dgm:constr type="h" for="ch" forName="text8" refType="h" fact="0.2645"/>
          <dgm:constr type="l" for="ch" forName="imageaccent8" refType="w" fact="0.8397"/>
          <dgm:constr type="t" for="ch" forName="imageaccent8" refType="h" fact="0.8516"/>
          <dgm:constr type="w" for="ch" forName="imageaccent8" refType="w" fact="0.0189"/>
          <dgm:constr type="h" for="ch" forName="imageaccent8" refType="h" fact="0.031"/>
          <dgm:constr type="l" for="ch" forName="textaccent8" refType="w" fact="0.8698"/>
          <dgm:constr type="t" for="ch" forName="textaccent8" refType="h" fact="0.8223"/>
          <dgm:constr type="w" for="ch" forName="textaccent8" refType="w" fact="0.0189"/>
          <dgm:constr type="h" for="ch" forName="textaccent8" refType="h" fact="0.031"/>
        </dgm:constrLst>
      </dgm:if>
      <dgm:if name="Name10" axis="ch" ptType="node" func="cnt" op="equ" val="9">
        <dgm:alg type="composite">
          <dgm:param type="ar" val="1.8986"/>
        </dgm:alg>
        <dgm:constrLst>
          <dgm:constr type="primFontSz" for="des" ptType="node" op="equ" val="65"/>
          <dgm:constr type="l" for="ch" forName="image4" refType="w" fact="0.5585"/>
          <dgm:constr type="t" for="ch" forName="image4" refType="h" fact="0.2952"/>
          <dgm:constr type="w" for="ch" forName="image4" refType="w" fact="0.1623"/>
          <dgm:constr type="h" for="ch" forName="image4" refType="h" fact="0.2645"/>
          <dgm:constr type="l" for="ch" forName="text5" refType="w" fact="0.5585"/>
          <dgm:constr type="t" for="ch" forName="text5" refType="h" fact="0.0028"/>
          <dgm:constr type="w" for="ch" forName="text5" refType="w" fact="0.1623"/>
          <dgm:constr type="h" for="ch" forName="text5" refType="h" fact="0.2645"/>
          <dgm:constr type="l" for="ch" forName="image5" refType="w" fact="0.6982"/>
          <dgm:constr type="t" for="ch" forName="image5" refType="h" fact="0.1504"/>
          <dgm:constr type="w" for="ch" forName="image5" refType="w" fact="0.1623"/>
          <dgm:constr type="h" for="ch" forName="image5" refType="h" fact="0.2645"/>
          <dgm:constr type="l" for="ch" forName="image2" refType="w" fact="0.4189"/>
          <dgm:constr type="t" for="ch" forName="image2" refType="h" fact="0.439"/>
          <dgm:constr type="w" for="ch" forName="image2" refType="w" fact="0.1623"/>
          <dgm:constr type="h" for="ch" forName="image2" refType="h" fact="0.2645"/>
          <dgm:constr type="l" for="ch" forName="text4" refType="w" fact="0.4189"/>
          <dgm:constr type="t" for="ch" forName="text4" refType="h" fact="0.1465"/>
          <dgm:constr type="w" for="ch" forName="text4" refType="w" fact="0.1623"/>
          <dgm:constr type="h" for="ch" forName="text4" refType="h" fact="0.2645"/>
          <dgm:constr type="l" for="ch" forName="text2" refType="w" fact="0.2793"/>
          <dgm:constr type="t" for="ch" forName="text2" refType="h" fact="0.2925"/>
          <dgm:constr type="w" for="ch" forName="text2" refType="w" fact="0.1623"/>
          <dgm:constr type="h" for="ch" forName="text2" refType="h" fact="0.2645"/>
          <dgm:constr type="l" for="ch" forName="image3" refType="w" fact="0.2793"/>
          <dgm:constr type="t" for="ch" forName="image3" refType="h" fact="0"/>
          <dgm:constr type="w" for="ch" forName="image3" refType="w" fact="0.1623"/>
          <dgm:constr type="h" for="ch" forName="image3" refType="h" fact="0.2645"/>
          <dgm:constr type="l" for="ch" forName="text1" refType="w" fact="0.1396"/>
          <dgm:constr type="t" for="ch" forName="text1" refType="h" fact="0.4395"/>
          <dgm:constr type="w" for="ch" forName="text1" refType="w" fact="0.1623"/>
          <dgm:constr type="h" for="ch" forName="text1" refType="h" fact="0.2645"/>
          <dgm:constr type="l" for="ch" forName="text3" refType="w" fact="0.1396"/>
          <dgm:constr type="t" for="ch" forName="text3" refType="h" fact="0.1471"/>
          <dgm:constr type="w" for="ch" forName="text3" refType="w" fact="0.1623"/>
          <dgm:constr type="h" for="ch" forName="text3" refType="h" fact="0.2645"/>
          <dgm:constr type="l" for="ch" forName="textaccent1" refType="w" fact="0.1435"/>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3"/>
          <dgm:constr type="h" for="ch" forName="image1" refType="h" fact="0.2645"/>
          <dgm:constr type="l" for="ch" forName="imageaccent1" refType="w" fact="0.1111"/>
          <dgm:constr type="t" for="ch" forName="imageaccent1" refType="h" fact="0.5227"/>
          <dgm:constr type="w" for="ch" forName="imageaccent1" refType="w" fact="0.0189"/>
          <dgm:constr type="h" for="ch" forName="imageaccent1" refType="h" fact="0.031"/>
          <dgm:constr type="l" for="ch" forName="textaccent2" refType="w" fact="0.391"/>
          <dgm:constr type="t" for="ch" forName="textaccent2" refType="h" fact="0.5213"/>
          <dgm:constr type="w" for="ch" forName="textaccent2" refType="w" fact="0.0189"/>
          <dgm:constr type="h" for="ch" forName="textaccent2" refType="h" fact="0.031"/>
          <dgm:constr type="l" for="ch" forName="imageaccent2" refType="w" fact="0.4228"/>
          <dgm:constr type="t" for="ch" forName="imageaccent2" refType="h" fact="0.5567"/>
          <dgm:constr type="w" for="ch" forName="imageaccent2" refType="w" fact="0.0189"/>
          <dgm:constr type="h" for="ch" forName="imageaccent2" refType="h" fact="0.031"/>
          <dgm:constr type="l" for="ch" forName="textaccent3" refType="w" fact="0.2501"/>
          <dgm:constr type="t" for="ch" forName="textaccent3" refType="h" fact="0.1507"/>
          <dgm:constr type="w" for="ch" forName="textaccent3" refType="w" fact="0.0189"/>
          <dgm:constr type="h" for="ch" forName="textaccent3" refType="h" fact="0.031"/>
          <dgm:constr type="l" for="ch" forName="imageaccent3" refType="w" fact="0.2839"/>
          <dgm:constr type="t" for="ch" forName="imageaccent3" refType="h" fact="0.1172"/>
          <dgm:constr type="w" for="ch" forName="imageaccent3" refType="w" fact="0.0189"/>
          <dgm:constr type="h" for="ch" forName="imageaccent3" refType="h" fact="0.031"/>
          <dgm:constr type="l" for="ch" forName="textaccent4" refType="w" fact="0.5593"/>
          <dgm:constr type="t" for="ch" forName="textaccent4" refType="h" fact="0.2637"/>
          <dgm:constr type="w" for="ch" forName="textaccent4" refType="w" fact="0.0189"/>
          <dgm:constr type="h" for="ch" forName="textaccent4" refType="h" fact="0.031"/>
          <dgm:constr type="l" for="ch" forName="imageaccent4" refType="w" fact="0.5901"/>
          <dgm:constr type="t" for="ch" forName="imageaccent4" refType="h" fact="0.3"/>
          <dgm:constr type="w" for="ch" forName="imageaccent4" refType="w" fact="0.0189"/>
          <dgm:constr type="h" for="ch" forName="imageaccent4" refType="h" fact="0.031"/>
          <dgm:constr type="l" for="ch" forName="textaccent5" refType="w" fact="0.6989"/>
          <dgm:constr type="t" for="ch" forName="textaccent5" refType="h" fact="0.1214"/>
          <dgm:constr type="w" for="ch" forName="textaccent5" refType="w" fact="0.0189"/>
          <dgm:constr type="h" for="ch" forName="textaccent5" refType="h" fact="0.031"/>
          <dgm:constr type="l" for="ch" forName="imageaccent5" refType="w" fact="0.7305"/>
          <dgm:constr type="t" for="ch" forName="imageaccent5" refType="h" fact="0.1563"/>
          <dgm:constr type="w" for="ch" forName="imageaccent5" refType="w" fact="0.0189"/>
          <dgm:constr type="h" for="ch" forName="imageaccent5" refType="h" fact="0.031"/>
          <dgm:constr type="l" for="ch" forName="image6" refType="w" fact="0.5585"/>
          <dgm:constr type="t" for="ch" forName="image6" refType="h" fact="0.5872"/>
          <dgm:constr type="w" for="ch" forName="image6" refType="w" fact="0.1623"/>
          <dgm:constr type="h" for="ch" forName="image6" refType="h" fact="0.2645"/>
          <dgm:constr type="l" for="ch" forName="text6" refType="w" fact="0.6982"/>
          <dgm:constr type="t" for="ch" forName="text6" refType="h" fact="0.4424"/>
          <dgm:constr type="w" for="ch" forName="text6" refType="w" fact="0.1623"/>
          <dgm:constr type="h" for="ch" forName="text6" refType="h" fact="0.2645"/>
          <dgm:constr type="l" for="ch" forName="imageaccent6" refType="w" fact="0.7002"/>
          <dgm:constr type="t" for="ch" forName="imageaccent6" refType="h" fact="0.7033"/>
          <dgm:constr type="w" for="ch" forName="imageaccent6" refType="w" fact="0.0189"/>
          <dgm:constr type="h" for="ch" forName="imageaccent6" refType="h" fact="0.031"/>
          <dgm:constr type="l" for="ch" forName="textaccent6" refType="w" fact="0.7303"/>
          <dgm:constr type="t" for="ch" forName="textaccent6" refType="h" fact="0.6741"/>
          <dgm:constr type="w" for="ch" forName="textaccent6" refType="w" fact="0.0189"/>
          <dgm:constr type="h" for="ch" forName="textaccent6" refType="h" fact="0.031"/>
          <dgm:constr type="l" for="ch" forName="text7" refType="w" fact="0.2792"/>
          <dgm:constr type="t" for="ch" forName="text7" refType="h" fact="0.5856"/>
          <dgm:constr type="w" for="ch" forName="text7" refType="w" fact="0.1623"/>
          <dgm:constr type="h" for="ch" forName="text7" refType="h" fact="0.2645"/>
          <dgm:constr type="l" for="ch" forName="image7" refType="w" fact="0.1395"/>
          <dgm:constr type="t" for="ch" forName="image7" refType="h" fact="0.7326"/>
          <dgm:constr type="w" for="ch" forName="image7" refType="w" fact="0.1623"/>
          <dgm:constr type="h" for="ch" forName="image7" refType="h" fact="0.2645"/>
          <dgm:constr type="l" for="ch" forName="imageaccent7" refType="w" fact="0.25"/>
          <dgm:constr type="t" for="ch" forName="imageaccent7" refType="h" fact="0.7363"/>
          <dgm:constr type="w" for="ch" forName="imageaccent7" refType="w" fact="0.0189"/>
          <dgm:constr type="h" for="ch" forName="imageaccent7" refType="h" fact="0.031"/>
          <dgm:constr type="l" for="ch" forName="textaccent7" refType="w" fact="0.2838"/>
          <dgm:constr type="t" for="ch" forName="textaccent7" refType="h" fact="0.7028"/>
          <dgm:constr type="w" for="ch" forName="textaccent7" refType="w" fact="0.0189"/>
          <dgm:constr type="h" for="ch" forName="textaccent7" refType="h" fact="0.031"/>
          <dgm:constr type="l" for="ch" forName="image8" refType="w" fact="0.6975"/>
          <dgm:constr type="t" for="ch" forName="image8" refType="h" fact="0.7355"/>
          <dgm:constr type="w" for="ch" forName="image8" refType="w" fact="0.1623"/>
          <dgm:constr type="h" for="ch" forName="image8" refType="h" fact="0.2645"/>
          <dgm:constr type="l" for="ch" forName="text8" refType="w" fact="0.8371"/>
          <dgm:constr type="t" for="ch" forName="text8" refType="h" fact="0.5906"/>
          <dgm:constr type="w" for="ch" forName="text8" refType="w" fact="0.1623"/>
          <dgm:constr type="h" for="ch" forName="text8" refType="h" fact="0.2645"/>
          <dgm:constr type="l" for="ch" forName="imageaccent8" refType="w" fact="0.8392"/>
          <dgm:constr type="t" for="ch" forName="imageaccent8" refType="h" fact="0.8516"/>
          <dgm:constr type="w" for="ch" forName="imageaccent8" refType="w" fact="0.0189"/>
          <dgm:constr type="h" for="ch" forName="imageaccent8" refType="h" fact="0.031"/>
          <dgm:constr type="l" for="ch" forName="textaccent8" refType="w" fact="0.8693"/>
          <dgm:constr type="t" for="ch" forName="textaccent8" refType="h" fact="0.8223"/>
          <dgm:constr type="w" for="ch" forName="textaccent8" refType="w" fact="0.0189"/>
          <dgm:constr type="h" for="ch" forName="textaccent8" refType="h" fact="0.031"/>
          <dgm:constr type="l" for="ch" forName="text9" refType="w" fact="0.8377"/>
          <dgm:constr type="t" for="ch" forName="text9" refType="h" fact="0.0057"/>
          <dgm:constr type="w" for="ch" forName="text9" refType="w" fact="0.1623"/>
          <dgm:constr type="h" for="ch" forName="text9" refType="h" fact="0.2645"/>
          <dgm:constr type="l" for="ch" forName="textaccent9" refType="w" fact="0.95"/>
          <dgm:constr type="t" for="ch" forName="textaccent9" refType="h" fact="0.2383"/>
          <dgm:constr type="w" for="ch" forName="textaccent9" refType="w" fact="0.0189"/>
          <dgm:constr type="h" for="ch" forName="textaccent9" refType="h" fact="0.031"/>
          <dgm:constr type="l" for="ch" forName="image9" refType="w" fact="0.8377"/>
          <dgm:constr type="t" for="ch" forName="image9" refType="h" fact="0.2977"/>
          <dgm:constr type="w" for="ch" forName="image9" refType="w" fact="0.1623"/>
          <dgm:constr type="h" for="ch" forName="image9" refType="h" fact="0.2645"/>
          <dgm:constr type="l" for="ch" forName="imageaccent9" refType="w" fact="0.95"/>
          <dgm:constr type="t" for="ch" forName="imageaccent9" refType="h" fact="0.2993"/>
          <dgm:constr type="w" for="ch" forName="imageaccent9" refType="w" fact="0.0189"/>
          <dgm:constr type="h" for="ch" forName="imageaccent9" refType="h" fact="0.031"/>
        </dgm:constrLst>
      </dgm:if>
      <dgm:if name="Name11" axis="ch" ptType="node" func="cnt" op="equ" val="10">
        <dgm:alg type="composite">
          <dgm:param type="ar" val="1.6608"/>
        </dgm:alg>
        <dgm:constrLst>
          <dgm:constr type="primFontSz" for="des" ptType="node" op="equ" val="65"/>
          <dgm:constr type="l" for="ch" forName="image4" refType="w" fact="0.5585"/>
          <dgm:constr type="t" for="ch" forName="image4" refType="h" fact="0.2583"/>
          <dgm:constr type="w" for="ch" forName="image4" refType="w" fact="0.1623"/>
          <dgm:constr type="h" for="ch" forName="image4" refType="h" fact="0.2314"/>
          <dgm:constr type="l" for="ch" forName="text5" refType="w" fact="0.5585"/>
          <dgm:constr type="t" for="ch" forName="text5" refType="h" fact="0.0024"/>
          <dgm:constr type="w" for="ch" forName="text5" refType="w" fact="0.1623"/>
          <dgm:constr type="h" for="ch" forName="text5" refType="h" fact="0.2314"/>
          <dgm:constr type="l" for="ch" forName="image5" refType="w" fact="0.6982"/>
          <dgm:constr type="t" for="ch" forName="image5" refType="h" fact="0.1316"/>
          <dgm:constr type="w" for="ch" forName="image5" refType="w" fact="0.1623"/>
          <dgm:constr type="h" for="ch" forName="image5" refType="h" fact="0.2314"/>
          <dgm:constr type="l" for="ch" forName="image2" refType="w" fact="0.4189"/>
          <dgm:constr type="t" for="ch" forName="image2" refType="h" fact="0.384"/>
          <dgm:constr type="w" for="ch" forName="image2" refType="w" fact="0.1623"/>
          <dgm:constr type="h" for="ch" forName="image2" refType="h" fact="0.2314"/>
          <dgm:constr type="l" for="ch" forName="text4" refType="w" fact="0.4189"/>
          <dgm:constr type="t" for="ch" forName="text4" refType="h" fact="0.1282"/>
          <dgm:constr type="w" for="ch" forName="text4" refType="w" fact="0.1623"/>
          <dgm:constr type="h" for="ch" forName="text4" refType="h" fact="0.2314"/>
          <dgm:constr type="l" for="ch" forName="text2" refType="w" fact="0.2793"/>
          <dgm:constr type="t" for="ch" forName="text2" refType="h" fact="0.2558"/>
          <dgm:constr type="w" for="ch" forName="text2" refType="w" fact="0.1623"/>
          <dgm:constr type="h" for="ch" forName="text2" refType="h" fact="0.2314"/>
          <dgm:constr type="l" for="ch" forName="image3" refType="w" fact="0.2793"/>
          <dgm:constr type="t" for="ch" forName="image3" refType="h" fact="0"/>
          <dgm:constr type="w" for="ch" forName="image3" refType="w" fact="0.1623"/>
          <dgm:constr type="h" for="ch" forName="image3" refType="h" fact="0.2314"/>
          <dgm:constr type="l" for="ch" forName="text1" refType="w" fact="0.1396"/>
          <dgm:constr type="t" for="ch" forName="text1" refType="h" fact="0.3845"/>
          <dgm:constr type="w" for="ch" forName="text1" refType="w" fact="0.1623"/>
          <dgm:constr type="h" for="ch" forName="text1" refType="h" fact="0.2314"/>
          <dgm:constr type="l" for="ch" forName="text3" refType="w" fact="0.1396"/>
          <dgm:constr type="t" for="ch" forName="text3" refType="h" fact="0.1286"/>
          <dgm:constr type="w" for="ch" forName="text3" refType="w" fact="0.1623"/>
          <dgm:constr type="h" for="ch" forName="text3" refType="h" fact="0.2314"/>
          <dgm:constr type="l" for="ch" forName="textaccent1" refType="w" fact="0.1435"/>
          <dgm:constr type="t" for="ch" forName="textaccent1" refType="h" fact="0.488"/>
          <dgm:constr type="w" for="ch" forName="textaccent1" refType="w" fact="0.0189"/>
          <dgm:constr type="h" for="ch" forName="textaccent1" refType="h" fact="0.0271"/>
          <dgm:constr type="l" for="ch" forName="image1" refType="w" fact="0"/>
          <dgm:constr type="t" for="ch" forName="image1" refType="h" fact="0.2566"/>
          <dgm:constr type="w" for="ch" forName="image1" refType="w" fact="0.1623"/>
          <dgm:constr type="h" for="ch" forName="image1" refType="h" fact="0.2314"/>
          <dgm:constr type="l" for="ch" forName="imageaccent1" refType="w" fact="0.1111"/>
          <dgm:constr type="t" for="ch" forName="imageaccent1" refType="h" fact="0.4572"/>
          <dgm:constr type="w" for="ch" forName="imageaccent1" refType="w" fact="0.0189"/>
          <dgm:constr type="h" for="ch" forName="imageaccent1" refType="h" fact="0.0271"/>
          <dgm:constr type="l" for="ch" forName="textaccent2" refType="w" fact="0.391"/>
          <dgm:constr type="t" for="ch" forName="textaccent2" refType="h" fact="0.456"/>
          <dgm:constr type="w" for="ch" forName="textaccent2" refType="w" fact="0.0189"/>
          <dgm:constr type="h" for="ch" forName="textaccent2" refType="h" fact="0.0271"/>
          <dgm:constr type="l" for="ch" forName="imageaccent2" refType="w" fact="0.4228"/>
          <dgm:constr type="t" for="ch" forName="imageaccent2" refType="h" fact="0.487"/>
          <dgm:constr type="w" for="ch" forName="imageaccent2" refType="w" fact="0.0189"/>
          <dgm:constr type="h" for="ch" forName="imageaccent2" refType="h" fact="0.0271"/>
          <dgm:constr type="l" for="ch" forName="textaccent3" refType="w" fact="0.2501"/>
          <dgm:constr type="t" for="ch" forName="textaccent3" refType="h" fact="0.1318"/>
          <dgm:constr type="w" for="ch" forName="textaccent3" refType="w" fact="0.0189"/>
          <dgm:constr type="h" for="ch" forName="textaccent3" refType="h" fact="0.0271"/>
          <dgm:constr type="l" for="ch" forName="imageaccent3" refType="w" fact="0.2839"/>
          <dgm:constr type="t" for="ch" forName="imageaccent3" refType="h" fact="0.1025"/>
          <dgm:constr type="w" for="ch" forName="imageaccent3" refType="w" fact="0.0189"/>
          <dgm:constr type="h" for="ch" forName="imageaccent3" refType="h" fact="0.0271"/>
          <dgm:constr type="l" for="ch" forName="textaccent4" refType="w" fact="0.5593"/>
          <dgm:constr type="t" for="ch" forName="textaccent4" refType="h" fact="0.2307"/>
          <dgm:constr type="w" for="ch" forName="textaccent4" refType="w" fact="0.0189"/>
          <dgm:constr type="h" for="ch" forName="textaccent4" refType="h" fact="0.0271"/>
          <dgm:constr type="l" for="ch" forName="imageaccent4" refType="w" fact="0.5901"/>
          <dgm:constr type="t" for="ch" forName="imageaccent4" refType="h" fact="0.2624"/>
          <dgm:constr type="w" for="ch" forName="imageaccent4" refType="w" fact="0.0189"/>
          <dgm:constr type="h" for="ch" forName="imageaccent4" refType="h" fact="0.0271"/>
          <dgm:constr type="l" for="ch" forName="textaccent5" refType="w" fact="0.6989"/>
          <dgm:constr type="t" for="ch" forName="textaccent5" refType="h" fact="0.1062"/>
          <dgm:constr type="w" for="ch" forName="textaccent5" refType="w" fact="0.0189"/>
          <dgm:constr type="h" for="ch" forName="textaccent5" refType="h" fact="0.0271"/>
          <dgm:constr type="l" for="ch" forName="imageaccent5" refType="w" fact="0.7305"/>
          <dgm:constr type="t" for="ch" forName="imageaccent5" refType="h" fact="0.1367"/>
          <dgm:constr type="w" for="ch" forName="imageaccent5" refType="w" fact="0.0189"/>
          <dgm:constr type="h" for="ch" forName="imageaccent5" refType="h" fact="0.0271"/>
          <dgm:constr type="l" for="ch" forName="image6" refType="w" fact="0.5585"/>
          <dgm:constr type="t" for="ch" forName="image6" refType="h" fact="0.5137"/>
          <dgm:constr type="w" for="ch" forName="image6" refType="w" fact="0.1623"/>
          <dgm:constr type="h" for="ch" forName="image6" refType="h" fact="0.2314"/>
          <dgm:constr type="l" for="ch" forName="text6" refType="w" fact="0.6982"/>
          <dgm:constr type="t" for="ch" forName="text6" refType="h" fact="0.387"/>
          <dgm:constr type="w" for="ch" forName="text6" refType="w" fact="0.1623"/>
          <dgm:constr type="h" for="ch" forName="text6" refType="h" fact="0.2314"/>
          <dgm:constr type="l" for="ch" forName="imageaccent6" refType="w" fact="0.7002"/>
          <dgm:constr type="t" for="ch" forName="imageaccent6" refType="h" fact="0.6152"/>
          <dgm:constr type="w" for="ch" forName="imageaccent6" refType="w" fact="0.0189"/>
          <dgm:constr type="h" for="ch" forName="imageaccent6" refType="h" fact="0.0271"/>
          <dgm:constr type="l" for="ch" forName="textaccent6" refType="w" fact="0.7303"/>
          <dgm:constr type="t" for="ch" forName="textaccent6" refType="h" fact="0.5897"/>
          <dgm:constr type="w" for="ch" forName="textaccent6" refType="w" fact="0.0189"/>
          <dgm:constr type="h" for="ch" forName="textaccent6" refType="h" fact="0.0271"/>
          <dgm:constr type="l" for="ch" forName="text7" refType="w" fact="0.2792"/>
          <dgm:constr type="t" for="ch" forName="text7" refType="h" fact="0.5122"/>
          <dgm:constr type="w" for="ch" forName="text7" refType="w" fact="0.1623"/>
          <dgm:constr type="h" for="ch" forName="text7" refType="h" fact="0.2314"/>
          <dgm:constr type="l" for="ch" forName="image7" refType="w" fact="0.1395"/>
          <dgm:constr type="t" for="ch" forName="image7" refType="h" fact="0.6409"/>
          <dgm:constr type="w" for="ch" forName="image7" refType="w" fact="0.1623"/>
          <dgm:constr type="h" for="ch" forName="image7" refType="h" fact="0.2314"/>
          <dgm:constr type="l" for="ch" forName="imageaccent7" refType="w" fact="0.25"/>
          <dgm:constr type="t" for="ch" forName="imageaccent7" refType="h" fact="0.6441"/>
          <dgm:constr type="w" for="ch" forName="imageaccent7" refType="w" fact="0.0189"/>
          <dgm:constr type="h" for="ch" forName="imageaccent7" refType="h" fact="0.0271"/>
          <dgm:constr type="l" for="ch" forName="textaccent7" refType="w" fact="0.2838"/>
          <dgm:constr type="t" for="ch" forName="textaccent7" refType="h" fact="0.6148"/>
          <dgm:constr type="w" for="ch" forName="textaccent7" refType="w" fact="0.0189"/>
          <dgm:constr type="h" for="ch" forName="textaccent7" refType="h" fact="0.0271"/>
          <dgm:constr type="l" for="ch" forName="image8" refType="w" fact="0.6975"/>
          <dgm:constr type="t" for="ch" forName="image8" refType="h" fact="0.6433"/>
          <dgm:constr type="w" for="ch" forName="image8" refType="w" fact="0.1623"/>
          <dgm:constr type="h" for="ch" forName="image8" refType="h" fact="0.2314"/>
          <dgm:constr type="l" for="ch" forName="text8" refType="w" fact="0.8371"/>
          <dgm:constr type="t" for="ch" forName="text8" refType="h" fact="0.5167"/>
          <dgm:constr type="w" for="ch" forName="text8" refType="w" fact="0.1623"/>
          <dgm:constr type="h" for="ch" forName="text8" refType="h" fact="0.2314"/>
          <dgm:constr type="l" for="ch" forName="imageaccent8" refType="w" fact="0.8392"/>
          <dgm:constr type="t" for="ch" forName="imageaccent8" refType="h" fact="0.7449"/>
          <dgm:constr type="w" for="ch" forName="imageaccent8" refType="w" fact="0.0189"/>
          <dgm:constr type="h" for="ch" forName="imageaccent8" refType="h" fact="0.0271"/>
          <dgm:constr type="l" for="ch" forName="textaccent8" refType="w" fact="0.8693"/>
          <dgm:constr type="t" for="ch" forName="textaccent8" refType="h" fact="0.7194"/>
          <dgm:constr type="w" for="ch" forName="textaccent8" refType="w" fact="0.0189"/>
          <dgm:constr type="h" for="ch" forName="textaccent8" refType="h" fact="0.0271"/>
          <dgm:constr type="l" for="ch" forName="text9" refType="w" fact="0.8377"/>
          <dgm:constr type="t" for="ch" forName="text9" refType="h" fact="0.005"/>
          <dgm:constr type="w" for="ch" forName="text9" refType="w" fact="0.1623"/>
          <dgm:constr type="h" for="ch" forName="text9" refType="h" fact="0.2314"/>
          <dgm:constr type="l" for="ch" forName="textaccent9" refType="w" fact="0.95"/>
          <dgm:constr type="t" for="ch" forName="textaccent9" refType="h" fact="0.2084"/>
          <dgm:constr type="w" for="ch" forName="textaccent9" refType="w" fact="0.0189"/>
          <dgm:constr type="h" for="ch" forName="textaccent9" refType="h" fact="0.0271"/>
          <dgm:constr type="l" for="ch" forName="image9" refType="w" fact="0.8377"/>
          <dgm:constr type="t" for="ch" forName="image9" refType="h" fact="0.2604"/>
          <dgm:constr type="w" for="ch" forName="image9" refType="w" fact="0.1623"/>
          <dgm:constr type="h" for="ch" forName="image9" refType="h" fact="0.2314"/>
          <dgm:constr type="l" for="ch" forName="imageaccent9" refType="w" fact="0.95"/>
          <dgm:constr type="t" for="ch" forName="imageaccent9" refType="h" fact="0.2618"/>
          <dgm:constr type="w" for="ch" forName="imageaccent9" refType="w" fact="0.0189"/>
          <dgm:constr type="h" for="ch" forName="imageaccent9" refType="h" fact="0.0271"/>
          <dgm:constr type="l" for="ch" forName="image10" refType="w" fact="0.2786"/>
          <dgm:constr type="t" for="ch" forName="image10" refType="h" fact="0.7686"/>
          <dgm:constr type="w" for="ch" forName="image10" refType="w" fact="0.1623"/>
          <dgm:constr type="h" for="ch" forName="image10" refType="h" fact="0.2314"/>
          <dgm:constr type="l" for="ch" forName="text10" refType="w" fact="0.4183"/>
          <dgm:constr type="t" for="ch" forName="text10" refType="h" fact="0.6419"/>
          <dgm:constr type="w" for="ch" forName="text10" refType="w" fact="0.1623"/>
          <dgm:constr type="h" for="ch" forName="text10" refType="h" fact="0.2314"/>
          <dgm:constr type="l" for="ch" forName="imageaccent10" refType="w" fact="0.4203"/>
          <dgm:constr type="t" for="ch" forName="imageaccent10" refType="h" fact="0.8701"/>
          <dgm:constr type="w" for="ch" forName="imageaccent10" refType="w" fact="0.0189"/>
          <dgm:constr type="h" for="ch" forName="imageaccent10" refType="h" fact="0.0271"/>
          <dgm:constr type="l" for="ch" forName="textaccent10" refType="w" fact="0.4504"/>
          <dgm:constr type="t" for="ch" forName="textaccent10" refType="h" fact="0.8446"/>
          <dgm:constr type="w" for="ch" forName="textaccent10" refType="w" fact="0.0189"/>
          <dgm:constr type="h" for="ch" forName="textaccent10" refType="h" fact="0.0271"/>
        </dgm:constrLst>
      </dgm:if>
      <dgm:if name="Name12" axis="ch" ptType="node" func="cnt" op="equ" val="11">
        <dgm:alg type="composite">
          <dgm:param type="ar" val="1.4704"/>
        </dgm:alg>
        <dgm:constrLst>
          <dgm:constr type="primFontSz" for="des" ptType="node" op="equ" val="65"/>
          <dgm:constr type="l" for="ch" forName="image4" refType="w" fact="0.5585"/>
          <dgm:constr type="t" for="ch" forName="image4" refType="h" fact="0.2287"/>
          <dgm:constr type="w" for="ch" forName="image4" refType="w" fact="0.1623"/>
          <dgm:constr type="h" for="ch" forName="image4" refType="h" fact="0.2049"/>
          <dgm:constr type="l" for="ch" forName="text5" refType="w" fact="0.5585"/>
          <dgm:constr type="t" for="ch" forName="text5" refType="h" fact="0.0022"/>
          <dgm:constr type="w" for="ch" forName="text5" refType="w" fact="0.1623"/>
          <dgm:constr type="h" for="ch" forName="text5" refType="h" fact="0.2049"/>
          <dgm:constr type="l" for="ch" forName="image5" refType="w" fact="0.6982"/>
          <dgm:constr type="t" for="ch" forName="image5" refType="h" fact="0.1165"/>
          <dgm:constr type="w" for="ch" forName="image5" refType="w" fact="0.1623"/>
          <dgm:constr type="h" for="ch" forName="image5" refType="h" fact="0.2049"/>
          <dgm:constr type="l" for="ch" forName="image2" refType="w" fact="0.4189"/>
          <dgm:constr type="t" for="ch" forName="image2" refType="h" fact="0.34"/>
          <dgm:constr type="w" for="ch" forName="image2" refType="w" fact="0.1623"/>
          <dgm:constr type="h" for="ch" forName="image2" refType="h" fact="0.2049"/>
          <dgm:constr type="l" for="ch" forName="text4" refType="w" fact="0.4189"/>
          <dgm:constr type="t" for="ch" forName="text4" refType="h" fact="0.1135"/>
          <dgm:constr type="w" for="ch" forName="text4" refType="w" fact="0.1623"/>
          <dgm:constr type="h" for="ch" forName="text4" refType="h" fact="0.2049"/>
          <dgm:constr type="l" for="ch" forName="text2" refType="w" fact="0.2793"/>
          <dgm:constr type="t" for="ch" forName="text2" refType="h" fact="0.2265"/>
          <dgm:constr type="w" for="ch" forName="text2" refType="w" fact="0.1623"/>
          <dgm:constr type="h" for="ch" forName="text2" refType="h" fact="0.2049"/>
          <dgm:constr type="l" for="ch" forName="image3" refType="w" fact="0.2793"/>
          <dgm:constr type="t" for="ch" forName="image3" refType="h" fact="0"/>
          <dgm:constr type="w" for="ch" forName="image3" refType="w" fact="0.1623"/>
          <dgm:constr type="h" for="ch" forName="image3" refType="h" fact="0.2049"/>
          <dgm:constr type="l" for="ch" forName="text1" refType="w" fact="0.1396"/>
          <dgm:constr type="t" for="ch" forName="text1" refType="h" fact="0.3404"/>
          <dgm:constr type="w" for="ch" forName="text1" refType="w" fact="0.1623"/>
          <dgm:constr type="h" for="ch" forName="text1" refType="h" fact="0.2049"/>
          <dgm:constr type="l" for="ch" forName="text3" refType="w" fact="0.1396"/>
          <dgm:constr type="t" for="ch" forName="text3" refType="h" fact="0.1139"/>
          <dgm:constr type="w" for="ch" forName="text3" refType="w" fact="0.1623"/>
          <dgm:constr type="h" for="ch" forName="text3" refType="h" fact="0.2049"/>
          <dgm:constr type="l" for="ch" forName="textaccent1" refType="w" fact="0.1435"/>
          <dgm:constr type="t" for="ch" forName="textaccent1" refType="h" fact="0.432"/>
          <dgm:constr type="w" for="ch" forName="textaccent1" refType="w" fact="0.0189"/>
          <dgm:constr type="h" for="ch" forName="textaccent1" refType="h" fact="0.024"/>
          <dgm:constr type="l" for="ch" forName="image1" refType="w" fact="0"/>
          <dgm:constr type="t" for="ch" forName="image1" refType="h" fact="0.2272"/>
          <dgm:constr type="w" for="ch" forName="image1" refType="w" fact="0.1623"/>
          <dgm:constr type="h" for="ch" forName="image1" refType="h" fact="0.2049"/>
          <dgm:constr type="l" for="ch" forName="imageaccent1" refType="w" fact="0.1111"/>
          <dgm:constr type="t" for="ch" forName="imageaccent1" refType="h" fact="0.4048"/>
          <dgm:constr type="w" for="ch" forName="imageaccent1" refType="w" fact="0.0189"/>
          <dgm:constr type="h" for="ch" forName="imageaccent1" refType="h" fact="0.024"/>
          <dgm:constr type="l" for="ch" forName="textaccent2" refType="w" fact="0.391"/>
          <dgm:constr type="t" for="ch" forName="textaccent2" refType="h" fact="0.4038"/>
          <dgm:constr type="w" for="ch" forName="textaccent2" refType="w" fact="0.0189"/>
          <dgm:constr type="h" for="ch" forName="textaccent2" refType="h" fact="0.024"/>
          <dgm:constr type="l" for="ch" forName="imageaccent2" refType="w" fact="0.4228"/>
          <dgm:constr type="t" for="ch" forName="imageaccent2" refType="h" fact="0.4312"/>
          <dgm:constr type="w" for="ch" forName="imageaccent2" refType="w" fact="0.0189"/>
          <dgm:constr type="h" for="ch" forName="imageaccent2" refType="h" fact="0.024"/>
          <dgm:constr type="l" for="ch" forName="textaccent3" refType="w" fact="0.2501"/>
          <dgm:constr type="t" for="ch" forName="textaccent3" refType="h" fact="0.1167"/>
          <dgm:constr type="w" for="ch" forName="textaccent3" refType="w" fact="0.0189"/>
          <dgm:constr type="h" for="ch" forName="textaccent3" refType="h" fact="0.024"/>
          <dgm:constr type="l" for="ch" forName="imageaccent3" refType="w" fact="0.2839"/>
          <dgm:constr type="t" for="ch" forName="imageaccent3" refType="h" fact="0.0908"/>
          <dgm:constr type="w" for="ch" forName="imageaccent3" refType="w" fact="0.0189"/>
          <dgm:constr type="h" for="ch" forName="imageaccent3" refType="h" fact="0.024"/>
          <dgm:constr type="l" for="ch" forName="textaccent4" refType="w" fact="0.5593"/>
          <dgm:constr type="t" for="ch" forName="textaccent4" refType="h" fact="0.2042"/>
          <dgm:constr type="w" for="ch" forName="textaccent4" refType="w" fact="0.0189"/>
          <dgm:constr type="h" for="ch" forName="textaccent4" refType="h" fact="0.024"/>
          <dgm:constr type="l" for="ch" forName="imageaccent4" refType="w" fact="0.5901"/>
          <dgm:constr type="t" for="ch" forName="imageaccent4" refType="h" fact="0.2323"/>
          <dgm:constr type="w" for="ch" forName="imageaccent4" refType="w" fact="0.0189"/>
          <dgm:constr type="h" for="ch" forName="imageaccent4" refType="h" fact="0.024"/>
          <dgm:constr type="l" for="ch" forName="textaccent5" refType="w" fact="0.6989"/>
          <dgm:constr type="t" for="ch" forName="textaccent5" refType="h" fact="0.094"/>
          <dgm:constr type="w" for="ch" forName="textaccent5" refType="w" fact="0.0189"/>
          <dgm:constr type="h" for="ch" forName="textaccent5" refType="h" fact="0.024"/>
          <dgm:constr type="l" for="ch" forName="imageaccent5" refType="w" fact="0.7305"/>
          <dgm:constr type="t" for="ch" forName="imageaccent5" refType="h" fact="0.121"/>
          <dgm:constr type="w" for="ch" forName="imageaccent5" refType="w" fact="0.0189"/>
          <dgm:constr type="h" for="ch" forName="imageaccent5" refType="h" fact="0.024"/>
          <dgm:constr type="l" for="ch" forName="image6" refType="w" fact="0.5585"/>
          <dgm:constr type="t" for="ch" forName="image6" refType="h" fact="0.4548"/>
          <dgm:constr type="w" for="ch" forName="image6" refType="w" fact="0.1623"/>
          <dgm:constr type="h" for="ch" forName="image6" refType="h" fact="0.2049"/>
          <dgm:constr type="l" for="ch" forName="text6" refType="w" fact="0.6982"/>
          <dgm:constr type="t" for="ch" forName="text6" refType="h" fact="0.3426"/>
          <dgm:constr type="w" for="ch" forName="text6" refType="w" fact="0.1623"/>
          <dgm:constr type="h" for="ch" forName="text6" refType="h" fact="0.2049"/>
          <dgm:constr type="l" for="ch" forName="imageaccent6" refType="w" fact="0.7002"/>
          <dgm:constr type="t" for="ch" forName="imageaccent6" refType="h" fact="0.5447"/>
          <dgm:constr type="w" for="ch" forName="imageaccent6" refType="w" fact="0.0189"/>
          <dgm:constr type="h" for="ch" forName="imageaccent6" refType="h" fact="0.024"/>
          <dgm:constr type="l" for="ch" forName="textaccent6" refType="w" fact="0.7303"/>
          <dgm:constr type="t" for="ch" forName="textaccent6" refType="h" fact="0.5221"/>
          <dgm:constr type="w" for="ch" forName="textaccent6" refType="w" fact="0.0189"/>
          <dgm:constr type="h" for="ch" forName="textaccent6" refType="h" fact="0.024"/>
          <dgm:constr type="l" for="ch" forName="text7" refType="w" fact="0.2792"/>
          <dgm:constr type="t" for="ch" forName="text7" refType="h" fact="0.4535"/>
          <dgm:constr type="w" for="ch" forName="text7" refType="w" fact="0.1623"/>
          <dgm:constr type="h" for="ch" forName="text7" refType="h" fact="0.2049"/>
          <dgm:constr type="l" for="ch" forName="image7" refType="w" fact="0.1395"/>
          <dgm:constr type="t" for="ch" forName="image7" refType="h" fact="0.5674"/>
          <dgm:constr type="w" for="ch" forName="image7" refType="w" fact="0.1623"/>
          <dgm:constr type="h" for="ch" forName="image7" refType="h" fact="0.2049"/>
          <dgm:constr type="l" for="ch" forName="imageaccent7" refType="w" fact="0.25"/>
          <dgm:constr type="t" for="ch" forName="imageaccent7" refType="h" fact="0.5703"/>
          <dgm:constr type="w" for="ch" forName="imageaccent7" refType="w" fact="0.0189"/>
          <dgm:constr type="h" for="ch" forName="imageaccent7" refType="h" fact="0.024"/>
          <dgm:constr type="l" for="ch" forName="textaccent7" refType="w" fact="0.2838"/>
          <dgm:constr type="t" for="ch" forName="textaccent7" refType="h" fact="0.5443"/>
          <dgm:constr type="w" for="ch" forName="textaccent7" refType="w" fact="0.0189"/>
          <dgm:constr type="h" for="ch" forName="textaccent7" refType="h" fact="0.024"/>
          <dgm:constr type="l" for="ch" forName="image8" refType="w" fact="0.6975"/>
          <dgm:constr type="t" for="ch" forName="image8" refType="h" fact="0.5696"/>
          <dgm:constr type="w" for="ch" forName="image8" refType="w" fact="0.1623"/>
          <dgm:constr type="h" for="ch" forName="image8" refType="h" fact="0.2049"/>
          <dgm:constr type="l" for="ch" forName="text8" refType="w" fact="0.8371"/>
          <dgm:constr type="t" for="ch" forName="text8" refType="h" fact="0.4574"/>
          <dgm:constr type="w" for="ch" forName="text8" refType="w" fact="0.1623"/>
          <dgm:constr type="h" for="ch" forName="text8" refType="h" fact="0.2049"/>
          <dgm:constr type="l" for="ch" forName="imageaccent8" refType="w" fact="0.8392"/>
          <dgm:constr type="t" for="ch" forName="imageaccent8" refType="h" fact="0.6595"/>
          <dgm:constr type="w" for="ch" forName="imageaccent8" refType="w" fact="0.0189"/>
          <dgm:constr type="h" for="ch" forName="imageaccent8" refType="h" fact="0.024"/>
          <dgm:constr type="l" for="ch" forName="textaccent8" refType="w" fact="0.8693"/>
          <dgm:constr type="t" for="ch" forName="textaccent8" refType="h" fact="0.6369"/>
          <dgm:constr type="w" for="ch" forName="textaccent8" refType="w" fact="0.0189"/>
          <dgm:constr type="h" for="ch" forName="textaccent8" refType="h" fact="0.024"/>
          <dgm:constr type="l" for="ch" forName="text9" refType="w" fact="0.8377"/>
          <dgm:constr type="t" for="ch" forName="text9" refType="h" fact="0.0044"/>
          <dgm:constr type="w" for="ch" forName="text9" refType="w" fact="0.1623"/>
          <dgm:constr type="h" for="ch" forName="text9" refType="h" fact="0.2049"/>
          <dgm:constr type="l" for="ch" forName="textaccent9" refType="w" fact="0.95"/>
          <dgm:constr type="t" for="ch" forName="textaccent9" refType="h" fact="0.1846"/>
          <dgm:constr type="w" for="ch" forName="textaccent9" refType="w" fact="0.0189"/>
          <dgm:constr type="h" for="ch" forName="textaccent9" refType="h" fact="0.024"/>
          <dgm:constr type="l" for="ch" forName="image9" refType="w" fact="0.8377"/>
          <dgm:constr type="t" for="ch" forName="image9" refType="h" fact="0.2306"/>
          <dgm:constr type="w" for="ch" forName="image9" refType="w" fact="0.1623"/>
          <dgm:constr type="h" for="ch" forName="image9" refType="h" fact="0.2049"/>
          <dgm:constr type="l" for="ch" forName="imageaccent9" refType="w" fact="0.95"/>
          <dgm:constr type="t" for="ch" forName="imageaccent9" refType="h" fact="0.2318"/>
          <dgm:constr type="w" for="ch" forName="imageaccent9" refType="w" fact="0.0189"/>
          <dgm:constr type="h" for="ch" forName="imageaccent9" refType="h" fact="0.024"/>
          <dgm:constr type="l" for="ch" forName="image10" refType="w" fact="0.2786"/>
          <dgm:constr type="t" for="ch" forName="image10" refType="h" fact="0.6805"/>
          <dgm:constr type="w" for="ch" forName="image10" refType="w" fact="0.1623"/>
          <dgm:constr type="h" for="ch" forName="image10" refType="h" fact="0.2049"/>
          <dgm:constr type="l" for="ch" forName="text10" refType="w" fact="0.4183"/>
          <dgm:constr type="t" for="ch" forName="text10" refType="h" fact="0.5683"/>
          <dgm:constr type="w" for="ch" forName="text10" refType="w" fact="0.1623"/>
          <dgm:constr type="h" for="ch" forName="text10" refType="h" fact="0.2049"/>
          <dgm:constr type="l" for="ch" forName="imageaccent10" refType="w" fact="0.4203"/>
          <dgm:constr type="t" for="ch" forName="imageaccent10" refType="h" fact="0.7704"/>
          <dgm:constr type="w" for="ch" forName="imageaccent10" refType="w" fact="0.0189"/>
          <dgm:constr type="h" for="ch" forName="imageaccent10" refType="h" fact="0.024"/>
          <dgm:constr type="l" for="ch" forName="textaccent10" refType="w" fact="0.4504"/>
          <dgm:constr type="t" for="ch" forName="textaccent10" refType="h" fact="0.7478"/>
          <dgm:constr type="w" for="ch" forName="textaccent10" refType="w" fact="0.0189"/>
          <dgm:constr type="h" for="ch" forName="textaccent10" refType="h" fact="0.024"/>
          <dgm:constr type="l" for="ch" forName="text11" refType="w" fact="0.6971"/>
          <dgm:constr type="t" for="ch" forName="text11" refType="h" fact="0.7951"/>
          <dgm:constr type="w" for="ch" forName="text11" refType="w" fact="0.1623"/>
          <dgm:constr type="h" for="ch" forName="text11" refType="h" fact="0.2049"/>
          <dgm:constr type="l" for="ch" forName="image11" refType="w" fact="0.5575"/>
          <dgm:constr type="t" for="ch" forName="image11" refType="h" fact="0.6816"/>
          <dgm:constr type="w" for="ch" forName="image11" refType="w" fact="0.1623"/>
          <dgm:constr type="h" for="ch" forName="image11" refType="h" fact="0.2049"/>
          <dgm:constr type="l" for="ch" forName="imageaccent11" refType="w" fact="0.6692"/>
          <dgm:constr type="t" for="ch" forName="imageaccent11" refType="h" fact="0.8589"/>
          <dgm:constr type="w" for="ch" forName="imageaccent11" refType="w" fact="0.0189"/>
          <dgm:constr type="h" for="ch" forName="imageaccent11" refType="h" fact="0.024"/>
          <dgm:constr type="l" for="ch" forName="textaccent11" refType="w" fact="0.701"/>
          <dgm:constr type="t" for="ch" forName="textaccent11" refType="h" fact="0.8863"/>
          <dgm:constr type="w" for="ch" forName="textaccent11" refType="w" fact="0.0189"/>
          <dgm:constr type="h" for="ch" forName="textaccent11" refType="h" fact="0.024"/>
        </dgm:constrLst>
      </dgm:if>
      <dgm:else name="Name13">
        <dgm:alg type="composite">
          <dgm:param type="ar" val="1.675"/>
        </dgm:alg>
        <dgm:constrLst>
          <dgm:constr type="primFontSz" for="des" ptType="node" op="equ" val="65"/>
          <dgm:constr type="l" for="ch" forName="image4" refType="w" fact="0.4903"/>
          <dgm:constr type="t" for="ch" forName="image4" refType="h" fact="0.2287"/>
          <dgm:constr type="w" for="ch" forName="image4" refType="w" fact="0.1425"/>
          <dgm:constr type="h" for="ch" forName="image4" refType="h" fact="0.2049"/>
          <dgm:constr type="l" for="ch" forName="text5" refType="w" fact="0.4903"/>
          <dgm:constr type="t" for="ch" forName="text5" refType="h" fact="0.0022"/>
          <dgm:constr type="w" for="ch" forName="text5" refType="w" fact="0.1425"/>
          <dgm:constr type="h" for="ch" forName="text5" refType="h" fact="0.2049"/>
          <dgm:constr type="l" for="ch" forName="image5" refType="w" fact="0.6129"/>
          <dgm:constr type="t" for="ch" forName="image5" refType="h" fact="0.1165"/>
          <dgm:constr type="w" for="ch" forName="image5" refType="w" fact="0.1425"/>
          <dgm:constr type="h" for="ch" forName="image5" refType="h" fact="0.2049"/>
          <dgm:constr type="l" for="ch" forName="image2" refType="w" fact="0.3677"/>
          <dgm:constr type="t" for="ch" forName="image2" refType="h" fact="0.34"/>
          <dgm:constr type="w" for="ch" forName="image2" refType="w" fact="0.1425"/>
          <dgm:constr type="h" for="ch" forName="image2" refType="h" fact="0.2049"/>
          <dgm:constr type="l" for="ch" forName="text4" refType="w" fact="0.3677"/>
          <dgm:constr type="t" for="ch" forName="text4" refType="h" fact="0.1135"/>
          <dgm:constr type="w" for="ch" forName="text4" refType="w" fact="0.1425"/>
          <dgm:constr type="h" for="ch" forName="text4" refType="h" fact="0.2049"/>
          <dgm:constr type="l" for="ch" forName="text2" refType="w" fact="0.2452"/>
          <dgm:constr type="t" for="ch" forName="text2" refType="h" fact="0.2265"/>
          <dgm:constr type="w" for="ch" forName="text2" refType="w" fact="0.1425"/>
          <dgm:constr type="h" for="ch" forName="text2" refType="h" fact="0.2049"/>
          <dgm:constr type="l" for="ch" forName="image3" refType="w" fact="0.2452"/>
          <dgm:constr type="t" for="ch" forName="image3" refType="h" fact="0"/>
          <dgm:constr type="w" for="ch" forName="image3" refType="w" fact="0.1425"/>
          <dgm:constr type="h" for="ch" forName="image3" refType="h" fact="0.2049"/>
          <dgm:constr type="l" for="ch" forName="text1" refType="w" fact="0.1226"/>
          <dgm:constr type="t" for="ch" forName="text1" refType="h" fact="0.3404"/>
          <dgm:constr type="w" for="ch" forName="text1" refType="w" fact="0.1425"/>
          <dgm:constr type="h" for="ch" forName="text1" refType="h" fact="0.2049"/>
          <dgm:constr type="l" for="ch" forName="text3" refType="w" fact="0.1226"/>
          <dgm:constr type="t" for="ch" forName="text3" refType="h" fact="0.1139"/>
          <dgm:constr type="w" for="ch" forName="text3" refType="w" fact="0.1425"/>
          <dgm:constr type="h" for="ch" forName="text3" refType="h" fact="0.2049"/>
          <dgm:constr type="l" for="ch" forName="textaccent1" refType="w" fact="0.126"/>
          <dgm:constr type="t" for="ch" forName="textaccent1" refType="h" fact="0.432"/>
          <dgm:constr type="w" for="ch" forName="textaccent1" refType="w" fact="0.0166"/>
          <dgm:constr type="h" for="ch" forName="textaccent1" refType="h" fact="0.024"/>
          <dgm:constr type="l" for="ch" forName="image1" refType="w" fact="0"/>
          <dgm:constr type="t" for="ch" forName="image1" refType="h" fact="0.2272"/>
          <dgm:constr type="w" for="ch" forName="image1" refType="w" fact="0.1425"/>
          <dgm:constr type="h" for="ch" forName="image1" refType="h" fact="0.2049"/>
          <dgm:constr type="l" for="ch" forName="imageaccent1" refType="w" fact="0.0976"/>
          <dgm:constr type="t" for="ch" forName="imageaccent1" refType="h" fact="0.4048"/>
          <dgm:constr type="w" for="ch" forName="imageaccent1" refType="w" fact="0.0166"/>
          <dgm:constr type="h" for="ch" forName="imageaccent1" refType="h" fact="0.024"/>
          <dgm:constr type="l" for="ch" forName="textaccent2" refType="w" fact="0.3432"/>
          <dgm:constr type="t" for="ch" forName="textaccent2" refType="h" fact="0.4038"/>
          <dgm:constr type="w" for="ch" forName="textaccent2" refType="w" fact="0.0166"/>
          <dgm:constr type="h" for="ch" forName="textaccent2" refType="h" fact="0.024"/>
          <dgm:constr type="l" for="ch" forName="imageaccent2" refType="w" fact="0.3712"/>
          <dgm:constr type="t" for="ch" forName="imageaccent2" refType="h" fact="0.4312"/>
          <dgm:constr type="w" for="ch" forName="imageaccent2" refType="w" fact="0.0166"/>
          <dgm:constr type="h" for="ch" forName="imageaccent2" refType="h" fact="0.024"/>
          <dgm:constr type="l" for="ch" forName="textaccent3" refType="w" fact="0.2196"/>
          <dgm:constr type="t" for="ch" forName="textaccent3" refType="h" fact="0.1167"/>
          <dgm:constr type="w" for="ch" forName="textaccent3" refType="w" fact="0.0166"/>
          <dgm:constr type="h" for="ch" forName="textaccent3" refType="h" fact="0.024"/>
          <dgm:constr type="l" for="ch" forName="imageaccent3" refType="w" fact="0.2492"/>
          <dgm:constr type="t" for="ch" forName="imageaccent3" refType="h" fact="0.0908"/>
          <dgm:constr type="w" for="ch" forName="imageaccent3" refType="w" fact="0.0166"/>
          <dgm:constr type="h" for="ch" forName="imageaccent3" refType="h" fact="0.024"/>
          <dgm:constr type="l" for="ch" forName="textaccent4" refType="w" fact="0.491"/>
          <dgm:constr type="t" for="ch" forName="textaccent4" refType="h" fact="0.2042"/>
          <dgm:constr type="w" for="ch" forName="textaccent4" refType="w" fact="0.0166"/>
          <dgm:constr type="h" for="ch" forName="textaccent4" refType="h" fact="0.024"/>
          <dgm:constr type="l" for="ch" forName="imageaccent4" refType="w" fact="0.5181"/>
          <dgm:constr type="t" for="ch" forName="imageaccent4" refType="h" fact="0.2323"/>
          <dgm:constr type="w" for="ch" forName="imageaccent4" refType="w" fact="0.0166"/>
          <dgm:constr type="h" for="ch" forName="imageaccent4" refType="h" fact="0.024"/>
          <dgm:constr type="l" for="ch" forName="textaccent5" refType="w" fact="0.6136"/>
          <dgm:constr type="t" for="ch" forName="textaccent5" refType="h" fact="0.094"/>
          <dgm:constr type="w" for="ch" forName="textaccent5" refType="w" fact="0.0166"/>
          <dgm:constr type="h" for="ch" forName="textaccent5" refType="h" fact="0.024"/>
          <dgm:constr type="l" for="ch" forName="imageaccent5" refType="w" fact="0.6413"/>
          <dgm:constr type="t" for="ch" forName="imageaccent5" refType="h" fact="0.121"/>
          <dgm:constr type="w" for="ch" forName="imageaccent5" refType="w" fact="0.0166"/>
          <dgm:constr type="h" for="ch" forName="imageaccent5" refType="h" fact="0.024"/>
          <dgm:constr type="l" for="ch" forName="image6" refType="w" fact="0.4903"/>
          <dgm:constr type="t" for="ch" forName="image6" refType="h" fact="0.4548"/>
          <dgm:constr type="w" for="ch" forName="image6" refType="w" fact="0.1425"/>
          <dgm:constr type="h" for="ch" forName="image6" refType="h" fact="0.2049"/>
          <dgm:constr type="l" for="ch" forName="text6" refType="w" fact="0.6129"/>
          <dgm:constr type="t" for="ch" forName="text6" refType="h" fact="0.3426"/>
          <dgm:constr type="w" for="ch" forName="text6" refType="w" fact="0.1425"/>
          <dgm:constr type="h" for="ch" forName="text6" refType="h" fact="0.2049"/>
          <dgm:constr type="l" for="ch" forName="imageaccent6" refType="w" fact="0.6147"/>
          <dgm:constr type="t" for="ch" forName="imageaccent6" refType="h" fact="0.5447"/>
          <dgm:constr type="w" for="ch" forName="imageaccent6" refType="w" fact="0.0166"/>
          <dgm:constr type="h" for="ch" forName="imageaccent6" refType="h" fact="0.024"/>
          <dgm:constr type="l" for="ch" forName="textaccent6" refType="w" fact="0.6411"/>
          <dgm:constr type="t" for="ch" forName="textaccent6" refType="h" fact="0.5221"/>
          <dgm:constr type="w" for="ch" forName="textaccent6" refType="w" fact="0.0166"/>
          <dgm:constr type="h" for="ch" forName="textaccent6" refType="h" fact="0.024"/>
          <dgm:constr type="l" for="ch" forName="text7" refType="w" fact="0.2451"/>
          <dgm:constr type="t" for="ch" forName="text7" refType="h" fact="0.4535"/>
          <dgm:constr type="w" for="ch" forName="text7" refType="w" fact="0.1425"/>
          <dgm:constr type="h" for="ch" forName="text7" refType="h" fact="0.2049"/>
          <dgm:constr type="l" for="ch" forName="image7" refType="w" fact="0.1225"/>
          <dgm:constr type="t" for="ch" forName="image7" refType="h" fact="0.5674"/>
          <dgm:constr type="w" for="ch" forName="image7" refType="w" fact="0.1425"/>
          <dgm:constr type="h" for="ch" forName="image7" refType="h" fact="0.2049"/>
          <dgm:constr type="l" for="ch" forName="imageaccent7" refType="w" fact="0.2195"/>
          <dgm:constr type="t" for="ch" forName="imageaccent7" refType="h" fact="0.5703"/>
          <dgm:constr type="w" for="ch" forName="imageaccent7" refType="w" fact="0.0166"/>
          <dgm:constr type="h" for="ch" forName="imageaccent7" refType="h" fact="0.024"/>
          <dgm:constr type="l" for="ch" forName="textaccent7" refType="w" fact="0.2491"/>
          <dgm:constr type="t" for="ch" forName="textaccent7" refType="h" fact="0.5443"/>
          <dgm:constr type="w" for="ch" forName="textaccent7" refType="w" fact="0.0166"/>
          <dgm:constr type="h" for="ch" forName="textaccent7" refType="h" fact="0.024"/>
          <dgm:constr type="l" for="ch" forName="image8" refType="w" fact="0.6123"/>
          <dgm:constr type="t" for="ch" forName="image8" refType="h" fact="0.5696"/>
          <dgm:constr type="w" for="ch" forName="image8" refType="w" fact="0.1425"/>
          <dgm:constr type="h" for="ch" forName="image8" refType="h" fact="0.2049"/>
          <dgm:constr type="l" for="ch" forName="text8" refType="w" fact="0.7349"/>
          <dgm:constr type="t" for="ch" forName="text8" refType="h" fact="0.4574"/>
          <dgm:constr type="w" for="ch" forName="text8" refType="w" fact="0.1425"/>
          <dgm:constr type="h" for="ch" forName="text8" refType="h" fact="0.2049"/>
          <dgm:constr type="l" for="ch" forName="imageaccent8" refType="w" fact="0.7367"/>
          <dgm:constr type="t" for="ch" forName="imageaccent8" refType="h" fact="0.6595"/>
          <dgm:constr type="w" for="ch" forName="imageaccent8" refType="w" fact="0.0166"/>
          <dgm:constr type="h" for="ch" forName="imageaccent8" refType="h" fact="0.024"/>
          <dgm:constr type="l" for="ch" forName="textaccent8" refType="w" fact="0.7631"/>
          <dgm:constr type="t" for="ch" forName="textaccent8" refType="h" fact="0.6369"/>
          <dgm:constr type="w" for="ch" forName="textaccent8" refType="w" fact="0.0166"/>
          <dgm:constr type="h" for="ch" forName="textaccent8" refType="h" fact="0.024"/>
          <dgm:constr type="l" for="ch" forName="text9" refType="w" fact="0.7354"/>
          <dgm:constr type="t" for="ch" forName="text9" refType="h" fact="0.0044"/>
          <dgm:constr type="w" for="ch" forName="text9" refType="w" fact="0.1425"/>
          <dgm:constr type="h" for="ch" forName="text9" refType="h" fact="0.2049"/>
          <dgm:constr type="l" for="ch" forName="textaccent9" refType="w" fact="0.8339"/>
          <dgm:constr type="t" for="ch" forName="textaccent9" refType="h" fact="0.1846"/>
          <dgm:constr type="w" for="ch" forName="textaccent9" refType="w" fact="0.0166"/>
          <dgm:constr type="h" for="ch" forName="textaccent9" refType="h" fact="0.024"/>
          <dgm:constr type="l" for="ch" forName="image9" refType="w" fact="0.7354"/>
          <dgm:constr type="t" for="ch" forName="image9" refType="h" fact="0.2306"/>
          <dgm:constr type="w" for="ch" forName="image9" refType="w" fact="0.1425"/>
          <dgm:constr type="h" for="ch" forName="image9" refType="h" fact="0.2049"/>
          <dgm:constr type="l" for="ch" forName="imageaccent9" refType="w" fact="0.8339"/>
          <dgm:constr type="t" for="ch" forName="imageaccent9" refType="h" fact="0.2318"/>
          <dgm:constr type="w" for="ch" forName="imageaccent9" refType="w" fact="0.0166"/>
          <dgm:constr type="h" for="ch" forName="imageaccent9" refType="h" fact="0.024"/>
          <dgm:constr type="l" for="ch" forName="image10" refType="w" fact="0.2446"/>
          <dgm:constr type="t" for="ch" forName="image10" refType="h" fact="0.6805"/>
          <dgm:constr type="w" for="ch" forName="image10" refType="w" fact="0.1425"/>
          <dgm:constr type="h" for="ch" forName="image10" refType="h" fact="0.2049"/>
          <dgm:constr type="l" for="ch" forName="text10" refType="w" fact="0.3672"/>
          <dgm:constr type="t" for="ch" forName="text10" refType="h" fact="0.5683"/>
          <dgm:constr type="w" for="ch" forName="text10" refType="w" fact="0.1425"/>
          <dgm:constr type="h" for="ch" forName="text10" refType="h" fact="0.2049"/>
          <dgm:constr type="l" for="ch" forName="imageaccent10" refType="w" fact="0.369"/>
          <dgm:constr type="t" for="ch" forName="imageaccent10" refType="h" fact="0.7704"/>
          <dgm:constr type="w" for="ch" forName="imageaccent10" refType="w" fact="0.0166"/>
          <dgm:constr type="h" for="ch" forName="imageaccent10" refType="h" fact="0.024"/>
          <dgm:constr type="l" for="ch" forName="textaccent10" refType="w" fact="0.3954"/>
          <dgm:constr type="t" for="ch" forName="textaccent10" refType="h" fact="0.7478"/>
          <dgm:constr type="w" for="ch" forName="textaccent10" refType="w" fact="0.0166"/>
          <dgm:constr type="h" for="ch" forName="textaccent10" refType="h" fact="0.024"/>
          <dgm:constr type="l" for="ch" forName="text11" refType="w" fact="0.612"/>
          <dgm:constr type="t" for="ch" forName="text11" refType="h" fact="0.7951"/>
          <dgm:constr type="w" for="ch" forName="text11" refType="w" fact="0.1425"/>
          <dgm:constr type="h" for="ch" forName="text11" refType="h" fact="0.2049"/>
          <dgm:constr type="l" for="ch" forName="image11" refType="w" fact="0.4894"/>
          <dgm:constr type="t" for="ch" forName="image11" refType="h" fact="0.6816"/>
          <dgm:constr type="w" for="ch" forName="image11" refType="w" fact="0.1425"/>
          <dgm:constr type="h" for="ch" forName="image11" refType="h" fact="0.2049"/>
          <dgm:constr type="l" for="ch" forName="imageaccent11" refType="w" fact="0.5874"/>
          <dgm:constr type="t" for="ch" forName="imageaccent11" refType="h" fact="0.8589"/>
          <dgm:constr type="w" for="ch" forName="imageaccent11" refType="w" fact="0.0166"/>
          <dgm:constr type="h" for="ch" forName="imageaccent11" refType="h" fact="0.024"/>
          <dgm:constr type="l" for="ch" forName="textaccent11" refType="w" fact="0.6154"/>
          <dgm:constr type="t" for="ch" forName="textaccent11" refType="h" fact="0.8863"/>
          <dgm:constr type="w" for="ch" forName="textaccent11" refType="w" fact="0.0166"/>
          <dgm:constr type="h" for="ch" forName="textaccent11" refType="h" fact="0.024"/>
          <dgm:constr type="l" for="ch" forName="text12" refType="w" fact="0.735"/>
          <dgm:constr type="t" for="ch" forName="text12" refType="h" fact="0.684"/>
          <dgm:constr type="w" for="ch" forName="text12" refType="w" fact="0.1425"/>
          <dgm:constr type="h" for="ch" forName="text12" refType="h" fact="0.2049"/>
          <dgm:constr type="l" for="ch" forName="image12" refType="w" fact="0.8575"/>
          <dgm:constr type="t" for="ch" forName="image12" refType="h" fact="0.5718"/>
          <dgm:constr type="w" for="ch" forName="image12" refType="w" fact="0.1425"/>
          <dgm:constr type="h" for="ch" forName="image12" refType="h" fact="0.2049"/>
          <dgm:constr type="l" for="ch" forName="textaccent12" refType="w" fact="0.8594"/>
          <dgm:constr type="t" for="ch" forName="textaccent12" refType="h" fact="0.7739"/>
          <dgm:constr type="w" for="ch" forName="textaccent12" refType="w" fact="0.0166"/>
          <dgm:constr type="h" for="ch" forName="textaccent12" refType="h" fact="0.024"/>
          <dgm:constr type="l" for="ch" forName="imageaccent12" refType="w" fact="0.8858"/>
          <dgm:constr type="t" for="ch" forName="imageaccent12" refType="h" fact="0.7513"/>
          <dgm:constr type="w" for="ch" forName="imageaccent12" refType="w" fact="0.0166"/>
          <dgm:constr type="h" for="ch" forName="imageaccent12" refType="h" fact="0.024"/>
        </dgm:constrLst>
      </dgm:else>
    </dgm:choose>
    <dgm:forEach name="wrapper" axis="self" ptType="parTrans">
      <dgm:forEach name="wrapper2" axis="self" ptType="sibTrans" st="2">
        <dgm:forEach name="textRepeat" axis="self">
          <dgm:layoutNode name="textRepeatNode" styleLbl="alignNode1">
            <dgm:varLst>
              <dgm:chMax val="0"/>
              <dgm:chPref val="0"/>
              <dgm:bulletEnabled val="1"/>
            </dgm:varLst>
            <dgm:alg type="tx"/>
            <dgm:shape xmlns:r="http://schemas.openxmlformats.org/officeDocument/2006/relationships" type="hexagon" r:blip="">
              <dgm:adjLst>
                <dgm:adj idx="1" val="0.25"/>
                <dgm:adj idx="2" val="1.1547"/>
              </dgm:adjLst>
            </dgm:shape>
            <dgm:presOf axis="desOrSelf" ptType="node"/>
            <dgm:constrLst>
              <dgm:constr type="lMarg" refType="primFontSz" fact="0"/>
              <dgm:constr type="rMarg" refType="primFontSz" fact="0"/>
              <dgm:constr type="tMarg" refType="primFontSz" fact="0.1"/>
              <dgm:constr type="bMarg" refType="primFontSz" fact="0.1"/>
            </dgm:constrLst>
            <dgm:ruleLst>
              <dgm:rule type="primFontSz" val="5" fact="NaN" max="NaN"/>
            </dgm:ruleLst>
          </dgm:layoutNode>
        </dgm:forEach>
        <dgm:forEach name="accentRepeat" axis="self">
          <dgm:layoutNode name="accentRepeatNode" styleLbl="solidAlignAcc1">
            <dgm:alg type="sp"/>
            <dgm:shape xmlns:r="http://schemas.openxmlformats.org/officeDocument/2006/relationships" type="hexagon" r:blip="">
              <dgm:adjLst>
                <dgm:adj idx="1" val="0.25"/>
                <dgm:adj idx="2" val="1.1547"/>
              </dgm:adjLst>
            </dgm:shape>
            <dgm:presOf/>
          </dgm:layoutNode>
        </dgm:forEach>
        <dgm:forEach name="imageRepeat" axis="self">
          <dgm:layoutNode name="imageRepeatNode" styleLbl="alignAcc1">
            <dgm:alg type="sp"/>
            <dgm:shape xmlns:r="http://schemas.openxmlformats.org/officeDocument/2006/relationships" type="hexagon" r:blip="" blipPhldr="1">
              <dgm:adjLst>
                <dgm:adj idx="1" val="0.25"/>
                <dgm:adj idx="2" val="1.1547"/>
              </dgm:adjLst>
            </dgm:shape>
            <dgm:presOf axis="self"/>
          </dgm:layoutNode>
        </dgm:forEach>
      </dgm:forEach>
    </dgm:forEach>
    <dgm:forEach name="Name14" axis="ch" ptType="node" cnt="1">
      <dgm:layoutNode name="text1">
        <dgm:alg type="sp"/>
        <dgm:shape xmlns:r="http://schemas.openxmlformats.org/officeDocument/2006/relationships" r:blip="">
          <dgm:adjLst/>
        </dgm:shape>
        <dgm:presOf/>
        <dgm:constrLst/>
        <dgm:forEach name="Name15" ref="textRepeat"/>
      </dgm:layoutNode>
      <dgm:layoutNode name="textaccent1">
        <dgm:alg type="sp"/>
        <dgm:shape xmlns:r="http://schemas.openxmlformats.org/officeDocument/2006/relationships" r:blip="">
          <dgm:adjLst/>
        </dgm:shape>
        <dgm:presOf/>
        <dgm:constrLst/>
        <dgm:forEach name="Name16" ref="accentRepeat"/>
      </dgm:layoutNode>
    </dgm:forEach>
    <dgm:forEach name="Name17" axis="ch" ptType="sibTrans" hideLastTrans="0" cnt="1">
      <dgm:layoutNode name="image1">
        <dgm:alg type="sp"/>
        <dgm:shape xmlns:r="http://schemas.openxmlformats.org/officeDocument/2006/relationships" r:blip="">
          <dgm:adjLst/>
        </dgm:shape>
        <dgm:presOf/>
        <dgm:constrLst/>
        <dgm:forEach name="Name18" ref="imageRepeat"/>
      </dgm:layoutNode>
      <dgm:layoutNode name="imageaccent1">
        <dgm:alg type="sp"/>
        <dgm:shape xmlns:r="http://schemas.openxmlformats.org/officeDocument/2006/relationships" r:blip="">
          <dgm:adjLst/>
        </dgm:shape>
        <dgm:presOf/>
        <dgm:constrLst/>
        <dgm:forEach name="Name19" ref="accentRepeat"/>
      </dgm:layoutNode>
    </dgm:forEach>
    <dgm:forEach name="Name20" axis="ch" ptType="node" st="2" cnt="1">
      <dgm:layoutNode name="text2">
        <dgm:alg type="sp"/>
        <dgm:shape xmlns:r="http://schemas.openxmlformats.org/officeDocument/2006/relationships" r:blip="">
          <dgm:adjLst/>
        </dgm:shape>
        <dgm:presOf/>
        <dgm:constrLst/>
        <dgm:forEach name="Name21" ref="textRepeat"/>
      </dgm:layoutNode>
      <dgm:layoutNode name="textaccent2">
        <dgm:alg type="sp"/>
        <dgm:shape xmlns:r="http://schemas.openxmlformats.org/officeDocument/2006/relationships" r:blip="">
          <dgm:adjLst/>
        </dgm:shape>
        <dgm:presOf/>
        <dgm:constrLst/>
        <dgm:forEach name="Name22" ref="accentRepeat"/>
      </dgm:layoutNode>
    </dgm:forEach>
    <dgm:forEach name="Name23" axis="ch" ptType="sibTrans" hideLastTrans="0" st="2" cnt="1">
      <dgm:layoutNode name="image2">
        <dgm:alg type="sp"/>
        <dgm:shape xmlns:r="http://schemas.openxmlformats.org/officeDocument/2006/relationships" r:blip="">
          <dgm:adjLst/>
        </dgm:shape>
        <dgm:presOf/>
        <dgm:constrLst/>
        <dgm:forEach name="Name24" ref="imageRepeat"/>
      </dgm:layoutNode>
      <dgm:layoutNode name="imageaccent2">
        <dgm:alg type="sp"/>
        <dgm:shape xmlns:r="http://schemas.openxmlformats.org/officeDocument/2006/relationships" r:blip="">
          <dgm:adjLst/>
        </dgm:shape>
        <dgm:presOf/>
        <dgm:constrLst/>
        <dgm:forEach name="Name25" ref="accentRepeat"/>
      </dgm:layoutNode>
    </dgm:forEach>
    <dgm:forEach name="Name26" axis="ch" ptType="node" st="3" cnt="1">
      <dgm:layoutNode name="text3">
        <dgm:alg type="sp"/>
        <dgm:shape xmlns:r="http://schemas.openxmlformats.org/officeDocument/2006/relationships" r:blip="">
          <dgm:adjLst/>
        </dgm:shape>
        <dgm:presOf/>
        <dgm:constrLst/>
        <dgm:forEach name="Name27" ref="textRepeat"/>
      </dgm:layoutNode>
      <dgm:layoutNode name="textaccent3">
        <dgm:alg type="sp"/>
        <dgm:shape xmlns:r="http://schemas.openxmlformats.org/officeDocument/2006/relationships" r:blip="">
          <dgm:adjLst/>
        </dgm:shape>
        <dgm:presOf/>
        <dgm:constrLst/>
        <dgm:forEach name="Name28" ref="accentRepeat"/>
      </dgm:layoutNode>
    </dgm:forEach>
    <dgm:forEach name="Name29" axis="ch" ptType="sibTrans" hideLastTrans="0" st="3" cnt="1">
      <dgm:layoutNode name="image3">
        <dgm:alg type="sp"/>
        <dgm:shape xmlns:r="http://schemas.openxmlformats.org/officeDocument/2006/relationships" r:blip="">
          <dgm:adjLst/>
        </dgm:shape>
        <dgm:presOf/>
        <dgm:constrLst/>
        <dgm:forEach name="Name30" ref="imageRepeat"/>
      </dgm:layoutNode>
      <dgm:layoutNode name="imageaccent3">
        <dgm:alg type="sp"/>
        <dgm:shape xmlns:r="http://schemas.openxmlformats.org/officeDocument/2006/relationships" r:blip="">
          <dgm:adjLst/>
        </dgm:shape>
        <dgm:presOf/>
        <dgm:constrLst/>
        <dgm:forEach name="Name31" ref="accentRepeat"/>
      </dgm:layoutNode>
    </dgm:forEach>
    <dgm:forEach name="Name32" axis="ch" ptType="node" st="4" cnt="1">
      <dgm:layoutNode name="text4">
        <dgm:alg type="sp"/>
        <dgm:shape xmlns:r="http://schemas.openxmlformats.org/officeDocument/2006/relationships" r:blip="">
          <dgm:adjLst/>
        </dgm:shape>
        <dgm:presOf/>
        <dgm:constrLst/>
        <dgm:forEach name="Name33" ref="textRepeat"/>
      </dgm:layoutNode>
      <dgm:layoutNode name="textaccent4">
        <dgm:alg type="sp"/>
        <dgm:shape xmlns:r="http://schemas.openxmlformats.org/officeDocument/2006/relationships" r:blip="">
          <dgm:adjLst/>
        </dgm:shape>
        <dgm:presOf/>
        <dgm:constrLst/>
        <dgm:forEach name="Name34" ref="accentRepeat"/>
      </dgm:layoutNode>
    </dgm:forEach>
    <dgm:forEach name="Name35" axis="ch" ptType="sibTrans" hideLastTrans="0" st="4" cnt="1">
      <dgm:layoutNode name="image4">
        <dgm:alg type="sp"/>
        <dgm:shape xmlns:r="http://schemas.openxmlformats.org/officeDocument/2006/relationships" r:blip="">
          <dgm:adjLst/>
        </dgm:shape>
        <dgm:presOf/>
        <dgm:constrLst/>
        <dgm:forEach name="Name36" ref="imageRepeat"/>
      </dgm:layoutNode>
      <dgm:layoutNode name="imageaccent4">
        <dgm:alg type="sp"/>
        <dgm:shape xmlns:r="http://schemas.openxmlformats.org/officeDocument/2006/relationships" r:blip="">
          <dgm:adjLst/>
        </dgm:shape>
        <dgm:presOf/>
        <dgm:constrLst/>
        <dgm:forEach name="Name37" ref="accentRepeat"/>
      </dgm:layoutNode>
    </dgm:forEach>
    <dgm:forEach name="Name38" axis="ch" ptType="node" st="5" cnt="1">
      <dgm:layoutNode name="text5">
        <dgm:alg type="sp"/>
        <dgm:shape xmlns:r="http://schemas.openxmlformats.org/officeDocument/2006/relationships" r:blip="">
          <dgm:adjLst/>
        </dgm:shape>
        <dgm:presOf/>
        <dgm:constrLst/>
        <dgm:forEach name="Name39" ref="textRepeat"/>
      </dgm:layoutNode>
      <dgm:layoutNode name="textaccent5">
        <dgm:alg type="sp"/>
        <dgm:shape xmlns:r="http://schemas.openxmlformats.org/officeDocument/2006/relationships" r:blip="">
          <dgm:adjLst/>
        </dgm:shape>
        <dgm:presOf/>
        <dgm:constrLst/>
        <dgm:forEach name="Name40" ref="accentRepeat"/>
      </dgm:layoutNode>
    </dgm:forEach>
    <dgm:forEach name="Name41" axis="ch" ptType="sibTrans" hideLastTrans="0" st="5" cnt="1">
      <dgm:layoutNode name="image5">
        <dgm:alg type="sp"/>
        <dgm:shape xmlns:r="http://schemas.openxmlformats.org/officeDocument/2006/relationships" r:blip="">
          <dgm:adjLst/>
        </dgm:shape>
        <dgm:presOf/>
        <dgm:constrLst/>
        <dgm:forEach name="Name42" ref="imageRepeat"/>
      </dgm:layoutNode>
      <dgm:layoutNode name="imageaccent5">
        <dgm:alg type="sp"/>
        <dgm:shape xmlns:r="http://schemas.openxmlformats.org/officeDocument/2006/relationships" r:blip="">
          <dgm:adjLst/>
        </dgm:shape>
        <dgm:presOf/>
        <dgm:constrLst/>
        <dgm:forEach name="Name43" ref="accentRepeat"/>
      </dgm:layoutNode>
    </dgm:forEach>
    <dgm:forEach name="Name44" axis="ch" ptType="node" st="6" cnt="1">
      <dgm:layoutNode name="text6">
        <dgm:alg type="sp"/>
        <dgm:shape xmlns:r="http://schemas.openxmlformats.org/officeDocument/2006/relationships" r:blip="">
          <dgm:adjLst/>
        </dgm:shape>
        <dgm:presOf/>
        <dgm:constrLst/>
        <dgm:forEach name="Name45" ref="textRepeat"/>
      </dgm:layoutNode>
      <dgm:layoutNode name="textaccent6">
        <dgm:alg type="sp"/>
        <dgm:shape xmlns:r="http://schemas.openxmlformats.org/officeDocument/2006/relationships" r:blip="">
          <dgm:adjLst/>
        </dgm:shape>
        <dgm:presOf/>
        <dgm:constrLst/>
        <dgm:forEach name="Name46" ref="accentRepeat"/>
      </dgm:layoutNode>
    </dgm:forEach>
    <dgm:forEach name="Name47" axis="ch" ptType="sibTrans" hideLastTrans="0" st="6" cnt="1">
      <dgm:layoutNode name="image6">
        <dgm:alg type="sp"/>
        <dgm:shape xmlns:r="http://schemas.openxmlformats.org/officeDocument/2006/relationships" r:blip="">
          <dgm:adjLst/>
        </dgm:shape>
        <dgm:presOf/>
        <dgm:constrLst/>
        <dgm:forEach name="Name48" ref="imageRepeat"/>
      </dgm:layoutNode>
      <dgm:layoutNode name="imageaccent6">
        <dgm:alg type="sp"/>
        <dgm:shape xmlns:r="http://schemas.openxmlformats.org/officeDocument/2006/relationships" r:blip="">
          <dgm:adjLst/>
        </dgm:shape>
        <dgm:presOf/>
        <dgm:constrLst/>
        <dgm:forEach name="Name49" ref="accentRepeat"/>
      </dgm:layoutNode>
    </dgm:forEach>
    <dgm:forEach name="Name50" axis="ch" ptType="node" st="7" cnt="1">
      <dgm:layoutNode name="text7">
        <dgm:alg type="sp"/>
        <dgm:shape xmlns:r="http://schemas.openxmlformats.org/officeDocument/2006/relationships" r:blip="">
          <dgm:adjLst/>
        </dgm:shape>
        <dgm:presOf/>
        <dgm:constrLst/>
        <dgm:forEach name="Name51" ref="textRepeat"/>
      </dgm:layoutNode>
      <dgm:layoutNode name="textaccent7">
        <dgm:alg type="sp"/>
        <dgm:shape xmlns:r="http://schemas.openxmlformats.org/officeDocument/2006/relationships" r:blip="">
          <dgm:adjLst/>
        </dgm:shape>
        <dgm:presOf/>
        <dgm:constrLst/>
        <dgm:forEach name="Name52" ref="accentRepeat"/>
      </dgm:layoutNode>
    </dgm:forEach>
    <dgm:forEach name="Name53" axis="ch" ptType="sibTrans" hideLastTrans="0" st="7" cnt="1">
      <dgm:layoutNode name="image7">
        <dgm:alg type="sp"/>
        <dgm:shape xmlns:r="http://schemas.openxmlformats.org/officeDocument/2006/relationships" r:blip="">
          <dgm:adjLst/>
        </dgm:shape>
        <dgm:presOf/>
        <dgm:constrLst/>
        <dgm:forEach name="Name54" ref="imageRepeat"/>
      </dgm:layoutNode>
      <dgm:layoutNode name="imageaccent7">
        <dgm:alg type="sp"/>
        <dgm:shape xmlns:r="http://schemas.openxmlformats.org/officeDocument/2006/relationships" r:blip="">
          <dgm:adjLst/>
        </dgm:shape>
        <dgm:presOf/>
        <dgm:constrLst/>
        <dgm:forEach name="Name55" ref="accentRepeat"/>
      </dgm:layoutNode>
    </dgm:forEach>
    <dgm:forEach name="Name56" axis="ch" ptType="node" st="8" cnt="1">
      <dgm:layoutNode name="text8">
        <dgm:alg type="sp"/>
        <dgm:shape xmlns:r="http://schemas.openxmlformats.org/officeDocument/2006/relationships" r:blip="">
          <dgm:adjLst/>
        </dgm:shape>
        <dgm:presOf/>
        <dgm:constrLst/>
        <dgm:forEach name="Name57" ref="textRepeat"/>
      </dgm:layoutNode>
      <dgm:layoutNode name="textaccent8">
        <dgm:alg type="sp"/>
        <dgm:shape xmlns:r="http://schemas.openxmlformats.org/officeDocument/2006/relationships" r:blip="">
          <dgm:adjLst/>
        </dgm:shape>
        <dgm:presOf/>
        <dgm:constrLst/>
        <dgm:forEach name="Name58" ref="accentRepeat"/>
      </dgm:layoutNode>
    </dgm:forEach>
    <dgm:forEach name="Name59" axis="ch" ptType="sibTrans" hideLastTrans="0" st="8" cnt="1">
      <dgm:layoutNode name="image8">
        <dgm:alg type="sp"/>
        <dgm:shape xmlns:r="http://schemas.openxmlformats.org/officeDocument/2006/relationships" r:blip="">
          <dgm:adjLst/>
        </dgm:shape>
        <dgm:presOf/>
        <dgm:constrLst/>
        <dgm:forEach name="Name60" ref="imageRepeat"/>
      </dgm:layoutNode>
      <dgm:layoutNode name="imageaccent8">
        <dgm:alg type="sp"/>
        <dgm:shape xmlns:r="http://schemas.openxmlformats.org/officeDocument/2006/relationships" r:blip="">
          <dgm:adjLst/>
        </dgm:shape>
        <dgm:presOf/>
        <dgm:constrLst/>
        <dgm:forEach name="Name61" ref="accentRepeat"/>
      </dgm:layoutNode>
    </dgm:forEach>
    <dgm:forEach name="Name62" axis="ch" ptType="node" st="9" cnt="1">
      <dgm:layoutNode name="text9">
        <dgm:alg type="sp"/>
        <dgm:shape xmlns:r="http://schemas.openxmlformats.org/officeDocument/2006/relationships" r:blip="">
          <dgm:adjLst/>
        </dgm:shape>
        <dgm:presOf/>
        <dgm:constrLst/>
        <dgm:forEach name="Name63" ref="textRepeat"/>
      </dgm:layoutNode>
      <dgm:layoutNode name="textaccent9">
        <dgm:alg type="sp"/>
        <dgm:shape xmlns:r="http://schemas.openxmlformats.org/officeDocument/2006/relationships" r:blip="">
          <dgm:adjLst/>
        </dgm:shape>
        <dgm:presOf/>
        <dgm:constrLst/>
        <dgm:forEach name="Name64" ref="accentRepeat"/>
      </dgm:layoutNode>
    </dgm:forEach>
    <dgm:forEach name="Name65" axis="ch" ptType="sibTrans" hideLastTrans="0" st="9" cnt="1">
      <dgm:layoutNode name="image9">
        <dgm:alg type="sp"/>
        <dgm:shape xmlns:r="http://schemas.openxmlformats.org/officeDocument/2006/relationships" r:blip="">
          <dgm:adjLst/>
        </dgm:shape>
        <dgm:presOf/>
        <dgm:constrLst/>
        <dgm:forEach name="Name66" ref="imageRepeat"/>
      </dgm:layoutNode>
      <dgm:layoutNode name="imageaccent9">
        <dgm:alg type="sp"/>
        <dgm:shape xmlns:r="http://schemas.openxmlformats.org/officeDocument/2006/relationships" r:blip="">
          <dgm:adjLst/>
        </dgm:shape>
        <dgm:presOf/>
        <dgm:constrLst/>
        <dgm:forEach name="Name67" ref="accentRepeat"/>
      </dgm:layoutNode>
    </dgm:forEach>
    <dgm:forEach name="Name68" axis="ch" ptType="node" st="10" cnt="1">
      <dgm:layoutNode name="text10">
        <dgm:alg type="sp"/>
        <dgm:shape xmlns:r="http://schemas.openxmlformats.org/officeDocument/2006/relationships" r:blip="">
          <dgm:adjLst/>
        </dgm:shape>
        <dgm:presOf/>
        <dgm:constrLst/>
        <dgm:forEach name="Name69" ref="textRepeat"/>
      </dgm:layoutNode>
      <dgm:layoutNode name="textaccent10">
        <dgm:alg type="sp"/>
        <dgm:shape xmlns:r="http://schemas.openxmlformats.org/officeDocument/2006/relationships" r:blip="">
          <dgm:adjLst/>
        </dgm:shape>
        <dgm:presOf/>
        <dgm:constrLst/>
        <dgm:forEach name="Name70" ref="accentRepeat"/>
      </dgm:layoutNode>
    </dgm:forEach>
    <dgm:forEach name="Name71" axis="ch" ptType="sibTrans" hideLastTrans="0" st="10" cnt="1">
      <dgm:layoutNode name="image10">
        <dgm:alg type="sp"/>
        <dgm:shape xmlns:r="http://schemas.openxmlformats.org/officeDocument/2006/relationships" r:blip="">
          <dgm:adjLst/>
        </dgm:shape>
        <dgm:presOf/>
        <dgm:constrLst/>
        <dgm:forEach name="Name72" ref="imageRepeat"/>
      </dgm:layoutNode>
      <dgm:layoutNode name="imageaccent10">
        <dgm:alg type="sp"/>
        <dgm:shape xmlns:r="http://schemas.openxmlformats.org/officeDocument/2006/relationships" r:blip="">
          <dgm:adjLst/>
        </dgm:shape>
        <dgm:presOf/>
        <dgm:constrLst/>
        <dgm:forEach name="Name73" ref="accentRepeat"/>
      </dgm:layoutNode>
    </dgm:forEach>
    <dgm:forEach name="Name74" axis="ch" ptType="node" st="11" cnt="1">
      <dgm:layoutNode name="text11">
        <dgm:alg type="sp"/>
        <dgm:shape xmlns:r="http://schemas.openxmlformats.org/officeDocument/2006/relationships" r:blip="">
          <dgm:adjLst/>
        </dgm:shape>
        <dgm:presOf/>
        <dgm:constrLst/>
        <dgm:forEach name="Name75" ref="textRepeat"/>
      </dgm:layoutNode>
      <dgm:layoutNode name="textaccent11">
        <dgm:alg type="sp"/>
        <dgm:shape xmlns:r="http://schemas.openxmlformats.org/officeDocument/2006/relationships" r:blip="">
          <dgm:adjLst/>
        </dgm:shape>
        <dgm:presOf/>
        <dgm:constrLst/>
        <dgm:forEach name="Name76" ref="accentRepeat"/>
      </dgm:layoutNode>
    </dgm:forEach>
    <dgm:forEach name="Name77" axis="ch" ptType="sibTrans" hideLastTrans="0" st="11" cnt="1">
      <dgm:layoutNode name="image11">
        <dgm:alg type="sp"/>
        <dgm:shape xmlns:r="http://schemas.openxmlformats.org/officeDocument/2006/relationships" r:blip="">
          <dgm:adjLst/>
        </dgm:shape>
        <dgm:presOf/>
        <dgm:constrLst/>
        <dgm:forEach name="Name78" ref="imageRepeat"/>
      </dgm:layoutNode>
      <dgm:layoutNode name="imageaccent11">
        <dgm:alg type="sp"/>
        <dgm:shape xmlns:r="http://schemas.openxmlformats.org/officeDocument/2006/relationships" r:blip="">
          <dgm:adjLst/>
        </dgm:shape>
        <dgm:presOf/>
        <dgm:constrLst/>
        <dgm:forEach name="Name79" ref="accentRepeat"/>
      </dgm:layoutNode>
    </dgm:forEach>
    <dgm:forEach name="Name80" axis="ch" ptType="node" st="12" cnt="1">
      <dgm:layoutNode name="text12">
        <dgm:alg type="sp"/>
        <dgm:shape xmlns:r="http://schemas.openxmlformats.org/officeDocument/2006/relationships" r:blip="">
          <dgm:adjLst/>
        </dgm:shape>
        <dgm:presOf/>
        <dgm:constrLst/>
        <dgm:forEach name="Name81" ref="textRepeat"/>
      </dgm:layoutNode>
      <dgm:layoutNode name="textaccent12">
        <dgm:alg type="sp"/>
        <dgm:shape xmlns:r="http://schemas.openxmlformats.org/officeDocument/2006/relationships" r:blip="">
          <dgm:adjLst/>
        </dgm:shape>
        <dgm:presOf/>
        <dgm:constrLst/>
        <dgm:forEach name="Name82" ref="accentRepeat"/>
      </dgm:layoutNode>
    </dgm:forEach>
    <dgm:forEach name="Name83" axis="ch" ptType="sibTrans" hideLastTrans="0" st="12" cnt="1">
      <dgm:layoutNode name="image12">
        <dgm:alg type="sp"/>
        <dgm:shape xmlns:r="http://schemas.openxmlformats.org/officeDocument/2006/relationships" r:blip="">
          <dgm:adjLst/>
        </dgm:shape>
        <dgm:presOf/>
        <dgm:constrLst/>
        <dgm:forEach name="Name84" ref="imageRepeat"/>
      </dgm:layoutNode>
      <dgm:layoutNode name="imageaccent12">
        <dgm:alg type="sp"/>
        <dgm:shape xmlns:r="http://schemas.openxmlformats.org/officeDocument/2006/relationships" r:blip="">
          <dgm:adjLst/>
        </dgm:shape>
        <dgm:presOf/>
        <dgm:constrLst/>
        <dgm:forEach name="Name85" ref="accentRepea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BE9772-0FC7-4373-9864-DC1AEDFDC27E}" type="datetimeFigureOut">
              <a:rPr lang="en-US" smtClean="0"/>
              <a:t>9/22/2026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4601A0-D094-4C5C-BEC2-1E567935FB38}" type="slidenum">
              <a:rPr lang="en-US" smtClean="0"/>
              <a:t>‹#›</a:t>
            </a:fld>
            <a:endParaRPr lang="en-US"/>
          </a:p>
        </p:txBody>
      </p:sp>
    </p:spTree>
    <p:extLst>
      <p:ext uri="{BB962C8B-B14F-4D97-AF65-F5344CB8AC3E}">
        <p14:creationId xmlns:p14="http://schemas.microsoft.com/office/powerpoint/2010/main" val="22845962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6813ABD-31F5-4292-B81A-47CF1D61FF30}" type="slidenum">
              <a:rPr lang="en-US" smtClean="0"/>
              <a:t>4</a:t>
            </a:fld>
            <a:endParaRPr lang="en-US"/>
          </a:p>
        </p:txBody>
      </p:sp>
    </p:spTree>
    <p:extLst>
      <p:ext uri="{BB962C8B-B14F-4D97-AF65-F5344CB8AC3E}">
        <p14:creationId xmlns:p14="http://schemas.microsoft.com/office/powerpoint/2010/main" val="11931734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most well-studied breast cancer susceptibility genes, are very rare (much less than 1%) in the general population but occur slightly more often in certain ethnic or geographically isolated groups, such as those of Ashkenazi (Eastern European) Jewish descent (about 2%).</a:t>
            </a:r>
          </a:p>
          <a:p>
            <a:endParaRPr lang="en-US" dirty="0"/>
          </a:p>
          <a:p>
            <a:endParaRPr lang="en-US" dirty="0"/>
          </a:p>
        </p:txBody>
      </p:sp>
      <p:sp>
        <p:nvSpPr>
          <p:cNvPr id="4" name="Slide Number Placeholder 3"/>
          <p:cNvSpPr>
            <a:spLocks noGrp="1"/>
          </p:cNvSpPr>
          <p:nvPr>
            <p:ph type="sldNum" sz="quarter" idx="10"/>
          </p:nvPr>
        </p:nvSpPr>
        <p:spPr/>
        <p:txBody>
          <a:bodyPr/>
          <a:lstStyle/>
          <a:p>
            <a:fld id="{E6813ABD-31F5-4292-B81A-47CF1D61FF30}" type="slidenum">
              <a:rPr lang="en-US" smtClean="0"/>
              <a:t>17</a:t>
            </a:fld>
            <a:endParaRPr lang="en-US"/>
          </a:p>
        </p:txBody>
      </p:sp>
    </p:spTree>
    <p:extLst>
      <p:ext uri="{BB962C8B-B14F-4D97-AF65-F5344CB8AC3E}">
        <p14:creationId xmlns:p14="http://schemas.microsoft.com/office/powerpoint/2010/main" val="36914140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1600200"/>
            <a:ext cx="9997410" cy="1920240"/>
          </a:xfrm>
        </p:spPr>
        <p:txBody>
          <a:bodyPr anchor="b"/>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1097280" y="3794760"/>
            <a:ext cx="9997410" cy="155448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DDE5D9-D506-424E-80A5-32311F328351}" type="datetime4">
              <a:rPr lang="en-US" smtClean="0"/>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F307F9DC-E73A-4C30-9A8D-B660F8263803}" type="slidenum">
              <a:rPr lang="en-US" smtClean="0"/>
              <a:t>‹#›</a:t>
            </a:fld>
            <a:endParaRPr lang="en-US"/>
          </a:p>
        </p:txBody>
      </p:sp>
    </p:spTree>
    <p:extLst>
      <p:ext uri="{BB962C8B-B14F-4D97-AF65-F5344CB8AC3E}">
        <p14:creationId xmlns:p14="http://schemas.microsoft.com/office/powerpoint/2010/main" val="3653306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DDE5D9-D506-424E-80A5-32311F328351}" type="datetime4">
              <a:rPr lang="en-US" smtClean="0"/>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F307F9DC-E73A-4C30-9A8D-B660F8263803}" type="slidenum">
              <a:rPr lang="en-US" smtClean="0"/>
              <a:t>‹#›</a:t>
            </a:fld>
            <a:endParaRPr lang="en-US"/>
          </a:p>
        </p:txBody>
      </p:sp>
    </p:spTree>
    <p:extLst>
      <p:ext uri="{BB962C8B-B14F-4D97-AF65-F5344CB8AC3E}">
        <p14:creationId xmlns:p14="http://schemas.microsoft.com/office/powerpoint/2010/main" val="623687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DDE5D9-D506-424E-80A5-32311F328351}" type="datetime4">
              <a:rPr lang="en-US" smtClean="0"/>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F307F9DC-E73A-4C30-9A8D-B660F8263803}" type="slidenum">
              <a:rPr lang="en-US" smtClean="0"/>
              <a:t>‹#›</a:t>
            </a:fld>
            <a:endParaRPr lang="en-US"/>
          </a:p>
        </p:txBody>
      </p:sp>
    </p:spTree>
    <p:extLst>
      <p:ext uri="{BB962C8B-B14F-4D97-AF65-F5344CB8AC3E}">
        <p14:creationId xmlns:p14="http://schemas.microsoft.com/office/powerpoint/2010/main" val="2806101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48640" y="1417320"/>
            <a:ext cx="5364465"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78865" y="1417320"/>
            <a:ext cx="5364465"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DDE5D9-D506-424E-80A5-32311F328351}" type="datetime4">
              <a:rPr lang="en-US" smtClean="0"/>
              <a:t>September 22, 2026</a:t>
            </a:fld>
            <a:endParaRPr lang="en-US"/>
          </a:p>
        </p:txBody>
      </p:sp>
      <p:sp>
        <p:nvSpPr>
          <p:cNvPr id="6" name="Footer Placeholder 5"/>
          <p:cNvSpPr>
            <a:spLocks noGrp="1"/>
          </p:cNvSpPr>
          <p:nvPr>
            <p:ph type="ftr" sz="quarter" idx="11"/>
          </p:nvPr>
        </p:nvSpPr>
        <p:spPr/>
        <p:txBody>
          <a:bodyPr/>
          <a:lstStyle/>
          <a:p>
            <a:r>
              <a:rPr lang="en-US"/>
              <a:t>Management of breast cancer</a:t>
            </a:r>
          </a:p>
        </p:txBody>
      </p:sp>
      <p:sp>
        <p:nvSpPr>
          <p:cNvPr id="7" name="Slide Number Placeholder 6"/>
          <p:cNvSpPr>
            <a:spLocks noGrp="1"/>
          </p:cNvSpPr>
          <p:nvPr>
            <p:ph type="sldNum" sz="quarter" idx="12"/>
          </p:nvPr>
        </p:nvSpPr>
        <p:spPr/>
        <p:txBody>
          <a:bodyPr/>
          <a:lstStyle/>
          <a:p>
            <a:fld id="{F307F9DC-E73A-4C30-9A8D-B660F8263803}" type="slidenum">
              <a:rPr lang="en-US" smtClean="0"/>
              <a:t>‹#›</a:t>
            </a:fld>
            <a:endParaRPr lang="en-US"/>
          </a:p>
        </p:txBody>
      </p:sp>
    </p:spTree>
    <p:extLst>
      <p:ext uri="{BB962C8B-B14F-4D97-AF65-F5344CB8AC3E}">
        <p14:creationId xmlns:p14="http://schemas.microsoft.com/office/powerpoint/2010/main" val="2469719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DDE5D9-D506-424E-80A5-32311F328351}" type="datetime4">
              <a:rPr lang="en-US" smtClean="0"/>
              <a:t>September 22, 2026</a:t>
            </a:fld>
            <a:endParaRPr lang="en-US"/>
          </a:p>
        </p:txBody>
      </p:sp>
      <p:sp>
        <p:nvSpPr>
          <p:cNvPr id="8" name="Footer Placeholder 7"/>
          <p:cNvSpPr>
            <a:spLocks noGrp="1"/>
          </p:cNvSpPr>
          <p:nvPr>
            <p:ph type="ftr" sz="quarter" idx="11"/>
          </p:nvPr>
        </p:nvSpPr>
        <p:spPr/>
        <p:txBody>
          <a:bodyPr/>
          <a:lstStyle/>
          <a:p>
            <a:r>
              <a:rPr lang="en-US"/>
              <a:t>Management of breast cancer</a:t>
            </a:r>
          </a:p>
        </p:txBody>
      </p:sp>
      <p:sp>
        <p:nvSpPr>
          <p:cNvPr id="9" name="Slide Number Placeholder 8"/>
          <p:cNvSpPr>
            <a:spLocks noGrp="1"/>
          </p:cNvSpPr>
          <p:nvPr>
            <p:ph type="sldNum" sz="quarter" idx="12"/>
          </p:nvPr>
        </p:nvSpPr>
        <p:spPr/>
        <p:txBody>
          <a:bodyPr/>
          <a:lstStyle/>
          <a:p>
            <a:fld id="{F307F9DC-E73A-4C30-9A8D-B660F8263803}" type="slidenum">
              <a:rPr lang="en-US" smtClean="0"/>
              <a:t>‹#›</a:t>
            </a:fld>
            <a:endParaRPr lang="en-US"/>
          </a:p>
        </p:txBody>
      </p:sp>
    </p:spTree>
    <p:extLst>
      <p:ext uri="{BB962C8B-B14F-4D97-AF65-F5344CB8AC3E}">
        <p14:creationId xmlns:p14="http://schemas.microsoft.com/office/powerpoint/2010/main" val="1686918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1DDE5D9-D506-424E-80A5-32311F328351}" type="datetime4">
              <a:rPr lang="en-US" smtClean="0"/>
              <a:t>September 22, 2026</a:t>
            </a:fld>
            <a:endParaRPr lang="en-US"/>
          </a:p>
        </p:txBody>
      </p:sp>
      <p:sp>
        <p:nvSpPr>
          <p:cNvPr id="4" name="Footer Placeholder 3"/>
          <p:cNvSpPr>
            <a:spLocks noGrp="1"/>
          </p:cNvSpPr>
          <p:nvPr>
            <p:ph type="ftr" sz="quarter" idx="11"/>
          </p:nvPr>
        </p:nvSpPr>
        <p:spPr/>
        <p:txBody>
          <a:bodyPr/>
          <a:lstStyle/>
          <a:p>
            <a:r>
              <a:rPr lang="en-US"/>
              <a:t>Management of breast cancer</a:t>
            </a:r>
          </a:p>
        </p:txBody>
      </p:sp>
      <p:sp>
        <p:nvSpPr>
          <p:cNvPr id="5" name="Slide Number Placeholder 4"/>
          <p:cNvSpPr>
            <a:spLocks noGrp="1"/>
          </p:cNvSpPr>
          <p:nvPr>
            <p:ph type="sldNum" sz="quarter" idx="12"/>
          </p:nvPr>
        </p:nvSpPr>
        <p:spPr/>
        <p:txBody>
          <a:bodyPr/>
          <a:lstStyle/>
          <a:p>
            <a:fld id="{F307F9DC-E73A-4C30-9A8D-B660F8263803}" type="slidenum">
              <a:rPr lang="en-US" smtClean="0"/>
              <a:t>‹#›</a:t>
            </a:fld>
            <a:endParaRPr lang="en-US"/>
          </a:p>
        </p:txBody>
      </p:sp>
    </p:spTree>
    <p:extLst>
      <p:ext uri="{BB962C8B-B14F-4D97-AF65-F5344CB8AC3E}">
        <p14:creationId xmlns:p14="http://schemas.microsoft.com/office/powerpoint/2010/main" val="2113132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DDE5D9-D506-424E-80A5-32311F328351}" type="datetime4">
              <a:rPr lang="en-US" smtClean="0"/>
              <a:t>September 22, 2026</a:t>
            </a:fld>
            <a:endParaRPr lang="en-US"/>
          </a:p>
        </p:txBody>
      </p:sp>
      <p:sp>
        <p:nvSpPr>
          <p:cNvPr id="3" name="Footer Placeholder 2"/>
          <p:cNvSpPr>
            <a:spLocks noGrp="1"/>
          </p:cNvSpPr>
          <p:nvPr>
            <p:ph type="ftr" sz="quarter" idx="11"/>
          </p:nvPr>
        </p:nvSpPr>
        <p:spPr/>
        <p:txBody>
          <a:bodyPr/>
          <a:lstStyle/>
          <a:p>
            <a:r>
              <a:rPr lang="en-US"/>
              <a:t>Management of breast cancer</a:t>
            </a:r>
          </a:p>
        </p:txBody>
      </p:sp>
      <p:sp>
        <p:nvSpPr>
          <p:cNvPr id="4" name="Slide Number Placeholder 3"/>
          <p:cNvSpPr>
            <a:spLocks noGrp="1"/>
          </p:cNvSpPr>
          <p:nvPr>
            <p:ph type="sldNum" sz="quarter" idx="12"/>
          </p:nvPr>
        </p:nvSpPr>
        <p:spPr/>
        <p:txBody>
          <a:bodyPr/>
          <a:lstStyle/>
          <a:p>
            <a:fld id="{F307F9DC-E73A-4C30-9A8D-B660F8263803}" type="slidenum">
              <a:rPr lang="en-US" smtClean="0"/>
              <a:t>‹#›</a:t>
            </a:fld>
            <a:endParaRPr lang="en-US"/>
          </a:p>
        </p:txBody>
      </p:sp>
    </p:spTree>
    <p:extLst>
      <p:ext uri="{BB962C8B-B14F-4D97-AF65-F5344CB8AC3E}">
        <p14:creationId xmlns:p14="http://schemas.microsoft.com/office/powerpoint/2010/main" val="3335614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DDE5D9-D506-424E-80A5-32311F328351}" type="datetime4">
              <a:rPr lang="en-US" smtClean="0"/>
              <a:t>September 22, 2026</a:t>
            </a:fld>
            <a:endParaRPr lang="en-US"/>
          </a:p>
        </p:txBody>
      </p:sp>
      <p:sp>
        <p:nvSpPr>
          <p:cNvPr id="6" name="Footer Placeholder 5"/>
          <p:cNvSpPr>
            <a:spLocks noGrp="1"/>
          </p:cNvSpPr>
          <p:nvPr>
            <p:ph type="ftr" sz="quarter" idx="11"/>
          </p:nvPr>
        </p:nvSpPr>
        <p:spPr/>
        <p:txBody>
          <a:bodyPr/>
          <a:lstStyle/>
          <a:p>
            <a:r>
              <a:rPr lang="en-US"/>
              <a:t>Management of breast cancer</a:t>
            </a:r>
          </a:p>
        </p:txBody>
      </p:sp>
      <p:sp>
        <p:nvSpPr>
          <p:cNvPr id="7" name="Slide Number Placeholder 6"/>
          <p:cNvSpPr>
            <a:spLocks noGrp="1"/>
          </p:cNvSpPr>
          <p:nvPr>
            <p:ph type="sldNum" sz="quarter" idx="12"/>
          </p:nvPr>
        </p:nvSpPr>
        <p:spPr/>
        <p:txBody>
          <a:bodyPr/>
          <a:lstStyle/>
          <a:p>
            <a:fld id="{F307F9DC-E73A-4C30-9A8D-B660F8263803}" type="slidenum">
              <a:rPr lang="en-US" smtClean="0"/>
              <a:t>‹#›</a:t>
            </a:fld>
            <a:endParaRPr lang="en-US"/>
          </a:p>
        </p:txBody>
      </p:sp>
    </p:spTree>
    <p:extLst>
      <p:ext uri="{BB962C8B-B14F-4D97-AF65-F5344CB8AC3E}">
        <p14:creationId xmlns:p14="http://schemas.microsoft.com/office/powerpoint/2010/main" val="882572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DDE5D9-D506-424E-80A5-32311F328351}" type="datetime4">
              <a:rPr lang="en-US" smtClean="0"/>
              <a:t>September 22, 2026</a:t>
            </a:fld>
            <a:endParaRPr lang="en-US"/>
          </a:p>
        </p:txBody>
      </p:sp>
      <p:sp>
        <p:nvSpPr>
          <p:cNvPr id="6" name="Footer Placeholder 5"/>
          <p:cNvSpPr>
            <a:spLocks noGrp="1"/>
          </p:cNvSpPr>
          <p:nvPr>
            <p:ph type="ftr" sz="quarter" idx="11"/>
          </p:nvPr>
        </p:nvSpPr>
        <p:spPr/>
        <p:txBody>
          <a:bodyPr/>
          <a:lstStyle/>
          <a:p>
            <a:r>
              <a:rPr lang="en-US"/>
              <a:t>Management of breast cancer</a:t>
            </a:r>
          </a:p>
        </p:txBody>
      </p:sp>
      <p:sp>
        <p:nvSpPr>
          <p:cNvPr id="7" name="Slide Number Placeholder 6"/>
          <p:cNvSpPr>
            <a:spLocks noGrp="1"/>
          </p:cNvSpPr>
          <p:nvPr>
            <p:ph type="sldNum" sz="quarter" idx="12"/>
          </p:nvPr>
        </p:nvSpPr>
        <p:spPr/>
        <p:txBody>
          <a:bodyPr/>
          <a:lstStyle/>
          <a:p>
            <a:fld id="{F307F9DC-E73A-4C30-9A8D-B660F8263803}" type="slidenum">
              <a:rPr lang="en-US" smtClean="0"/>
              <a:t>‹#›</a:t>
            </a:fld>
            <a:endParaRPr lang="en-US"/>
          </a:p>
        </p:txBody>
      </p:sp>
    </p:spTree>
    <p:extLst>
      <p:ext uri="{BB962C8B-B14F-4D97-AF65-F5344CB8AC3E}">
        <p14:creationId xmlns:p14="http://schemas.microsoft.com/office/powerpoint/2010/main" val="3311567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DDE5D9-D506-424E-80A5-32311F328351}" type="datetime4">
              <a:rPr lang="en-US" smtClean="0"/>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F307F9DC-E73A-4C30-9A8D-B660F8263803}" type="slidenum">
              <a:rPr lang="en-US" smtClean="0"/>
              <a:t>‹#›</a:t>
            </a:fld>
            <a:endParaRPr lang="en-US"/>
          </a:p>
        </p:txBody>
      </p:sp>
    </p:spTree>
    <p:extLst>
      <p:ext uri="{BB962C8B-B14F-4D97-AF65-F5344CB8AC3E}">
        <p14:creationId xmlns:p14="http://schemas.microsoft.com/office/powerpoint/2010/main" val="3016351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DDE5D9-D506-424E-80A5-32311F328351}" type="datetime4">
              <a:rPr lang="en-US" smtClean="0"/>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F307F9DC-E73A-4C30-9A8D-B660F8263803}" type="slidenum">
              <a:rPr lang="en-US" smtClean="0"/>
              <a:t>‹#›</a:t>
            </a:fld>
            <a:endParaRPr lang="en-US"/>
          </a:p>
        </p:txBody>
      </p:sp>
    </p:spTree>
    <p:extLst>
      <p:ext uri="{BB962C8B-B14F-4D97-AF65-F5344CB8AC3E}">
        <p14:creationId xmlns:p14="http://schemas.microsoft.com/office/powerpoint/2010/main" val="173244793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320040"/>
            <a:ext cx="11094690" cy="96012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8640" y="1417320"/>
            <a:ext cx="1109469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8640" y="6355080"/>
            <a:ext cx="2743200" cy="365760"/>
          </a:xfrm>
          <a:prstGeom prst="rect">
            <a:avLst/>
          </a:prstGeom>
        </p:spPr>
        <p:txBody>
          <a:bodyPr vert="horz" lIns="91440" tIns="45720" rIns="91440" bIns="45720" rtlCol="0" anchor="ctr"/>
          <a:lstStyle>
            <a:lvl1pPr algn="l">
              <a:defRPr sz="1200">
                <a:solidFill>
                  <a:schemeClr val="tx1">
                    <a:tint val="75000"/>
                  </a:schemeClr>
                </a:solidFill>
              </a:defRPr>
            </a:lvl1pPr>
          </a:lstStyle>
          <a:p>
            <a:fld id="{41DDE5D9-D506-424E-80A5-32311F328351}" type="datetime4">
              <a:rPr lang="en-US" smtClean="0"/>
              <a:t>September 22, 2026</a:t>
            </a:fld>
            <a:endParaRPr lang="en-US"/>
          </a:p>
        </p:txBody>
      </p:sp>
      <p:sp>
        <p:nvSpPr>
          <p:cNvPr id="5" name="Footer Placeholder 4"/>
          <p:cNvSpPr>
            <a:spLocks noGrp="1"/>
          </p:cNvSpPr>
          <p:nvPr>
            <p:ph type="ftr" sz="quarter" idx="3"/>
          </p:nvPr>
        </p:nvSpPr>
        <p:spPr>
          <a:xfrm>
            <a:off x="3809985" y="6355080"/>
            <a:ext cx="4572000" cy="365760"/>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Management of breast cancer</a:t>
            </a:r>
          </a:p>
        </p:txBody>
      </p:sp>
      <p:sp>
        <p:nvSpPr>
          <p:cNvPr id="6" name="Slide Number Placeholder 5"/>
          <p:cNvSpPr>
            <a:spLocks noGrp="1"/>
          </p:cNvSpPr>
          <p:nvPr>
            <p:ph type="sldNum" sz="quarter" idx="4"/>
          </p:nvPr>
        </p:nvSpPr>
        <p:spPr>
          <a:xfrm>
            <a:off x="10180290" y="6355080"/>
            <a:ext cx="1463040" cy="365760"/>
          </a:xfrm>
          <a:prstGeom prst="rect">
            <a:avLst/>
          </a:prstGeom>
        </p:spPr>
        <p:txBody>
          <a:bodyPr vert="horz" lIns="91440" tIns="45720" rIns="91440" bIns="45720" rtlCol="0" anchor="ctr"/>
          <a:lstStyle>
            <a:lvl1pPr algn="r">
              <a:defRPr sz="1200">
                <a:solidFill>
                  <a:schemeClr val="tx1">
                    <a:tint val="75000"/>
                  </a:schemeClr>
                </a:solidFill>
              </a:defRPr>
            </a:lvl1pPr>
          </a:lstStyle>
          <a:p>
            <a:fld id="{F307F9DC-E73A-4C30-9A8D-B660F8263803}" type="slidenum">
              <a:rPr lang="en-US" smtClean="0"/>
              <a:t>‹#›</a:t>
            </a:fld>
            <a:endParaRPr lang="en-US"/>
          </a:p>
        </p:txBody>
      </p:sp>
    </p:spTree>
    <p:extLst>
      <p:ext uri="{BB962C8B-B14F-4D97-AF65-F5344CB8AC3E}">
        <p14:creationId xmlns:p14="http://schemas.microsoft.com/office/powerpoint/2010/main" val="10605481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2800" b="1" kern="1200">
          <a:solidFill>
            <a:srgbClr val="242021"/>
          </a:solidFill>
          <a:latin typeface="+mj-lt"/>
          <a:ea typeface="+mj-ea"/>
          <a:cs typeface="+mj-cs"/>
        </a:defRPr>
      </a:lvl1pPr>
    </p:titleStyle>
    <p:bodyStyle>
      <a:lvl1pPr marL="274320" indent="-274320" algn="l" defTabSz="914400" rtl="0" eaLnBrk="1" latinLnBrk="0" hangingPunct="1">
        <a:lnSpc>
          <a:spcPct val="100000"/>
        </a:lnSpc>
        <a:spcBef>
          <a:spcPts val="900"/>
        </a:spcBef>
        <a:buClr>
          <a:srgbClr val="7A1B3D"/>
        </a:buClr>
        <a:buFont typeface="Arial"/>
        <a:buChar char="•"/>
        <a:defRPr sz="2400" kern="1200">
          <a:solidFill>
            <a:schemeClr val="tx1"/>
          </a:solidFill>
          <a:latin typeface="+mn-lt"/>
          <a:ea typeface="+mn-ea"/>
          <a:cs typeface="+mn-cs"/>
        </a:defRPr>
      </a:lvl1pPr>
      <a:lvl2pPr marL="685800" indent="-256032" algn="l" defTabSz="914400" rtl="0" eaLnBrk="1" latinLnBrk="0" hangingPunct="1">
        <a:lnSpc>
          <a:spcPct val="100000"/>
        </a:lnSpc>
        <a:spcBef>
          <a:spcPts val="500"/>
        </a:spcBef>
        <a:buClr>
          <a:srgbClr val="7A1B3D"/>
        </a:buClr>
        <a:buFont typeface="Arial"/>
        <a:buChar char="–"/>
        <a:defRPr sz="2000" kern="1200">
          <a:solidFill>
            <a:schemeClr val="tx1"/>
          </a:solidFill>
          <a:latin typeface="+mn-lt"/>
          <a:ea typeface="+mn-ea"/>
          <a:cs typeface="+mn-cs"/>
        </a:defRPr>
      </a:lvl2pPr>
      <a:lvl3pPr marL="1051560" indent="-237744" algn="l" defTabSz="914400" rtl="0" eaLnBrk="1" latinLnBrk="0" hangingPunct="1">
        <a:lnSpc>
          <a:spcPct val="100000"/>
        </a:lnSpc>
        <a:spcBef>
          <a:spcPts val="400"/>
        </a:spcBef>
        <a:buClr>
          <a:srgbClr val="7A1B3D"/>
        </a:buClr>
        <a:buFont typeface="Arial"/>
        <a:buChar char="•"/>
        <a:defRPr sz="1800" kern="1200">
          <a:solidFill>
            <a:schemeClr val="tx1"/>
          </a:solidFill>
          <a:latin typeface="+mn-lt"/>
          <a:ea typeface="+mn-ea"/>
          <a:cs typeface="+mn-cs"/>
        </a:defRPr>
      </a:lvl3pPr>
      <a:lvl4pPr marL="1371600" indent="-219456" algn="l" defTabSz="914400" rtl="0" eaLnBrk="1" latinLnBrk="0" hangingPunct="1">
        <a:lnSpc>
          <a:spcPct val="100000"/>
        </a:lnSpc>
        <a:spcBef>
          <a:spcPts val="300"/>
        </a:spcBef>
        <a:buClr>
          <a:srgbClr val="7A1B3D"/>
        </a:buClr>
        <a:buFont typeface="Arial"/>
        <a:buChar char="–"/>
        <a:defRPr sz="1600" kern="1200">
          <a:solidFill>
            <a:schemeClr val="tx1"/>
          </a:solidFill>
          <a:latin typeface="+mn-lt"/>
          <a:ea typeface="+mn-ea"/>
          <a:cs typeface="+mn-cs"/>
        </a:defRPr>
      </a:lvl4pPr>
      <a:lvl5pPr marL="1691640" indent="-219456" algn="l" defTabSz="914400" rtl="0" eaLnBrk="1" latinLnBrk="0" hangingPunct="1">
        <a:lnSpc>
          <a:spcPct val="100000"/>
        </a:lnSpc>
        <a:spcBef>
          <a:spcPts val="300"/>
        </a:spcBef>
        <a:buClr>
          <a:srgbClr val="7A1B3D"/>
        </a:buClr>
        <a:buFont typeface="Arial"/>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diagramData" Target="../diagrams/data2.xml"/><Relationship Id="rId8" Type="http://schemas.openxmlformats.org/officeDocument/2006/relationships/diagramLayout" Target="../diagrams/layout2.xml"/><Relationship Id="rId9" Type="http://schemas.openxmlformats.org/officeDocument/2006/relationships/diagramQuickStyle" Target="../diagrams/quickStyle2.xml"/><Relationship Id="rId10" Type="http://schemas.openxmlformats.org/officeDocument/2006/relationships/diagramColors" Target="../diagrams/colors2.xml"/><Relationship Id="rId11" Type="http://schemas.microsoft.com/office/2007/relationships/diagramDrawing" Target="../diagrams/drawin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3.xml"/><Relationship Id="rId3" Type="http://schemas.openxmlformats.org/officeDocument/2006/relationships/diagramLayout" Target="../diagrams/layout3.xml"/><Relationship Id="rId4" Type="http://schemas.openxmlformats.org/officeDocument/2006/relationships/diagramQuickStyle" Target="../diagrams/quickStyle3.xml"/><Relationship Id="rId5" Type="http://schemas.openxmlformats.org/officeDocument/2006/relationships/diagramColors" Target="../diagrams/colors3.xml"/><Relationship Id="rId6" Type="http://schemas.microsoft.com/office/2007/relationships/diagramDrawing" Target="../diagrams/drawing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4.xml"/><Relationship Id="rId3" Type="http://schemas.openxmlformats.org/officeDocument/2006/relationships/diagramLayout" Target="../diagrams/layout4.xml"/><Relationship Id="rId4" Type="http://schemas.openxmlformats.org/officeDocument/2006/relationships/diagramQuickStyle" Target="../diagrams/quickStyle4.xml"/><Relationship Id="rId5" Type="http://schemas.openxmlformats.org/officeDocument/2006/relationships/diagramColors" Target="../diagrams/colors4.xml"/><Relationship Id="rId6" Type="http://schemas.microsoft.com/office/2007/relationships/diagramDrawing" Target="../diagrams/drawing4.xml"/><Relationship Id="rId7" Type="http://schemas.openxmlformats.org/officeDocument/2006/relationships/image" Target="../media/image1.PNG"/><Relationship Id="rId8" Type="http://schemas.openxmlformats.org/officeDocument/2006/relationships/image" Target="../media/image2.PNG"/><Relationship Id="rId9" Type="http://schemas.openxmlformats.org/officeDocument/2006/relationships/image" Target="../media/image3.png"/><Relationship Id="rId10"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diagramData" Target="../diagrams/data5.xml"/><Relationship Id="rId4" Type="http://schemas.openxmlformats.org/officeDocument/2006/relationships/diagramLayout" Target="../diagrams/layout5.xml"/><Relationship Id="rId5" Type="http://schemas.openxmlformats.org/officeDocument/2006/relationships/diagramQuickStyle" Target="../diagrams/quickStyle5.xml"/><Relationship Id="rId6" Type="http://schemas.openxmlformats.org/officeDocument/2006/relationships/diagramColors" Target="../diagrams/colors5.xml"/><Relationship Id="rId7" Type="http://schemas.microsoft.com/office/2007/relationships/diagramDrawing" Target="../diagrams/drawing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6.xml"/><Relationship Id="rId3" Type="http://schemas.openxmlformats.org/officeDocument/2006/relationships/diagramLayout" Target="../diagrams/layout6.xml"/><Relationship Id="rId4" Type="http://schemas.openxmlformats.org/officeDocument/2006/relationships/diagramQuickStyle" Target="../diagrams/quickStyle6.xml"/><Relationship Id="rId5" Type="http://schemas.openxmlformats.org/officeDocument/2006/relationships/diagramColors" Target="../diagrams/colors6.xml"/><Relationship Id="rId6" Type="http://schemas.microsoft.com/office/2007/relationships/diagramDrawing" Target="../diagrams/drawing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7.xml"/><Relationship Id="rId3" Type="http://schemas.openxmlformats.org/officeDocument/2006/relationships/diagramLayout" Target="../diagrams/layout7.xml"/><Relationship Id="rId4" Type="http://schemas.openxmlformats.org/officeDocument/2006/relationships/diagramQuickStyle" Target="../diagrams/quickStyle7.xml"/><Relationship Id="rId5" Type="http://schemas.openxmlformats.org/officeDocument/2006/relationships/diagramColors" Target="../diagrams/colors7.xml"/><Relationship Id="rId6" Type="http://schemas.microsoft.com/office/2007/relationships/diagramDrawing" Target="../diagrams/drawing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8.xml"/><Relationship Id="rId3" Type="http://schemas.openxmlformats.org/officeDocument/2006/relationships/diagramLayout" Target="../diagrams/layout8.xml"/><Relationship Id="rId4" Type="http://schemas.openxmlformats.org/officeDocument/2006/relationships/diagramQuickStyle" Target="../diagrams/quickStyle8.xml"/><Relationship Id="rId5" Type="http://schemas.openxmlformats.org/officeDocument/2006/relationships/diagramColors" Target="../diagrams/colors8.xml"/><Relationship Id="rId6" Type="http://schemas.microsoft.com/office/2007/relationships/diagramDrawing" Target="../diagrams/drawing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9.xml"/><Relationship Id="rId3" Type="http://schemas.openxmlformats.org/officeDocument/2006/relationships/diagramLayout" Target="../diagrams/layout9.xml"/><Relationship Id="rId4" Type="http://schemas.openxmlformats.org/officeDocument/2006/relationships/diagramQuickStyle" Target="../diagrams/quickStyle9.xml"/><Relationship Id="rId5" Type="http://schemas.openxmlformats.org/officeDocument/2006/relationships/diagramColors" Target="../diagrams/colors9.xml"/><Relationship Id="rId6" Type="http://schemas.microsoft.com/office/2007/relationships/diagramDrawing" Target="../diagrams/drawing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0.xml"/><Relationship Id="rId3" Type="http://schemas.openxmlformats.org/officeDocument/2006/relationships/diagramLayout" Target="../diagrams/layout10.xml"/><Relationship Id="rId4" Type="http://schemas.openxmlformats.org/officeDocument/2006/relationships/diagramQuickStyle" Target="../diagrams/quickStyle10.xml"/><Relationship Id="rId5" Type="http://schemas.openxmlformats.org/officeDocument/2006/relationships/diagramColors" Target="../diagrams/colors10.xml"/><Relationship Id="rId6" Type="http://schemas.microsoft.com/office/2007/relationships/diagramDrawing" Target="../diagrams/drawing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1.xml"/><Relationship Id="rId3" Type="http://schemas.openxmlformats.org/officeDocument/2006/relationships/diagramLayout" Target="../diagrams/layout11.xml"/><Relationship Id="rId4" Type="http://schemas.openxmlformats.org/officeDocument/2006/relationships/diagramQuickStyle" Target="../diagrams/quickStyle11.xml"/><Relationship Id="rId5" Type="http://schemas.openxmlformats.org/officeDocument/2006/relationships/diagramColors" Target="../diagrams/colors11.xml"/><Relationship Id="rId6" Type="http://schemas.microsoft.com/office/2007/relationships/diagramDrawing" Target="../diagrams/drawing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2.xml"/><Relationship Id="rId3" Type="http://schemas.openxmlformats.org/officeDocument/2006/relationships/diagramLayout" Target="../diagrams/layout12.xml"/><Relationship Id="rId4" Type="http://schemas.openxmlformats.org/officeDocument/2006/relationships/diagramQuickStyle" Target="../diagrams/quickStyle12.xml"/><Relationship Id="rId5" Type="http://schemas.openxmlformats.org/officeDocument/2006/relationships/diagramColors" Target="../diagrams/colors12.xml"/><Relationship Id="rId6" Type="http://schemas.microsoft.com/office/2007/relationships/diagramDrawing" Target="../diagrams/drawing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3.xml"/><Relationship Id="rId3" Type="http://schemas.openxmlformats.org/officeDocument/2006/relationships/diagramLayout" Target="../diagrams/layout13.xml"/><Relationship Id="rId4" Type="http://schemas.openxmlformats.org/officeDocument/2006/relationships/diagramQuickStyle" Target="../diagrams/quickStyle13.xml"/><Relationship Id="rId5" Type="http://schemas.openxmlformats.org/officeDocument/2006/relationships/diagramColors" Target="../diagrams/colors13.xml"/><Relationship Id="rId6" Type="http://schemas.microsoft.com/office/2007/relationships/diagramDrawing" Target="../diagrams/drawing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4.xml"/><Relationship Id="rId3" Type="http://schemas.openxmlformats.org/officeDocument/2006/relationships/diagramLayout" Target="../diagrams/layout14.xml"/><Relationship Id="rId4" Type="http://schemas.openxmlformats.org/officeDocument/2006/relationships/diagramQuickStyle" Target="../diagrams/quickStyle14.xml"/><Relationship Id="rId5" Type="http://schemas.openxmlformats.org/officeDocument/2006/relationships/diagramColors" Target="../diagrams/colors14.xml"/><Relationship Id="rId6" Type="http://schemas.microsoft.com/office/2007/relationships/diagramDrawing" Target="../diagrams/drawing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5.xml"/><Relationship Id="rId3" Type="http://schemas.openxmlformats.org/officeDocument/2006/relationships/diagramLayout" Target="../diagrams/layout15.xml"/><Relationship Id="rId4" Type="http://schemas.openxmlformats.org/officeDocument/2006/relationships/diagramQuickStyle" Target="../diagrams/quickStyle15.xml"/><Relationship Id="rId5" Type="http://schemas.openxmlformats.org/officeDocument/2006/relationships/diagramColors" Target="../diagrams/colors15.xml"/><Relationship Id="rId6" Type="http://schemas.microsoft.com/office/2007/relationships/diagramDrawing" Target="../diagrams/drawing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6.xml"/><Relationship Id="rId3" Type="http://schemas.openxmlformats.org/officeDocument/2006/relationships/diagramLayout" Target="../diagrams/layout16.xml"/><Relationship Id="rId4" Type="http://schemas.openxmlformats.org/officeDocument/2006/relationships/diagramQuickStyle" Target="../diagrams/quickStyle16.xml"/><Relationship Id="rId5" Type="http://schemas.openxmlformats.org/officeDocument/2006/relationships/diagramColors" Target="../diagrams/colors16.xml"/><Relationship Id="rId6" Type="http://schemas.microsoft.com/office/2007/relationships/diagramDrawing" Target="../diagrams/drawing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7.xml"/><Relationship Id="rId3" Type="http://schemas.openxmlformats.org/officeDocument/2006/relationships/diagramLayout" Target="../diagrams/layout17.xml"/><Relationship Id="rId4" Type="http://schemas.openxmlformats.org/officeDocument/2006/relationships/diagramQuickStyle" Target="../diagrams/quickStyle17.xml"/><Relationship Id="rId5" Type="http://schemas.openxmlformats.org/officeDocument/2006/relationships/diagramColors" Target="../diagrams/colors17.xml"/><Relationship Id="rId6" Type="http://schemas.microsoft.com/office/2007/relationships/diagramDrawing" Target="../diagrams/drawing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diagramData" Target="../diagrams/data18.xml"/><Relationship Id="rId4" Type="http://schemas.openxmlformats.org/officeDocument/2006/relationships/diagramLayout" Target="../diagrams/layout18.xml"/><Relationship Id="rId5" Type="http://schemas.openxmlformats.org/officeDocument/2006/relationships/diagramQuickStyle" Target="../diagrams/quickStyle18.xml"/><Relationship Id="rId6" Type="http://schemas.openxmlformats.org/officeDocument/2006/relationships/diagramColors" Target="../diagrams/colors18.xml"/><Relationship Id="rId7" Type="http://schemas.microsoft.com/office/2007/relationships/diagramDrawing" Target="../diagrams/drawing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9.xml"/><Relationship Id="rId3" Type="http://schemas.openxmlformats.org/officeDocument/2006/relationships/diagramLayout" Target="../diagrams/layout19.xml"/><Relationship Id="rId4" Type="http://schemas.openxmlformats.org/officeDocument/2006/relationships/diagramQuickStyle" Target="../diagrams/quickStyle19.xml"/><Relationship Id="rId5" Type="http://schemas.openxmlformats.org/officeDocument/2006/relationships/diagramColors" Target="../diagrams/colors19.xml"/><Relationship Id="rId6" Type="http://schemas.microsoft.com/office/2007/relationships/diagramDrawing" Target="../diagrams/drawing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20.xml"/><Relationship Id="rId3" Type="http://schemas.openxmlformats.org/officeDocument/2006/relationships/diagramLayout" Target="../diagrams/layout20.xml"/><Relationship Id="rId4" Type="http://schemas.openxmlformats.org/officeDocument/2006/relationships/diagramQuickStyle" Target="../diagrams/quickStyle20.xml"/><Relationship Id="rId5" Type="http://schemas.openxmlformats.org/officeDocument/2006/relationships/diagramColors" Target="../diagrams/colors20.xml"/><Relationship Id="rId6" Type="http://schemas.microsoft.com/office/2007/relationships/diagramDrawing" Target="../diagrams/drawing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21.xml"/><Relationship Id="rId3" Type="http://schemas.openxmlformats.org/officeDocument/2006/relationships/diagramLayout" Target="../diagrams/layout21.xml"/><Relationship Id="rId4" Type="http://schemas.openxmlformats.org/officeDocument/2006/relationships/diagramQuickStyle" Target="../diagrams/quickStyle21.xml"/><Relationship Id="rId5" Type="http://schemas.openxmlformats.org/officeDocument/2006/relationships/diagramColors" Target="../diagrams/colors21.xml"/><Relationship Id="rId6" Type="http://schemas.microsoft.com/office/2007/relationships/diagramDrawing" Target="../diagrams/drawing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22.xml"/><Relationship Id="rId3" Type="http://schemas.openxmlformats.org/officeDocument/2006/relationships/diagramLayout" Target="../diagrams/layout22.xml"/><Relationship Id="rId4" Type="http://schemas.openxmlformats.org/officeDocument/2006/relationships/diagramQuickStyle" Target="../diagrams/quickStyle22.xml"/><Relationship Id="rId5" Type="http://schemas.openxmlformats.org/officeDocument/2006/relationships/diagramColors" Target="../diagrams/colors22.xml"/><Relationship Id="rId6" Type="http://schemas.microsoft.com/office/2007/relationships/diagramDrawing" Target="../diagrams/drawing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23.xml"/><Relationship Id="rId3" Type="http://schemas.openxmlformats.org/officeDocument/2006/relationships/diagramLayout" Target="../diagrams/layout23.xml"/><Relationship Id="rId4" Type="http://schemas.openxmlformats.org/officeDocument/2006/relationships/diagramQuickStyle" Target="../diagrams/quickStyle23.xml"/><Relationship Id="rId5" Type="http://schemas.openxmlformats.org/officeDocument/2006/relationships/diagramColors" Target="../diagrams/colors23.xml"/><Relationship Id="rId6" Type="http://schemas.microsoft.com/office/2007/relationships/diagramDrawing" Target="../diagrams/drawing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24.xml"/><Relationship Id="rId3" Type="http://schemas.openxmlformats.org/officeDocument/2006/relationships/diagramLayout" Target="../diagrams/layout24.xml"/><Relationship Id="rId4" Type="http://schemas.openxmlformats.org/officeDocument/2006/relationships/diagramQuickStyle" Target="../diagrams/quickStyle24.xml"/><Relationship Id="rId5" Type="http://schemas.openxmlformats.org/officeDocument/2006/relationships/diagramColors" Target="../diagrams/colors24.xml"/><Relationship Id="rId6" Type="http://schemas.microsoft.com/office/2007/relationships/diagramDrawing" Target="../diagrams/drawing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25.xml"/><Relationship Id="rId3" Type="http://schemas.openxmlformats.org/officeDocument/2006/relationships/diagramLayout" Target="../diagrams/layout25.xml"/><Relationship Id="rId4" Type="http://schemas.openxmlformats.org/officeDocument/2006/relationships/diagramQuickStyle" Target="../diagrams/quickStyle25.xml"/><Relationship Id="rId5" Type="http://schemas.openxmlformats.org/officeDocument/2006/relationships/diagramColors" Target="../diagrams/colors25.xml"/><Relationship Id="rId6" Type="http://schemas.microsoft.com/office/2007/relationships/diagramDrawing" Target="../diagrams/drawing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26.xml"/><Relationship Id="rId3" Type="http://schemas.openxmlformats.org/officeDocument/2006/relationships/diagramLayout" Target="../diagrams/layout26.xml"/><Relationship Id="rId4" Type="http://schemas.openxmlformats.org/officeDocument/2006/relationships/diagramQuickStyle" Target="../diagrams/quickStyle26.xml"/><Relationship Id="rId5" Type="http://schemas.openxmlformats.org/officeDocument/2006/relationships/diagramColors" Target="../diagrams/colors26.xml"/><Relationship Id="rId6" Type="http://schemas.microsoft.com/office/2007/relationships/diagramDrawing" Target="../diagrams/drawing26.xml"/><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27.xml"/><Relationship Id="rId3" Type="http://schemas.openxmlformats.org/officeDocument/2006/relationships/diagramLayout" Target="../diagrams/layout27.xml"/><Relationship Id="rId4" Type="http://schemas.openxmlformats.org/officeDocument/2006/relationships/diagramQuickStyle" Target="../diagrams/quickStyle27.xml"/><Relationship Id="rId5" Type="http://schemas.openxmlformats.org/officeDocument/2006/relationships/diagramColors" Target="../diagrams/colors27.xml"/><Relationship Id="rId6" Type="http://schemas.microsoft.com/office/2007/relationships/diagramDrawing" Target="../diagrams/drawing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28.xml"/><Relationship Id="rId3" Type="http://schemas.openxmlformats.org/officeDocument/2006/relationships/diagramLayout" Target="../diagrams/layout28.xml"/><Relationship Id="rId4" Type="http://schemas.openxmlformats.org/officeDocument/2006/relationships/diagramQuickStyle" Target="../diagrams/quickStyle28.xml"/><Relationship Id="rId5" Type="http://schemas.openxmlformats.org/officeDocument/2006/relationships/diagramColors" Target="../diagrams/colors28.xml"/><Relationship Id="rId6" Type="http://schemas.microsoft.com/office/2007/relationships/diagramDrawing" Target="../diagrams/drawing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29.xml"/><Relationship Id="rId3" Type="http://schemas.openxmlformats.org/officeDocument/2006/relationships/diagramLayout" Target="../diagrams/layout29.xml"/><Relationship Id="rId4" Type="http://schemas.openxmlformats.org/officeDocument/2006/relationships/diagramQuickStyle" Target="../diagrams/quickStyle29.xml"/><Relationship Id="rId5" Type="http://schemas.openxmlformats.org/officeDocument/2006/relationships/diagramColors" Target="../diagrams/colors29.xml"/><Relationship Id="rId6" Type="http://schemas.microsoft.com/office/2007/relationships/diagramDrawing" Target="../diagrams/drawing29.xml"/><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30.xml"/><Relationship Id="rId3" Type="http://schemas.openxmlformats.org/officeDocument/2006/relationships/diagramLayout" Target="../diagrams/layout30.xml"/><Relationship Id="rId4" Type="http://schemas.openxmlformats.org/officeDocument/2006/relationships/diagramQuickStyle" Target="../diagrams/quickStyle30.xml"/><Relationship Id="rId5" Type="http://schemas.openxmlformats.org/officeDocument/2006/relationships/diagramColors" Target="../diagrams/colors30.xml"/><Relationship Id="rId6" Type="http://schemas.microsoft.com/office/2007/relationships/diagramDrawing" Target="../diagrams/drawing30.xml"/><Relationship Id="rId7"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31.xml"/><Relationship Id="rId3" Type="http://schemas.openxmlformats.org/officeDocument/2006/relationships/diagramLayout" Target="../diagrams/layout31.xml"/><Relationship Id="rId4" Type="http://schemas.openxmlformats.org/officeDocument/2006/relationships/diagramQuickStyle" Target="../diagrams/quickStyle31.xml"/><Relationship Id="rId5" Type="http://schemas.openxmlformats.org/officeDocument/2006/relationships/diagramColors" Target="../diagrams/colors31.xml"/><Relationship Id="rId6" Type="http://schemas.microsoft.com/office/2007/relationships/diagramDrawing" Target="../diagrams/drawing31.xml"/><Relationship Id="rId7"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32.xml"/><Relationship Id="rId3" Type="http://schemas.openxmlformats.org/officeDocument/2006/relationships/diagramLayout" Target="../diagrams/layout32.xml"/><Relationship Id="rId4" Type="http://schemas.openxmlformats.org/officeDocument/2006/relationships/diagramQuickStyle" Target="../diagrams/quickStyle32.xml"/><Relationship Id="rId5" Type="http://schemas.openxmlformats.org/officeDocument/2006/relationships/diagramColors" Target="../diagrams/colors32.xml"/><Relationship Id="rId6" Type="http://schemas.microsoft.com/office/2007/relationships/diagramDrawing" Target="../diagrams/drawing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diagramData" Target="../diagrams/data33.xml"/><Relationship Id="rId3" Type="http://schemas.openxmlformats.org/officeDocument/2006/relationships/diagramLayout" Target="../diagrams/layout33.xml"/><Relationship Id="rId4" Type="http://schemas.openxmlformats.org/officeDocument/2006/relationships/diagramQuickStyle" Target="../diagrams/quickStyle33.xml"/><Relationship Id="rId5" Type="http://schemas.openxmlformats.org/officeDocument/2006/relationships/diagramColors" Target="../diagrams/colors33.xml"/><Relationship Id="rId6" Type="http://schemas.microsoft.com/office/2007/relationships/diagramDrawing" Target="../diagrams/drawing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34.xml"/><Relationship Id="rId3" Type="http://schemas.openxmlformats.org/officeDocument/2006/relationships/diagramLayout" Target="../diagrams/layout34.xml"/><Relationship Id="rId4" Type="http://schemas.openxmlformats.org/officeDocument/2006/relationships/diagramQuickStyle" Target="../diagrams/quickStyle34.xml"/><Relationship Id="rId5" Type="http://schemas.openxmlformats.org/officeDocument/2006/relationships/diagramColors" Target="../diagrams/colors34.xml"/><Relationship Id="rId6" Type="http://schemas.microsoft.com/office/2007/relationships/diagramDrawing" Target="../diagrams/drawing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35.xml"/><Relationship Id="rId3" Type="http://schemas.openxmlformats.org/officeDocument/2006/relationships/diagramLayout" Target="../diagrams/layout35.xml"/><Relationship Id="rId4" Type="http://schemas.openxmlformats.org/officeDocument/2006/relationships/diagramQuickStyle" Target="../diagrams/quickStyle35.xml"/><Relationship Id="rId5" Type="http://schemas.openxmlformats.org/officeDocument/2006/relationships/diagramColors" Target="../diagrams/colors35.xml"/><Relationship Id="rId6" Type="http://schemas.microsoft.com/office/2007/relationships/diagramDrawing" Target="../diagrams/drawing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36.xml"/><Relationship Id="rId3" Type="http://schemas.openxmlformats.org/officeDocument/2006/relationships/diagramLayout" Target="../diagrams/layout36.xml"/><Relationship Id="rId4" Type="http://schemas.openxmlformats.org/officeDocument/2006/relationships/diagramQuickStyle" Target="../diagrams/quickStyle36.xml"/><Relationship Id="rId5" Type="http://schemas.openxmlformats.org/officeDocument/2006/relationships/diagramColors" Target="../diagrams/colors36.xml"/><Relationship Id="rId6" Type="http://schemas.microsoft.com/office/2007/relationships/diagramDrawing" Target="../diagrams/drawing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37.xml"/><Relationship Id="rId3" Type="http://schemas.openxmlformats.org/officeDocument/2006/relationships/diagramLayout" Target="../diagrams/layout37.xml"/><Relationship Id="rId4" Type="http://schemas.openxmlformats.org/officeDocument/2006/relationships/diagramQuickStyle" Target="../diagrams/quickStyle37.xml"/><Relationship Id="rId5" Type="http://schemas.openxmlformats.org/officeDocument/2006/relationships/diagramColors" Target="../diagrams/colors37.xml"/><Relationship Id="rId6" Type="http://schemas.microsoft.com/office/2007/relationships/diagramDrawing" Target="../diagrams/drawing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diagramData" Target="../diagrams/data38.xml"/><Relationship Id="rId3" Type="http://schemas.openxmlformats.org/officeDocument/2006/relationships/diagramLayout" Target="../diagrams/layout38.xml"/><Relationship Id="rId4" Type="http://schemas.openxmlformats.org/officeDocument/2006/relationships/diagramQuickStyle" Target="../diagrams/quickStyle38.xml"/><Relationship Id="rId5" Type="http://schemas.openxmlformats.org/officeDocument/2006/relationships/diagramColors" Target="../diagrams/colors38.xml"/><Relationship Id="rId6" Type="http://schemas.microsoft.com/office/2007/relationships/diagramDrawing" Target="../diagrams/drawing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39.xml"/><Relationship Id="rId3" Type="http://schemas.openxmlformats.org/officeDocument/2006/relationships/diagramLayout" Target="../diagrams/layout39.xml"/><Relationship Id="rId4" Type="http://schemas.openxmlformats.org/officeDocument/2006/relationships/diagramQuickStyle" Target="../diagrams/quickStyle39.xml"/><Relationship Id="rId5" Type="http://schemas.openxmlformats.org/officeDocument/2006/relationships/diagramColors" Target="../diagrams/colors39.xml"/><Relationship Id="rId6" Type="http://schemas.microsoft.com/office/2007/relationships/diagramDrawing" Target="../diagrams/drawing39.xml"/><Relationship Id="rId7" Type="http://schemas.openxmlformats.org/officeDocument/2006/relationships/diagramData" Target="../diagrams/data40.xml"/><Relationship Id="rId8" Type="http://schemas.openxmlformats.org/officeDocument/2006/relationships/diagramLayout" Target="../diagrams/layout40.xml"/><Relationship Id="rId9" Type="http://schemas.openxmlformats.org/officeDocument/2006/relationships/diagramQuickStyle" Target="../diagrams/quickStyle40.xml"/><Relationship Id="rId10" Type="http://schemas.openxmlformats.org/officeDocument/2006/relationships/diagramColors" Target="../diagrams/colors40.xml"/><Relationship Id="rId11" Type="http://schemas.microsoft.com/office/2007/relationships/diagramDrawing" Target="../diagrams/drawing4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41.xml"/><Relationship Id="rId3" Type="http://schemas.openxmlformats.org/officeDocument/2006/relationships/diagramLayout" Target="../diagrams/layout41.xml"/><Relationship Id="rId4" Type="http://schemas.openxmlformats.org/officeDocument/2006/relationships/diagramQuickStyle" Target="../diagrams/quickStyle41.xml"/><Relationship Id="rId5" Type="http://schemas.openxmlformats.org/officeDocument/2006/relationships/diagramColors" Target="../diagrams/colors41.xml"/><Relationship Id="rId6" Type="http://schemas.microsoft.com/office/2007/relationships/diagramDrawing" Target="../diagrams/drawing41.xml"/><Relationship Id="rId7" Type="http://schemas.openxmlformats.org/officeDocument/2006/relationships/diagramData" Target="../diagrams/data42.xml"/><Relationship Id="rId8" Type="http://schemas.openxmlformats.org/officeDocument/2006/relationships/diagramLayout" Target="../diagrams/layout42.xml"/><Relationship Id="rId9" Type="http://schemas.openxmlformats.org/officeDocument/2006/relationships/diagramQuickStyle" Target="../diagrams/quickStyle42.xml"/><Relationship Id="rId10" Type="http://schemas.openxmlformats.org/officeDocument/2006/relationships/diagramColors" Target="../diagrams/colors42.xml"/><Relationship Id="rId11" Type="http://schemas.microsoft.com/office/2007/relationships/diagramDrawing" Target="../diagrams/drawing4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43.xml"/><Relationship Id="rId3" Type="http://schemas.openxmlformats.org/officeDocument/2006/relationships/diagramLayout" Target="../diagrams/layout43.xml"/><Relationship Id="rId4" Type="http://schemas.openxmlformats.org/officeDocument/2006/relationships/diagramQuickStyle" Target="../diagrams/quickStyle43.xml"/><Relationship Id="rId5" Type="http://schemas.openxmlformats.org/officeDocument/2006/relationships/diagramColors" Target="../diagrams/colors43.xml"/><Relationship Id="rId6" Type="http://schemas.microsoft.com/office/2007/relationships/diagramDrawing" Target="../diagrams/drawing4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diagramData" Target="../diagrams/data44.xml"/><Relationship Id="rId3" Type="http://schemas.openxmlformats.org/officeDocument/2006/relationships/diagramLayout" Target="../diagrams/layout44.xml"/><Relationship Id="rId4" Type="http://schemas.openxmlformats.org/officeDocument/2006/relationships/diagramQuickStyle" Target="../diagrams/quickStyle44.xml"/><Relationship Id="rId5" Type="http://schemas.openxmlformats.org/officeDocument/2006/relationships/diagramColors" Target="../diagrams/colors44.xml"/><Relationship Id="rId6" Type="http://schemas.microsoft.com/office/2007/relationships/diagramDrawing" Target="../diagrams/drawing44.xml"/><Relationship Id="rId7" Type="http://schemas.openxmlformats.org/officeDocument/2006/relationships/diagramData" Target="../diagrams/data45.xml"/><Relationship Id="rId8" Type="http://schemas.openxmlformats.org/officeDocument/2006/relationships/diagramLayout" Target="../diagrams/layout45.xml"/><Relationship Id="rId9" Type="http://schemas.openxmlformats.org/officeDocument/2006/relationships/diagramQuickStyle" Target="../diagrams/quickStyle45.xml"/><Relationship Id="rId10" Type="http://schemas.openxmlformats.org/officeDocument/2006/relationships/diagramColors" Target="../diagrams/colors45.xml"/><Relationship Id="rId11" Type="http://schemas.microsoft.com/office/2007/relationships/diagramDrawing" Target="../diagrams/drawing4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diagramData" Target="../diagrams/data46.xml"/><Relationship Id="rId3" Type="http://schemas.openxmlformats.org/officeDocument/2006/relationships/diagramLayout" Target="../diagrams/layout46.xml"/><Relationship Id="rId4" Type="http://schemas.openxmlformats.org/officeDocument/2006/relationships/diagramQuickStyle" Target="../diagrams/quickStyle46.xml"/><Relationship Id="rId5" Type="http://schemas.openxmlformats.org/officeDocument/2006/relationships/diagramColors" Target="../diagrams/colors46.xml"/><Relationship Id="rId6" Type="http://schemas.microsoft.com/office/2007/relationships/diagramDrawing" Target="../diagrams/drawing4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diagramData" Target="../diagrams/data47.xml"/><Relationship Id="rId3" Type="http://schemas.openxmlformats.org/officeDocument/2006/relationships/diagramLayout" Target="../diagrams/layout47.xml"/><Relationship Id="rId4" Type="http://schemas.openxmlformats.org/officeDocument/2006/relationships/diagramQuickStyle" Target="../diagrams/quickStyle47.xml"/><Relationship Id="rId5" Type="http://schemas.openxmlformats.org/officeDocument/2006/relationships/diagramColors" Target="../diagrams/colors47.xml"/><Relationship Id="rId6" Type="http://schemas.microsoft.com/office/2007/relationships/diagramDrawing" Target="../diagrams/drawing4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48.xml"/><Relationship Id="rId3" Type="http://schemas.openxmlformats.org/officeDocument/2006/relationships/diagramLayout" Target="../diagrams/layout48.xml"/><Relationship Id="rId4" Type="http://schemas.openxmlformats.org/officeDocument/2006/relationships/diagramQuickStyle" Target="../diagrams/quickStyle48.xml"/><Relationship Id="rId5" Type="http://schemas.openxmlformats.org/officeDocument/2006/relationships/diagramColors" Target="../diagrams/colors48.xml"/><Relationship Id="rId6" Type="http://schemas.microsoft.com/office/2007/relationships/diagramDrawing" Target="../diagrams/drawing48.xml"/><Relationship Id="rId7" Type="http://schemas.openxmlformats.org/officeDocument/2006/relationships/image" Target="../media/image2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49.xml"/><Relationship Id="rId3" Type="http://schemas.openxmlformats.org/officeDocument/2006/relationships/diagramLayout" Target="../diagrams/layout49.xml"/><Relationship Id="rId4" Type="http://schemas.openxmlformats.org/officeDocument/2006/relationships/diagramQuickStyle" Target="../diagrams/quickStyle49.xml"/><Relationship Id="rId5" Type="http://schemas.openxmlformats.org/officeDocument/2006/relationships/diagramColors" Target="../diagrams/colors49.xml"/><Relationship Id="rId6" Type="http://schemas.microsoft.com/office/2007/relationships/diagramDrawing" Target="../diagrams/drawing4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diagramData" Target="../diagrams/data50.xml"/><Relationship Id="rId3" Type="http://schemas.openxmlformats.org/officeDocument/2006/relationships/diagramLayout" Target="../diagrams/layout50.xml"/><Relationship Id="rId4" Type="http://schemas.openxmlformats.org/officeDocument/2006/relationships/diagramQuickStyle" Target="../diagrams/quickStyle50.xml"/><Relationship Id="rId5" Type="http://schemas.openxmlformats.org/officeDocument/2006/relationships/diagramColors" Target="../diagrams/colors50.xml"/><Relationship Id="rId6" Type="http://schemas.microsoft.com/office/2007/relationships/diagramDrawing" Target="../diagrams/drawing50.xml"/><Relationship Id="rId7" Type="http://schemas.openxmlformats.org/officeDocument/2006/relationships/diagramData" Target="../diagrams/data51.xml"/><Relationship Id="rId8" Type="http://schemas.openxmlformats.org/officeDocument/2006/relationships/diagramLayout" Target="../diagrams/layout51.xml"/><Relationship Id="rId9" Type="http://schemas.openxmlformats.org/officeDocument/2006/relationships/diagramQuickStyle" Target="../diagrams/quickStyle51.xml"/><Relationship Id="rId10" Type="http://schemas.openxmlformats.org/officeDocument/2006/relationships/diagramColors" Target="../diagrams/colors51.xml"/><Relationship Id="rId11" Type="http://schemas.microsoft.com/office/2007/relationships/diagramDrawing" Target="../diagrams/drawing5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52.xml"/><Relationship Id="rId3" Type="http://schemas.openxmlformats.org/officeDocument/2006/relationships/diagramLayout" Target="../diagrams/layout52.xml"/><Relationship Id="rId4" Type="http://schemas.openxmlformats.org/officeDocument/2006/relationships/diagramQuickStyle" Target="../diagrams/quickStyle52.xml"/><Relationship Id="rId5" Type="http://schemas.openxmlformats.org/officeDocument/2006/relationships/diagramColors" Target="../diagrams/colors52.xml"/><Relationship Id="rId6" Type="http://schemas.microsoft.com/office/2007/relationships/diagramDrawing" Target="../diagrams/drawing52.xml"/><Relationship Id="rId7" Type="http://schemas.openxmlformats.org/officeDocument/2006/relationships/diagramData" Target="../diagrams/data53.xml"/><Relationship Id="rId8" Type="http://schemas.openxmlformats.org/officeDocument/2006/relationships/diagramLayout" Target="../diagrams/layout53.xml"/><Relationship Id="rId9" Type="http://schemas.openxmlformats.org/officeDocument/2006/relationships/diagramQuickStyle" Target="../diagrams/quickStyle53.xml"/><Relationship Id="rId10" Type="http://schemas.openxmlformats.org/officeDocument/2006/relationships/diagramColors" Target="../diagrams/colors53.xml"/><Relationship Id="rId11" Type="http://schemas.microsoft.com/office/2007/relationships/diagramDrawing" Target="../diagrams/drawing5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7" Type="http://schemas.openxmlformats.org/officeDocument/2006/relationships/image" Target="../media/image2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diagramData" Target="../diagrams/data55.xml"/><Relationship Id="rId3" Type="http://schemas.openxmlformats.org/officeDocument/2006/relationships/diagramLayout" Target="../diagrams/layout55.xml"/><Relationship Id="rId4" Type="http://schemas.openxmlformats.org/officeDocument/2006/relationships/diagramQuickStyle" Target="../diagrams/quickStyle55.xml"/><Relationship Id="rId5" Type="http://schemas.openxmlformats.org/officeDocument/2006/relationships/diagramColors" Target="../diagrams/colors55.xml"/><Relationship Id="rId6" Type="http://schemas.microsoft.com/office/2007/relationships/diagramDrawing" Target="../diagrams/drawing5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7" Type="http://schemas.openxmlformats.org/officeDocument/2006/relationships/image" Target="../media/image2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57.xml"/><Relationship Id="rId3" Type="http://schemas.openxmlformats.org/officeDocument/2006/relationships/diagramLayout" Target="../diagrams/layout57.xml"/><Relationship Id="rId4" Type="http://schemas.openxmlformats.org/officeDocument/2006/relationships/diagramQuickStyle" Target="../diagrams/quickStyle57.xml"/><Relationship Id="rId5" Type="http://schemas.openxmlformats.org/officeDocument/2006/relationships/diagramColors" Target="../diagrams/colors57.xml"/><Relationship Id="rId6" Type="http://schemas.microsoft.com/office/2007/relationships/diagramDrawing" Target="../diagrams/drawing5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7" Type="http://schemas.openxmlformats.org/officeDocument/2006/relationships/image" Target="../media/image24.PNG"/><Relationship Id="rId8" Type="http://schemas.openxmlformats.org/officeDocument/2006/relationships/image" Target="../media/image2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59.xml"/><Relationship Id="rId3" Type="http://schemas.openxmlformats.org/officeDocument/2006/relationships/diagramLayout" Target="../diagrams/layout59.xml"/><Relationship Id="rId4" Type="http://schemas.openxmlformats.org/officeDocument/2006/relationships/diagramQuickStyle" Target="../diagrams/quickStyle59.xml"/><Relationship Id="rId5" Type="http://schemas.openxmlformats.org/officeDocument/2006/relationships/diagramColors" Target="../diagrams/colors59.xml"/><Relationship Id="rId6" Type="http://schemas.microsoft.com/office/2007/relationships/diagramDrawing" Target="../diagrams/drawing5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60.xml"/><Relationship Id="rId3" Type="http://schemas.openxmlformats.org/officeDocument/2006/relationships/diagramLayout" Target="../diagrams/layout60.xml"/><Relationship Id="rId4" Type="http://schemas.openxmlformats.org/officeDocument/2006/relationships/diagramQuickStyle" Target="../diagrams/quickStyle60.xml"/><Relationship Id="rId5" Type="http://schemas.openxmlformats.org/officeDocument/2006/relationships/diagramColors" Target="../diagrams/colors60.xml"/><Relationship Id="rId6" Type="http://schemas.microsoft.com/office/2007/relationships/diagramDrawing" Target="../diagrams/drawing6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diagramData" Target="../diagrams/data62.xml"/><Relationship Id="rId3" Type="http://schemas.openxmlformats.org/officeDocument/2006/relationships/diagramLayout" Target="../diagrams/layout62.xml"/><Relationship Id="rId4" Type="http://schemas.openxmlformats.org/officeDocument/2006/relationships/diagramQuickStyle" Target="../diagrams/quickStyle62.xml"/><Relationship Id="rId5" Type="http://schemas.openxmlformats.org/officeDocument/2006/relationships/diagramColors" Target="../diagrams/colors62.xml"/><Relationship Id="rId6" Type="http://schemas.microsoft.com/office/2007/relationships/diagramDrawing" Target="../diagrams/drawing6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63.xml"/><Relationship Id="rId3" Type="http://schemas.openxmlformats.org/officeDocument/2006/relationships/diagramLayout" Target="../diagrams/layout63.xml"/><Relationship Id="rId4" Type="http://schemas.openxmlformats.org/officeDocument/2006/relationships/diagramQuickStyle" Target="../diagrams/quickStyle63.xml"/><Relationship Id="rId5" Type="http://schemas.openxmlformats.org/officeDocument/2006/relationships/diagramColors" Target="../diagrams/colors63.xml"/><Relationship Id="rId6" Type="http://schemas.microsoft.com/office/2007/relationships/diagramDrawing" Target="../diagrams/drawing6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64.xml"/><Relationship Id="rId3" Type="http://schemas.openxmlformats.org/officeDocument/2006/relationships/diagramLayout" Target="../diagrams/layout64.xml"/><Relationship Id="rId4" Type="http://schemas.openxmlformats.org/officeDocument/2006/relationships/diagramQuickStyle" Target="../diagrams/quickStyle64.xml"/><Relationship Id="rId5" Type="http://schemas.openxmlformats.org/officeDocument/2006/relationships/diagramColors" Target="../diagrams/colors64.xml"/><Relationship Id="rId6" Type="http://schemas.microsoft.com/office/2007/relationships/diagramDrawing" Target="../diagrams/drawing6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2691963185"/>
              </p:ext>
            </p:extLst>
          </p:nvPr>
        </p:nvGraphicFramePr>
        <p:xfrm>
          <a:off x="1097280" y="1600200"/>
          <a:ext cx="9997410" cy="1920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Diagram 7"/>
          <p:cNvGraphicFramePr/>
          <p:nvPr>
            <p:extLst>
              <p:ext uri="{D42A27DB-BD31-4B8C-83A1-F6EECF244321}">
                <p14:modId xmlns:p14="http://schemas.microsoft.com/office/powerpoint/2010/main" val="2340355760"/>
              </p:ext>
            </p:extLst>
          </p:nvPr>
        </p:nvGraphicFramePr>
        <p:xfrm>
          <a:off x="1097280" y="3794760"/>
          <a:ext cx="9997410" cy="155448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1</a:t>
            </a:fld>
            <a:endParaRPr lang="en-US"/>
          </a:p>
        </p:txBody>
      </p:sp>
    </p:spTree>
    <p:extLst>
      <p:ext uri="{BB962C8B-B14F-4D97-AF65-F5344CB8AC3E}">
        <p14:creationId xmlns:p14="http://schemas.microsoft.com/office/powerpoint/2010/main" val="23106808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FBDD78BF-2A8F-D756-7E95-3FF48A4DA34B}"/>
              </a:ext>
            </a:extLst>
          </p:cNvPr>
          <p:cNvSpPr>
            <a:spLocks noGrp="1"/>
          </p:cNvSpPr>
          <p:nvPr>
            <p:ph idx="1"/>
          </p:nvPr>
        </p:nvSpPr>
        <p:spPr/>
        <p:txBody>
          <a:bodyPr>
            <a:normAutofit/>
          </a:bodyPr>
          <a:lstStyle>
            <a:lvl1pPr>
              <a:defRPr sz="2800"/>
            </a:lvl1pPr>
            <a:lvl2pPr>
              <a:defRPr sz="2400"/>
            </a:lvl2pPr>
            <a:lvl3pPr>
              <a:defRPr sz="2200"/>
            </a:lvl3pPr>
            <a:lvl4pPr>
              <a:defRPr sz="2000"/>
            </a:lvl4pPr>
            <a:lvl5pPr>
              <a:defRPr sz="2000"/>
            </a:lvl5pPr>
          </a:lstStyle>
          <a:p>
            <a:r>
              <a:rPr lang="en-US" b="1" dirty="0"/>
              <a:t>Brief anatomy</a:t>
            </a:r>
          </a:p>
          <a:p>
            <a:r>
              <a:rPr lang="en-US" b="1" dirty="0"/>
              <a:t>Epidemiology and Risk factors for breast cancer</a:t>
            </a:r>
          </a:p>
          <a:p>
            <a:r>
              <a:rPr lang="en-US" b="1" dirty="0"/>
              <a:t>Risk assessment and screening  of breast cancer</a:t>
            </a:r>
          </a:p>
          <a:p>
            <a:r>
              <a:rPr lang="en-US" b="1" dirty="0"/>
              <a:t>Histopathology of breast cancer</a:t>
            </a:r>
          </a:p>
          <a:p>
            <a:r>
              <a:rPr lang="en-US" b="1" dirty="0"/>
              <a:t>Diagnosis of breast cancer</a:t>
            </a:r>
          </a:p>
          <a:p>
            <a:r>
              <a:rPr lang="en-US" b="1" dirty="0"/>
              <a:t>Staging of breast cancer</a:t>
            </a:r>
          </a:p>
          <a:p>
            <a:r>
              <a:rPr lang="en-US" b="1" dirty="0"/>
              <a:t>Treatment  of breast cancer</a:t>
            </a:r>
          </a:p>
          <a:p>
            <a:r>
              <a:rPr lang="en-US" b="1" dirty="0"/>
              <a:t>References</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2</a:t>
            </a:fld>
            <a:endParaRPr lang="en-US"/>
          </a:p>
        </p:txBody>
      </p:sp>
    </p:spTree>
    <p:extLst>
      <p:ext uri="{BB962C8B-B14F-4D97-AF65-F5344CB8AC3E}">
        <p14:creationId xmlns:p14="http://schemas.microsoft.com/office/powerpoint/2010/main" val="1936709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p:cNvSpPr>
            <a:spLocks noGrp="1"/>
          </p:cNvSpPr>
          <p:nvPr>
            <p:ph idx="1"/>
          </p:nvPr>
        </p:nvSpPr>
        <p:spPr>
          <a:xfrm>
            <a:off x="548640" y="1417320"/>
            <a:ext cx="4160520" cy="4800600"/>
          </a:xfrm>
        </p:spPr>
        <p:txBody>
          <a:bodyPr>
            <a:normAutofit/>
          </a:bodyPr>
          <a:lstStyle>
            <a:lvl1pPr>
              <a:defRPr sz="1800"/>
            </a:lvl1pPr>
            <a:lvl2pPr>
              <a:defRPr sz="1400"/>
            </a:lvl2pPr>
            <a:lvl3pPr>
              <a:defRPr sz="1400"/>
            </a:lvl3pPr>
            <a:lvl4pPr>
              <a:defRPr sz="1400"/>
            </a:lvl4pPr>
            <a:lvl5pPr>
              <a:defRPr sz="1400"/>
            </a:lvl5pPr>
          </a:lstStyle>
          <a:p>
            <a:pPr marL="0" indent="0">
              <a:spcBef>
                <a:spcPts val="800"/>
              </a:spcBef>
              <a:buNone/>
            </a:pPr>
            <a:r>
              <a:rPr lang="en-US" sz="2000" b="1"/>
              <a:t>Embryology</a:t>
            </a:r>
          </a:p>
          <a:p>
            <a:pPr lvl="1"/>
            <a:r>
              <a:rPr lang="en-US"/>
              <a:t>"Milk line" (axilla to groin) at ≈5 weeks; nipple = proliferation of the stratum spinosum</a:t>
            </a:r>
          </a:p>
          <a:p>
            <a:pPr marL="0" indent="0">
              <a:spcBef>
                <a:spcPts val="800"/>
              </a:spcBef>
              <a:buNone/>
            </a:pPr>
            <a:r>
              <a:rPr lang="en-US" sz="2000" b="1"/>
              <a:t>Gross anatomy</a:t>
            </a:r>
          </a:p>
          <a:p>
            <a:pPr lvl="1"/>
            <a:r>
              <a:rPr lang="en-US"/>
              <a:t>15–20 lobes → lactiferous ducts; lobes = TDLUs, the origin of most cancers</a:t>
            </a:r>
          </a:p>
          <a:p>
            <a:pPr marL="0" indent="0">
              <a:spcBef>
                <a:spcPts val="800"/>
              </a:spcBef>
              <a:buNone/>
            </a:pPr>
            <a:r>
              <a:rPr lang="en-US" sz="2000" b="1"/>
              <a:t>Blood &amp; lymphatics</a:t>
            </a:r>
          </a:p>
          <a:p>
            <a:pPr lvl="1"/>
            <a:r>
              <a:rPr lang="en-US"/>
              <a:t>Internal/lateral thoracic, thoracodorsal, intercostal vessels</a:t>
            </a:r>
          </a:p>
          <a:p>
            <a:pPr lvl="1"/>
            <a:r>
              <a:rPr lang="en-US"/>
              <a:t>≈97% of lymph → axillary nodes; ≈3% → internal mammary chain</a:t>
            </a:r>
          </a:p>
          <a:p>
            <a:pPr marL="0" indent="0">
              <a:spcBef>
                <a:spcPts val="800"/>
              </a:spcBef>
              <a:buNone/>
            </a:pPr>
            <a:r>
              <a:rPr lang="en-US" sz="2000" b="1"/>
              <a:t>Nerves at risk</a:t>
            </a:r>
          </a:p>
          <a:p>
            <a:pPr lvl="1"/>
            <a:r>
              <a:rPr lang="en-US"/>
              <a:t>Intercostobrachial, long thoracic, thoracodorsal, medial pectoral</a:t>
            </a:r>
          </a:p>
        </p:txBody>
      </p:sp>
      <p:pic>
        <p:nvPicPr>
          <p:cNvPr id="4" name="Content Placeholder 4">
            <a:extLst>
              <a:ext uri="{FF2B5EF4-FFF2-40B4-BE49-F238E27FC236}">
                <a16:creationId xmlns="" xmlns:a16="http://schemas.microsoft.com/office/drawing/2014/main" id="{4CB06809-137A-B9C0-B8E9-C3B98391EC7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93982" y="1417320"/>
            <a:ext cx="5976005" cy="4800600"/>
          </a:xfrm>
          <a:prstGeom prst="rect">
            <a:avLst/>
          </a:prstGeom>
        </p:spPr>
      </p:pic>
      <p:pic>
        <p:nvPicPr>
          <p:cNvPr id="6" name="Picture 5"/>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120640" y="1566833"/>
            <a:ext cx="6522690" cy="4501574"/>
          </a:xfrm>
          <a:prstGeom prst="rect">
            <a:avLst/>
          </a:prstGeom>
        </p:spPr>
      </p:pic>
      <p:pic>
        <p:nvPicPr>
          <p:cNvPr id="7" name="Picture 6">
            <a:extLst>
              <a:ext uri="{FF2B5EF4-FFF2-40B4-BE49-F238E27FC236}">
                <a16:creationId xmlns="" xmlns:a16="http://schemas.microsoft.com/office/drawing/2014/main" id="{6E6DA081-8B15-4304-A742-D10B12A21B7A}"/>
              </a:ext>
            </a:extLst>
          </p:cNvPr>
          <p:cNvPicPr>
            <a:picLocks noChangeAspect="1"/>
          </p:cNvPicPr>
          <p:nvPr/>
        </p:nvPicPr>
        <p:blipFill>
          <a:blip r:embed="rId9"/>
          <a:stretch>
            <a:fillRect/>
          </a:stretch>
        </p:blipFill>
        <p:spPr>
          <a:xfrm>
            <a:off x="6161426" y="1417320"/>
            <a:ext cx="4441117" cy="4800600"/>
          </a:xfrm>
          <a:prstGeom prst="rect">
            <a:avLst/>
          </a:prstGeom>
        </p:spPr>
      </p:pic>
      <p:pic>
        <p:nvPicPr>
          <p:cNvPr id="8" name="Picture 7">
            <a:extLst>
              <a:ext uri="{FF2B5EF4-FFF2-40B4-BE49-F238E27FC236}">
                <a16:creationId xmlns="" xmlns:a16="http://schemas.microsoft.com/office/drawing/2014/main" id="{8566E09E-6E67-93EC-BF10-E8266DF309D9}"/>
              </a:ext>
            </a:extLst>
          </p:cNvPr>
          <p:cNvPicPr>
            <a:picLocks noChangeAspect="1" noChangeArrowheads="1"/>
          </p:cNvPicPr>
          <p:nvPr/>
        </p:nvPicPr>
        <p:blipFill>
          <a:blip r:embed="rId10"/>
          <a:srcRect/>
          <a:stretch>
            <a:fillRect/>
          </a:stretch>
        </p:blipFill>
        <p:spPr bwMode="auto">
          <a:xfrm>
            <a:off x="5393982" y="1417320"/>
            <a:ext cx="6093168" cy="4800600"/>
          </a:xfrm>
          <a:prstGeom prst="rect">
            <a:avLst/>
          </a:prstGeom>
          <a:noFill/>
          <a:ln w="9525">
            <a:noFill/>
            <a:miter lim="800000"/>
            <a:headEnd/>
            <a:tailEnd/>
          </a:ln>
          <a:effectLst/>
        </p:spPr>
      </p:pic>
      <p:sp>
        <p:nvSpPr>
          <p:cNvPr id="9" name="Date Placeholder 8"/>
          <p:cNvSpPr>
            <a:spLocks noGrp="1"/>
          </p:cNvSpPr>
          <p:nvPr>
            <p:ph type="dt" sz="half" idx="10"/>
          </p:nvPr>
        </p:nvSpPr>
        <p:spPr/>
        <p:txBody>
          <a:bodyPr/>
          <a:lstStyle/>
          <a:p>
            <a:fld id="{7A1D2B3C-4E5F-4A60-8B71-92A3B4C5D6E7}" type="datetime4">
              <a:rPr lang="en-US"/>
              <a:t>September 22, 2026</a:t>
            </a:fld>
            <a:endParaRPr lang="en-US"/>
          </a:p>
        </p:txBody>
      </p:sp>
      <p:sp>
        <p:nvSpPr>
          <p:cNvPr id="10" name="Footer Placeholder 9"/>
          <p:cNvSpPr>
            <a:spLocks noGrp="1"/>
          </p:cNvSpPr>
          <p:nvPr>
            <p:ph type="ftr" sz="quarter" idx="11"/>
          </p:nvPr>
        </p:nvSpPr>
        <p:spPr/>
        <p:txBody>
          <a:bodyPr/>
          <a:lstStyle/>
          <a:p>
            <a:r>
              <a:rPr lang="en-US"/>
              <a:t>Management of breast cancer</a:t>
            </a:r>
          </a:p>
        </p:txBody>
      </p:sp>
      <p:sp>
        <p:nvSpPr>
          <p:cNvPr id="11" name="Slide Number Placeholder 10"/>
          <p:cNvSpPr>
            <a:spLocks noGrp="1"/>
          </p:cNvSpPr>
          <p:nvPr>
            <p:ph type="sldNum" sz="quarter" idx="12"/>
          </p:nvPr>
        </p:nvSpPr>
        <p:spPr/>
        <p:txBody>
          <a:bodyPr/>
          <a:lstStyle/>
          <a:p>
            <a:fld id="{B8C9D0E1-F2A3-4B4C-9D5E-6F708192A3B4}" type="slidenum">
              <a:rPr lang="en-US"/>
              <a:t>3</a:t>
            </a:fld>
            <a:endParaRPr lang="en-US"/>
          </a:p>
        </p:txBody>
      </p:sp>
    </p:spTree>
    <p:extLst>
      <p:ext uri="{BB962C8B-B14F-4D97-AF65-F5344CB8AC3E}">
        <p14:creationId xmlns:p14="http://schemas.microsoft.com/office/powerpoint/2010/main" val="712609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Content Placeholder 2"/>
          <p:cNvSpPr>
            <a:spLocks noGrp="1"/>
          </p:cNvSpPr>
          <p:nvPr>
            <p:ph idx="1"/>
          </p:nvPr>
        </p:nvSpPr>
        <p:spPr/>
        <p:txBody>
          <a:bodyPr>
            <a:normAutofit fontScale="92500" lnSpcReduction="10000"/>
          </a:bodyPr>
          <a:lstStyle>
            <a:lvl1pPr>
              <a:defRPr sz="2400"/>
            </a:lvl1pPr>
            <a:lvl2pPr>
              <a:defRPr sz="2000"/>
            </a:lvl2pPr>
            <a:lvl3pPr>
              <a:defRPr sz="1800"/>
            </a:lvl3pPr>
            <a:lvl4pPr>
              <a:defRPr sz="1600"/>
            </a:lvl4pPr>
            <a:lvl5pPr>
              <a:defRPr sz="1600"/>
            </a:lvl5pPr>
          </a:lstStyle>
          <a:p>
            <a:pPr>
              <a:lnSpc>
                <a:spcPct val="110000"/>
              </a:lnSpc>
            </a:pPr>
            <a:r>
              <a:rPr lang="en-US" dirty="0" smtClean="0"/>
              <a:t>Estrogen</a:t>
            </a:r>
          </a:p>
          <a:p>
            <a:pPr lvl="1">
              <a:lnSpc>
                <a:spcPct val="110000"/>
              </a:lnSpc>
            </a:pPr>
            <a:r>
              <a:rPr lang="en-US" dirty="0" smtClean="0"/>
              <a:t>ductal </a:t>
            </a:r>
            <a:r>
              <a:rPr lang="en-US" dirty="0"/>
              <a:t>elongation and </a:t>
            </a:r>
            <a:r>
              <a:rPr lang="en-US" dirty="0" smtClean="0"/>
              <a:t>branching - Puberty </a:t>
            </a:r>
            <a:r>
              <a:rPr lang="en-US" dirty="0"/>
              <a:t>(thelarche): mean onset ≈10–11 </a:t>
            </a:r>
            <a:r>
              <a:rPr lang="en-US" dirty="0" smtClean="0"/>
              <a:t>years</a:t>
            </a:r>
          </a:p>
          <a:p>
            <a:pPr lvl="1">
              <a:lnSpc>
                <a:spcPct val="110000"/>
              </a:lnSpc>
            </a:pPr>
            <a:r>
              <a:rPr lang="en-US" dirty="0"/>
              <a:t>Menopause: estrogen withdrawal → glandular involution and replacement by fat</a:t>
            </a:r>
          </a:p>
          <a:p>
            <a:pPr>
              <a:lnSpc>
                <a:spcPct val="110000"/>
              </a:lnSpc>
            </a:pPr>
            <a:r>
              <a:rPr lang="en-US" dirty="0" smtClean="0"/>
              <a:t>Progesterone</a:t>
            </a:r>
          </a:p>
          <a:p>
            <a:pPr lvl="1">
              <a:lnSpc>
                <a:spcPct val="110000"/>
              </a:lnSpc>
            </a:pPr>
            <a:r>
              <a:rPr lang="en-US" dirty="0" err="1" smtClean="0"/>
              <a:t>lobulo</a:t>
            </a:r>
            <a:r>
              <a:rPr lang="en-US" dirty="0" smtClean="0"/>
              <a:t>-alveolar </a:t>
            </a:r>
            <a:r>
              <a:rPr lang="en-US" dirty="0"/>
              <a:t>(secretory) differentiation</a:t>
            </a:r>
          </a:p>
          <a:p>
            <a:pPr>
              <a:lnSpc>
                <a:spcPct val="110000"/>
              </a:lnSpc>
            </a:pPr>
            <a:r>
              <a:rPr lang="en-US" dirty="0" smtClean="0"/>
              <a:t>Prolactin</a:t>
            </a:r>
          </a:p>
          <a:p>
            <a:pPr lvl="1">
              <a:lnSpc>
                <a:spcPct val="110000"/>
              </a:lnSpc>
            </a:pPr>
            <a:r>
              <a:rPr lang="en-US" dirty="0" smtClean="0"/>
              <a:t> </a:t>
            </a:r>
            <a:r>
              <a:rPr lang="en-US" dirty="0"/>
              <a:t>milk-protein synthesis and </a:t>
            </a:r>
            <a:r>
              <a:rPr lang="en-US" dirty="0" err="1" smtClean="0"/>
              <a:t>lactogenesis</a:t>
            </a:r>
            <a:endParaRPr lang="en-US" dirty="0" smtClean="0"/>
          </a:p>
          <a:p>
            <a:pPr lvl="1">
              <a:lnSpc>
                <a:spcPct val="110000"/>
              </a:lnSpc>
            </a:pPr>
            <a:r>
              <a:rPr lang="en-US" dirty="0" smtClean="0"/>
              <a:t>sustains </a:t>
            </a:r>
            <a:r>
              <a:rPr lang="en-US" dirty="0"/>
              <a:t>milk production; suckling triggers the oxytocin let-down reflex</a:t>
            </a:r>
          </a:p>
          <a:p>
            <a:pPr>
              <a:lnSpc>
                <a:spcPct val="110000"/>
              </a:lnSpc>
            </a:pPr>
            <a:r>
              <a:rPr lang="en-US" dirty="0" smtClean="0"/>
              <a:t>Oxytocin </a:t>
            </a:r>
          </a:p>
          <a:p>
            <a:pPr lvl="1">
              <a:lnSpc>
                <a:spcPct val="110000"/>
              </a:lnSpc>
            </a:pPr>
            <a:r>
              <a:rPr lang="en-US" dirty="0" smtClean="0"/>
              <a:t>myoepithelial </a:t>
            </a:r>
            <a:r>
              <a:rPr lang="en-US" dirty="0"/>
              <a:t>contraction and the milk-ejection (let-down) reflex</a:t>
            </a:r>
          </a:p>
          <a:p>
            <a:pPr>
              <a:lnSpc>
                <a:spcPct val="110000"/>
              </a:lnSpc>
              <a:buFont typeface="Wingdings" panose="05000000000000000000" pitchFamily="2" charset="2"/>
              <a:buChar char="v"/>
            </a:pPr>
            <a:r>
              <a:rPr lang="en-US" dirty="0" smtClean="0"/>
              <a:t> </a:t>
            </a:r>
            <a:r>
              <a:rPr lang="en-US" b="1" dirty="0" smtClean="0"/>
              <a:t>Pregnancy: marked </a:t>
            </a:r>
            <a:r>
              <a:rPr lang="en-US" b="1" dirty="0" err="1" smtClean="0"/>
              <a:t>lobulo</a:t>
            </a:r>
            <a:r>
              <a:rPr lang="en-US" b="1" dirty="0" smtClean="0"/>
              <a:t>-alveolar proliferation under estrogen, progesterone, prolactin and placental </a:t>
            </a:r>
            <a:r>
              <a:rPr lang="en-US" b="1" dirty="0" err="1" smtClean="0"/>
              <a:t>lactogen</a:t>
            </a:r>
            <a:endParaRPr lang="en-US" b="1" dirty="0"/>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4</a:t>
            </a:fld>
            <a:endParaRPr lang="en-US"/>
          </a:p>
        </p:txBody>
      </p:sp>
    </p:spTree>
    <p:extLst>
      <p:ext uri="{BB962C8B-B14F-4D97-AF65-F5344CB8AC3E}">
        <p14:creationId xmlns:p14="http://schemas.microsoft.com/office/powerpoint/2010/main" val="27813638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5C3A3EFB-BF82-15F9-B7D3-30FF37E1D668}"/>
              </a:ext>
            </a:extLst>
          </p:cNvPr>
          <p:cNvSpPr>
            <a:spLocks noGrp="1"/>
          </p:cNvSpPr>
          <p:nvPr>
            <p:ph idx="1"/>
          </p:nvPr>
        </p:nvSpPr>
        <p:spPr/>
        <p:txBody>
          <a:bodyPr>
            <a:normAutofit/>
          </a:bodyPr>
          <a:lstStyle>
            <a:lvl1pPr>
              <a:defRPr sz="2800"/>
            </a:lvl1pPr>
            <a:lvl2pPr>
              <a:defRPr sz="2400"/>
            </a:lvl2pPr>
            <a:lvl3pPr>
              <a:defRPr sz="2200"/>
            </a:lvl3pPr>
            <a:lvl4pPr>
              <a:defRPr sz="2000"/>
            </a:lvl4pPr>
            <a:lvl5pPr>
              <a:defRPr sz="2000"/>
            </a:lvl5pPr>
          </a:lstStyle>
          <a:p>
            <a:r>
              <a:rPr lang="en-US" dirty="0"/>
              <a:t>Second leading cause of cancer death in women (after lung); ≈40,920 deaths/year in the US</a:t>
            </a:r>
          </a:p>
          <a:p>
            <a:r>
              <a:rPr lang="en-US" dirty="0"/>
              <a:t>More than 2 million new cases diagnosed worldwide every year</a:t>
            </a:r>
          </a:p>
          <a:p>
            <a:r>
              <a:rPr lang="en-US" dirty="0"/>
              <a:t>Accounts for ≈30% of all newly diagnosed cancers in women and ≈14% of cancer deaths in women</a:t>
            </a:r>
          </a:p>
          <a:p>
            <a:r>
              <a:rPr lang="en-US" dirty="0"/>
              <a:t>Average lifetime risk for a newborn US woman is ≈12% (≈1 in 8)</a:t>
            </a:r>
          </a:p>
          <a:p>
            <a:r>
              <a:rPr lang="en-US" dirty="0"/>
              <a:t>Disproportionate incidence-vs-mortality gap is largest where screening, pathology and treatment access are limited</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5</a:t>
            </a:fld>
            <a:endParaRPr lang="en-US"/>
          </a:p>
        </p:txBody>
      </p:sp>
    </p:spTree>
    <p:extLst>
      <p:ext uri="{BB962C8B-B14F-4D97-AF65-F5344CB8AC3E}">
        <p14:creationId xmlns:p14="http://schemas.microsoft.com/office/powerpoint/2010/main" val="14043001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 8"/>
          <p:cNvGraphicFramePr/>
          <p:nvPr>
            <p:extLst>
              <p:ext uri="{D42A27DB-BD31-4B8C-83A1-F6EECF244321}">
                <p14:modId xmlns:p14="http://schemas.microsoft.com/office/powerpoint/2010/main" val="1307243734"/>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Table 3"/>
          <p:cNvGraphicFramePr>
            <a:graphicFrameLocks noGrp="1"/>
          </p:cNvGraphicFramePr>
          <p:nvPr>
            <p:extLst>
              <p:ext uri="{D42A27DB-BD31-4B8C-83A1-F6EECF244321}">
                <p14:modId xmlns:p14="http://schemas.microsoft.com/office/powerpoint/2010/main" val="3134782537"/>
              </p:ext>
            </p:extLst>
          </p:nvPr>
        </p:nvGraphicFramePr>
        <p:xfrm>
          <a:off x="548640" y="1417320"/>
          <a:ext cx="5387325" cy="3008376"/>
        </p:xfrm>
        <a:graphic>
          <a:graphicData uri="http://schemas.openxmlformats.org/drawingml/2006/table">
            <a:tbl>
              <a:tblPr firstRow="1"/>
              <a:tblGrid>
                <a:gridCol w="3213492"/>
                <a:gridCol w="1228688"/>
                <a:gridCol w="945145"/>
              </a:tblGrid>
              <a:tr h="420624">
                <a:tc>
                  <a:txBody>
                    <a:bodyPr/>
                    <a:lstStyle/>
                    <a:p>
                      <a:pPr algn="l"/>
                      <a:r>
                        <a:rPr lang="en-US" sz="2400" b="1" dirty="0">
                          <a:solidFill>
                            <a:srgbClr val="FFFFFF"/>
                          </a:solidFill>
                        </a:rPr>
                        <a:t>Females — total 52,621 cases</a:t>
                      </a:r>
                    </a:p>
                  </a:txBody>
                  <a:tcPr marL="45720" marR="45720" marT="32004" marB="32004" anchor="ctr">
                    <a:solidFill>
                      <a:srgbClr val="7A1B3D"/>
                    </a:solidFill>
                  </a:tcPr>
                </a:tc>
                <a:tc>
                  <a:txBody>
                    <a:bodyPr/>
                    <a:lstStyle/>
                    <a:p>
                      <a:pPr algn="l"/>
                      <a:r>
                        <a:rPr lang="en-US" sz="2400" b="1" dirty="0">
                          <a:solidFill>
                            <a:srgbClr val="FFFFFF"/>
                          </a:solidFill>
                        </a:rPr>
                        <a:t>Cases</a:t>
                      </a:r>
                    </a:p>
                  </a:txBody>
                  <a:tcPr marL="45720" marR="45720" marT="32004" marB="32004" anchor="ctr">
                    <a:solidFill>
                      <a:srgbClr val="7A1B3D"/>
                    </a:solidFill>
                  </a:tcPr>
                </a:tc>
                <a:tc>
                  <a:txBody>
                    <a:bodyPr/>
                    <a:lstStyle/>
                    <a:p>
                      <a:pPr algn="l"/>
                      <a:r>
                        <a:rPr lang="en-US" sz="2400" b="1" dirty="0">
                          <a:solidFill>
                            <a:srgbClr val="FFFFFF"/>
                          </a:solidFill>
                        </a:rPr>
                        <a:t>%</a:t>
                      </a:r>
                    </a:p>
                  </a:txBody>
                  <a:tcPr marL="45720" marR="45720" marT="32004" marB="32004" anchor="ctr">
                    <a:solidFill>
                      <a:srgbClr val="7A1B3D"/>
                    </a:solidFill>
                  </a:tcPr>
                </a:tc>
              </a:tr>
              <a:tr h="256032">
                <a:tc>
                  <a:txBody>
                    <a:bodyPr/>
                    <a:lstStyle/>
                    <a:p>
                      <a:pPr algn="l"/>
                      <a:r>
                        <a:rPr lang="en-US" sz="2000" b="1" dirty="0">
                          <a:solidFill>
                            <a:srgbClr val="242021"/>
                          </a:solidFill>
                        </a:rPr>
                        <a:t>1. Breast</a:t>
                      </a:r>
                    </a:p>
                  </a:txBody>
                  <a:tcPr marL="45720" marR="45720" marT="32004" marB="32004" anchor="ctr">
                    <a:lnB w="6350">
                      <a:solidFill>
                        <a:srgbClr val="E4D6DB"/>
                      </a:solidFill>
                    </a:lnB>
                    <a:solidFill>
                      <a:srgbClr val="FFFFFF"/>
                    </a:solidFill>
                  </a:tcPr>
                </a:tc>
                <a:tc>
                  <a:txBody>
                    <a:bodyPr/>
                    <a:lstStyle/>
                    <a:p>
                      <a:pPr algn="l"/>
                      <a:r>
                        <a:rPr lang="en-US" sz="2000" dirty="0">
                          <a:solidFill>
                            <a:srgbClr val="242021"/>
                          </a:solidFill>
                        </a:rPr>
                        <a:t>16,904</a:t>
                      </a:r>
                    </a:p>
                  </a:txBody>
                  <a:tcPr marL="45720" marR="45720" marT="32004" marB="32004" anchor="ctr">
                    <a:lnB w="6350">
                      <a:solidFill>
                        <a:srgbClr val="E4D6DB"/>
                      </a:solidFill>
                    </a:lnB>
                    <a:solidFill>
                      <a:srgbClr val="FFFFFF"/>
                    </a:solidFill>
                  </a:tcPr>
                </a:tc>
                <a:tc>
                  <a:txBody>
                    <a:bodyPr/>
                    <a:lstStyle/>
                    <a:p>
                      <a:pPr algn="l"/>
                      <a:r>
                        <a:rPr lang="en-US" sz="2000" dirty="0">
                          <a:solidFill>
                            <a:srgbClr val="242021"/>
                          </a:solidFill>
                        </a:rPr>
                        <a:t>32.1%</a:t>
                      </a:r>
                    </a:p>
                  </a:txBody>
                  <a:tcPr marL="45720" marR="45720" marT="32004" marB="32004" anchor="ctr">
                    <a:lnB w="6350">
                      <a:solidFill>
                        <a:srgbClr val="E4D6DB"/>
                      </a:solidFill>
                    </a:lnB>
                    <a:solidFill>
                      <a:srgbClr val="FFFFFF"/>
                    </a:solidFill>
                  </a:tcPr>
                </a:tc>
              </a:tr>
              <a:tr h="256032">
                <a:tc>
                  <a:txBody>
                    <a:bodyPr/>
                    <a:lstStyle/>
                    <a:p>
                      <a:pPr algn="l"/>
                      <a:r>
                        <a:rPr lang="en-US" sz="2000" b="1" dirty="0">
                          <a:solidFill>
                            <a:srgbClr val="242021"/>
                          </a:solidFill>
                        </a:rPr>
                        <a:t>2. Cervix uteri</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2000" dirty="0">
                          <a:solidFill>
                            <a:srgbClr val="242021"/>
                          </a:solidFill>
                        </a:rPr>
                        <a:t>8,168</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2000" dirty="0">
                          <a:solidFill>
                            <a:srgbClr val="242021"/>
                          </a:solidFill>
                        </a:rPr>
                        <a:t>15.5%</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r h="256032">
                <a:tc>
                  <a:txBody>
                    <a:bodyPr/>
                    <a:lstStyle/>
                    <a:p>
                      <a:pPr algn="l"/>
                      <a:r>
                        <a:rPr lang="en-US" sz="2000" b="1" dirty="0">
                          <a:solidFill>
                            <a:srgbClr val="242021"/>
                          </a:solidFill>
                        </a:rPr>
                        <a:t>3. Colorectum</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2000" dirty="0">
                          <a:solidFill>
                            <a:srgbClr val="242021"/>
                          </a:solidFill>
                        </a:rPr>
                        <a:t>3,204</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2000" dirty="0">
                          <a:solidFill>
                            <a:srgbClr val="242021"/>
                          </a:solidFill>
                        </a:rPr>
                        <a:t>6.1%</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r>
              <a:tr h="256032">
                <a:tc>
                  <a:txBody>
                    <a:bodyPr/>
                    <a:lstStyle/>
                    <a:p>
                      <a:pPr algn="l"/>
                      <a:r>
                        <a:rPr lang="en-US" sz="2000" b="1" dirty="0">
                          <a:solidFill>
                            <a:srgbClr val="242021"/>
                          </a:solidFill>
                        </a:rPr>
                        <a:t>4. Ovary</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2000" dirty="0">
                          <a:solidFill>
                            <a:srgbClr val="242021"/>
                          </a:solidFill>
                        </a:rPr>
                        <a:t>2,696</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2000" dirty="0">
                          <a:solidFill>
                            <a:srgbClr val="242021"/>
                          </a:solidFill>
                        </a:rPr>
                        <a:t>5.1%</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r h="256032">
                <a:tc>
                  <a:txBody>
                    <a:bodyPr/>
                    <a:lstStyle/>
                    <a:p>
                      <a:pPr algn="l"/>
                      <a:r>
                        <a:rPr lang="en-US" sz="2000" b="1" dirty="0">
                          <a:solidFill>
                            <a:srgbClr val="242021"/>
                          </a:solidFill>
                        </a:rPr>
                        <a:t>5. Thyroid</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2000" dirty="0">
                          <a:solidFill>
                            <a:srgbClr val="242021"/>
                          </a:solidFill>
                        </a:rPr>
                        <a:t>2,352</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2000" dirty="0">
                          <a:solidFill>
                            <a:srgbClr val="242021"/>
                          </a:solidFill>
                        </a:rPr>
                        <a:t>4.5%</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r>
              <a:tr h="256032">
                <a:tc>
                  <a:txBody>
                    <a:bodyPr/>
                    <a:lstStyle/>
                    <a:p>
                      <a:pPr algn="l"/>
                      <a:r>
                        <a:rPr lang="en-US" sz="2000" b="1" dirty="0">
                          <a:solidFill>
                            <a:srgbClr val="242021"/>
                          </a:solidFill>
                        </a:rPr>
                        <a:t>Others</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2000" dirty="0">
                          <a:solidFill>
                            <a:srgbClr val="242021"/>
                          </a:solidFill>
                        </a:rPr>
                        <a:t>19,297</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2000" dirty="0">
                          <a:solidFill>
                            <a:srgbClr val="242021"/>
                          </a:solidFill>
                        </a:rPr>
                        <a:t>36.7%</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bl>
          </a:graphicData>
        </a:graphic>
      </p:graphicFrame>
      <p:graphicFrame>
        <p:nvGraphicFramePr>
          <p:cNvPr id="4" name="Table 4"/>
          <p:cNvGraphicFramePr>
            <a:graphicFrameLocks noGrp="1"/>
          </p:cNvGraphicFramePr>
          <p:nvPr>
            <p:extLst>
              <p:ext uri="{D42A27DB-BD31-4B8C-83A1-F6EECF244321}">
                <p14:modId xmlns:p14="http://schemas.microsoft.com/office/powerpoint/2010/main" val="668522474"/>
              </p:ext>
            </p:extLst>
          </p:nvPr>
        </p:nvGraphicFramePr>
        <p:xfrm>
          <a:off x="6256005" y="1417320"/>
          <a:ext cx="5387325" cy="3008376"/>
        </p:xfrm>
        <a:graphic>
          <a:graphicData uri="http://schemas.openxmlformats.org/drawingml/2006/table">
            <a:tbl>
              <a:tblPr firstRow="1"/>
              <a:tblGrid>
                <a:gridCol w="3213492"/>
                <a:gridCol w="1228688"/>
                <a:gridCol w="945145"/>
              </a:tblGrid>
              <a:tr h="420624">
                <a:tc>
                  <a:txBody>
                    <a:bodyPr/>
                    <a:lstStyle/>
                    <a:p>
                      <a:pPr algn="l"/>
                      <a:r>
                        <a:rPr lang="en-US" sz="2400" b="1" dirty="0">
                          <a:solidFill>
                            <a:srgbClr val="FFFFFF"/>
                          </a:solidFill>
                        </a:rPr>
                        <a:t>Both sexes — total 80,334 cases</a:t>
                      </a:r>
                    </a:p>
                  </a:txBody>
                  <a:tcPr marL="45720" marR="45720" marT="32004" marB="32004" anchor="ctr">
                    <a:solidFill>
                      <a:srgbClr val="7A1B3D"/>
                    </a:solidFill>
                  </a:tcPr>
                </a:tc>
                <a:tc>
                  <a:txBody>
                    <a:bodyPr/>
                    <a:lstStyle/>
                    <a:p>
                      <a:pPr algn="l"/>
                      <a:r>
                        <a:rPr lang="en-US" sz="2400" b="1" dirty="0">
                          <a:solidFill>
                            <a:srgbClr val="FFFFFF"/>
                          </a:solidFill>
                        </a:rPr>
                        <a:t>Cases</a:t>
                      </a:r>
                    </a:p>
                  </a:txBody>
                  <a:tcPr marL="45720" marR="45720" marT="32004" marB="32004" anchor="ctr">
                    <a:solidFill>
                      <a:srgbClr val="7A1B3D"/>
                    </a:solidFill>
                  </a:tcPr>
                </a:tc>
                <a:tc>
                  <a:txBody>
                    <a:bodyPr/>
                    <a:lstStyle/>
                    <a:p>
                      <a:pPr algn="l"/>
                      <a:r>
                        <a:rPr lang="en-US" sz="2400" b="1" dirty="0">
                          <a:solidFill>
                            <a:srgbClr val="FFFFFF"/>
                          </a:solidFill>
                        </a:rPr>
                        <a:t>%</a:t>
                      </a:r>
                    </a:p>
                  </a:txBody>
                  <a:tcPr marL="45720" marR="45720" marT="32004" marB="32004" anchor="ctr">
                    <a:solidFill>
                      <a:srgbClr val="7A1B3D"/>
                    </a:solidFill>
                  </a:tcPr>
                </a:tc>
              </a:tr>
              <a:tr h="256032">
                <a:tc>
                  <a:txBody>
                    <a:bodyPr/>
                    <a:lstStyle/>
                    <a:p>
                      <a:pPr algn="l"/>
                      <a:r>
                        <a:rPr lang="en-US" sz="2000" b="1" dirty="0">
                          <a:solidFill>
                            <a:srgbClr val="242021"/>
                          </a:solidFill>
                        </a:rPr>
                        <a:t>1. Breast</a:t>
                      </a:r>
                    </a:p>
                  </a:txBody>
                  <a:tcPr marL="45720" marR="45720" marT="32004" marB="32004" anchor="ctr">
                    <a:lnB w="6350">
                      <a:solidFill>
                        <a:srgbClr val="E4D6DB"/>
                      </a:solidFill>
                    </a:lnB>
                    <a:solidFill>
                      <a:srgbClr val="FFFFFF"/>
                    </a:solidFill>
                  </a:tcPr>
                </a:tc>
                <a:tc>
                  <a:txBody>
                    <a:bodyPr/>
                    <a:lstStyle/>
                    <a:p>
                      <a:pPr algn="l"/>
                      <a:r>
                        <a:rPr lang="en-US" sz="2000" dirty="0">
                          <a:solidFill>
                            <a:srgbClr val="242021"/>
                          </a:solidFill>
                        </a:rPr>
                        <a:t>16,904</a:t>
                      </a:r>
                    </a:p>
                  </a:txBody>
                  <a:tcPr marL="45720" marR="45720" marT="32004" marB="32004" anchor="ctr">
                    <a:lnB w="6350">
                      <a:solidFill>
                        <a:srgbClr val="E4D6DB"/>
                      </a:solidFill>
                    </a:lnB>
                    <a:solidFill>
                      <a:srgbClr val="FFFFFF"/>
                    </a:solidFill>
                  </a:tcPr>
                </a:tc>
                <a:tc>
                  <a:txBody>
                    <a:bodyPr/>
                    <a:lstStyle/>
                    <a:p>
                      <a:pPr algn="l"/>
                      <a:r>
                        <a:rPr lang="en-US" sz="2000" dirty="0">
                          <a:solidFill>
                            <a:srgbClr val="242021"/>
                          </a:solidFill>
                        </a:rPr>
                        <a:t>21.0%</a:t>
                      </a:r>
                    </a:p>
                  </a:txBody>
                  <a:tcPr marL="45720" marR="45720" marT="32004" marB="32004" anchor="ctr">
                    <a:lnB w="6350">
                      <a:solidFill>
                        <a:srgbClr val="E4D6DB"/>
                      </a:solidFill>
                    </a:lnB>
                    <a:solidFill>
                      <a:srgbClr val="FFFFFF"/>
                    </a:solidFill>
                  </a:tcPr>
                </a:tc>
              </a:tr>
              <a:tr h="256032">
                <a:tc>
                  <a:txBody>
                    <a:bodyPr/>
                    <a:lstStyle/>
                    <a:p>
                      <a:pPr algn="l"/>
                      <a:r>
                        <a:rPr lang="en-US" sz="2000" b="1" dirty="0">
                          <a:solidFill>
                            <a:srgbClr val="242021"/>
                          </a:solidFill>
                        </a:rPr>
                        <a:t>2. Cervix uteri</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2000" dirty="0">
                          <a:solidFill>
                            <a:srgbClr val="242021"/>
                          </a:solidFill>
                        </a:rPr>
                        <a:t>8,168</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2000" dirty="0">
                          <a:solidFill>
                            <a:srgbClr val="242021"/>
                          </a:solidFill>
                        </a:rPr>
                        <a:t>10.2%</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r h="256032">
                <a:tc>
                  <a:txBody>
                    <a:bodyPr/>
                    <a:lstStyle/>
                    <a:p>
                      <a:pPr algn="l"/>
                      <a:r>
                        <a:rPr lang="en-US" sz="2000" b="1" dirty="0">
                          <a:solidFill>
                            <a:srgbClr val="242021"/>
                          </a:solidFill>
                        </a:rPr>
                        <a:t>3. Colorectum</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2000" dirty="0">
                          <a:solidFill>
                            <a:srgbClr val="242021"/>
                          </a:solidFill>
                        </a:rPr>
                        <a:t>6,551</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2000" dirty="0">
                          <a:solidFill>
                            <a:srgbClr val="242021"/>
                          </a:solidFill>
                        </a:rPr>
                        <a:t>8.2%</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r>
              <a:tr h="256032">
                <a:tc>
                  <a:txBody>
                    <a:bodyPr/>
                    <a:lstStyle/>
                    <a:p>
                      <a:pPr algn="l"/>
                      <a:r>
                        <a:rPr lang="en-US" sz="2000" b="1" dirty="0">
                          <a:solidFill>
                            <a:srgbClr val="242021"/>
                          </a:solidFill>
                        </a:rPr>
                        <a:t>4. Leukaemia</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2000" dirty="0">
                          <a:solidFill>
                            <a:srgbClr val="242021"/>
                          </a:solidFill>
                        </a:rPr>
                        <a:t>4,721</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2000" dirty="0">
                          <a:solidFill>
                            <a:srgbClr val="242021"/>
                          </a:solidFill>
                        </a:rPr>
                        <a:t>5.9%</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r h="256032">
                <a:tc>
                  <a:txBody>
                    <a:bodyPr/>
                    <a:lstStyle/>
                    <a:p>
                      <a:pPr algn="l"/>
                      <a:r>
                        <a:rPr lang="en-US" sz="2000" b="1" dirty="0">
                          <a:solidFill>
                            <a:srgbClr val="242021"/>
                          </a:solidFill>
                        </a:rPr>
                        <a:t>5. NHL</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2000" dirty="0">
                          <a:solidFill>
                            <a:srgbClr val="242021"/>
                          </a:solidFill>
                        </a:rPr>
                        <a:t>3,568</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2000" dirty="0">
                          <a:solidFill>
                            <a:srgbClr val="242021"/>
                          </a:solidFill>
                        </a:rPr>
                        <a:t>4.4%</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r>
              <a:tr h="256032">
                <a:tc>
                  <a:txBody>
                    <a:bodyPr/>
                    <a:lstStyle/>
                    <a:p>
                      <a:pPr algn="l"/>
                      <a:r>
                        <a:rPr lang="en-US" sz="2000" b="1" dirty="0">
                          <a:solidFill>
                            <a:srgbClr val="242021"/>
                          </a:solidFill>
                        </a:rPr>
                        <a:t>Others</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2000" dirty="0">
                          <a:solidFill>
                            <a:srgbClr val="242021"/>
                          </a:solidFill>
                        </a:rPr>
                        <a:t>40,422</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2000" dirty="0">
                          <a:solidFill>
                            <a:srgbClr val="242021"/>
                          </a:solidFill>
                        </a:rPr>
                        <a:t>50.3%</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bl>
          </a:graphicData>
        </a:graphic>
      </p:graphicFrame>
      <p:sp>
        <p:nvSpPr>
          <p:cNvPr id="5" name="Caption"/>
          <p:cNvSpPr txBox="1"/>
          <p:nvPr/>
        </p:nvSpPr>
        <p:spPr>
          <a:xfrm>
            <a:off x="548640" y="4667441"/>
            <a:ext cx="11094690" cy="365760"/>
          </a:xfrm>
          <a:prstGeom prst="rect">
            <a:avLst/>
          </a:prstGeom>
          <a:noFill/>
        </p:spPr>
        <p:txBody>
          <a:bodyPr wrap="square" lIns="0" tIns="0" rIns="0" bIns="0">
            <a:normAutofit/>
          </a:bodyPr>
          <a:lstStyle/>
          <a:p>
            <a:r>
              <a:rPr lang="en-US" sz="1600" i="1" dirty="0">
                <a:solidFill>
                  <a:srgbClr val="6B6B6B"/>
                </a:solidFill>
              </a:rPr>
              <a:t>New cancer cases, Ethiopia 2022, all ages (Global Cancer Observatory / GLOBOCAN)</a:t>
            </a:r>
          </a:p>
        </p:txBody>
      </p:sp>
      <p:sp>
        <p:nvSpPr>
          <p:cNvPr id="6" name="Date Placeholder 5"/>
          <p:cNvSpPr>
            <a:spLocks noGrp="1"/>
          </p:cNvSpPr>
          <p:nvPr>
            <p:ph type="dt" sz="half" idx="10"/>
          </p:nvPr>
        </p:nvSpPr>
        <p:spPr/>
        <p:txBody>
          <a:bodyPr/>
          <a:lstStyle/>
          <a:p>
            <a:fld id="{7A1D2B3C-4E5F-4A60-8B71-92A3B4C5D6E7}" type="datetime4">
              <a:rPr lang="en-US"/>
              <a:t>September 22, 2026</a:t>
            </a:fld>
            <a:endParaRPr lang="en-US"/>
          </a:p>
        </p:txBody>
      </p:sp>
      <p:sp>
        <p:nvSpPr>
          <p:cNvPr id="7" name="Footer Placeholder 6"/>
          <p:cNvSpPr>
            <a:spLocks noGrp="1"/>
          </p:cNvSpPr>
          <p:nvPr>
            <p:ph type="ftr" sz="quarter" idx="11"/>
          </p:nvPr>
        </p:nvSpPr>
        <p:spPr/>
        <p:txBody>
          <a:bodyPr/>
          <a:lstStyle/>
          <a:p>
            <a:r>
              <a:rPr lang="en-US"/>
              <a:t>Management of breast cancer</a:t>
            </a:r>
          </a:p>
        </p:txBody>
      </p:sp>
      <p:sp>
        <p:nvSpPr>
          <p:cNvPr id="8" name="Slide Number Placeholder 7"/>
          <p:cNvSpPr>
            <a:spLocks noGrp="1"/>
          </p:cNvSpPr>
          <p:nvPr>
            <p:ph type="sldNum" sz="quarter" idx="12"/>
          </p:nvPr>
        </p:nvSpPr>
        <p:spPr/>
        <p:txBody>
          <a:bodyPr/>
          <a:lstStyle/>
          <a:p>
            <a:fld id="{B8C9D0E1-F2A3-4B4C-9D5E-6F708192A3B4}" type="slidenum">
              <a:rPr lang="en-US"/>
              <a:t>6</a:t>
            </a:fld>
            <a:endParaRPr lang="en-US"/>
          </a:p>
        </p:txBody>
      </p:sp>
    </p:spTree>
    <p:extLst>
      <p:ext uri="{BB962C8B-B14F-4D97-AF65-F5344CB8AC3E}">
        <p14:creationId xmlns:p14="http://schemas.microsoft.com/office/powerpoint/2010/main" val="3774447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D63BDA04-5799-B13E-4205-59AC16EB2430}"/>
              </a:ext>
            </a:extLst>
          </p:cNvPr>
          <p:cNvSpPr>
            <a:spLocks noGrp="1"/>
          </p:cNvSpPr>
          <p:nvPr>
            <p:ph idx="1"/>
          </p:nvPr>
        </p:nvSpPr>
        <p:spPr/>
        <p:txBody>
          <a:bodyPr>
            <a:noAutofit/>
          </a:bodyPr>
          <a:lstStyle>
            <a:lvl1pPr>
              <a:defRPr sz="1800"/>
            </a:lvl1pPr>
            <a:lvl2pPr>
              <a:defRPr sz="1400"/>
            </a:lvl2pPr>
            <a:lvl3pPr>
              <a:defRPr sz="1400"/>
            </a:lvl3pPr>
            <a:lvl4pPr>
              <a:defRPr sz="1400"/>
            </a:lvl4pPr>
            <a:lvl5pPr>
              <a:defRPr sz="1400"/>
            </a:lvl5pPr>
          </a:lstStyle>
          <a:p>
            <a:pPr marL="0" indent="0">
              <a:spcBef>
                <a:spcPts val="800"/>
              </a:spcBef>
              <a:buNone/>
            </a:pPr>
            <a:r>
              <a:rPr lang="en-US" b="1" dirty="0"/>
              <a:t>Risk Factors That Cannot Be Modified</a:t>
            </a:r>
          </a:p>
          <a:p>
            <a:pPr lvl="1"/>
            <a:r>
              <a:rPr lang="en-US" sz="1800" dirty="0"/>
              <a:t>Age (risk rises steadily after 40); female sex</a:t>
            </a:r>
          </a:p>
          <a:p>
            <a:pPr lvl="1"/>
            <a:r>
              <a:rPr lang="en-US" sz="1800" dirty="0"/>
              <a:t>Early menarche (&lt;12y), late menopause (&gt;55y)</a:t>
            </a:r>
          </a:p>
          <a:p>
            <a:pPr lvl="1"/>
            <a:r>
              <a:rPr lang="en-US" sz="1800" dirty="0" err="1"/>
              <a:t>Nulliparity</a:t>
            </a:r>
            <a:r>
              <a:rPr lang="en-US" sz="1800" dirty="0"/>
              <a:t>, or first birth after age 30</a:t>
            </a:r>
          </a:p>
          <a:p>
            <a:pPr lvl="1"/>
            <a:r>
              <a:rPr lang="en-US" sz="1800" dirty="0"/>
              <a:t>Family history; BRCA1/BRCA2 and other genes (PALB2, TP53, PTEN, CDH1)</a:t>
            </a:r>
          </a:p>
          <a:p>
            <a:pPr lvl="1"/>
            <a:r>
              <a:rPr lang="en-US" sz="1800" dirty="0"/>
              <a:t>Personal history of breast cancer, dense breasts, chest radiation age 10–30y</a:t>
            </a:r>
          </a:p>
          <a:p>
            <a:pPr marL="0" indent="0">
              <a:spcBef>
                <a:spcPts val="800"/>
              </a:spcBef>
              <a:buNone/>
            </a:pPr>
            <a:r>
              <a:rPr lang="en-US" b="1" dirty="0"/>
              <a:t>Risk Factors That Can Be Modified</a:t>
            </a:r>
          </a:p>
          <a:p>
            <a:pPr lvl="1"/>
            <a:r>
              <a:rPr lang="en-US" sz="1800" dirty="0"/>
              <a:t>Obesity, particularly after menopause</a:t>
            </a:r>
          </a:p>
          <a:p>
            <a:pPr lvl="1"/>
            <a:r>
              <a:rPr lang="en-US" sz="1800" dirty="0"/>
              <a:t>Alcohol intake, physical inactivity</a:t>
            </a:r>
          </a:p>
          <a:p>
            <a:pPr lvl="1"/>
            <a:r>
              <a:rPr lang="en-US" sz="1800" dirty="0"/>
              <a:t>Combined hormone-replacement therapy (≈26% higher risk vs placebo)</a:t>
            </a:r>
          </a:p>
          <a:p>
            <a:pPr lvl="1"/>
            <a:r>
              <a:rPr lang="en-US" sz="1800" dirty="0"/>
              <a:t>Not breastfeeding, smoking</a:t>
            </a:r>
          </a:p>
          <a:p>
            <a:pPr marL="0" indent="0">
              <a:spcBef>
                <a:spcPts val="800"/>
              </a:spcBef>
              <a:buNone/>
            </a:pPr>
            <a:r>
              <a:rPr lang="en-US" b="1" dirty="0"/>
              <a:t>Histologic Risk Factors</a:t>
            </a:r>
          </a:p>
          <a:p>
            <a:pPr lvl="1"/>
            <a:r>
              <a:rPr lang="en-US" sz="1800" dirty="0"/>
              <a:t>Atypical ductal/lobular hyperplasia — ≈4-fold relative risk</a:t>
            </a:r>
          </a:p>
          <a:p>
            <a:pPr lvl="1"/>
            <a:r>
              <a:rPr lang="en-US" sz="1800" dirty="0"/>
              <a:t>LCIS — ≈7–10-fold relative risk</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7</a:t>
            </a:fld>
            <a:endParaRPr lang="en-US"/>
          </a:p>
        </p:txBody>
      </p:sp>
    </p:spTree>
    <p:extLst>
      <p:ext uri="{BB962C8B-B14F-4D97-AF65-F5344CB8AC3E}">
        <p14:creationId xmlns:p14="http://schemas.microsoft.com/office/powerpoint/2010/main" val="522615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E262CF82-849E-D950-69B6-A8D8260F391F}"/>
              </a:ext>
            </a:extLst>
          </p:cNvPr>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r>
              <a:rPr lang="en-US" dirty="0" smtClean="0"/>
              <a:t>Because </a:t>
            </a:r>
            <a:r>
              <a:rPr lang="en-US" dirty="0"/>
              <a:t>risk factors interact, judging overall risk qualitatively is unreliable — use a validated statistical model</a:t>
            </a:r>
          </a:p>
          <a:p>
            <a:r>
              <a:rPr lang="en-US" dirty="0"/>
              <a:t>Gail model¹: no genetics; used to select tamoxifen chemoprevention (5-year risk ≥1.66%)</a:t>
            </a:r>
          </a:p>
          <a:p>
            <a:r>
              <a:rPr lang="en-US" dirty="0"/>
              <a:t>Claus model and </a:t>
            </a:r>
            <a:r>
              <a:rPr lang="en-US" dirty="0" err="1"/>
              <a:t>Tyrer-Cuzick</a:t>
            </a:r>
            <a:r>
              <a:rPr lang="en-US" dirty="0"/>
              <a:t> (IBIS): weight detailed family history — better for a strong family history</a:t>
            </a:r>
          </a:p>
          <a:p>
            <a:r>
              <a:rPr lang="en-US" dirty="0"/>
              <a:t>BRCAPRO: estimates the probability of carrying a BRCA1/2 mutation</a:t>
            </a:r>
          </a:p>
          <a:p>
            <a:r>
              <a:rPr lang="en-US" dirty="0"/>
              <a:t>All models have modest discriminatory accuracy; genetic counselling and clinical judgement remain essential</a:t>
            </a:r>
          </a:p>
          <a:p>
            <a:pPr marL="0" indent="0">
              <a:buNone/>
            </a:pPr>
            <a:r>
              <a:rPr lang="en-US" sz="900" dirty="0">
                <a:solidFill>
                  <a:srgbClr val="6B6B6B"/>
                </a:solidFill>
              </a:rPr>
              <a:t>¹ Gail model: derived from white US screening populations; tends to underestimate risk in women of other ancestries or with a strong family history.</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8</a:t>
            </a:fld>
            <a:endParaRPr lang="en-US"/>
          </a:p>
        </p:txBody>
      </p:sp>
    </p:spTree>
    <p:extLst>
      <p:ext uri="{BB962C8B-B14F-4D97-AF65-F5344CB8AC3E}">
        <p14:creationId xmlns:p14="http://schemas.microsoft.com/office/powerpoint/2010/main" val="34268093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p:cNvGraphicFramePr/>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Table 3"/>
          <p:cNvGraphicFramePr>
            <a:graphicFrameLocks noGrp="1"/>
          </p:cNvGraphicFramePr>
          <p:nvPr>
            <p:extLst>
              <p:ext uri="{D42A27DB-BD31-4B8C-83A1-F6EECF244321}">
                <p14:modId xmlns:p14="http://schemas.microsoft.com/office/powerpoint/2010/main" val="2479493679"/>
              </p:ext>
            </p:extLst>
          </p:nvPr>
        </p:nvGraphicFramePr>
        <p:xfrm>
          <a:off x="548640" y="1417320"/>
          <a:ext cx="11094690" cy="3846576"/>
        </p:xfrm>
        <a:graphic>
          <a:graphicData uri="http://schemas.openxmlformats.org/drawingml/2006/table">
            <a:tbl>
              <a:tblPr firstRow="1"/>
              <a:tblGrid>
                <a:gridCol w="1918631"/>
                <a:gridCol w="5505635"/>
                <a:gridCol w="3670424"/>
              </a:tblGrid>
              <a:tr h="420624">
                <a:tc>
                  <a:txBody>
                    <a:bodyPr/>
                    <a:lstStyle/>
                    <a:p>
                      <a:pPr algn="l"/>
                      <a:r>
                        <a:rPr lang="en-US" sz="1800" b="1" dirty="0">
                          <a:solidFill>
                            <a:srgbClr val="FFFFFF"/>
                          </a:solidFill>
                        </a:rPr>
                        <a:t>Model</a:t>
                      </a:r>
                    </a:p>
                  </a:txBody>
                  <a:tcPr marL="45720" marR="45720" marT="32004" marB="32004" anchor="ctr">
                    <a:solidFill>
                      <a:srgbClr val="7A1B3D"/>
                    </a:solidFill>
                  </a:tcPr>
                </a:tc>
                <a:tc>
                  <a:txBody>
                    <a:bodyPr/>
                    <a:lstStyle/>
                    <a:p>
                      <a:pPr algn="l"/>
                      <a:r>
                        <a:rPr lang="en-US" sz="1800" b="1" dirty="0">
                          <a:solidFill>
                            <a:srgbClr val="FFFFFF"/>
                          </a:solidFill>
                        </a:rPr>
                        <a:t>Key inputs</a:t>
                      </a:r>
                    </a:p>
                  </a:txBody>
                  <a:tcPr marL="45720" marR="45720" marT="32004" marB="32004" anchor="ctr">
                    <a:solidFill>
                      <a:srgbClr val="7A1B3D"/>
                    </a:solidFill>
                  </a:tcPr>
                </a:tc>
                <a:tc>
                  <a:txBody>
                    <a:bodyPr/>
                    <a:lstStyle/>
                    <a:p>
                      <a:pPr algn="l"/>
                      <a:r>
                        <a:rPr lang="en-US" sz="1800" b="1" dirty="0">
                          <a:solidFill>
                            <a:srgbClr val="FFFFFF"/>
                          </a:solidFill>
                        </a:rPr>
                        <a:t>Best used when</a:t>
                      </a:r>
                    </a:p>
                  </a:txBody>
                  <a:tcPr marL="45720" marR="45720" marT="32004" marB="32004" anchor="ctr">
                    <a:solidFill>
                      <a:srgbClr val="7A1B3D"/>
                    </a:solidFill>
                  </a:tcPr>
                </a:tc>
              </a:tr>
              <a:tr h="597408">
                <a:tc>
                  <a:txBody>
                    <a:bodyPr/>
                    <a:lstStyle/>
                    <a:p>
                      <a:pPr algn="l"/>
                      <a:r>
                        <a:rPr lang="en-US" sz="1600" b="1" dirty="0">
                          <a:solidFill>
                            <a:srgbClr val="242021"/>
                          </a:solidFill>
                        </a:rPr>
                        <a:t>Tyrer-Cuzick
(IBIS)</a:t>
                      </a:r>
                    </a:p>
                  </a:txBody>
                  <a:tcPr marL="45720" marR="45720" marT="32004" marB="32004" anchor="ctr">
                    <a:lnB w="6350">
                      <a:solidFill>
                        <a:srgbClr val="E4D6DB"/>
                      </a:solidFill>
                    </a:lnB>
                    <a:solidFill>
                      <a:srgbClr val="FFFFFF"/>
                    </a:solidFill>
                  </a:tcPr>
                </a:tc>
                <a:tc>
                  <a:txBody>
                    <a:bodyPr/>
                    <a:lstStyle/>
                    <a:p>
                      <a:pPr algn="l"/>
                      <a:r>
                        <a:rPr lang="en-US" sz="1600" dirty="0">
                          <a:solidFill>
                            <a:srgbClr val="242021"/>
                          </a:solidFill>
                        </a:rPr>
                        <a:t>Personal factors (BMI, Ashkenazi heritage, breast density); family history of breast &amp; ovarian cancer (both degrees, age of onset); reproductive history; personal history (atypical hyperplasia, LCIS); BRCA1/2 genetic testing</a:t>
                      </a:r>
                    </a:p>
                  </a:txBody>
                  <a:tcPr marL="45720" marR="45720" marT="32004" marB="32004" anchor="ctr">
                    <a:lnB w="6350">
                      <a:solidFill>
                        <a:srgbClr val="E4D6DB"/>
                      </a:solidFill>
                    </a:lnB>
                    <a:solidFill>
                      <a:srgbClr val="FFFFFF"/>
                    </a:solidFill>
                  </a:tcPr>
                </a:tc>
                <a:tc>
                  <a:txBody>
                    <a:bodyPr/>
                    <a:lstStyle/>
                    <a:p>
                      <a:pPr algn="l"/>
                      <a:r>
                        <a:rPr lang="en-US" sz="1600" dirty="0">
                          <a:solidFill>
                            <a:srgbClr val="242021"/>
                          </a:solidFill>
                        </a:rPr>
                        <a:t>Most detailed model — preferred when family history is strong or genetic status is known</a:t>
                      </a:r>
                    </a:p>
                  </a:txBody>
                  <a:tcPr marL="45720" marR="45720" marT="32004" marB="32004" anchor="ctr">
                    <a:lnB w="6350">
                      <a:solidFill>
                        <a:srgbClr val="E4D6DB"/>
                      </a:solidFill>
                    </a:lnB>
                    <a:solidFill>
                      <a:srgbClr val="FFFFFF"/>
                    </a:solidFill>
                  </a:tcPr>
                </a:tc>
              </a:tr>
              <a:tr h="426720">
                <a:tc>
                  <a:txBody>
                    <a:bodyPr/>
                    <a:lstStyle/>
                    <a:p>
                      <a:pPr algn="l"/>
                      <a:r>
                        <a:rPr lang="en-US" sz="1600" b="1" dirty="0">
                          <a:solidFill>
                            <a:srgbClr val="242021"/>
                          </a:solidFill>
                        </a:rPr>
                        <a:t>Gail</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600" dirty="0">
                          <a:solidFill>
                            <a:srgbClr val="242021"/>
                          </a:solidFill>
                        </a:rPr>
                        <a:t>Age 35–85, race/ethnicity, first-degree family history of breast cancer, age at menarche and first live birth, prior breast biopsies / atypical hyperplasia</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600" dirty="0">
                          <a:solidFill>
                            <a:srgbClr val="242021"/>
                          </a:solidFill>
                        </a:rPr>
                        <a:t>Selecting patients for chemoprevention (5-year risk ≥1.66%); not valid for BRCA carriers or prior LCIS/DCIS</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r h="597408">
                <a:tc>
                  <a:txBody>
                    <a:bodyPr/>
                    <a:lstStyle/>
                    <a:p>
                      <a:pPr algn="l"/>
                      <a:r>
                        <a:rPr lang="en-US" sz="1600" b="1" dirty="0">
                          <a:solidFill>
                            <a:srgbClr val="242021"/>
                          </a:solidFill>
                        </a:rPr>
                        <a:t>BRCAPRO</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600" dirty="0">
                          <a:solidFill>
                            <a:srgbClr val="242021"/>
                          </a:solidFill>
                        </a:rPr>
                        <a:t>No age restriction; Ashkenazi heritage; first/second-degree family history of breast &amp; ovarian cancer, including age of onset, bilateral disease and male breast cancer</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600" dirty="0">
                          <a:solidFill>
                            <a:srgbClr val="242021"/>
                          </a:solidFill>
                        </a:rPr>
                        <a:t>Estimating the probability of carrying a BRCA1/2 mutation</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r>
              <a:tr h="426720">
                <a:tc>
                  <a:txBody>
                    <a:bodyPr/>
                    <a:lstStyle/>
                    <a:p>
                      <a:pPr algn="l"/>
                      <a:r>
                        <a:rPr lang="en-US" sz="1600" b="1" dirty="0">
                          <a:solidFill>
                            <a:srgbClr val="242021"/>
                          </a:solidFill>
                        </a:rPr>
                        <a:t>Claus</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600" dirty="0">
                          <a:solidFill>
                            <a:srgbClr val="242021"/>
                          </a:solidFill>
                        </a:rPr>
                        <a:t>Age 20–79; first/second-degree family history of breast cancer and age of onset</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600" dirty="0">
                          <a:solidFill>
                            <a:srgbClr val="242021"/>
                          </a:solidFill>
                        </a:rPr>
                        <a:t>A simple family-history-based estimate when reproductive/genetic detail is unavailable</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bl>
          </a:graphicData>
        </a:graphic>
      </p:graphicFrame>
      <p:sp>
        <p:nvSpPr>
          <p:cNvPr id="4" name="Caption"/>
          <p:cNvSpPr txBox="1"/>
          <p:nvPr/>
        </p:nvSpPr>
        <p:spPr>
          <a:xfrm>
            <a:off x="548640" y="5532691"/>
            <a:ext cx="11094690" cy="457200"/>
          </a:xfrm>
          <a:prstGeom prst="rect">
            <a:avLst/>
          </a:prstGeom>
          <a:noFill/>
        </p:spPr>
        <p:txBody>
          <a:bodyPr wrap="square" lIns="0" tIns="0" rIns="0" bIns="0">
            <a:normAutofit/>
          </a:bodyPr>
          <a:lstStyle/>
          <a:p>
            <a:r>
              <a:rPr lang="en-US" sz="1600" i="1" dirty="0">
                <a:solidFill>
                  <a:srgbClr val="6B6B6B"/>
                </a:solidFill>
              </a:rPr>
              <a:t>All four estimate future breast-cancer risk from personal, reproductive and family-history data; none replaces genetic counselling.</a:t>
            </a:r>
          </a:p>
        </p:txBody>
      </p:sp>
      <p:sp>
        <p:nvSpPr>
          <p:cNvPr id="5" name="Date Placeholder 4"/>
          <p:cNvSpPr>
            <a:spLocks noGrp="1"/>
          </p:cNvSpPr>
          <p:nvPr>
            <p:ph type="dt" sz="half" idx="10"/>
          </p:nvPr>
        </p:nvSpPr>
        <p:spPr/>
        <p:txBody>
          <a:bodyPr/>
          <a:lstStyle/>
          <a:p>
            <a:fld id="{7A1D2B3C-4E5F-4A60-8B71-92A3B4C5D6E7}" type="datetime4">
              <a:rPr lang="en-US"/>
              <a:t>September 22, 2026</a:t>
            </a:fld>
            <a:endParaRPr lang="en-US"/>
          </a:p>
        </p:txBody>
      </p:sp>
      <p:sp>
        <p:nvSpPr>
          <p:cNvPr id="6" name="Footer Placeholder 5"/>
          <p:cNvSpPr>
            <a:spLocks noGrp="1"/>
          </p:cNvSpPr>
          <p:nvPr>
            <p:ph type="ftr" sz="quarter" idx="11"/>
          </p:nvPr>
        </p:nvSpPr>
        <p:spPr/>
        <p:txBody>
          <a:bodyPr/>
          <a:lstStyle/>
          <a:p>
            <a:r>
              <a:rPr lang="en-US"/>
              <a:t>Management of breast cancer</a:t>
            </a:r>
          </a:p>
        </p:txBody>
      </p:sp>
      <p:sp>
        <p:nvSpPr>
          <p:cNvPr id="7" name="Slide Number Placeholder 6"/>
          <p:cNvSpPr>
            <a:spLocks noGrp="1"/>
          </p:cNvSpPr>
          <p:nvPr>
            <p:ph type="sldNum" sz="quarter" idx="12"/>
          </p:nvPr>
        </p:nvSpPr>
        <p:spPr/>
        <p:txBody>
          <a:bodyPr/>
          <a:lstStyle/>
          <a:p>
            <a:fld id="{B8C9D0E1-F2A3-4B4C-9D5E-6F708192A3B4}" type="slidenum">
              <a:rPr lang="en-US"/>
              <a:t>9</a:t>
            </a:fld>
            <a:endParaRPr lang="en-US"/>
          </a:p>
        </p:txBody>
      </p:sp>
    </p:spTree>
    <p:extLst>
      <p:ext uri="{BB962C8B-B14F-4D97-AF65-F5344CB8AC3E}">
        <p14:creationId xmlns:p14="http://schemas.microsoft.com/office/powerpoint/2010/main" val="3090941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AADDEC7B-612E-C6FE-874E-FB222954ED2B}"/>
              </a:ext>
            </a:extLst>
          </p:cNvPr>
          <p:cNvSpPr>
            <a:spLocks noGrp="1"/>
          </p:cNvSpPr>
          <p:nvPr>
            <p:ph idx="1"/>
          </p:nvPr>
        </p:nvSpPr>
        <p:spPr/>
        <p:txBody>
          <a:bodyPr>
            <a:normAutofit/>
          </a:bodyPr>
          <a:lstStyle>
            <a:lvl1pPr>
              <a:defRPr sz="2800"/>
            </a:lvl1pPr>
            <a:lvl2pPr>
              <a:defRPr sz="2400"/>
            </a:lvl2pPr>
            <a:lvl3pPr>
              <a:defRPr sz="2200"/>
            </a:lvl3pPr>
            <a:lvl4pPr>
              <a:defRPr sz="2000"/>
            </a:lvl4pPr>
            <a:lvl5pPr>
              <a:defRPr sz="2000"/>
            </a:lvl5pPr>
          </a:lstStyle>
          <a:p>
            <a:r>
              <a:rPr lang="en-US"/>
              <a:t>Three pillars of risk management:</a:t>
            </a:r>
          </a:p>
          <a:p>
            <a:pPr lvl="1"/>
            <a:r>
              <a:rPr lang="en-US"/>
              <a:t>Breast Cancer Screening</a:t>
            </a:r>
          </a:p>
          <a:p>
            <a:pPr lvl="1"/>
            <a:r>
              <a:rPr lang="en-US"/>
              <a:t>Chemoprevention</a:t>
            </a:r>
          </a:p>
          <a:p>
            <a:pPr lvl="1"/>
            <a:r>
              <a:rPr lang="en-US"/>
              <a:t>Risk-Reducing Surgery</a:t>
            </a:r>
          </a:p>
          <a:p>
            <a:r>
              <a:rPr lang="en-US"/>
              <a:t>Choice depends on the quantified risk category: average, moderate (15–20% lifetime) or high (≥20–25% lifetime)</a:t>
            </a:r>
          </a:p>
          <a:p>
            <a:r>
              <a:rPr lang="en-US"/>
              <a:t>Shared decision-making, with psychosocial support especially before risk-reducing surgery</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10</a:t>
            </a:fld>
            <a:endParaRPr lang="en-US"/>
          </a:p>
        </p:txBody>
      </p:sp>
    </p:spTree>
    <p:extLst>
      <p:ext uri="{BB962C8B-B14F-4D97-AF65-F5344CB8AC3E}">
        <p14:creationId xmlns:p14="http://schemas.microsoft.com/office/powerpoint/2010/main" val="33860666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p:cNvSpPr>
            <a:spLocks noGrp="1"/>
          </p:cNvSpPr>
          <p:nvPr>
            <p:ph idx="1"/>
          </p:nvPr>
        </p:nvSpPr>
        <p:spPr/>
        <p:txBody>
          <a:bodyPr>
            <a:normAutofit/>
          </a:bodyPr>
          <a:lstStyle>
            <a:lvl1pPr>
              <a:defRPr sz="2600"/>
            </a:lvl1pPr>
            <a:lvl2pPr>
              <a:defRPr sz="2200"/>
            </a:lvl2pPr>
            <a:lvl3pPr>
              <a:defRPr sz="2000"/>
            </a:lvl3pPr>
            <a:lvl4pPr>
              <a:defRPr sz="1800"/>
            </a:lvl4pPr>
            <a:lvl5pPr>
              <a:defRPr sz="1800"/>
            </a:lvl5pPr>
          </a:lstStyle>
          <a:p>
            <a:pPr marL="0" indent="0">
              <a:spcBef>
                <a:spcPts val="800"/>
              </a:spcBef>
              <a:buNone/>
            </a:pPr>
            <a:r>
              <a:rPr lang="en-US" sz="2800" b="1"/>
              <a:t>Mammography</a:t>
            </a:r>
          </a:p>
          <a:p>
            <a:pPr lvl="1"/>
            <a:r>
              <a:rPr lang="en-US"/>
              <a:t>Screening (asymptomatic; two views — MLO and CC)</a:t>
            </a:r>
          </a:p>
          <a:p>
            <a:pPr lvl="1"/>
            <a:r>
              <a:rPr lang="en-US"/>
              <a:t>Diagnostic (symptomatic or recalled; adds spot-compression / magnification views)</a:t>
            </a:r>
          </a:p>
          <a:p>
            <a:pPr lvl="1"/>
            <a:r>
              <a:rPr lang="en-US"/>
              <a:t>Digital mammography / tomosynthesis improve detection and cut recalls, especially in dense breasts</a:t>
            </a:r>
          </a:p>
          <a:p>
            <a:pPr marL="0" indent="0">
              <a:spcBef>
                <a:spcPts val="800"/>
              </a:spcBef>
              <a:buNone/>
            </a:pPr>
            <a:r>
              <a:rPr lang="en-US" sz="2800" b="1"/>
              <a:t>Ultrasonography</a:t>
            </a:r>
          </a:p>
          <a:p>
            <a:pPr lvl="1"/>
            <a:r>
              <a:rPr lang="en-US"/>
              <a:t>Adjunct in dense breasts; distinguishes cystic vs solid; preferred first test in young or pregnant women</a:t>
            </a:r>
          </a:p>
          <a:p>
            <a:pPr marL="0" indent="0">
              <a:spcBef>
                <a:spcPts val="800"/>
              </a:spcBef>
              <a:buNone/>
            </a:pPr>
            <a:r>
              <a:rPr lang="en-US" sz="2800" b="1"/>
              <a:t>MRI</a:t>
            </a:r>
          </a:p>
          <a:p>
            <a:pPr lvl="1"/>
            <a:r>
              <a:rPr lang="en-US"/>
              <a:t>High-risk screening (from ≈30y), extent of disease, occult primary; high sensitivity but more false positives</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11</a:t>
            </a:fld>
            <a:endParaRPr lang="en-US"/>
          </a:p>
        </p:txBody>
      </p:sp>
    </p:spTree>
    <p:extLst>
      <p:ext uri="{BB962C8B-B14F-4D97-AF65-F5344CB8AC3E}">
        <p14:creationId xmlns:p14="http://schemas.microsoft.com/office/powerpoint/2010/main" val="6670154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3394300699"/>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76F9D65B-E003-1A2F-5BD4-F6D11D376AA5}"/>
              </a:ext>
            </a:extLst>
          </p:cNvPr>
          <p:cNvSpPr>
            <a:spLocks noGrp="1"/>
          </p:cNvSpPr>
          <p:nvPr>
            <p:ph idx="1"/>
          </p:nvPr>
        </p:nvSpPr>
        <p:spPr/>
        <p:txBody>
          <a:bodyPr>
            <a:normAutofit/>
          </a:bodyPr>
          <a:lstStyle>
            <a:lvl1pPr>
              <a:defRPr sz="2800"/>
            </a:lvl1pPr>
            <a:lvl2pPr>
              <a:defRPr sz="2400"/>
            </a:lvl2pPr>
            <a:lvl3pPr>
              <a:defRPr sz="2200"/>
            </a:lvl3pPr>
            <a:lvl4pPr>
              <a:defRPr sz="2000"/>
            </a:lvl4pPr>
            <a:lvl5pPr>
              <a:defRPr sz="2000"/>
            </a:lvl5pPr>
          </a:lstStyle>
          <a:p>
            <a:r>
              <a:rPr lang="en-US"/>
              <a:t>Routine screening mammography in women ≥50 years reduces breast-cancer mortality by ≈25%</a:t>
            </a:r>
          </a:p>
          <a:p>
            <a:r>
              <a:rPr lang="en-US"/>
              <a:t>ACS, USPSTF, and NCCN all endorse population screening but differ on start age/interval</a:t>
            </a:r>
          </a:p>
          <a:p>
            <a:r>
              <a:rPr lang="en-US"/>
              <a:t>Risk stratification guides intensity:</a:t>
            </a:r>
          </a:p>
          <a:p>
            <a:pPr lvl="1"/>
            <a:r>
              <a:rPr lang="en-US"/>
              <a:t>High lifetime risk 20–25%+ → annual MRI + mammography</a:t>
            </a:r>
          </a:p>
          <a:p>
            <a:pPr lvl="1"/>
            <a:r>
              <a:rPr lang="en-US"/>
              <a:t>Moderate lifetime risk 15–20% → individualise, consider MRI</a:t>
            </a:r>
          </a:p>
          <a:p>
            <a:pPr lvl="1"/>
            <a:r>
              <a:rPr lang="en-US"/>
              <a:t>Average lifetime risk ≈12% → mammography alone</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12</a:t>
            </a:fld>
            <a:endParaRPr lang="en-US"/>
          </a:p>
        </p:txBody>
      </p:sp>
    </p:spTree>
    <p:extLst>
      <p:ext uri="{BB962C8B-B14F-4D97-AF65-F5344CB8AC3E}">
        <p14:creationId xmlns:p14="http://schemas.microsoft.com/office/powerpoint/2010/main" val="21750760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4282917855"/>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ontent Placeholder 4"/>
          <p:cNvSpPr>
            <a:spLocks noGrp="1"/>
          </p:cNvSpPr>
          <p:nvPr>
            <p:ph idx="1"/>
          </p:nvPr>
        </p:nvSpPr>
        <p:spPr/>
        <p:txBody>
          <a:bodyPr>
            <a:normAutofit/>
          </a:bodyPr>
          <a:lstStyle>
            <a:lvl1pPr>
              <a:defRPr sz="2600"/>
            </a:lvl1pPr>
            <a:lvl2pPr>
              <a:defRPr sz="2200"/>
            </a:lvl2pPr>
            <a:lvl3pPr>
              <a:defRPr sz="2000"/>
            </a:lvl3pPr>
            <a:lvl4pPr>
              <a:defRPr sz="1800"/>
            </a:lvl4pPr>
            <a:lvl5pPr>
              <a:defRPr sz="1800"/>
            </a:lvl5pPr>
          </a:lstStyle>
          <a:p>
            <a:pPr marL="0" indent="0">
              <a:spcBef>
                <a:spcPts val="800"/>
              </a:spcBef>
              <a:buNone/>
            </a:pPr>
            <a:r>
              <a:rPr sz="1800">
                <a:solidFill>
                  <a:srgbClr val="1F3556"/>
                </a:solidFill>
                <a:latin typeface="Aptos"/>
              </a:rPr>
              <a:t>Average-risk screening - current public guidance
ACS: age 40-44 option to start annual; 45-54 annual; 55+ every 1-2 years while healthy.
USPSTF (2024): every 2 years age 40-74; insufficient evidence for routine screening &gt;=75.
Digital mammography and DBT are effective screening modalities.</a:t>
            </a:r>
          </a:p>
        </p:txBody>
      </p:sp>
      <p:sp>
        <p:nvSpPr>
          <p:cNvPr id="6" name="Date Placeholder 5"/>
          <p:cNvSpPr>
            <a:spLocks noGrp="1"/>
          </p:cNvSpPr>
          <p:nvPr>
            <p:ph type="dt" sz="half" idx="10"/>
          </p:nvPr>
        </p:nvSpPr>
        <p:spPr/>
        <p:txBody>
          <a:bodyPr/>
          <a:lstStyle/>
          <a:p>
            <a:fld id="{7A1D2B3C-4E5F-4A60-8B71-92A3B4C5D6E7}" type="datetime4">
              <a:rPr lang="en-US"/>
              <a:t>September 22, 2026</a:t>
            </a:fld>
            <a:endParaRPr lang="en-US"/>
          </a:p>
        </p:txBody>
      </p:sp>
      <p:sp>
        <p:nvSpPr>
          <p:cNvPr id="7" name="Footer Placeholder 6"/>
          <p:cNvSpPr>
            <a:spLocks noGrp="1"/>
          </p:cNvSpPr>
          <p:nvPr>
            <p:ph type="ftr" sz="quarter" idx="11"/>
          </p:nvPr>
        </p:nvSpPr>
        <p:spPr/>
        <p:txBody>
          <a:bodyPr/>
          <a:lstStyle/>
          <a:p>
            <a:r>
              <a:rPr lang="en-US"/>
              <a:t>Management of breast cancer</a:t>
            </a:r>
          </a:p>
        </p:txBody>
      </p:sp>
      <p:sp>
        <p:nvSpPr>
          <p:cNvPr id="8" name="Slide Number Placeholder 7"/>
          <p:cNvSpPr>
            <a:spLocks noGrp="1"/>
          </p:cNvSpPr>
          <p:nvPr>
            <p:ph type="sldNum" sz="quarter" idx="12"/>
          </p:nvPr>
        </p:nvSpPr>
        <p:spPr/>
        <p:txBody>
          <a:bodyPr/>
          <a:lstStyle/>
          <a:p>
            <a:fld id="{B8C9D0E1-F2A3-4B4C-9D5E-6F708192A3B4}" type="slidenum">
              <a:rPr lang="en-US"/>
              <a:t>13</a:t>
            </a:fld>
            <a:endParaRPr lang="en-US"/>
          </a:p>
        </p:txBody>
      </p:sp>
    </p:spTree>
    <p:extLst>
      <p:ext uri="{BB962C8B-B14F-4D97-AF65-F5344CB8AC3E}">
        <p14:creationId xmlns:p14="http://schemas.microsoft.com/office/powerpoint/2010/main" val="34159831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2010007288"/>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A48D536C-3B77-B363-0720-B0652CE10116}"/>
              </a:ext>
            </a:extLst>
          </p:cNvPr>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r>
              <a:rPr sz="1800">
                <a:solidFill>
                  <a:srgbClr val="1F3556"/>
                </a:solidFill>
                <a:latin typeface="Aptos"/>
              </a:rPr>
              <a:t>High-risk screening
Annual breast MRI + mammography is recommended by ACS for women with lifetime risk about 20-25%+ or selected genetic/chest-radiation risk.
Usually start around age 30. MRI is additive to mammography, not a replacement.</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14</a:t>
            </a:fld>
            <a:endParaRPr lang="en-US"/>
          </a:p>
        </p:txBody>
      </p:sp>
    </p:spTree>
    <p:extLst>
      <p:ext uri="{BB962C8B-B14F-4D97-AF65-F5344CB8AC3E}">
        <p14:creationId xmlns:p14="http://schemas.microsoft.com/office/powerpoint/2010/main" val="1858100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2244474434"/>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7D985EB0-E6A3-B12D-8D4B-71C586C4AAC1}"/>
              </a:ext>
            </a:extLst>
          </p:cNvPr>
          <p:cNvSpPr>
            <a:spLocks noGrp="1"/>
          </p:cNvSpPr>
          <p:nvPr>
            <p:ph idx="1"/>
          </p:nvPr>
        </p:nvSpPr>
        <p:spPr/>
        <p:txBody>
          <a:bodyPr>
            <a:normAutofit/>
          </a:bodyPr>
          <a:lstStyle>
            <a:lvl1pPr>
              <a:defRPr sz="2800"/>
            </a:lvl1pPr>
            <a:lvl2pPr>
              <a:defRPr sz="2400"/>
            </a:lvl2pPr>
            <a:lvl3pPr>
              <a:defRPr sz="2200"/>
            </a:lvl3pPr>
            <a:lvl4pPr>
              <a:defRPr sz="2000"/>
            </a:lvl4pPr>
            <a:lvl5pPr>
              <a:defRPr sz="2000"/>
            </a:lvl5pPr>
          </a:lstStyle>
          <a:p>
            <a:r>
              <a:rPr sz="1700">
                <a:solidFill>
                  <a:srgbClr val="1F3556"/>
                </a:solidFill>
                <a:latin typeface="Aptos"/>
              </a:rPr>
              <a:t>Risk-reducing medication - updated framing
USPSTF: offer tamoxifen, raloxifene or an aromatase inhibitor to women &gt;=35 at increased breast-cancer risk who have low risk of medication harms.
Tamoxifen: pre- or postmenopausal; raloxifene and AIs: postmenopausal.
Decision = absolute cancer risk + expected benefit - VTE/endometrial/bone/menopausal toxicity.</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15</a:t>
            </a:fld>
            <a:endParaRPr lang="en-US"/>
          </a:p>
        </p:txBody>
      </p:sp>
    </p:spTree>
    <p:extLst>
      <p:ext uri="{BB962C8B-B14F-4D97-AF65-F5344CB8AC3E}">
        <p14:creationId xmlns:p14="http://schemas.microsoft.com/office/powerpoint/2010/main" val="49236784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322131087"/>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D6EEE5BE-23A3-36F8-70E1-B907D5215C0F}"/>
              </a:ext>
            </a:extLst>
          </p:cNvPr>
          <p:cNvSpPr>
            <a:spLocks noGrp="1"/>
          </p:cNvSpPr>
          <p:nvPr>
            <p:ph idx="1"/>
          </p:nvPr>
        </p:nvSpPr>
        <p:spPr/>
        <p:txBody>
          <a:bodyPr>
            <a:normAutofit/>
          </a:bodyPr>
          <a:lstStyle>
            <a:lvl1pPr>
              <a:defRPr sz="2800"/>
            </a:lvl1pPr>
            <a:lvl2pPr>
              <a:defRPr sz="2400"/>
            </a:lvl2pPr>
            <a:lvl3pPr>
              <a:defRPr sz="2200"/>
            </a:lvl3pPr>
            <a:lvl4pPr>
              <a:defRPr sz="2000"/>
            </a:lvl4pPr>
            <a:lvl5pPr>
              <a:defRPr sz="2000"/>
            </a:lvl5pPr>
          </a:lstStyle>
          <a:p>
            <a:pPr marL="0" indent="0">
              <a:spcBef>
                <a:spcPts val="800"/>
              </a:spcBef>
              <a:buNone/>
            </a:pPr>
            <a:r>
              <a:rPr lang="en-US" sz="3000" b="1"/>
              <a:t>High-risk woman</a:t>
            </a:r>
          </a:p>
          <a:p>
            <a:pPr lvl="1"/>
            <a:r>
              <a:rPr lang="en-US"/>
              <a:t>Bilateral risk-reducing (prophylactic) mastectomy reduces breast-cancer risk by </a:t>
            </a:r>
            <a:r>
              <a:rPr lang="en-US" b="1"/>
              <a:t>&gt;90%</a:t>
            </a:r>
            <a:r>
              <a:rPr lang="en-US"/>
              <a:t>, including in BRCA1/2 carriers</a:t>
            </a:r>
          </a:p>
          <a:p>
            <a:pPr lvl="1"/>
            <a:r>
              <a:rPr lang="en-US"/>
              <a:t>Nipple-sparing techniques with reconstruction are acceptable in selected women</a:t>
            </a:r>
          </a:p>
          <a:p>
            <a:pPr lvl="1"/>
            <a:r>
              <a:rPr lang="en-US"/>
              <a:t>Risk-reducing salpingo-oophorectomy (BRCA1 at 35–40y; BRCA2 at 40–45y, after childbearing)</a:t>
            </a:r>
          </a:p>
          <a:p>
            <a:pPr lvl="2"/>
            <a:r>
              <a:rPr lang="en-US"/>
              <a:t>Reduces ovarian-cancer and all-cause mortality</a:t>
            </a:r>
          </a:p>
          <a:p>
            <a:pPr lvl="2"/>
            <a:r>
              <a:rPr lang="en-US"/>
              <a:t>Also lowers breast-cancer risk in premenopausal carriers</a:t>
            </a:r>
          </a:p>
          <a:p>
            <a:r>
              <a:rPr lang="en-US"/>
              <a:t>Contralateral risk-reducing mastectomy is considered for unilateral-cancer patients with strong hereditary risk</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16</a:t>
            </a:fld>
            <a:endParaRPr lang="en-US"/>
          </a:p>
        </p:txBody>
      </p:sp>
    </p:spTree>
    <p:extLst>
      <p:ext uri="{BB962C8B-B14F-4D97-AF65-F5344CB8AC3E}">
        <p14:creationId xmlns:p14="http://schemas.microsoft.com/office/powerpoint/2010/main" val="2279694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 8"/>
          <p:cNvGraphicFramePr/>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Content Placeholder 2"/>
          <p:cNvSpPr>
            <a:spLocks noGrp="1"/>
          </p:cNvSpPr>
          <p:nvPr>
            <p:ph sz="half" idx="1"/>
          </p:nvPr>
        </p:nvSpPr>
        <p:spPr>
          <a:xfrm>
            <a:off x="548640" y="1417320"/>
            <a:ext cx="5364465" cy="4800600"/>
          </a:xfrm>
        </p:spPr>
        <p:txBody>
          <a:bodyPr>
            <a:normAutofit/>
          </a:bodyPr>
          <a:lstStyle>
            <a:lvl1pPr>
              <a:defRPr sz="2600"/>
            </a:lvl1pPr>
            <a:lvl2pPr>
              <a:defRPr sz="2200"/>
            </a:lvl2pPr>
            <a:lvl3pPr>
              <a:defRPr sz="2000"/>
            </a:lvl3pPr>
            <a:lvl4pPr>
              <a:defRPr sz="1800"/>
            </a:lvl4pPr>
            <a:lvl5pPr>
              <a:defRPr sz="1800"/>
            </a:lvl5pPr>
          </a:lstStyle>
          <a:p>
            <a:pPr marL="0" indent="0">
              <a:spcBef>
                <a:spcPts val="800"/>
              </a:spcBef>
              <a:buNone/>
            </a:pPr>
            <a:r>
              <a:rPr lang="en-US" sz="2800" b="1" dirty="0"/>
              <a:t>BRCA 1</a:t>
            </a:r>
          </a:p>
          <a:p>
            <a:pPr lvl="1"/>
            <a:r>
              <a:rPr lang="en-US" dirty="0"/>
              <a:t>≈45% of hereditary breast cancer and ≥80% of hereditary ovarian cancer</a:t>
            </a:r>
          </a:p>
          <a:p>
            <a:pPr lvl="1"/>
            <a:r>
              <a:rPr lang="en-US" dirty="0"/>
              <a:t>Lifetime breast-cancer risk up to 85% (older estimates)¹; ≈70–72% in prospective cohorts¹</a:t>
            </a:r>
          </a:p>
          <a:p>
            <a:pPr lvl="1"/>
            <a:r>
              <a:rPr lang="en-US" dirty="0"/>
              <a:t>Lifetime ovarian-cancer risk up to 40%</a:t>
            </a:r>
          </a:p>
          <a:p>
            <a:pPr lvl="1"/>
            <a:r>
              <a:rPr lang="en-US" dirty="0"/>
              <a:t>Typically triple-negative, poorly differentiated, early onset, bilateral</a:t>
            </a:r>
          </a:p>
          <a:p>
            <a:pPr lvl="1"/>
            <a:r>
              <a:rPr lang="en-US" dirty="0"/>
              <a:t>Other cancers: colon, prostate</a:t>
            </a:r>
          </a:p>
          <a:p>
            <a:pPr marL="0" indent="0">
              <a:buNone/>
            </a:pPr>
            <a:r>
              <a:rPr lang="en-US" sz="1200" dirty="0">
                <a:solidFill>
                  <a:srgbClr val="6B6B6B"/>
                </a:solidFill>
              </a:rPr>
              <a:t>¹ Older figures come from high-risk clinic cohorts; more recent prospective, population-based studies give lower, more representative estimates.</a:t>
            </a:r>
          </a:p>
        </p:txBody>
      </p:sp>
      <p:sp>
        <p:nvSpPr>
          <p:cNvPr id="4" name="Content Placeholder 3"/>
          <p:cNvSpPr>
            <a:spLocks noGrp="1"/>
          </p:cNvSpPr>
          <p:nvPr>
            <p:ph sz="half" idx="2"/>
          </p:nvPr>
        </p:nvSpPr>
        <p:spPr>
          <a:xfrm>
            <a:off x="6278865" y="1417320"/>
            <a:ext cx="5364465" cy="4800600"/>
          </a:xfrm>
        </p:spPr>
        <p:txBody>
          <a:bodyPr>
            <a:normAutofit/>
          </a:bodyPr>
          <a:lstStyle>
            <a:lvl1pPr>
              <a:defRPr sz="2600"/>
            </a:lvl1pPr>
            <a:lvl2pPr>
              <a:defRPr sz="2200"/>
            </a:lvl2pPr>
            <a:lvl3pPr>
              <a:defRPr sz="2000"/>
            </a:lvl3pPr>
            <a:lvl4pPr>
              <a:defRPr sz="1800"/>
            </a:lvl4pPr>
            <a:lvl5pPr>
              <a:defRPr sz="1800"/>
            </a:lvl5pPr>
          </a:lstStyle>
          <a:p>
            <a:pPr marL="0" indent="0">
              <a:spcBef>
                <a:spcPts val="800"/>
              </a:spcBef>
              <a:buNone/>
            </a:pPr>
            <a:r>
              <a:rPr lang="en-US" sz="2800" b="1"/>
              <a:t>BRCA 2</a:t>
            </a:r>
          </a:p>
          <a:p>
            <a:pPr lvl="1"/>
            <a:r>
              <a:rPr lang="en-US"/>
              <a:t>Breast-cancer risk up to 85% (older); ≈69% (prospective)</a:t>
            </a:r>
          </a:p>
          <a:p>
            <a:pPr lvl="1"/>
            <a:r>
              <a:rPr lang="en-US"/>
              <a:t>Lifetime ovarian-cancer risk ≈17–20%</a:t>
            </a:r>
          </a:p>
          <a:p>
            <a:pPr lvl="1"/>
            <a:r>
              <a:rPr lang="en-US"/>
              <a:t>Usually ER/PR-positive, well differentiated</a:t>
            </a:r>
          </a:p>
          <a:p>
            <a:pPr lvl="1"/>
            <a:r>
              <a:rPr lang="en-US"/>
              <a:t>Male carriers: ≈6% lifetime breast-cancer risk</a:t>
            </a:r>
          </a:p>
          <a:p>
            <a:pPr lvl="1"/>
            <a:r>
              <a:rPr lang="en-US"/>
              <a:t>Associated cancers: ovarian, prostate, pancreatic, gallbladder/bile duct</a:t>
            </a:r>
          </a:p>
        </p:txBody>
      </p:sp>
      <p:sp>
        <p:nvSpPr>
          <p:cNvPr id="5" name="Date Placeholder 4"/>
          <p:cNvSpPr>
            <a:spLocks noGrp="1"/>
          </p:cNvSpPr>
          <p:nvPr>
            <p:ph type="dt" sz="half" idx="10"/>
          </p:nvPr>
        </p:nvSpPr>
        <p:spPr/>
        <p:txBody>
          <a:bodyPr/>
          <a:lstStyle/>
          <a:p>
            <a:fld id="{7A1D2B3C-4E5F-4A60-8B71-92A3B4C5D6E7}" type="datetime4">
              <a:rPr lang="en-US"/>
              <a:t>September 22, 2026</a:t>
            </a:fld>
            <a:endParaRPr lang="en-US"/>
          </a:p>
        </p:txBody>
      </p:sp>
      <p:sp>
        <p:nvSpPr>
          <p:cNvPr id="6" name="Footer Placeholder 5"/>
          <p:cNvSpPr>
            <a:spLocks noGrp="1"/>
          </p:cNvSpPr>
          <p:nvPr>
            <p:ph type="ftr" sz="quarter" idx="11"/>
          </p:nvPr>
        </p:nvSpPr>
        <p:spPr/>
        <p:txBody>
          <a:bodyPr/>
          <a:lstStyle/>
          <a:p>
            <a:r>
              <a:rPr lang="en-US"/>
              <a:t>Management of breast cancer</a:t>
            </a:r>
          </a:p>
        </p:txBody>
      </p:sp>
      <p:sp>
        <p:nvSpPr>
          <p:cNvPr id="7" name="Slide Number Placeholder 6"/>
          <p:cNvSpPr>
            <a:spLocks noGrp="1"/>
          </p:cNvSpPr>
          <p:nvPr>
            <p:ph type="sldNum" sz="quarter" idx="12"/>
          </p:nvPr>
        </p:nvSpPr>
        <p:spPr/>
        <p:txBody>
          <a:bodyPr/>
          <a:lstStyle/>
          <a:p>
            <a:fld id="{B8C9D0E1-F2A3-4B4C-9D5E-6F708192A3B4}" type="slidenum">
              <a:rPr lang="en-US"/>
              <a:t>17</a:t>
            </a:fld>
            <a:endParaRPr lang="en-US"/>
          </a:p>
        </p:txBody>
      </p:sp>
    </p:spTree>
    <p:extLst>
      <p:ext uri="{BB962C8B-B14F-4D97-AF65-F5344CB8AC3E}">
        <p14:creationId xmlns:p14="http://schemas.microsoft.com/office/powerpoint/2010/main" val="3403679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3E89D3E3-AE7F-DB2B-F6E3-98CC519A5FD0}"/>
              </a:ext>
            </a:extLst>
          </p:cNvPr>
          <p:cNvSpPr>
            <a:spLocks noGrp="1"/>
          </p:cNvSpPr>
          <p:nvPr>
            <p:ph idx="1"/>
          </p:nvPr>
        </p:nvSpPr>
        <p:spPr/>
        <p:txBody>
          <a:bodyPr>
            <a:normAutofit/>
          </a:bodyPr>
          <a:lstStyle>
            <a:lvl1pPr>
              <a:defRPr sz="2600"/>
            </a:lvl1pPr>
            <a:lvl2pPr>
              <a:defRPr sz="2200"/>
            </a:lvl2pPr>
            <a:lvl3pPr>
              <a:defRPr sz="2000"/>
            </a:lvl3pPr>
            <a:lvl4pPr>
              <a:defRPr sz="1800"/>
            </a:lvl4pPr>
            <a:lvl5pPr>
              <a:defRPr sz="1800"/>
            </a:lvl5pPr>
          </a:lstStyle>
          <a:p>
            <a:r>
              <a:rPr lang="en-US"/>
              <a:t>Bloom and colleagues described the natural history of breast cancer based on the records of 250 women with untreated breast CA</a:t>
            </a:r>
          </a:p>
          <a:p>
            <a:pPr lvl="1"/>
            <a:r>
              <a:rPr lang="en-US" b="1"/>
              <a:t>The median survival was 2.7 years after initial diagnosis</a:t>
            </a:r>
          </a:p>
          <a:p>
            <a:pPr lvl="1"/>
            <a:r>
              <a:rPr lang="en-US" b="1"/>
              <a:t>The 5- and 10-year survival rates were 18.0% and 3.6%, respectively</a:t>
            </a:r>
          </a:p>
          <a:p>
            <a:pPr lvl="1"/>
            <a:r>
              <a:rPr lang="en-US" b="1"/>
              <a:t>Only 0.8% survived for 15 years or longer.</a:t>
            </a:r>
          </a:p>
          <a:p>
            <a:r>
              <a:rPr lang="en-US"/>
              <a:t>Autopsy data confirmed that 95% of these women died of breast cancer,</a:t>
            </a:r>
          </a:p>
          <a:p>
            <a:r>
              <a:rPr lang="en-US"/>
              <a:t>Almost 75% developed ulceration, during the course of the disease.</a:t>
            </a:r>
          </a:p>
          <a:p>
            <a:r>
              <a:rPr lang="en-US"/>
              <a:t>The longest surviving patient died in the 19th year after diagnosis.</a:t>
            </a:r>
          </a:p>
          <a:p>
            <a:r>
              <a:rPr lang="en-US"/>
              <a:t>This pre-treatment cohort is the benchmark against which the survival benefit of modern therapy (Chapters 10–13) is measured.</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18</a:t>
            </a:fld>
            <a:endParaRPr lang="en-US"/>
          </a:p>
        </p:txBody>
      </p:sp>
    </p:spTree>
    <p:extLst>
      <p:ext uri="{BB962C8B-B14F-4D97-AF65-F5344CB8AC3E}">
        <p14:creationId xmlns:p14="http://schemas.microsoft.com/office/powerpoint/2010/main" val="335624632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2562055810"/>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7AB3B2B0-AE8B-46CB-A5A3-47FFEFC387C5}"/>
              </a:ext>
            </a:extLst>
          </p:cNvPr>
          <p:cNvSpPr>
            <a:spLocks noGrp="1"/>
          </p:cNvSpPr>
          <p:nvPr>
            <p:ph idx="1"/>
          </p:nvPr>
        </p:nvSpPr>
        <p:spPr/>
        <p:txBody>
          <a:bodyPr>
            <a:normAutofit/>
          </a:bodyPr>
          <a:lstStyle>
            <a:lvl1pPr>
              <a:defRPr sz="2800"/>
            </a:lvl1pPr>
            <a:lvl2pPr>
              <a:defRPr sz="2400"/>
            </a:lvl2pPr>
            <a:lvl3pPr>
              <a:defRPr sz="2200"/>
            </a:lvl3pPr>
            <a:lvl4pPr>
              <a:defRPr sz="2000"/>
            </a:lvl4pPr>
            <a:lvl5pPr>
              <a:defRPr sz="2000"/>
            </a:lvl5pPr>
          </a:lstStyle>
          <a:p>
            <a:pPr marL="0" indent="0">
              <a:spcBef>
                <a:spcPts val="800"/>
              </a:spcBef>
              <a:buNone/>
            </a:pPr>
            <a:r>
              <a:rPr lang="en-US" sz="3000" b="1"/>
              <a:t>Primary Breast Cancer</a:t>
            </a:r>
          </a:p>
          <a:p>
            <a:pPr lvl="1"/>
            <a:r>
              <a:rPr lang="en-US"/>
              <a:t>Local growth → skin/nipple retraction</a:t>
            </a:r>
          </a:p>
          <a:p>
            <a:pPr lvl="1"/>
            <a:r>
              <a:rPr lang="en-US"/>
              <a:t>Peau d’orange (dermal lymphatic invasion) → ulceration in advanced disease</a:t>
            </a:r>
          </a:p>
          <a:p>
            <a:pPr marL="0" indent="0">
              <a:spcBef>
                <a:spcPts val="800"/>
              </a:spcBef>
              <a:buNone/>
            </a:pPr>
            <a:r>
              <a:rPr lang="en-US" sz="3000" b="1"/>
              <a:t>Axillary Lymph Node Metastases</a:t>
            </a:r>
          </a:p>
          <a:p>
            <a:pPr lvl="1"/>
            <a:r>
              <a:rPr lang="en-US"/>
              <a:t>Via the lymphatic network of the breast, usually level I → II → III</a:t>
            </a:r>
          </a:p>
          <a:p>
            <a:pPr marL="0" indent="0">
              <a:spcBef>
                <a:spcPts val="800"/>
              </a:spcBef>
              <a:buNone/>
            </a:pPr>
            <a:r>
              <a:rPr lang="en-US" sz="3000" b="1"/>
              <a:t>Distant Metastases (haematogenous)</a:t>
            </a:r>
          </a:p>
          <a:p>
            <a:pPr lvl="1"/>
            <a:r>
              <a:rPr lang="en-US"/>
              <a:t>Common sites, in order of frequency: bone, lung, pleura, soft tissues, and liver</a:t>
            </a:r>
          </a:p>
          <a:p>
            <a:r>
              <a:rPr lang="en-US"/>
              <a:t>Number of involved axillary nodes remains one of the strongest predictors of 10- and 20-year survival</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19</a:t>
            </a:fld>
            <a:endParaRPr lang="en-US"/>
          </a:p>
        </p:txBody>
      </p:sp>
    </p:spTree>
    <p:extLst>
      <p:ext uri="{BB962C8B-B14F-4D97-AF65-F5344CB8AC3E}">
        <p14:creationId xmlns:p14="http://schemas.microsoft.com/office/powerpoint/2010/main" val="113304141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C07FC61D-F96F-9142-D5E6-3BF14CC2FE88}"/>
              </a:ext>
            </a:extLst>
          </p:cNvPr>
          <p:cNvSpPr>
            <a:spLocks noGrp="1"/>
          </p:cNvSpPr>
          <p:nvPr>
            <p:ph idx="1"/>
          </p:nvPr>
        </p:nvSpPr>
        <p:spPr/>
        <p:txBody>
          <a:bodyPr>
            <a:normAutofit/>
          </a:bodyPr>
          <a:lstStyle>
            <a:lvl1pPr>
              <a:defRPr sz="2800"/>
            </a:lvl1pPr>
            <a:lvl2pPr>
              <a:defRPr sz="2400"/>
            </a:lvl2pPr>
            <a:lvl3pPr>
              <a:defRPr sz="2200"/>
            </a:lvl3pPr>
            <a:lvl4pPr>
              <a:defRPr sz="2000"/>
            </a:lvl4pPr>
            <a:lvl5pPr>
              <a:defRPr sz="2000"/>
            </a:lvl5pPr>
          </a:lstStyle>
          <a:p>
            <a:pPr marL="0" indent="0">
              <a:spcBef>
                <a:spcPts val="800"/>
              </a:spcBef>
              <a:buNone/>
            </a:pPr>
            <a:r>
              <a:rPr lang="en-US" sz="3000" b="1"/>
              <a:t>Noninvasive</a:t>
            </a:r>
          </a:p>
          <a:p>
            <a:pPr lvl="1"/>
            <a:r>
              <a:rPr lang="en-US"/>
              <a:t>A.  LCIS — a risk marker, not an obligate precursor</a:t>
            </a:r>
          </a:p>
          <a:p>
            <a:pPr lvl="1"/>
            <a:r>
              <a:rPr lang="en-US"/>
              <a:t>B.  DCIS — a true, direct precursor of invasive carcinoma</a:t>
            </a:r>
          </a:p>
          <a:p>
            <a:pPr marL="0" indent="0">
              <a:spcBef>
                <a:spcPts val="800"/>
              </a:spcBef>
              <a:buNone/>
            </a:pPr>
            <a:r>
              <a:rPr lang="en-US" sz="3000" b="1"/>
              <a:t>Invasive</a:t>
            </a:r>
          </a:p>
          <a:p>
            <a:pPr lvl="1"/>
            <a:r>
              <a:rPr lang="en-US"/>
              <a:t>A.  Invasive ductal (no special type, NST) — ≈70–80%</a:t>
            </a:r>
          </a:p>
          <a:p>
            <a:pPr lvl="1"/>
            <a:r>
              <a:rPr lang="en-US"/>
              <a:t>B.  Invasive lobular — ≈10%</a:t>
            </a:r>
          </a:p>
          <a:p>
            <a:pPr lvl="1"/>
            <a:r>
              <a:rPr lang="en-US"/>
              <a:t>C.  Other special histologic types (tubular, mucinous, medullary, papillary, cribriform) — usually a better prognosis</a:t>
            </a:r>
          </a:p>
          <a:p>
            <a:r>
              <a:rPr lang="en-US"/>
              <a:t>AJCC/WHO grading combines tubule formation, nuclear pleomorphism and mitotic count into grade 1–3</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20</a:t>
            </a:fld>
            <a:endParaRPr lang="en-US"/>
          </a:p>
        </p:txBody>
      </p:sp>
    </p:spTree>
    <p:extLst>
      <p:ext uri="{BB962C8B-B14F-4D97-AF65-F5344CB8AC3E}">
        <p14:creationId xmlns:p14="http://schemas.microsoft.com/office/powerpoint/2010/main" val="25748686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594081554"/>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278DF2AB-21AA-98D9-78F3-8A1F357E65ED}"/>
              </a:ext>
            </a:extLst>
          </p:cNvPr>
          <p:cNvSpPr>
            <a:spLocks noGrp="1"/>
          </p:cNvSpPr>
          <p:nvPr>
            <p:ph idx="1"/>
          </p:nvPr>
        </p:nvSpPr>
        <p:spPr/>
        <p:txBody>
          <a:bodyPr>
            <a:normAutofit/>
          </a:bodyPr>
          <a:lstStyle>
            <a:lvl1pPr>
              <a:defRPr sz="2800"/>
            </a:lvl1pPr>
            <a:lvl2pPr>
              <a:defRPr sz="2400"/>
            </a:lvl2pPr>
            <a:lvl3pPr>
              <a:defRPr sz="2200"/>
            </a:lvl3pPr>
            <a:lvl4pPr>
              <a:defRPr sz="2000"/>
            </a:lvl4pPr>
            <a:lvl5pPr>
              <a:defRPr sz="2000"/>
            </a:lvl5pPr>
          </a:lstStyle>
          <a:p>
            <a:r>
              <a:rPr lang="en-US"/>
              <a:t>Arises in the terminal duct-lobular unit (TDLU); develops only in the female breast</a:t>
            </a:r>
          </a:p>
          <a:p>
            <a:r>
              <a:rPr lang="en-US"/>
              <a:t>The average age at diagnosis is 45 years; often multicentric and bilateral</a:t>
            </a:r>
          </a:p>
          <a:p>
            <a:r>
              <a:rPr lang="en-US"/>
              <a:t>A marker of increased risk rather than an anatomic precursor — invasive cancer follows in 25% to 35%, in either breast</a:t>
            </a:r>
          </a:p>
          <a:p>
            <a:r>
              <a:rPr lang="en-US"/>
              <a:t>Pleomorphic or florid LCIS (aggressive variants) behave more like DCIS — consider excision to clear margins</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21</a:t>
            </a:fld>
            <a:endParaRPr lang="en-US"/>
          </a:p>
        </p:txBody>
      </p:sp>
    </p:spTree>
    <p:extLst>
      <p:ext uri="{BB962C8B-B14F-4D97-AF65-F5344CB8AC3E}">
        <p14:creationId xmlns:p14="http://schemas.microsoft.com/office/powerpoint/2010/main" val="156302730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112688799"/>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18A72F1F-6B9C-FE49-DAB8-A593FE78EE22}"/>
              </a:ext>
            </a:extLst>
          </p:cNvPr>
          <p:cNvSpPr>
            <a:spLocks noGrp="1"/>
          </p:cNvSpPr>
          <p:nvPr>
            <p:ph idx="1"/>
          </p:nvPr>
        </p:nvSpPr>
        <p:spPr/>
        <p:txBody>
          <a:bodyPr>
            <a:normAutofit/>
          </a:bodyPr>
          <a:lstStyle>
            <a:lvl1pPr>
              <a:defRPr sz="2800"/>
            </a:lvl1pPr>
            <a:lvl2pPr>
              <a:defRPr sz="2400"/>
            </a:lvl2pPr>
            <a:lvl3pPr>
              <a:defRPr sz="2200"/>
            </a:lvl3pPr>
            <a:lvl4pPr>
              <a:defRPr sz="2000"/>
            </a:lvl4pPr>
            <a:lvl5pPr>
              <a:defRPr sz="2000"/>
            </a:lvl5pPr>
          </a:lstStyle>
          <a:p>
            <a:r>
              <a:rPr lang="en-US"/>
              <a:t>A direct, non-obligate precursor of invasive carcinoma — proliferation of the epithelium lining the minor ducts</a:t>
            </a:r>
          </a:p>
          <a:p>
            <a:r>
              <a:rPr lang="en-US"/>
              <a:t>If untreated, invasive cancer develops in 25% to 70% of cases, always in the ipsilateral breast</a:t>
            </a:r>
          </a:p>
          <a:p>
            <a:r>
              <a:rPr lang="en-US"/>
              <a:t>Growth patterns: comedo, cribriform, papillary, solid, and micropapillary</a:t>
            </a:r>
          </a:p>
          <a:p>
            <a:r>
              <a:rPr lang="en-US"/>
              <a:t>Graded low / intermediate / high nuclear grade — grade and size guide treatment intensity</a:t>
            </a:r>
          </a:p>
          <a:p>
            <a:r>
              <a:rPr lang="en-US"/>
              <a:t>Detected mammographically in the great majority of cases, usually as clustered pleomorphic microcalcifications</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22</a:t>
            </a:fld>
            <a:endParaRPr lang="en-US"/>
          </a:p>
        </p:txBody>
      </p:sp>
    </p:spTree>
    <p:extLst>
      <p:ext uri="{BB962C8B-B14F-4D97-AF65-F5344CB8AC3E}">
        <p14:creationId xmlns:p14="http://schemas.microsoft.com/office/powerpoint/2010/main" val="279017202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1349607611"/>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C5D56F53-915D-2FEB-AEA3-342F2595E554}"/>
              </a:ext>
            </a:extLst>
          </p:cNvPr>
          <p:cNvSpPr>
            <a:spLocks noGrp="1"/>
          </p:cNvSpPr>
          <p:nvPr>
            <p:ph idx="1"/>
          </p:nvPr>
        </p:nvSpPr>
        <p:spPr/>
        <p:txBody>
          <a:bodyPr>
            <a:normAutofit/>
          </a:bodyPr>
          <a:lstStyle>
            <a:lvl1pPr>
              <a:defRPr sz="2000"/>
            </a:lvl1pPr>
            <a:lvl2pPr>
              <a:defRPr sz="1600"/>
            </a:lvl2pPr>
            <a:lvl3pPr>
              <a:defRPr sz="1400"/>
            </a:lvl3pPr>
            <a:lvl4pPr>
              <a:defRPr sz="1400"/>
            </a:lvl4pPr>
            <a:lvl5pPr>
              <a:defRPr sz="1400"/>
            </a:lvl5pPr>
          </a:lstStyle>
          <a:p>
            <a:pPr marL="0" indent="0">
              <a:spcBef>
                <a:spcPts val="800"/>
              </a:spcBef>
              <a:buNone/>
            </a:pPr>
            <a:r>
              <a:rPr lang="en-US" sz="2200" b="1" dirty="0"/>
              <a:t>Foote and Stewart original classification</a:t>
            </a:r>
          </a:p>
          <a:p>
            <a:pPr>
              <a:buNone/>
            </a:pPr>
            <a:r>
              <a:rPr lang="en-US" dirty="0"/>
              <a:t>1. Paget’s disease of the nipple</a:t>
            </a:r>
          </a:p>
          <a:p>
            <a:pPr>
              <a:buNone/>
            </a:pPr>
            <a:r>
              <a:rPr lang="en-US" dirty="0"/>
              <a:t>2. Invasive ductal carcinoma—Adenocarcinoma with productive fibrosis (</a:t>
            </a:r>
            <a:r>
              <a:rPr lang="en-US" dirty="0" err="1"/>
              <a:t>scirrhous</a:t>
            </a:r>
            <a:r>
              <a:rPr lang="en-US" dirty="0"/>
              <a:t>, simplex, NST), 80%</a:t>
            </a:r>
          </a:p>
          <a:p>
            <a:pPr>
              <a:buNone/>
            </a:pPr>
            <a:r>
              <a:rPr lang="en-US" dirty="0"/>
              <a:t>3. Medullary carcinoma, 4%</a:t>
            </a:r>
          </a:p>
          <a:p>
            <a:pPr>
              <a:buNone/>
            </a:pPr>
            <a:r>
              <a:rPr lang="en-US" dirty="0"/>
              <a:t>4. Mucinous (colloid) carcinoma, 2%</a:t>
            </a:r>
          </a:p>
          <a:p>
            <a:pPr>
              <a:buNone/>
            </a:pPr>
            <a:r>
              <a:rPr lang="en-US" dirty="0"/>
              <a:t>5. Papillary carcinoma, 2%</a:t>
            </a:r>
          </a:p>
          <a:p>
            <a:pPr>
              <a:buNone/>
            </a:pPr>
            <a:r>
              <a:rPr lang="en-US" dirty="0"/>
              <a:t>6. Tubular carcinoma, 2%</a:t>
            </a:r>
          </a:p>
          <a:p>
            <a:pPr>
              <a:buNone/>
            </a:pPr>
            <a:r>
              <a:rPr lang="en-US" dirty="0"/>
              <a:t>7. Invasive lobular carcinoma, 10%</a:t>
            </a:r>
          </a:p>
          <a:p>
            <a:pPr>
              <a:buNone/>
            </a:pPr>
            <a:r>
              <a:rPr lang="en-US" dirty="0"/>
              <a:t>8. Rare cancers (adenoid cystic, squamous cell, apocrine)</a:t>
            </a:r>
          </a:p>
          <a:p>
            <a:pPr>
              <a:buFont typeface="Wingdings" panose="05000000000000000000" pitchFamily="2" charset="2"/>
              <a:buChar char="v"/>
            </a:pPr>
            <a:r>
              <a:rPr lang="en-US" b="1" dirty="0"/>
              <a:t>Pure special types (tubular, mucinous, papillary) are usually strongly ER-positive with a better prognosis</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23</a:t>
            </a:fld>
            <a:endParaRPr lang="en-US"/>
          </a:p>
        </p:txBody>
      </p:sp>
    </p:spTree>
    <p:extLst>
      <p:ext uri="{BB962C8B-B14F-4D97-AF65-F5344CB8AC3E}">
        <p14:creationId xmlns:p14="http://schemas.microsoft.com/office/powerpoint/2010/main" val="333464852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FBA2A32E-0868-DF7E-35ED-B263CB8E1B02}"/>
              </a:ext>
            </a:extLst>
          </p:cNvPr>
          <p:cNvSpPr>
            <a:spLocks noGrp="1"/>
          </p:cNvSpPr>
          <p:nvPr>
            <p:ph idx="1"/>
          </p:nvPr>
        </p:nvSpPr>
        <p:spPr/>
        <p:txBody>
          <a:bodyPr>
            <a:normAutofit/>
          </a:bodyPr>
          <a:lstStyle>
            <a:lvl1pPr>
              <a:defRPr sz="2800"/>
            </a:lvl1pPr>
            <a:lvl2pPr>
              <a:defRPr sz="2400"/>
            </a:lvl2pPr>
            <a:lvl3pPr>
              <a:defRPr sz="2200"/>
            </a:lvl3pPr>
            <a:lvl4pPr>
              <a:defRPr sz="2000"/>
            </a:lvl4pPr>
            <a:lvl5pPr>
              <a:defRPr sz="2000"/>
            </a:lvl5pPr>
          </a:lstStyle>
          <a:p>
            <a:r>
              <a:rPr lang="en-US"/>
              <a:t>In ≈30% of cases, the woman discovers a lump herself</a:t>
            </a:r>
          </a:p>
          <a:p>
            <a:r>
              <a:rPr lang="en-US"/>
              <a:t>Other signs: nipple discharge or retraction, skin dimpling/erythema, an axillary mass</a:t>
            </a:r>
          </a:p>
          <a:p>
            <a:r>
              <a:rPr lang="en-US"/>
              <a:t>Up to 50% of women presenting with breast complaints have no physical sign of breast pathology</a:t>
            </a:r>
          </a:p>
          <a:p>
            <a:r>
              <a:rPr lang="en-US"/>
              <a:t>Diagnosis rests on TRIPLE ASSESSMENT — clinical examination + imaging + core-needle biopsy — the three must agree</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24</a:t>
            </a:fld>
            <a:endParaRPr lang="en-US"/>
          </a:p>
        </p:txBody>
      </p:sp>
    </p:spTree>
    <p:extLst>
      <p:ext uri="{BB962C8B-B14F-4D97-AF65-F5344CB8AC3E}">
        <p14:creationId xmlns:p14="http://schemas.microsoft.com/office/powerpoint/2010/main" val="158577276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Diagram 12"/>
          <p:cNvGraphicFramePr/>
          <p:nvPr>
            <p:extLst>
              <p:ext uri="{D42A27DB-BD31-4B8C-83A1-F6EECF244321}">
                <p14:modId xmlns:p14="http://schemas.microsoft.com/office/powerpoint/2010/main" val="4225130911"/>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62264C1C-1565-883C-7356-4A4399DA06EF}"/>
              </a:ext>
            </a:extLst>
          </p:cNvPr>
          <p:cNvSpPr>
            <a:spLocks noGrp="1"/>
          </p:cNvSpPr>
          <p:nvPr>
            <p:ph idx="1"/>
          </p:nvPr>
        </p:nvSpPr>
        <p:spPr>
          <a:xfrm>
            <a:off x="548640" y="1417320"/>
            <a:ext cx="3931920" cy="4800600"/>
          </a:xfrm>
        </p:spPr>
        <p:txBody>
          <a:bodyPr>
            <a:noAutofit/>
          </a:bodyPr>
          <a:lstStyle>
            <a:lvl1pPr>
              <a:defRPr sz="1800"/>
            </a:lvl1pPr>
            <a:lvl2pPr>
              <a:defRPr sz="1400"/>
            </a:lvl2pPr>
            <a:lvl3pPr>
              <a:defRPr sz="1400"/>
            </a:lvl3pPr>
            <a:lvl4pPr>
              <a:defRPr sz="1400"/>
            </a:lvl4pPr>
            <a:lvl5pPr>
              <a:defRPr sz="1400"/>
            </a:lvl5pPr>
          </a:lstStyle>
          <a:p>
            <a:pPr marL="0" indent="0">
              <a:spcBef>
                <a:spcPts val="800"/>
              </a:spcBef>
              <a:buNone/>
            </a:pPr>
            <a:r>
              <a:rPr lang="en-US" sz="2400" b="1" dirty="0"/>
              <a:t>Inspection</a:t>
            </a:r>
          </a:p>
          <a:p>
            <a:pPr lvl="1"/>
            <a:r>
              <a:rPr lang="en-US" sz="1600" dirty="0"/>
              <a:t>Symmetry, size and shape, edema (</a:t>
            </a:r>
            <a:r>
              <a:rPr lang="en-US" sz="1600" dirty="0" err="1"/>
              <a:t>peau</a:t>
            </a:r>
            <a:r>
              <a:rPr lang="en-US" sz="1600" dirty="0"/>
              <a:t> </a:t>
            </a:r>
            <a:r>
              <a:rPr lang="en-US" sz="1600" dirty="0" err="1"/>
              <a:t>d’orange</a:t>
            </a:r>
            <a:r>
              <a:rPr lang="en-US" sz="1600" dirty="0"/>
              <a:t>), nipple or skin retraction, or erythema.</a:t>
            </a:r>
          </a:p>
          <a:p>
            <a:pPr marL="0" indent="0">
              <a:spcBef>
                <a:spcPts val="800"/>
              </a:spcBef>
              <a:buNone/>
            </a:pPr>
            <a:r>
              <a:rPr lang="en-US" sz="2400" b="1" dirty="0"/>
              <a:t>Palpation</a:t>
            </a:r>
          </a:p>
          <a:p>
            <a:pPr lvl="1"/>
            <a:r>
              <a:rPr lang="en-US" sz="1600" dirty="0"/>
              <a:t>Systematic palpation of all quadrants and the tail of Spence</a:t>
            </a:r>
          </a:p>
          <a:p>
            <a:pPr lvl="1"/>
            <a:r>
              <a:rPr lang="en-US" sz="1600" dirty="0"/>
              <a:t>Examination of the axilla, supraclavicular and </a:t>
            </a:r>
            <a:r>
              <a:rPr lang="en-US" sz="1600" dirty="0" err="1"/>
              <a:t>infraclavicular</a:t>
            </a:r>
            <a:r>
              <a:rPr lang="en-US" sz="1600" dirty="0"/>
              <a:t> nodal basins</a:t>
            </a:r>
          </a:p>
          <a:p>
            <a:r>
              <a:rPr lang="en-US" sz="2000" dirty="0"/>
              <a:t>Document size, position (clock-face/quadrant, distance from nipple), fixation to skin/pectoralis/chest wall, and node status to assign </a:t>
            </a:r>
            <a:r>
              <a:rPr lang="en-US" sz="2000" dirty="0" err="1"/>
              <a:t>cTNM</a:t>
            </a:r>
            <a:endParaRPr lang="en-US" sz="2000" dirty="0"/>
          </a:p>
        </p:txBody>
      </p:sp>
      <p:pic>
        <p:nvPicPr>
          <p:cNvPr id="4" name="Picture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77161" y="1417320"/>
            <a:ext cx="3581048" cy="4800600"/>
          </a:xfrm>
          <a:prstGeom prst="rect">
            <a:avLst/>
          </a:prstGeom>
        </p:spPr>
      </p:pic>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573990" y="1417320"/>
            <a:ext cx="3387390" cy="4800600"/>
          </a:xfrm>
          <a:prstGeom prst="rect">
            <a:avLst/>
          </a:prstGeom>
        </p:spPr>
      </p:pic>
      <p:pic>
        <p:nvPicPr>
          <p:cNvPr id="6" name="Picture 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154978" y="1417320"/>
            <a:ext cx="4225413" cy="4800600"/>
          </a:xfrm>
          <a:prstGeom prst="rect">
            <a:avLst/>
          </a:prstGeom>
        </p:spPr>
      </p:pic>
      <p:pic>
        <p:nvPicPr>
          <p:cNvPr id="7" name="Picture 6"/>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994459" y="1417320"/>
            <a:ext cx="4546451" cy="4800600"/>
          </a:xfrm>
          <a:prstGeom prst="rect">
            <a:avLst/>
          </a:prstGeom>
        </p:spPr>
      </p:pic>
      <p:pic>
        <p:nvPicPr>
          <p:cNvPr id="8" name="Picture 7"/>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100638" y="1700213"/>
            <a:ext cx="6542692" cy="3781211"/>
          </a:xfrm>
          <a:prstGeom prst="rect">
            <a:avLst/>
          </a:prstGeom>
        </p:spPr>
      </p:pic>
      <p:pic>
        <p:nvPicPr>
          <p:cNvPr id="9" name="Picture 8"/>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100637" y="1045844"/>
            <a:ext cx="5843587" cy="5172075"/>
          </a:xfrm>
          <a:prstGeom prst="rect">
            <a:avLst/>
          </a:prstGeom>
        </p:spPr>
      </p:pic>
      <p:sp>
        <p:nvSpPr>
          <p:cNvPr id="10" name="Date Placeholder 9"/>
          <p:cNvSpPr>
            <a:spLocks noGrp="1"/>
          </p:cNvSpPr>
          <p:nvPr>
            <p:ph type="dt" sz="half" idx="10"/>
          </p:nvPr>
        </p:nvSpPr>
        <p:spPr/>
        <p:txBody>
          <a:bodyPr/>
          <a:lstStyle/>
          <a:p>
            <a:fld id="{7A1D2B3C-4E5F-4A60-8B71-92A3B4C5D6E7}" type="datetime4">
              <a:rPr lang="en-US"/>
              <a:t>September 22, 2026</a:t>
            </a:fld>
            <a:endParaRPr lang="en-US"/>
          </a:p>
        </p:txBody>
      </p:sp>
      <p:sp>
        <p:nvSpPr>
          <p:cNvPr id="11" name="Footer Placeholder 10"/>
          <p:cNvSpPr>
            <a:spLocks noGrp="1"/>
          </p:cNvSpPr>
          <p:nvPr>
            <p:ph type="ftr" sz="quarter" idx="11"/>
          </p:nvPr>
        </p:nvSpPr>
        <p:spPr/>
        <p:txBody>
          <a:bodyPr/>
          <a:lstStyle/>
          <a:p>
            <a:r>
              <a:rPr lang="en-US"/>
              <a:t>Management of breast cancer</a:t>
            </a:r>
          </a:p>
        </p:txBody>
      </p:sp>
      <p:sp>
        <p:nvSpPr>
          <p:cNvPr id="12" name="Slide Number Placeholder 11"/>
          <p:cNvSpPr>
            <a:spLocks noGrp="1"/>
          </p:cNvSpPr>
          <p:nvPr>
            <p:ph type="sldNum" sz="quarter" idx="12"/>
          </p:nvPr>
        </p:nvSpPr>
        <p:spPr/>
        <p:txBody>
          <a:bodyPr/>
          <a:lstStyle/>
          <a:p>
            <a:fld id="{B8C9D0E1-F2A3-4B4C-9D5E-6F708192A3B4}" type="slidenum">
              <a:rPr lang="en-US"/>
              <a:t>25</a:t>
            </a:fld>
            <a:endParaRPr lang="en-US"/>
          </a:p>
        </p:txBody>
      </p:sp>
    </p:spTree>
    <p:extLst>
      <p:ext uri="{BB962C8B-B14F-4D97-AF65-F5344CB8AC3E}">
        <p14:creationId xmlns:p14="http://schemas.microsoft.com/office/powerpoint/2010/main" val="3715246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5"/>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6"/>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7"/>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1" presetClass="exit" presetSubtype="0" fill="hold" nodeType="withEffect">
                                  <p:stCondLst>
                                    <p:cond delay="0"/>
                                  </p:stCondLst>
                                  <p:childTnLst>
                                    <p:set>
                                      <p:cBhvr>
                                        <p:cTn id="36"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1658277829"/>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4AB99CBD-B422-590E-9938-DC0C9B8B1F26}"/>
              </a:ext>
            </a:extLst>
          </p:cNvPr>
          <p:cNvSpPr>
            <a:spLocks noGrp="1"/>
          </p:cNvSpPr>
          <p:nvPr>
            <p:ph idx="1"/>
          </p:nvPr>
        </p:nvSpPr>
        <p:spPr/>
        <p:txBody>
          <a:bodyPr>
            <a:normAutofit/>
          </a:bodyPr>
          <a:lstStyle>
            <a:lvl1pPr>
              <a:defRPr sz="2800"/>
            </a:lvl1pPr>
            <a:lvl2pPr>
              <a:defRPr sz="2400"/>
            </a:lvl2pPr>
            <a:lvl3pPr>
              <a:defRPr sz="2200"/>
            </a:lvl3pPr>
            <a:lvl4pPr>
              <a:defRPr sz="2000"/>
            </a:lvl4pPr>
            <a:lvl5pPr>
              <a:defRPr sz="2000"/>
            </a:lvl5pPr>
          </a:lstStyle>
          <a:p>
            <a:pPr marL="0" indent="0">
              <a:spcBef>
                <a:spcPts val="800"/>
              </a:spcBef>
              <a:buNone/>
            </a:pPr>
            <a:r>
              <a:rPr lang="en-US" sz="3000" b="1"/>
              <a:t>Mammography</a:t>
            </a:r>
          </a:p>
          <a:p>
            <a:pPr lvl="1"/>
            <a:r>
              <a:rPr lang="en-US"/>
              <a:t>Screening v diagnostic</a:t>
            </a:r>
          </a:p>
          <a:p>
            <a:pPr lvl="1"/>
            <a:r>
              <a:rPr lang="en-US"/>
              <a:t>Ductography for single-duct discharge</a:t>
            </a:r>
          </a:p>
          <a:p>
            <a:pPr lvl="1"/>
            <a:r>
              <a:rPr lang="en-US"/>
              <a:t>Contrast-enhanced digital mammography</a:t>
            </a:r>
          </a:p>
          <a:p>
            <a:r>
              <a:rPr lang="en-US"/>
              <a:t>Ultrasonography — dense breasts, cystic vs solid, axilla, biopsy guidance</a:t>
            </a:r>
          </a:p>
          <a:p>
            <a:r>
              <a:rPr lang="en-US"/>
              <a:t>MRI — high-risk screening, extent of disease, occult primary, treatment response</a:t>
            </a:r>
          </a:p>
          <a:p>
            <a:r>
              <a:rPr lang="en-US"/>
              <a:t>All suspicious findings are reported by BI-RADS category (0–6) to standardise management</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26</a:t>
            </a:fld>
            <a:endParaRPr lang="en-US"/>
          </a:p>
        </p:txBody>
      </p:sp>
    </p:spTree>
    <p:extLst>
      <p:ext uri="{BB962C8B-B14F-4D97-AF65-F5344CB8AC3E}">
        <p14:creationId xmlns:p14="http://schemas.microsoft.com/office/powerpoint/2010/main" val="4384699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3156500800"/>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1F2BA5E3-C589-E03C-8C49-414DBE112BA2}"/>
              </a:ext>
            </a:extLst>
          </p:cNvPr>
          <p:cNvSpPr>
            <a:spLocks noGrp="1"/>
          </p:cNvSpPr>
          <p:nvPr>
            <p:ph idx="1"/>
          </p:nvPr>
        </p:nvSpPr>
        <p:spPr/>
        <p:txBody>
          <a:bodyPr>
            <a:normAutofit/>
          </a:bodyPr>
          <a:lstStyle>
            <a:lvl1pPr>
              <a:defRPr sz="2800"/>
            </a:lvl1pPr>
            <a:lvl2pPr>
              <a:defRPr sz="2400"/>
            </a:lvl2pPr>
            <a:lvl3pPr>
              <a:defRPr sz="2200"/>
            </a:lvl3pPr>
            <a:lvl4pPr>
              <a:defRPr sz="2000"/>
            </a:lvl4pPr>
            <a:lvl5pPr>
              <a:defRPr sz="2000"/>
            </a:lvl5pPr>
          </a:lstStyle>
          <a:p>
            <a:r>
              <a:rPr lang="en-US"/>
              <a:t>Screening-- is used to detect unexpected breast cancer in asymptomatic women.</a:t>
            </a:r>
          </a:p>
          <a:p>
            <a:pPr lvl="1"/>
            <a:r>
              <a:rPr lang="en-US"/>
              <a:t>MLO and CC views,</a:t>
            </a:r>
          </a:p>
          <a:p>
            <a:r>
              <a:rPr lang="en-US"/>
              <a:t>Diagnostic mammography-- is used to evaluate women with abnormal findings such as mass or nipple discharge.</a:t>
            </a:r>
          </a:p>
          <a:p>
            <a:pPr lvl="1"/>
            <a:r>
              <a:rPr lang="en-US"/>
              <a:t>MLO and CC views, 90° lateral and spot compression/magnification views</a:t>
            </a:r>
          </a:p>
          <a:p>
            <a:r>
              <a:rPr lang="en-US"/>
              <a:t>Findings are reported by BI-RADS category; BI-RADS 4–5 warrants tissue biopsy</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27</a:t>
            </a:fld>
            <a:endParaRPr lang="en-US"/>
          </a:p>
        </p:txBody>
      </p:sp>
    </p:spTree>
    <p:extLst>
      <p:ext uri="{BB962C8B-B14F-4D97-AF65-F5344CB8AC3E}">
        <p14:creationId xmlns:p14="http://schemas.microsoft.com/office/powerpoint/2010/main" val="323809876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Diagram 9"/>
          <p:cNvGraphicFramePr/>
          <p:nvPr>
            <p:extLst>
              <p:ext uri="{D42A27DB-BD31-4B8C-83A1-F6EECF244321}">
                <p14:modId xmlns:p14="http://schemas.microsoft.com/office/powerpoint/2010/main" val="353020259"/>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169DB607-839C-E700-EDCA-965ED03A4F8D}"/>
              </a:ext>
            </a:extLst>
          </p:cNvPr>
          <p:cNvSpPr>
            <a:spLocks noGrp="1"/>
          </p:cNvSpPr>
          <p:nvPr>
            <p:ph idx="1"/>
          </p:nvPr>
        </p:nvSpPr>
        <p:spPr>
          <a:xfrm>
            <a:off x="548640" y="1417320"/>
            <a:ext cx="4937760" cy="4800600"/>
          </a:xfrm>
        </p:spPr>
        <p:txBody>
          <a:bodyPr>
            <a:normAutofit/>
          </a:bodyPr>
          <a:lstStyle>
            <a:lvl1pPr>
              <a:defRPr sz="2200"/>
            </a:lvl1pPr>
            <a:lvl2pPr>
              <a:defRPr sz="1800"/>
            </a:lvl2pPr>
            <a:lvl3pPr>
              <a:defRPr sz="1600"/>
            </a:lvl3pPr>
            <a:lvl4pPr>
              <a:defRPr sz="1400"/>
            </a:lvl4pPr>
            <a:lvl5pPr>
              <a:defRPr sz="1400"/>
            </a:lvl5pPr>
          </a:lstStyle>
          <a:p>
            <a:r>
              <a:rPr lang="en-US"/>
              <a:t>Specific mammographic features that suggest breast cancer include</a:t>
            </a:r>
          </a:p>
          <a:p>
            <a:pPr lvl="1"/>
            <a:r>
              <a:rPr lang="en-US"/>
              <a:t>a solid mass with or without stellate features,</a:t>
            </a:r>
          </a:p>
          <a:p>
            <a:pPr lvl="1"/>
            <a:r>
              <a:rPr lang="en-US"/>
              <a:t>asymmetric thickening of breast tissues,</a:t>
            </a:r>
          </a:p>
          <a:p>
            <a:pPr lvl="1"/>
            <a:r>
              <a:rPr lang="en-US"/>
              <a:t>clustered pleomorphic microcalcifications and fine, stippled calcium around a suspicious lesion</a:t>
            </a:r>
          </a:p>
          <a:p>
            <a:r>
              <a:rPr lang="en-US"/>
              <a:t>These correspond to BI-RADS¹ 4 (suspicious) or 5 (highly suggestive of malignancy) — both need tissue biopsy</a:t>
            </a:r>
          </a:p>
          <a:p>
            <a:pPr marL="0" indent="0">
              <a:buNone/>
            </a:pPr>
            <a:r>
              <a:rPr lang="en-US" sz="900">
                <a:solidFill>
                  <a:srgbClr val="6B6B6B"/>
                </a:solidFill>
              </a:rPr>
              <a:t>¹ BI-RADS 0 incomplete (more imaging needed); 1 negative; 2 benign; 3 probably benign (&lt;2% malignant); 4 suspicious (2–95%); 5 highly suggestive (&gt;95%); 6 biopsy-proven malignancy.</a:t>
            </a:r>
          </a:p>
        </p:txBody>
      </p:sp>
      <p:pic>
        <p:nvPicPr>
          <p:cNvPr id="4" name="Picture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538293" y="1417320"/>
            <a:ext cx="2464624" cy="4800600"/>
          </a:xfrm>
          <a:prstGeom prst="rect">
            <a:avLst/>
          </a:prstGeom>
        </p:spPr>
      </p:pic>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549151" y="1417320"/>
            <a:ext cx="4442908" cy="4800600"/>
          </a:xfrm>
          <a:prstGeom prst="rect">
            <a:avLst/>
          </a:prstGeom>
        </p:spPr>
      </p:pic>
      <p:pic>
        <p:nvPicPr>
          <p:cNvPr id="6" name="Picture 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158638" y="1417320"/>
            <a:ext cx="5223933" cy="4800600"/>
          </a:xfrm>
          <a:prstGeom prst="rect">
            <a:avLst/>
          </a:prstGeom>
        </p:spPr>
      </p:pic>
      <p:sp>
        <p:nvSpPr>
          <p:cNvPr id="7" name="Date Placeholder 6"/>
          <p:cNvSpPr>
            <a:spLocks noGrp="1"/>
          </p:cNvSpPr>
          <p:nvPr>
            <p:ph type="dt" sz="half" idx="10"/>
          </p:nvPr>
        </p:nvSpPr>
        <p:spPr/>
        <p:txBody>
          <a:bodyPr/>
          <a:lstStyle/>
          <a:p>
            <a:fld id="{7A1D2B3C-4E5F-4A60-8B71-92A3B4C5D6E7}" type="datetime4">
              <a:rPr lang="en-US"/>
              <a:t>September 22, 2026</a:t>
            </a:fld>
            <a:endParaRPr lang="en-US"/>
          </a:p>
        </p:txBody>
      </p:sp>
      <p:sp>
        <p:nvSpPr>
          <p:cNvPr id="8" name="Footer Placeholder 7"/>
          <p:cNvSpPr>
            <a:spLocks noGrp="1"/>
          </p:cNvSpPr>
          <p:nvPr>
            <p:ph type="ftr" sz="quarter" idx="11"/>
          </p:nvPr>
        </p:nvSpPr>
        <p:spPr/>
        <p:txBody>
          <a:bodyPr/>
          <a:lstStyle/>
          <a:p>
            <a:r>
              <a:rPr lang="en-US"/>
              <a:t>Management of breast cancer</a:t>
            </a:r>
          </a:p>
        </p:txBody>
      </p:sp>
      <p:sp>
        <p:nvSpPr>
          <p:cNvPr id="9" name="Slide Number Placeholder 8"/>
          <p:cNvSpPr>
            <a:spLocks noGrp="1"/>
          </p:cNvSpPr>
          <p:nvPr>
            <p:ph type="sldNum" sz="quarter" idx="12"/>
          </p:nvPr>
        </p:nvSpPr>
        <p:spPr/>
        <p:txBody>
          <a:bodyPr/>
          <a:lstStyle/>
          <a:p>
            <a:fld id="{B8C9D0E1-F2A3-4B4C-9D5E-6F708192A3B4}" type="slidenum">
              <a:rPr lang="en-US"/>
              <a:t>28</a:t>
            </a:fld>
            <a:endParaRPr lang="en-US"/>
          </a:p>
        </p:txBody>
      </p:sp>
    </p:spTree>
    <p:extLst>
      <p:ext uri="{BB962C8B-B14F-4D97-AF65-F5344CB8AC3E}">
        <p14:creationId xmlns:p14="http://schemas.microsoft.com/office/powerpoint/2010/main" val="4004383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p:cNvGraphicFramePr/>
          <p:nvPr>
            <p:extLst>
              <p:ext uri="{D42A27DB-BD31-4B8C-83A1-F6EECF244321}">
                <p14:modId xmlns:p14="http://schemas.microsoft.com/office/powerpoint/2010/main" val="1115204044"/>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4AF3F809-D7B1-1382-D0AA-410BA5AEBC36}"/>
              </a:ext>
            </a:extLst>
          </p:cNvPr>
          <p:cNvSpPr>
            <a:spLocks noGrp="1"/>
          </p:cNvSpPr>
          <p:nvPr>
            <p:ph idx="1"/>
          </p:nvPr>
        </p:nvSpPr>
        <p:spPr>
          <a:xfrm>
            <a:off x="548640" y="1417320"/>
            <a:ext cx="4937760" cy="4800600"/>
          </a:xfrm>
        </p:spPr>
        <p:txBody>
          <a:bodyPr>
            <a:normAutofit/>
          </a:bodyPr>
          <a:lstStyle>
            <a:lvl1pPr>
              <a:defRPr sz="2200"/>
            </a:lvl1pPr>
            <a:lvl2pPr>
              <a:defRPr sz="1800"/>
            </a:lvl2pPr>
            <a:lvl3pPr>
              <a:defRPr sz="1600"/>
            </a:lvl3pPr>
            <a:lvl4pPr>
              <a:defRPr sz="1400"/>
            </a:lvl4pPr>
            <a:lvl5pPr>
              <a:defRPr sz="1400"/>
            </a:lvl5pPr>
          </a:lstStyle>
          <a:p>
            <a:r>
              <a:rPr lang="en-US"/>
              <a:t>Equivocal mammographic findings,</a:t>
            </a:r>
          </a:p>
          <a:p>
            <a:r>
              <a:rPr lang="en-US"/>
              <a:t>Defining cystic masses, and demonstrating the echogenic qualities of specific solid abnormalities.</a:t>
            </a:r>
          </a:p>
          <a:p>
            <a:r>
              <a:rPr lang="en-US"/>
              <a:t>On ultrasound examination, breast cancer characteristically has irregular walls/margins but may have smooth margins with acoustic enhancement.</a:t>
            </a:r>
          </a:p>
          <a:p>
            <a:r>
              <a:rPr lang="en-US"/>
              <a:t>Also the preferred first imaging test in young or pregnant women, and used to guide core-needle biopsy</a:t>
            </a:r>
          </a:p>
        </p:txBody>
      </p:sp>
      <p:pic>
        <p:nvPicPr>
          <p:cNvPr id="4" name="Picture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897880" y="1417320"/>
            <a:ext cx="5745450" cy="4785875"/>
          </a:xfrm>
          <a:prstGeom prst="rect">
            <a:avLst/>
          </a:prstGeom>
        </p:spPr>
      </p:pic>
      <p:sp>
        <p:nvSpPr>
          <p:cNvPr id="5" name="Date Placeholder 4"/>
          <p:cNvSpPr>
            <a:spLocks noGrp="1"/>
          </p:cNvSpPr>
          <p:nvPr>
            <p:ph type="dt" sz="half" idx="10"/>
          </p:nvPr>
        </p:nvSpPr>
        <p:spPr/>
        <p:txBody>
          <a:bodyPr/>
          <a:lstStyle/>
          <a:p>
            <a:fld id="{7A1D2B3C-4E5F-4A60-8B71-92A3B4C5D6E7}" type="datetime4">
              <a:rPr lang="en-US"/>
              <a:t>September 22, 2026</a:t>
            </a:fld>
            <a:endParaRPr lang="en-US"/>
          </a:p>
        </p:txBody>
      </p:sp>
      <p:sp>
        <p:nvSpPr>
          <p:cNvPr id="6" name="Footer Placeholder 5"/>
          <p:cNvSpPr>
            <a:spLocks noGrp="1"/>
          </p:cNvSpPr>
          <p:nvPr>
            <p:ph type="ftr" sz="quarter" idx="11"/>
          </p:nvPr>
        </p:nvSpPr>
        <p:spPr/>
        <p:txBody>
          <a:bodyPr/>
          <a:lstStyle/>
          <a:p>
            <a:r>
              <a:rPr lang="en-US"/>
              <a:t>Management of breast cancer</a:t>
            </a:r>
          </a:p>
        </p:txBody>
      </p:sp>
      <p:sp>
        <p:nvSpPr>
          <p:cNvPr id="7" name="Slide Number Placeholder 6"/>
          <p:cNvSpPr>
            <a:spLocks noGrp="1"/>
          </p:cNvSpPr>
          <p:nvPr>
            <p:ph type="sldNum" sz="quarter" idx="12"/>
          </p:nvPr>
        </p:nvSpPr>
        <p:spPr/>
        <p:txBody>
          <a:bodyPr/>
          <a:lstStyle/>
          <a:p>
            <a:fld id="{B8C9D0E1-F2A3-4B4C-9D5E-6F708192A3B4}" type="slidenum">
              <a:rPr lang="en-US"/>
              <a:t>29</a:t>
            </a:fld>
            <a:endParaRPr lang="en-US"/>
          </a:p>
        </p:txBody>
      </p:sp>
    </p:spTree>
    <p:extLst>
      <p:ext uri="{BB962C8B-B14F-4D97-AF65-F5344CB8AC3E}">
        <p14:creationId xmlns:p14="http://schemas.microsoft.com/office/powerpoint/2010/main" val="3257463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3420545634"/>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22E2F1B2-3BB3-373D-30EF-1DAAFDAD6CD5}"/>
              </a:ext>
            </a:extLst>
          </p:cNvPr>
          <p:cNvSpPr>
            <a:spLocks noGrp="1"/>
          </p:cNvSpPr>
          <p:nvPr>
            <p:ph idx="1"/>
          </p:nvPr>
        </p:nvSpPr>
        <p:spPr>
          <a:xfrm>
            <a:off x="548640" y="1417320"/>
            <a:ext cx="4937760" cy="4800600"/>
          </a:xfrm>
        </p:spPr>
        <p:txBody>
          <a:bodyPr>
            <a:normAutofit/>
          </a:bodyPr>
          <a:lstStyle>
            <a:lvl1pPr>
              <a:defRPr sz="2400"/>
            </a:lvl1pPr>
            <a:lvl2pPr>
              <a:defRPr sz="2000"/>
            </a:lvl2pPr>
            <a:lvl3pPr>
              <a:defRPr sz="1800"/>
            </a:lvl3pPr>
            <a:lvl4pPr>
              <a:defRPr sz="1600"/>
            </a:lvl4pPr>
            <a:lvl5pPr>
              <a:defRPr sz="1600"/>
            </a:lvl5pPr>
          </a:lstStyle>
          <a:p>
            <a:r>
              <a:rPr lang="en-US"/>
              <a:t>Current interest in the use of MRI to screen the breasts of</a:t>
            </a:r>
          </a:p>
          <a:p>
            <a:pPr lvl="1"/>
            <a:r>
              <a:rPr lang="en-US"/>
              <a:t>high-risk women and</a:t>
            </a:r>
          </a:p>
          <a:p>
            <a:pPr lvl="1"/>
            <a:r>
              <a:rPr lang="en-US"/>
              <a:t>women with a newly diagnosed breast cancer (contralateral breast, extent of disease)</a:t>
            </a:r>
          </a:p>
          <a:p>
            <a:pPr lvl="1"/>
            <a:r>
              <a:rPr lang="en-US"/>
              <a:t>surgical treatment planning</a:t>
            </a:r>
          </a:p>
          <a:p>
            <a:r>
              <a:rPr lang="en-US"/>
              <a:t>High sensitivity but lower specificity than mammography — more false positives, so it is not used for routine average-risk screening</a:t>
            </a:r>
          </a:p>
        </p:txBody>
      </p:sp>
      <p:pic>
        <p:nvPicPr>
          <p:cNvPr id="5" name="Picture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897880" y="1417320"/>
            <a:ext cx="5745450" cy="3907886"/>
          </a:xfrm>
          <a:prstGeom prst="rect">
            <a:avLst/>
          </a:prstGeom>
        </p:spPr>
      </p:pic>
      <p:sp>
        <p:nvSpPr>
          <p:cNvPr id="6" name="Date Placeholder 5"/>
          <p:cNvSpPr>
            <a:spLocks noGrp="1"/>
          </p:cNvSpPr>
          <p:nvPr>
            <p:ph type="dt" sz="half" idx="10"/>
          </p:nvPr>
        </p:nvSpPr>
        <p:spPr/>
        <p:txBody>
          <a:bodyPr/>
          <a:lstStyle/>
          <a:p>
            <a:fld id="{7A1D2B3C-4E5F-4A60-8B71-92A3B4C5D6E7}" type="datetime4">
              <a:rPr lang="en-US"/>
              <a:t>September 22, 2026</a:t>
            </a:fld>
            <a:endParaRPr lang="en-US"/>
          </a:p>
        </p:txBody>
      </p:sp>
      <p:sp>
        <p:nvSpPr>
          <p:cNvPr id="7" name="Footer Placeholder 6"/>
          <p:cNvSpPr>
            <a:spLocks noGrp="1"/>
          </p:cNvSpPr>
          <p:nvPr>
            <p:ph type="ftr" sz="quarter" idx="11"/>
          </p:nvPr>
        </p:nvSpPr>
        <p:spPr/>
        <p:txBody>
          <a:bodyPr/>
          <a:lstStyle/>
          <a:p>
            <a:r>
              <a:rPr lang="en-US"/>
              <a:t>Management of breast cancer</a:t>
            </a:r>
          </a:p>
        </p:txBody>
      </p:sp>
      <p:sp>
        <p:nvSpPr>
          <p:cNvPr id="8" name="Slide Number Placeholder 7"/>
          <p:cNvSpPr>
            <a:spLocks noGrp="1"/>
          </p:cNvSpPr>
          <p:nvPr>
            <p:ph type="sldNum" sz="quarter" idx="12"/>
          </p:nvPr>
        </p:nvSpPr>
        <p:spPr/>
        <p:txBody>
          <a:bodyPr/>
          <a:lstStyle/>
          <a:p>
            <a:fld id="{B8C9D0E1-F2A3-4B4C-9D5E-6F708192A3B4}" type="slidenum">
              <a:rPr lang="en-US"/>
              <a:t>30</a:t>
            </a:fld>
            <a:endParaRPr lang="en-US"/>
          </a:p>
        </p:txBody>
      </p:sp>
    </p:spTree>
    <p:extLst>
      <p:ext uri="{BB962C8B-B14F-4D97-AF65-F5344CB8AC3E}">
        <p14:creationId xmlns:p14="http://schemas.microsoft.com/office/powerpoint/2010/main" val="1011923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1150932900"/>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8E64B530-3089-C317-44E5-C2BF0A251795}"/>
              </a:ext>
            </a:extLst>
          </p:cNvPr>
          <p:cNvSpPr>
            <a:spLocks noGrp="1"/>
          </p:cNvSpPr>
          <p:nvPr>
            <p:ph idx="1"/>
          </p:nvPr>
        </p:nvSpPr>
        <p:spPr/>
        <p:txBody>
          <a:bodyPr>
            <a:normAutofit/>
          </a:bodyPr>
          <a:lstStyle>
            <a:lvl1pPr>
              <a:defRPr sz="2200"/>
            </a:lvl1pPr>
            <a:lvl2pPr>
              <a:defRPr sz="1800"/>
            </a:lvl2pPr>
            <a:lvl3pPr>
              <a:defRPr sz="1600"/>
            </a:lvl3pPr>
            <a:lvl4pPr>
              <a:defRPr sz="1400"/>
            </a:lvl4pPr>
            <a:lvl5pPr>
              <a:defRPr sz="1400"/>
            </a:lvl5pPr>
          </a:lstStyle>
          <a:p>
            <a:pPr marL="0" indent="0">
              <a:spcBef>
                <a:spcPts val="800"/>
              </a:spcBef>
              <a:buNone/>
            </a:pPr>
            <a:r>
              <a:rPr lang="en-US" sz="2400" b="1"/>
              <a:t>FNA biopsy</a:t>
            </a:r>
          </a:p>
          <a:p>
            <a:pPr lvl="1"/>
            <a:r>
              <a:rPr lang="en-US"/>
              <a:t>Cytologic evaluation; sensitivity/specificity approach 100% for a clinically and mammographically suspicious mass</a:t>
            </a:r>
          </a:p>
          <a:p>
            <a:pPr marL="0" indent="0">
              <a:spcBef>
                <a:spcPts val="800"/>
              </a:spcBef>
              <a:buNone/>
            </a:pPr>
            <a:r>
              <a:rPr lang="en-US" sz="2400" b="1"/>
              <a:t>Core-needle biopsy (preferred method)</a:t>
            </a:r>
          </a:p>
          <a:p>
            <a:pPr lvl="1"/>
            <a:r>
              <a:rPr lang="en-US"/>
              <a:t>14-gauge automated, or vacuum-assisted 8–10-gauge (4–12 samples) under image guidance</a:t>
            </a:r>
          </a:p>
          <a:p>
            <a:pPr lvl="1"/>
            <a:r>
              <a:rPr lang="en-US"/>
              <a:t>Analysis of breast tissue architecture, grade, invasion and ER/PR/HER2</a:t>
            </a:r>
          </a:p>
          <a:p>
            <a:pPr lvl="1"/>
            <a:r>
              <a:rPr lang="en-US"/>
              <a:t>A radiopaque clip is placed at every biopsy site for future localisation</a:t>
            </a:r>
          </a:p>
          <a:p>
            <a:r>
              <a:rPr lang="en-US"/>
              <a:t>The combination of diagnostic mammography, ultrasound or stereotactic localization, and FNA/core biopsy achieves almost 100% accuracy in the preoperative diagnosis of breast cancer.</a:t>
            </a:r>
          </a:p>
          <a:p>
            <a:r>
              <a:rPr lang="en-US"/>
              <a:t>A benign result does not rule out cancer if imaging is suspicious — clinical, imaging and pathologic findings must all agree</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31</a:t>
            </a:fld>
            <a:endParaRPr lang="en-US"/>
          </a:p>
        </p:txBody>
      </p:sp>
    </p:spTree>
    <p:extLst>
      <p:ext uri="{BB962C8B-B14F-4D97-AF65-F5344CB8AC3E}">
        <p14:creationId xmlns:p14="http://schemas.microsoft.com/office/powerpoint/2010/main" val="338451393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Diagram 22"/>
          <p:cNvGraphicFramePr/>
          <p:nvPr>
            <p:extLst>
              <p:ext uri="{D42A27DB-BD31-4B8C-83A1-F6EECF244321}">
                <p14:modId xmlns:p14="http://schemas.microsoft.com/office/powerpoint/2010/main" val="3626123788"/>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Box 3"/>
          <p:cNvSpPr/>
          <p:nvPr/>
        </p:nvSpPr>
        <p:spPr>
          <a:xfrm>
            <a:off x="548640" y="1417320"/>
            <a:ext cx="11094690" cy="738835"/>
          </a:xfrm>
          <a:prstGeom prst="roundRect">
            <a:avLst>
              <a:gd name="adj" fmla="val 7000"/>
            </a:avLst>
          </a:prstGeom>
          <a:solidFill>
            <a:srgbClr val="7A1B3D"/>
          </a:solidFill>
          <a:ln w="12700">
            <a:solidFill>
              <a:srgbClr val="7A1B3D"/>
            </a:solidFill>
          </a:ln>
        </p:spPr>
        <p:txBody>
          <a:bodyPr wrap="square" lIns="73152" tIns="36576" rIns="73152" bIns="36576" anchor="ctr">
            <a:normAutofit/>
          </a:bodyPr>
          <a:lstStyle/>
          <a:p>
            <a:pPr algn="ctr"/>
            <a:r>
              <a:rPr lang="en-US" b="1" dirty="0">
                <a:solidFill>
                  <a:srgbClr val="FFFFFF"/>
                </a:solidFill>
              </a:rPr>
              <a:t>Clinical presentation: palpable mass, abnormal screening mammogram,</a:t>
            </a:r>
          </a:p>
          <a:p>
            <a:pPr algn="ctr"/>
            <a:r>
              <a:rPr lang="en-US" b="1" dirty="0">
                <a:solidFill>
                  <a:srgbClr val="FFFFFF"/>
                </a:solidFill>
              </a:rPr>
              <a:t>nipple discharge/retraction, or skin change</a:t>
            </a:r>
          </a:p>
        </p:txBody>
      </p:sp>
      <p:sp>
        <p:nvSpPr>
          <p:cNvPr id="4" name="Box 4"/>
          <p:cNvSpPr/>
          <p:nvPr/>
        </p:nvSpPr>
        <p:spPr>
          <a:xfrm>
            <a:off x="548640" y="2375611"/>
            <a:ext cx="3527542" cy="738835"/>
          </a:xfrm>
          <a:prstGeom prst="roundRect">
            <a:avLst>
              <a:gd name="adj" fmla="val 7000"/>
            </a:avLst>
          </a:prstGeom>
          <a:solidFill>
            <a:srgbClr val="F6ECEF"/>
          </a:solidFill>
          <a:ln w="12700">
            <a:solidFill>
              <a:srgbClr val="7A1B3D"/>
            </a:solidFill>
          </a:ln>
        </p:spPr>
        <p:txBody>
          <a:bodyPr wrap="square" lIns="73152" tIns="36576" rIns="73152" bIns="36576" anchor="ctr">
            <a:normAutofit/>
          </a:bodyPr>
          <a:lstStyle/>
          <a:p>
            <a:pPr algn="ctr"/>
            <a:r>
              <a:rPr lang="en-US" sz="1600" dirty="0">
                <a:solidFill>
                  <a:srgbClr val="242021"/>
                </a:solidFill>
              </a:rPr>
              <a:t>Clinical breast &amp;</a:t>
            </a:r>
          </a:p>
          <a:p>
            <a:pPr algn="ctr"/>
            <a:r>
              <a:rPr lang="en-US" sz="1600" dirty="0">
                <a:solidFill>
                  <a:srgbClr val="242021"/>
                </a:solidFill>
              </a:rPr>
              <a:t>axillary examination</a:t>
            </a:r>
          </a:p>
        </p:txBody>
      </p:sp>
      <p:sp>
        <p:nvSpPr>
          <p:cNvPr id="5" name="Box 5"/>
          <p:cNvSpPr/>
          <p:nvPr/>
        </p:nvSpPr>
        <p:spPr>
          <a:xfrm>
            <a:off x="4332214" y="2375611"/>
            <a:ext cx="3527542" cy="738835"/>
          </a:xfrm>
          <a:prstGeom prst="roundRect">
            <a:avLst>
              <a:gd name="adj" fmla="val 7000"/>
            </a:avLst>
          </a:prstGeom>
          <a:solidFill>
            <a:srgbClr val="F6ECEF"/>
          </a:solidFill>
          <a:ln w="12700">
            <a:solidFill>
              <a:srgbClr val="7A1B3D"/>
            </a:solidFill>
          </a:ln>
        </p:spPr>
        <p:txBody>
          <a:bodyPr wrap="square" lIns="73152" tIns="36576" rIns="73152" bIns="36576" anchor="ctr">
            <a:normAutofit/>
          </a:bodyPr>
          <a:lstStyle/>
          <a:p>
            <a:pPr algn="ctr"/>
            <a:r>
              <a:rPr lang="en-US" sz="1600" dirty="0">
                <a:solidFill>
                  <a:srgbClr val="242021"/>
                </a:solidFill>
              </a:rPr>
              <a:t>Diagnostic mammography</a:t>
            </a:r>
          </a:p>
          <a:p>
            <a:pPr algn="ctr"/>
            <a:r>
              <a:rPr lang="en-US" sz="1600" dirty="0">
                <a:solidFill>
                  <a:srgbClr val="242021"/>
                </a:solidFill>
              </a:rPr>
              <a:t>± ultrasound (BI-RADS)</a:t>
            </a:r>
          </a:p>
        </p:txBody>
      </p:sp>
      <p:sp>
        <p:nvSpPr>
          <p:cNvPr id="6" name="Box 6"/>
          <p:cNvSpPr/>
          <p:nvPr/>
        </p:nvSpPr>
        <p:spPr>
          <a:xfrm>
            <a:off x="8115788" y="2375611"/>
            <a:ext cx="3527542" cy="738835"/>
          </a:xfrm>
          <a:prstGeom prst="roundRect">
            <a:avLst>
              <a:gd name="adj" fmla="val 7000"/>
            </a:avLst>
          </a:prstGeom>
          <a:solidFill>
            <a:srgbClr val="F6ECEF"/>
          </a:solidFill>
          <a:ln w="12700">
            <a:solidFill>
              <a:srgbClr val="7A1B3D"/>
            </a:solidFill>
          </a:ln>
        </p:spPr>
        <p:txBody>
          <a:bodyPr wrap="square" lIns="73152" tIns="36576" rIns="73152" bIns="36576" anchor="ctr">
            <a:normAutofit/>
          </a:bodyPr>
          <a:lstStyle/>
          <a:p>
            <a:pPr algn="ctr"/>
            <a:r>
              <a:rPr lang="en-US" sz="1600" dirty="0">
                <a:solidFill>
                  <a:srgbClr val="242021"/>
                </a:solidFill>
              </a:rPr>
              <a:t>MRI (selected: dense</a:t>
            </a:r>
          </a:p>
          <a:p>
            <a:pPr algn="ctr"/>
            <a:r>
              <a:rPr lang="en-US" sz="1600" dirty="0">
                <a:solidFill>
                  <a:srgbClr val="242021"/>
                </a:solidFill>
              </a:rPr>
              <a:t>breast, high risk, extent)</a:t>
            </a:r>
          </a:p>
        </p:txBody>
      </p:sp>
      <p:sp>
        <p:nvSpPr>
          <p:cNvPr id="7" name="Box 7"/>
          <p:cNvSpPr/>
          <p:nvPr/>
        </p:nvSpPr>
        <p:spPr>
          <a:xfrm>
            <a:off x="548640" y="3333902"/>
            <a:ext cx="11094690" cy="738835"/>
          </a:xfrm>
          <a:prstGeom prst="roundRect">
            <a:avLst>
              <a:gd name="adj" fmla="val 7000"/>
            </a:avLst>
          </a:prstGeom>
          <a:solidFill>
            <a:srgbClr val="7A1B3D"/>
          </a:solidFill>
          <a:ln w="12700">
            <a:solidFill>
              <a:srgbClr val="7A1B3D"/>
            </a:solidFill>
          </a:ln>
        </p:spPr>
        <p:txBody>
          <a:bodyPr wrap="square" lIns="73152" tIns="36576" rIns="73152" bIns="36576" anchor="ctr">
            <a:normAutofit/>
          </a:bodyPr>
          <a:lstStyle/>
          <a:p>
            <a:pPr algn="ctr"/>
            <a:r>
              <a:rPr lang="en-US" b="1" dirty="0">
                <a:solidFill>
                  <a:srgbClr val="FFFFFF"/>
                </a:solidFill>
              </a:rPr>
              <a:t>Core-needle biopsy (image-guided; clip placed) — ER/PR/HER2 on every</a:t>
            </a:r>
          </a:p>
          <a:p>
            <a:pPr algn="ctr"/>
            <a:r>
              <a:rPr lang="en-US" b="1" dirty="0">
                <a:solidFill>
                  <a:srgbClr val="FFFFFF"/>
                </a:solidFill>
              </a:rPr>
              <a:t>invasive cancer</a:t>
            </a:r>
          </a:p>
        </p:txBody>
      </p:sp>
      <p:sp>
        <p:nvSpPr>
          <p:cNvPr id="8" name="Box 8"/>
          <p:cNvSpPr/>
          <p:nvPr/>
        </p:nvSpPr>
        <p:spPr>
          <a:xfrm>
            <a:off x="548640" y="4292194"/>
            <a:ext cx="11094690" cy="738835"/>
          </a:xfrm>
          <a:prstGeom prst="roundRect">
            <a:avLst>
              <a:gd name="adj" fmla="val 7000"/>
            </a:avLst>
          </a:prstGeom>
          <a:solidFill>
            <a:srgbClr val="F6ECEF"/>
          </a:solidFill>
          <a:ln w="12700">
            <a:solidFill>
              <a:srgbClr val="7A1B3D"/>
            </a:solidFill>
          </a:ln>
        </p:spPr>
        <p:txBody>
          <a:bodyPr wrap="square" lIns="73152" tIns="36576" rIns="73152" bIns="36576" anchor="ctr">
            <a:normAutofit/>
          </a:bodyPr>
          <a:lstStyle/>
          <a:p>
            <a:pPr algn="ctr"/>
            <a:r>
              <a:rPr lang="en-US" sz="1600" dirty="0">
                <a:solidFill>
                  <a:srgbClr val="242021"/>
                </a:solidFill>
              </a:rPr>
              <a:t>Triple assessment: clinical + imaging + pathology concordant?</a:t>
            </a:r>
          </a:p>
        </p:txBody>
      </p:sp>
      <p:sp>
        <p:nvSpPr>
          <p:cNvPr id="9" name="Box 9"/>
          <p:cNvSpPr/>
          <p:nvPr/>
        </p:nvSpPr>
        <p:spPr>
          <a:xfrm>
            <a:off x="548640" y="5250485"/>
            <a:ext cx="3527542" cy="738835"/>
          </a:xfrm>
          <a:prstGeom prst="roundRect">
            <a:avLst>
              <a:gd name="adj" fmla="val 7000"/>
            </a:avLst>
          </a:prstGeom>
          <a:solidFill>
            <a:srgbClr val="EDF6EE"/>
          </a:solidFill>
          <a:ln w="12700">
            <a:solidFill>
              <a:srgbClr val="2E7D32"/>
            </a:solidFill>
          </a:ln>
        </p:spPr>
        <p:txBody>
          <a:bodyPr wrap="square" lIns="73152" tIns="36576" rIns="73152" bIns="36576" anchor="ctr">
            <a:normAutofit/>
          </a:bodyPr>
          <a:lstStyle/>
          <a:p>
            <a:pPr algn="ctr"/>
            <a:r>
              <a:rPr lang="en-US" sz="1600" dirty="0">
                <a:solidFill>
                  <a:srgbClr val="242021"/>
                </a:solidFill>
              </a:rPr>
              <a:t>Yes → proceed to staging &amp;</a:t>
            </a:r>
          </a:p>
          <a:p>
            <a:pPr algn="ctr"/>
            <a:r>
              <a:rPr lang="en-US" sz="1600" dirty="0">
                <a:solidFill>
                  <a:srgbClr val="242021"/>
                </a:solidFill>
              </a:rPr>
              <a:t>multidisciplinary treatment planning</a:t>
            </a:r>
          </a:p>
        </p:txBody>
      </p:sp>
      <p:sp>
        <p:nvSpPr>
          <p:cNvPr id="10" name="Box 10"/>
          <p:cNvSpPr/>
          <p:nvPr/>
        </p:nvSpPr>
        <p:spPr>
          <a:xfrm>
            <a:off x="8115788" y="5250485"/>
            <a:ext cx="3527542" cy="738835"/>
          </a:xfrm>
          <a:prstGeom prst="roundRect">
            <a:avLst>
              <a:gd name="adj" fmla="val 7000"/>
            </a:avLst>
          </a:prstGeom>
          <a:solidFill>
            <a:srgbClr val="FDECEA"/>
          </a:solidFill>
          <a:ln w="12700">
            <a:solidFill>
              <a:srgbClr val="B3261E"/>
            </a:solidFill>
          </a:ln>
        </p:spPr>
        <p:txBody>
          <a:bodyPr wrap="square" lIns="73152" tIns="36576" rIns="73152" bIns="36576" anchor="ctr">
            <a:normAutofit/>
          </a:bodyPr>
          <a:lstStyle/>
          <a:p>
            <a:pPr algn="ctr"/>
            <a:r>
              <a:rPr lang="en-US" sz="1600" dirty="0">
                <a:solidFill>
                  <a:srgbClr val="242021"/>
                </a:solidFill>
              </a:rPr>
              <a:t>No → MDT review: repeat</a:t>
            </a:r>
          </a:p>
          <a:p>
            <a:pPr algn="ctr"/>
            <a:r>
              <a:rPr lang="en-US" sz="1600" dirty="0">
                <a:solidFill>
                  <a:srgbClr val="242021"/>
                </a:solidFill>
              </a:rPr>
              <a:t>imaging/biopsy or excisional biopsy</a:t>
            </a:r>
          </a:p>
        </p:txBody>
      </p:sp>
      <p:cxnSp>
        <p:nvCxnSpPr>
          <p:cNvPr id="11" name="Connector 11"/>
          <p:cNvCxnSpPr/>
          <p:nvPr/>
        </p:nvCxnSpPr>
        <p:spPr>
          <a:xfrm flipH="1">
            <a:off x="2312411" y="2156155"/>
            <a:ext cx="3783574"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Connector 12"/>
          <p:cNvCxnSpPr/>
          <p:nvPr/>
        </p:nvCxnSpPr>
        <p:spPr>
          <a:xfrm>
            <a:off x="6095985" y="2156155"/>
            <a:ext cx="18288"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Connector 13"/>
          <p:cNvCxnSpPr/>
          <p:nvPr/>
        </p:nvCxnSpPr>
        <p:spPr>
          <a:xfrm>
            <a:off x="6095985" y="2156155"/>
            <a:ext cx="3783574"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Connector 14"/>
          <p:cNvCxnSpPr/>
          <p:nvPr/>
        </p:nvCxnSpPr>
        <p:spPr>
          <a:xfrm>
            <a:off x="2312411" y="3114446"/>
            <a:ext cx="3783574"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Connector 15"/>
          <p:cNvCxnSpPr/>
          <p:nvPr/>
        </p:nvCxnSpPr>
        <p:spPr>
          <a:xfrm>
            <a:off x="6095985" y="3114446"/>
            <a:ext cx="18288"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Connector 16"/>
          <p:cNvCxnSpPr/>
          <p:nvPr/>
        </p:nvCxnSpPr>
        <p:spPr>
          <a:xfrm flipH="1">
            <a:off x="6095985" y="3114446"/>
            <a:ext cx="3783574"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Connector 17"/>
          <p:cNvCxnSpPr/>
          <p:nvPr/>
        </p:nvCxnSpPr>
        <p:spPr>
          <a:xfrm>
            <a:off x="6095985" y="4072738"/>
            <a:ext cx="18288"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Connector 18"/>
          <p:cNvCxnSpPr/>
          <p:nvPr/>
        </p:nvCxnSpPr>
        <p:spPr>
          <a:xfrm flipH="1">
            <a:off x="2312411" y="5031029"/>
            <a:ext cx="3783574"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Connector 19"/>
          <p:cNvCxnSpPr/>
          <p:nvPr/>
        </p:nvCxnSpPr>
        <p:spPr>
          <a:xfrm>
            <a:off x="6095985" y="5031029"/>
            <a:ext cx="3783574"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sp>
        <p:nvSpPr>
          <p:cNvPr id="20" name="Date Placeholder 19"/>
          <p:cNvSpPr>
            <a:spLocks noGrp="1"/>
          </p:cNvSpPr>
          <p:nvPr>
            <p:ph type="dt" sz="half" idx="10"/>
          </p:nvPr>
        </p:nvSpPr>
        <p:spPr/>
        <p:txBody>
          <a:bodyPr/>
          <a:lstStyle/>
          <a:p>
            <a:fld id="{7A1D2B3C-4E5F-4A60-8B71-92A3B4C5D6E7}" type="datetime4">
              <a:rPr lang="en-US"/>
              <a:t>September 22, 2026</a:t>
            </a:fld>
            <a:endParaRPr lang="en-US" dirty="0"/>
          </a:p>
        </p:txBody>
      </p:sp>
      <p:sp>
        <p:nvSpPr>
          <p:cNvPr id="21" name="Footer Placeholder 20"/>
          <p:cNvSpPr>
            <a:spLocks noGrp="1"/>
          </p:cNvSpPr>
          <p:nvPr>
            <p:ph type="ftr" sz="quarter" idx="11"/>
          </p:nvPr>
        </p:nvSpPr>
        <p:spPr/>
        <p:txBody>
          <a:bodyPr/>
          <a:lstStyle/>
          <a:p>
            <a:r>
              <a:rPr lang="en-US" dirty="0"/>
              <a:t>Management of breast cancer</a:t>
            </a:r>
          </a:p>
        </p:txBody>
      </p:sp>
      <p:sp>
        <p:nvSpPr>
          <p:cNvPr id="22" name="Slide Number Placeholder 21"/>
          <p:cNvSpPr>
            <a:spLocks noGrp="1"/>
          </p:cNvSpPr>
          <p:nvPr>
            <p:ph type="sldNum" sz="quarter" idx="12"/>
          </p:nvPr>
        </p:nvSpPr>
        <p:spPr/>
        <p:txBody>
          <a:bodyPr/>
          <a:lstStyle/>
          <a:p>
            <a:fld id="{B8C9D0E1-F2A3-4B4C-9D5E-6F708192A3B4}" type="slidenum">
              <a:rPr lang="en-US"/>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EE6D53E7-456A-0862-0C41-C25863F8C8B2}"/>
              </a:ext>
            </a:extLst>
          </p:cNvPr>
          <p:cNvSpPr>
            <a:spLocks noGrp="1"/>
          </p:cNvSpPr>
          <p:nvPr>
            <p:ph idx="1"/>
          </p:nvPr>
        </p:nvSpPr>
        <p:spPr/>
        <p:txBody>
          <a:bodyPr>
            <a:normAutofit/>
          </a:bodyPr>
          <a:lstStyle>
            <a:lvl1pPr>
              <a:defRPr sz="2800"/>
            </a:lvl1pPr>
            <a:lvl2pPr>
              <a:defRPr sz="2400"/>
            </a:lvl2pPr>
            <a:lvl3pPr>
              <a:defRPr sz="2200"/>
            </a:lvl3pPr>
            <a:lvl4pPr>
              <a:defRPr sz="2000"/>
            </a:lvl4pPr>
            <a:lvl5pPr>
              <a:defRPr sz="2000"/>
            </a:lvl5pPr>
          </a:lstStyle>
          <a:p>
            <a:r>
              <a:rPr lang="en-US"/>
              <a:t>The clinical stage –determined primarily through</a:t>
            </a:r>
          </a:p>
          <a:p>
            <a:pPr lvl="1"/>
            <a:r>
              <a:rPr lang="en-US"/>
              <a:t>examination of the skin,</a:t>
            </a:r>
          </a:p>
          <a:p>
            <a:pPr lvl="1"/>
            <a:r>
              <a:rPr lang="en-US"/>
              <a:t>breast tissue, and</a:t>
            </a:r>
          </a:p>
          <a:p>
            <a:pPr lvl="1"/>
            <a:r>
              <a:rPr lang="en-US"/>
              <a:t>regional lymph nodes (axillary, supraclavicular, and internal mammary).</a:t>
            </a:r>
          </a:p>
          <a:p>
            <a:r>
              <a:rPr lang="en-US"/>
              <a:t>Pathologic stage combines pathologic examination</a:t>
            </a:r>
          </a:p>
          <a:p>
            <a:pPr lvl="1"/>
            <a:r>
              <a:rPr lang="en-US"/>
              <a:t>resected primary breast cancer and axillary or other regional lymph nodes.</a:t>
            </a:r>
          </a:p>
          <a:p>
            <a:r>
              <a:rPr lang="en-US"/>
              <a:t>Pathologic T takes precedence over clinical T; the number of involved nodes is one of the strongest survival predictors</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33</a:t>
            </a:fld>
            <a:endParaRPr lang="en-US"/>
          </a:p>
        </p:txBody>
      </p:sp>
    </p:spTree>
    <p:extLst>
      <p:ext uri="{BB962C8B-B14F-4D97-AF65-F5344CB8AC3E}">
        <p14:creationId xmlns:p14="http://schemas.microsoft.com/office/powerpoint/2010/main" val="77796282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1743007732"/>
              </p:ext>
            </p:extLst>
          </p:nvPr>
        </p:nvGraphicFramePr>
        <p:xfrm>
          <a:off x="548640" y="191448"/>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p:cNvSpPr txBox="1"/>
          <p:nvPr/>
        </p:nvSpPr>
        <p:spPr>
          <a:xfrm>
            <a:off x="5806440" y="1417320"/>
            <a:ext cx="5833872" cy="4800600"/>
          </a:xfrm>
          <a:prstGeom prst="rect">
            <a:avLst/>
          </a:prstGeom>
          <a:noFill/>
        </p:spPr>
        <p:txBody>
          <a:bodyPr wrap="square" rtlCol="0">
            <a:normAutofit/>
          </a:bodyPr>
          <a:lstStyle/>
          <a:p>
            <a:pPr marL="0" indent="0">
              <a:spcBef>
                <a:spcPts val="800"/>
              </a:spcBef>
              <a:buNone/>
            </a:pPr>
            <a:r>
              <a:rPr lang="en-US" sz="2800" b="1"/>
              <a:t>AJCC 8th  edition staging of breast ca</a:t>
            </a:r>
          </a:p>
          <a:p>
            <a:pPr marL="292608" lvl="1" indent="-292608">
              <a:buClr>
                <a:srgbClr val="7A1B3D"/>
              </a:buClr>
              <a:buFont typeface="Arial"/>
              <a:buChar char="•"/>
            </a:pPr>
            <a:r>
              <a:rPr lang="en-US" sz="2600"/>
              <a:t>LCIS  not included as Tis</a:t>
            </a:r>
          </a:p>
          <a:p>
            <a:pPr marL="292608" lvl="1" indent="-292608">
              <a:buClr>
                <a:srgbClr val="7A1B3D"/>
              </a:buClr>
              <a:buFont typeface="Arial"/>
              <a:buChar char="•"/>
            </a:pPr>
            <a:r>
              <a:rPr lang="en-US" sz="2600"/>
              <a:t>Allow for staging based on findings from the internal mammary sentinel nodes</a:t>
            </a:r>
          </a:p>
          <a:p>
            <a:pPr marL="292608" lvl="1" indent="-292608">
              <a:buClr>
                <a:srgbClr val="7A1B3D"/>
              </a:buClr>
              <a:buFont typeface="Arial"/>
              <a:buChar char="•"/>
            </a:pPr>
            <a:r>
              <a:rPr lang="en-US" sz="2600"/>
              <a:t>Clinical or pathologic evidence of metastatic spread to supraclavicular lymph nodes is no longer considered stage IV disease (now N3c / stage IIIC)</a:t>
            </a:r>
          </a:p>
          <a:p>
            <a:pPr marL="292608" lvl="1" indent="-292608">
              <a:buClr>
                <a:srgbClr val="7A1B3D"/>
              </a:buClr>
              <a:buFont typeface="Arial"/>
              <a:buChar char="•"/>
            </a:pPr>
            <a:r>
              <a:rPr lang="en-US" sz="2600"/>
              <a:t>Pathologic T takes precedence over clinical T when both are available</a:t>
            </a:r>
          </a:p>
        </p:txBody>
      </p:sp>
      <p:graphicFrame>
        <p:nvGraphicFramePr>
          <p:cNvPr id="9" name="Table 9"/>
          <p:cNvGraphicFramePr>
            <a:graphicFrameLocks noGrp="1"/>
          </p:cNvGraphicFramePr>
          <p:nvPr>
            <p:extLst>
              <p:ext uri="{D42A27DB-BD31-4B8C-83A1-F6EECF244321}">
                <p14:modId xmlns:p14="http://schemas.microsoft.com/office/powerpoint/2010/main" val="2825900608"/>
              </p:ext>
            </p:extLst>
          </p:nvPr>
        </p:nvGraphicFramePr>
        <p:xfrm>
          <a:off x="548640" y="1131560"/>
          <a:ext cx="4846320" cy="5111496"/>
        </p:xfrm>
        <a:graphic>
          <a:graphicData uri="http://schemas.openxmlformats.org/drawingml/2006/table">
            <a:tbl>
              <a:tblPr firstRow="1"/>
              <a:tblGrid>
                <a:gridCol w="1211580"/>
                <a:gridCol w="1211580"/>
                <a:gridCol w="1029843"/>
                <a:gridCol w="1393317"/>
              </a:tblGrid>
              <a:tr h="420624">
                <a:tc>
                  <a:txBody>
                    <a:bodyPr/>
                    <a:lstStyle/>
                    <a:p>
                      <a:pPr algn="l"/>
                      <a:r>
                        <a:rPr lang="en-US" sz="2000" b="1" dirty="0">
                          <a:solidFill>
                            <a:srgbClr val="FFFFFF"/>
                          </a:solidFill>
                        </a:rPr>
                        <a:t>T</a:t>
                      </a:r>
                    </a:p>
                  </a:txBody>
                  <a:tcPr marL="45720" marR="45720" marT="32004" marB="32004" anchor="ctr">
                    <a:solidFill>
                      <a:srgbClr val="7A1B3D"/>
                    </a:solidFill>
                  </a:tcPr>
                </a:tc>
                <a:tc>
                  <a:txBody>
                    <a:bodyPr/>
                    <a:lstStyle/>
                    <a:p>
                      <a:pPr algn="l"/>
                      <a:r>
                        <a:rPr lang="en-US" sz="2000" b="1" dirty="0">
                          <a:solidFill>
                            <a:srgbClr val="FFFFFF"/>
                          </a:solidFill>
                        </a:rPr>
                        <a:t>N</a:t>
                      </a:r>
                    </a:p>
                  </a:txBody>
                  <a:tcPr marL="45720" marR="45720" marT="32004" marB="32004" anchor="ctr">
                    <a:solidFill>
                      <a:srgbClr val="7A1B3D"/>
                    </a:solidFill>
                  </a:tcPr>
                </a:tc>
                <a:tc>
                  <a:txBody>
                    <a:bodyPr/>
                    <a:lstStyle/>
                    <a:p>
                      <a:pPr algn="l"/>
                      <a:r>
                        <a:rPr lang="en-US" sz="2000" b="1" dirty="0">
                          <a:solidFill>
                            <a:srgbClr val="FFFFFF"/>
                          </a:solidFill>
                        </a:rPr>
                        <a:t>M</a:t>
                      </a:r>
                    </a:p>
                  </a:txBody>
                  <a:tcPr marL="45720" marR="45720" marT="32004" marB="32004" anchor="ctr">
                    <a:solidFill>
                      <a:srgbClr val="7A1B3D"/>
                    </a:solidFill>
                  </a:tcPr>
                </a:tc>
                <a:tc>
                  <a:txBody>
                    <a:bodyPr/>
                    <a:lstStyle/>
                    <a:p>
                      <a:pPr algn="l"/>
                      <a:r>
                        <a:rPr lang="en-US" sz="2000" b="1" dirty="0">
                          <a:solidFill>
                            <a:srgbClr val="FFFFFF"/>
                          </a:solidFill>
                        </a:rPr>
                        <a:t>Stage</a:t>
                      </a:r>
                    </a:p>
                  </a:txBody>
                  <a:tcPr marL="45720" marR="45720" marT="32004" marB="32004" anchor="ctr">
                    <a:solidFill>
                      <a:srgbClr val="7A1B3D"/>
                    </a:solidFill>
                  </a:tcPr>
                </a:tc>
              </a:tr>
              <a:tr h="207264">
                <a:tc>
                  <a:txBody>
                    <a:bodyPr/>
                    <a:lstStyle/>
                    <a:p>
                      <a:pPr algn="l"/>
                      <a:r>
                        <a:rPr lang="en-US" sz="1200" b="1" dirty="0">
                          <a:solidFill>
                            <a:srgbClr val="242021"/>
                          </a:solidFill>
                        </a:rPr>
                        <a:t>Tis</a:t>
                      </a:r>
                    </a:p>
                  </a:txBody>
                  <a:tcPr marL="45720" marR="45720" marT="32004" marB="32004" anchor="ctr">
                    <a:lnB w="6350">
                      <a:solidFill>
                        <a:srgbClr val="E4D6DB"/>
                      </a:solidFill>
                    </a:lnB>
                    <a:solidFill>
                      <a:srgbClr val="FFFFFF"/>
                    </a:solidFill>
                  </a:tcPr>
                </a:tc>
                <a:tc>
                  <a:txBody>
                    <a:bodyPr/>
                    <a:lstStyle/>
                    <a:p>
                      <a:pPr algn="l"/>
                      <a:r>
                        <a:rPr lang="en-US" sz="1200" dirty="0">
                          <a:solidFill>
                            <a:srgbClr val="242021"/>
                          </a:solidFill>
                        </a:rPr>
                        <a:t>N0</a:t>
                      </a:r>
                    </a:p>
                  </a:txBody>
                  <a:tcPr marL="45720" marR="45720" marT="32004" marB="32004" anchor="ctr">
                    <a:lnB w="6350">
                      <a:solidFill>
                        <a:srgbClr val="E4D6DB"/>
                      </a:solidFill>
                    </a:lnB>
                    <a:solidFill>
                      <a:srgbClr val="FFFFFF"/>
                    </a:solidFill>
                  </a:tcPr>
                </a:tc>
                <a:tc>
                  <a:txBody>
                    <a:bodyPr/>
                    <a:lstStyle/>
                    <a:p>
                      <a:pPr algn="l"/>
                      <a:r>
                        <a:rPr lang="en-US" sz="1200" dirty="0">
                          <a:solidFill>
                            <a:srgbClr val="242021"/>
                          </a:solidFill>
                        </a:rPr>
                        <a:t>M0</a:t>
                      </a:r>
                    </a:p>
                  </a:txBody>
                  <a:tcPr marL="45720" marR="45720" marT="32004" marB="32004" anchor="ctr">
                    <a:lnB w="6350">
                      <a:solidFill>
                        <a:srgbClr val="E4D6DB"/>
                      </a:solidFill>
                    </a:lnB>
                    <a:solidFill>
                      <a:srgbClr val="FFFFFF"/>
                    </a:solidFill>
                  </a:tcPr>
                </a:tc>
                <a:tc>
                  <a:txBody>
                    <a:bodyPr/>
                    <a:lstStyle/>
                    <a:p>
                      <a:pPr algn="l"/>
                      <a:r>
                        <a:rPr lang="en-US" sz="1200" dirty="0">
                          <a:solidFill>
                            <a:srgbClr val="242021"/>
                          </a:solidFill>
                        </a:rPr>
                        <a:t>0</a:t>
                      </a:r>
                    </a:p>
                  </a:txBody>
                  <a:tcPr marL="45720" marR="45720" marT="32004" marB="32004" anchor="ctr">
                    <a:lnB w="6350">
                      <a:solidFill>
                        <a:srgbClr val="E4D6DB"/>
                      </a:solidFill>
                    </a:lnB>
                    <a:solidFill>
                      <a:srgbClr val="FFFFFF"/>
                    </a:solidFill>
                  </a:tcPr>
                </a:tc>
              </a:tr>
              <a:tr h="207264">
                <a:tc>
                  <a:txBody>
                    <a:bodyPr/>
                    <a:lstStyle/>
                    <a:p>
                      <a:pPr algn="l"/>
                      <a:r>
                        <a:rPr lang="en-US" sz="1200" b="1" dirty="0">
                          <a:solidFill>
                            <a:srgbClr val="242021"/>
                          </a:solidFill>
                        </a:rPr>
                        <a:t>T1</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N0</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M0</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IA</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r h="207264">
                <a:tc>
                  <a:txBody>
                    <a:bodyPr/>
                    <a:lstStyle/>
                    <a:p>
                      <a:pPr algn="l"/>
                      <a:r>
                        <a:rPr lang="en-US" sz="1200" b="1" dirty="0">
                          <a:solidFill>
                            <a:srgbClr val="242021"/>
                          </a:solidFill>
                        </a:rPr>
                        <a:t>T0</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N1mi</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M0</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IB</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r>
              <a:tr h="207264">
                <a:tc>
                  <a:txBody>
                    <a:bodyPr/>
                    <a:lstStyle/>
                    <a:p>
                      <a:pPr algn="l"/>
                      <a:r>
                        <a:rPr lang="en-US" sz="1200" b="1" dirty="0">
                          <a:solidFill>
                            <a:srgbClr val="242021"/>
                          </a:solidFill>
                        </a:rPr>
                        <a:t>T1</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N1mi</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M0</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IB</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r h="207264">
                <a:tc>
                  <a:txBody>
                    <a:bodyPr/>
                    <a:lstStyle/>
                    <a:p>
                      <a:pPr algn="l"/>
                      <a:r>
                        <a:rPr lang="en-US" sz="1200" b="1" dirty="0">
                          <a:solidFill>
                            <a:srgbClr val="242021"/>
                          </a:solidFill>
                        </a:rPr>
                        <a:t>T0</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N1</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M0</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IIA</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r>
              <a:tr h="207264">
                <a:tc>
                  <a:txBody>
                    <a:bodyPr/>
                    <a:lstStyle/>
                    <a:p>
                      <a:pPr algn="l"/>
                      <a:r>
                        <a:rPr lang="en-US" sz="1200" b="1" dirty="0">
                          <a:solidFill>
                            <a:srgbClr val="242021"/>
                          </a:solidFill>
                        </a:rPr>
                        <a:t>T1</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N1</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M0</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IIA</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r h="207264">
                <a:tc>
                  <a:txBody>
                    <a:bodyPr/>
                    <a:lstStyle/>
                    <a:p>
                      <a:pPr algn="l"/>
                      <a:r>
                        <a:rPr lang="en-US" sz="1200" b="1" dirty="0">
                          <a:solidFill>
                            <a:srgbClr val="242021"/>
                          </a:solidFill>
                        </a:rPr>
                        <a:t>T2</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N0</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M0</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IIA</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r>
              <a:tr h="207264">
                <a:tc>
                  <a:txBody>
                    <a:bodyPr/>
                    <a:lstStyle/>
                    <a:p>
                      <a:pPr algn="l"/>
                      <a:r>
                        <a:rPr lang="en-US" sz="1200" b="1" dirty="0">
                          <a:solidFill>
                            <a:srgbClr val="242021"/>
                          </a:solidFill>
                        </a:rPr>
                        <a:t>T2</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N1</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M0</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IIB</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r h="207264">
                <a:tc>
                  <a:txBody>
                    <a:bodyPr/>
                    <a:lstStyle/>
                    <a:p>
                      <a:pPr algn="l"/>
                      <a:r>
                        <a:rPr lang="en-US" sz="1200" b="1" dirty="0">
                          <a:solidFill>
                            <a:srgbClr val="242021"/>
                          </a:solidFill>
                        </a:rPr>
                        <a:t>T3</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N0</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M0</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IIB</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r>
              <a:tr h="207264">
                <a:tc>
                  <a:txBody>
                    <a:bodyPr/>
                    <a:lstStyle/>
                    <a:p>
                      <a:pPr algn="l"/>
                      <a:r>
                        <a:rPr lang="en-US" sz="1200" b="1" dirty="0">
                          <a:solidFill>
                            <a:srgbClr val="242021"/>
                          </a:solidFill>
                        </a:rPr>
                        <a:t>T0</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N2</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M0</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IIIA</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r h="207264">
                <a:tc>
                  <a:txBody>
                    <a:bodyPr/>
                    <a:lstStyle/>
                    <a:p>
                      <a:pPr algn="l"/>
                      <a:r>
                        <a:rPr lang="en-US" sz="1200" b="1" dirty="0">
                          <a:solidFill>
                            <a:srgbClr val="242021"/>
                          </a:solidFill>
                        </a:rPr>
                        <a:t>T1</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N2</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M0</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IIIA</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r>
              <a:tr h="207264">
                <a:tc>
                  <a:txBody>
                    <a:bodyPr/>
                    <a:lstStyle/>
                    <a:p>
                      <a:pPr algn="l"/>
                      <a:r>
                        <a:rPr lang="en-US" sz="1200" b="1" dirty="0">
                          <a:solidFill>
                            <a:srgbClr val="242021"/>
                          </a:solidFill>
                        </a:rPr>
                        <a:t>T2</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N2</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M0</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IIIA</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r h="207264">
                <a:tc>
                  <a:txBody>
                    <a:bodyPr/>
                    <a:lstStyle/>
                    <a:p>
                      <a:pPr algn="l"/>
                      <a:r>
                        <a:rPr lang="en-US" sz="1200" b="1" dirty="0">
                          <a:solidFill>
                            <a:srgbClr val="242021"/>
                          </a:solidFill>
                        </a:rPr>
                        <a:t>T3</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N1</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M0</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IIIA</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r>
              <a:tr h="207264">
                <a:tc>
                  <a:txBody>
                    <a:bodyPr/>
                    <a:lstStyle/>
                    <a:p>
                      <a:pPr algn="l"/>
                      <a:r>
                        <a:rPr lang="en-US" sz="1200" b="1" dirty="0">
                          <a:solidFill>
                            <a:srgbClr val="242021"/>
                          </a:solidFill>
                        </a:rPr>
                        <a:t>T3</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N2</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M0</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IIIA</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r h="207264">
                <a:tc>
                  <a:txBody>
                    <a:bodyPr/>
                    <a:lstStyle/>
                    <a:p>
                      <a:pPr algn="l"/>
                      <a:r>
                        <a:rPr lang="en-US" sz="1200" b="1" dirty="0">
                          <a:solidFill>
                            <a:srgbClr val="242021"/>
                          </a:solidFill>
                        </a:rPr>
                        <a:t>T4</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N0</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M0</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IIIB</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r>
              <a:tr h="207264">
                <a:tc>
                  <a:txBody>
                    <a:bodyPr/>
                    <a:lstStyle/>
                    <a:p>
                      <a:pPr algn="l"/>
                      <a:r>
                        <a:rPr lang="en-US" sz="1200" b="1" dirty="0">
                          <a:solidFill>
                            <a:srgbClr val="242021"/>
                          </a:solidFill>
                        </a:rPr>
                        <a:t>T4</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N1</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M0</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IIIB</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r h="207264">
                <a:tc>
                  <a:txBody>
                    <a:bodyPr/>
                    <a:lstStyle/>
                    <a:p>
                      <a:pPr algn="l"/>
                      <a:r>
                        <a:rPr lang="en-US" sz="1200" b="1" dirty="0">
                          <a:solidFill>
                            <a:srgbClr val="242021"/>
                          </a:solidFill>
                        </a:rPr>
                        <a:t>T4</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N2</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M0</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IIIB</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r>
              <a:tr h="207264">
                <a:tc>
                  <a:txBody>
                    <a:bodyPr/>
                    <a:lstStyle/>
                    <a:p>
                      <a:pPr algn="l"/>
                      <a:r>
                        <a:rPr lang="en-US" sz="1200" b="1" dirty="0">
                          <a:solidFill>
                            <a:srgbClr val="242021"/>
                          </a:solidFill>
                        </a:rPr>
                        <a:t>Any T</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N3</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M0</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pPr algn="l"/>
                      <a:r>
                        <a:rPr lang="en-US" sz="1200" dirty="0">
                          <a:solidFill>
                            <a:srgbClr val="242021"/>
                          </a:solidFill>
                        </a:rPr>
                        <a:t>IIIC</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r h="207264">
                <a:tc>
                  <a:txBody>
                    <a:bodyPr/>
                    <a:lstStyle/>
                    <a:p>
                      <a:pPr algn="l"/>
                      <a:r>
                        <a:rPr lang="en-US" sz="1200" b="1" dirty="0">
                          <a:solidFill>
                            <a:srgbClr val="242021"/>
                          </a:solidFill>
                        </a:rPr>
                        <a:t>Any T</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Any N</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M1</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200" dirty="0">
                          <a:solidFill>
                            <a:srgbClr val="242021"/>
                          </a:solidFill>
                        </a:rPr>
                        <a:t>IV</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r>
            </a:tbl>
          </a:graphicData>
        </a:graphic>
      </p:graphicFrame>
      <p:sp>
        <p:nvSpPr>
          <p:cNvPr id="10" name="Date Placeholder 9"/>
          <p:cNvSpPr>
            <a:spLocks noGrp="1"/>
          </p:cNvSpPr>
          <p:nvPr>
            <p:ph type="dt" sz="half" idx="10"/>
          </p:nvPr>
        </p:nvSpPr>
        <p:spPr/>
        <p:txBody>
          <a:bodyPr/>
          <a:lstStyle/>
          <a:p>
            <a:fld id="{7A1D2B3C-4E5F-4A60-8B71-92A3B4C5D6E7}" type="datetime4">
              <a:rPr lang="en-US"/>
              <a:t>September 22, 2026</a:t>
            </a:fld>
            <a:endParaRPr lang="en-US"/>
          </a:p>
        </p:txBody>
      </p:sp>
      <p:sp>
        <p:nvSpPr>
          <p:cNvPr id="11" name="Footer Placeholder 10"/>
          <p:cNvSpPr>
            <a:spLocks noGrp="1"/>
          </p:cNvSpPr>
          <p:nvPr>
            <p:ph type="ftr" sz="quarter" idx="11"/>
          </p:nvPr>
        </p:nvSpPr>
        <p:spPr/>
        <p:txBody>
          <a:bodyPr/>
          <a:lstStyle/>
          <a:p>
            <a:r>
              <a:rPr lang="en-US"/>
              <a:t>Management of breast cancer</a:t>
            </a:r>
          </a:p>
        </p:txBody>
      </p:sp>
      <p:sp>
        <p:nvSpPr>
          <p:cNvPr id="12" name="Slide Number Placeholder 11"/>
          <p:cNvSpPr>
            <a:spLocks noGrp="1"/>
          </p:cNvSpPr>
          <p:nvPr>
            <p:ph type="sldNum" sz="quarter" idx="12"/>
          </p:nvPr>
        </p:nvSpPr>
        <p:spPr/>
        <p:txBody>
          <a:bodyPr/>
          <a:lstStyle/>
          <a:p>
            <a:fld id="{B8C9D0E1-F2A3-4B4C-9D5E-6F708192A3B4}" type="slidenum">
              <a:rPr lang="en-US"/>
              <a:t>34</a:t>
            </a:fld>
            <a:endParaRPr lang="en-US"/>
          </a:p>
        </p:txBody>
      </p:sp>
    </p:spTree>
    <p:extLst>
      <p:ext uri="{BB962C8B-B14F-4D97-AF65-F5344CB8AC3E}">
        <p14:creationId xmlns:p14="http://schemas.microsoft.com/office/powerpoint/2010/main" val="22332602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1887899889"/>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F39AFE73-D671-822C-935A-DE53C8FA1D79}"/>
              </a:ext>
            </a:extLst>
          </p:cNvPr>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r>
              <a:rPr lang="en-US" dirty="0"/>
              <a:t>ER/PR by immunohistochemistry — ≥1% nuclear staining is positive; tested on every invasive cancer (and ER on DCIS)</a:t>
            </a:r>
          </a:p>
          <a:p>
            <a:r>
              <a:rPr lang="en-US" dirty="0"/>
              <a:t>HER2 — IHC 3+ or ISH-amplified is positive; IHC 2+ needs reflex ISH; "HER2-low"¹ is now clinically relevant for antibody-drug conjugates</a:t>
            </a:r>
          </a:p>
          <a:p>
            <a:r>
              <a:rPr lang="en-US" dirty="0"/>
              <a:t>Ki-67 and grade estimate proliferation and refine risk</a:t>
            </a:r>
          </a:p>
          <a:p>
            <a:pPr marL="0" indent="0">
              <a:spcBef>
                <a:spcPts val="800"/>
              </a:spcBef>
              <a:buNone/>
            </a:pPr>
            <a:r>
              <a:rPr lang="en-US" sz="2600" b="1" dirty="0"/>
              <a:t>Others</a:t>
            </a:r>
          </a:p>
          <a:p>
            <a:pPr lvl="1"/>
            <a:r>
              <a:rPr lang="en-US" dirty="0"/>
              <a:t>Indices of Proliferation-PCNA, Indices of Angiogenesis-VEGF, Indices of Apoptosis- </a:t>
            </a:r>
            <a:r>
              <a:rPr lang="en-US" dirty="0" err="1"/>
              <a:t>bax</a:t>
            </a:r>
            <a:r>
              <a:rPr lang="en-US" dirty="0"/>
              <a:t>–bcl-2</a:t>
            </a:r>
          </a:p>
          <a:p>
            <a:r>
              <a:rPr lang="en-US" dirty="0"/>
              <a:t>Genomic assays (</a:t>
            </a:r>
            <a:r>
              <a:rPr lang="en-US" dirty="0" err="1"/>
              <a:t>Oncotype</a:t>
            </a:r>
            <a:r>
              <a:rPr lang="en-US" dirty="0"/>
              <a:t> DX, </a:t>
            </a:r>
            <a:r>
              <a:rPr lang="en-US" dirty="0" err="1"/>
              <a:t>MammaPrint</a:t>
            </a:r>
            <a:r>
              <a:rPr lang="en-US" dirty="0"/>
              <a:t>) further </a:t>
            </a:r>
            <a:r>
              <a:rPr lang="en-US" dirty="0" err="1"/>
              <a:t>individualise</a:t>
            </a:r>
            <a:r>
              <a:rPr lang="en-US" dirty="0"/>
              <a:t> the adjuvant chemotherapy decision in HR+/HER2− disease</a:t>
            </a:r>
          </a:p>
          <a:p>
            <a:pPr marL="0" indent="0">
              <a:buNone/>
            </a:pPr>
            <a:r>
              <a:rPr lang="en-US" sz="900" dirty="0">
                <a:solidFill>
                  <a:srgbClr val="6B6B6B"/>
                </a:solidFill>
              </a:rPr>
              <a:t>¹ HER2-low = IHC 1+, or IHC 2+ with a negative reflex ISH — not "HER2-positive", but now a target for HER2-directed antibody–drug conjugates (e.g. </a:t>
            </a:r>
            <a:r>
              <a:rPr lang="en-US" sz="900" dirty="0" err="1">
                <a:solidFill>
                  <a:srgbClr val="6B6B6B"/>
                </a:solidFill>
              </a:rPr>
              <a:t>trastuzumab</a:t>
            </a:r>
            <a:r>
              <a:rPr lang="en-US" sz="900" dirty="0">
                <a:solidFill>
                  <a:srgbClr val="6B6B6B"/>
                </a:solidFill>
              </a:rPr>
              <a:t> </a:t>
            </a:r>
            <a:r>
              <a:rPr lang="en-US" sz="900" dirty="0" err="1">
                <a:solidFill>
                  <a:srgbClr val="6B6B6B"/>
                </a:solidFill>
              </a:rPr>
              <a:t>deruxtecan</a:t>
            </a:r>
            <a:r>
              <a:rPr lang="en-US" sz="900" dirty="0">
                <a:solidFill>
                  <a:srgbClr val="6B6B6B"/>
                </a:solidFill>
              </a:rPr>
              <a:t>).</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35</a:t>
            </a:fld>
            <a:endParaRPr lang="en-US"/>
          </a:p>
        </p:txBody>
      </p:sp>
    </p:spTree>
    <p:extLst>
      <p:ext uri="{BB962C8B-B14F-4D97-AF65-F5344CB8AC3E}">
        <p14:creationId xmlns:p14="http://schemas.microsoft.com/office/powerpoint/2010/main" val="310876415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3B421329-23C1-7707-9259-44C158492192}"/>
              </a:ext>
            </a:extLst>
          </p:cNvPr>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marL="0" indent="0">
              <a:spcBef>
                <a:spcPts val="800"/>
              </a:spcBef>
              <a:buNone/>
            </a:pPr>
            <a:r>
              <a:rPr lang="en-US" sz="2600" b="1"/>
              <a:t>Multidisciplinary Team</a:t>
            </a:r>
          </a:p>
          <a:p>
            <a:pPr lvl="1"/>
            <a:r>
              <a:rPr lang="en-US"/>
              <a:t>Surgery, medical oncology, radiation oncology, pathology, radiology, plastic surgery, nursing</a:t>
            </a:r>
          </a:p>
          <a:p>
            <a:pPr marL="0" indent="0">
              <a:spcBef>
                <a:spcPts val="800"/>
              </a:spcBef>
              <a:buNone/>
            </a:pPr>
            <a:r>
              <a:rPr lang="en-US" sz="2600" b="1"/>
              <a:t>Determined by</a:t>
            </a:r>
          </a:p>
          <a:p>
            <a:pPr lvl="1"/>
            <a:r>
              <a:rPr lang="en-US"/>
              <a:t>the stage of the disease</a:t>
            </a:r>
          </a:p>
          <a:p>
            <a:pPr lvl="1"/>
            <a:r>
              <a:rPr lang="en-US"/>
              <a:t>the biologic subtype (ER/PR/HER2/grade)</a:t>
            </a:r>
          </a:p>
          <a:p>
            <a:pPr lvl="1"/>
            <a:r>
              <a:rPr lang="en-US"/>
              <a:t>the general health status and preferences of the individual</a:t>
            </a:r>
          </a:p>
          <a:p>
            <a:pPr marL="0" indent="0">
              <a:spcBef>
                <a:spcPts val="800"/>
              </a:spcBef>
              <a:buNone/>
            </a:pPr>
            <a:r>
              <a:rPr lang="en-US" sz="2600" b="1"/>
              <a:t>Before initiating local therapy, the surgeon should confirm</a:t>
            </a:r>
          </a:p>
          <a:p>
            <a:pPr lvl="1"/>
            <a:r>
              <a:rPr lang="en-US"/>
              <a:t>the clinical stage</a:t>
            </a:r>
          </a:p>
          <a:p>
            <a:pPr lvl="1"/>
            <a:r>
              <a:rPr lang="en-US"/>
              <a:t>histologic subtype and grade</a:t>
            </a:r>
          </a:p>
          <a:p>
            <a:pPr lvl="1"/>
            <a:r>
              <a:rPr lang="en-US"/>
              <a:t>ER/PR/HER2 biomarker status</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36</a:t>
            </a:fld>
            <a:endParaRPr lang="en-US"/>
          </a:p>
        </p:txBody>
      </p:sp>
    </p:spTree>
    <p:extLst>
      <p:ext uri="{BB962C8B-B14F-4D97-AF65-F5344CB8AC3E}">
        <p14:creationId xmlns:p14="http://schemas.microsoft.com/office/powerpoint/2010/main" val="348489715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Diagram 22"/>
          <p:cNvGraphicFramePr/>
          <p:nvPr>
            <p:extLst>
              <p:ext uri="{D42A27DB-BD31-4B8C-83A1-F6EECF244321}">
                <p14:modId xmlns:p14="http://schemas.microsoft.com/office/powerpoint/2010/main" val="3554453689"/>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Box 3"/>
          <p:cNvSpPr/>
          <p:nvPr/>
        </p:nvSpPr>
        <p:spPr>
          <a:xfrm>
            <a:off x="548640" y="1417320"/>
            <a:ext cx="11094690" cy="1377696"/>
          </a:xfrm>
          <a:prstGeom prst="roundRect">
            <a:avLst>
              <a:gd name="adj" fmla="val 7000"/>
            </a:avLst>
          </a:prstGeom>
          <a:solidFill>
            <a:srgbClr val="7A1B3D"/>
          </a:solidFill>
          <a:ln w="12700">
            <a:solidFill>
              <a:srgbClr val="7A1B3D"/>
            </a:solidFill>
          </a:ln>
        </p:spPr>
        <p:txBody>
          <a:bodyPr wrap="square" lIns="73152" tIns="36576" rIns="73152" bIns="36576" anchor="ctr">
            <a:normAutofit/>
          </a:bodyPr>
          <a:lstStyle/>
          <a:p>
            <a:pPr algn="ctr"/>
            <a:r>
              <a:rPr lang="en-US" sz="2400" b="1" dirty="0">
                <a:solidFill>
                  <a:srgbClr val="FFFFFF"/>
                </a:solidFill>
              </a:rPr>
              <a:t>Confirmed diagnosis: histologic subtype, grade, ER/PR/HER2, and clinical stage</a:t>
            </a:r>
          </a:p>
        </p:txBody>
      </p:sp>
      <p:sp>
        <p:nvSpPr>
          <p:cNvPr id="4" name="Box 4"/>
          <p:cNvSpPr/>
          <p:nvPr/>
        </p:nvSpPr>
        <p:spPr>
          <a:xfrm>
            <a:off x="548640" y="3014472"/>
            <a:ext cx="2581648" cy="1377696"/>
          </a:xfrm>
          <a:prstGeom prst="roundRect">
            <a:avLst>
              <a:gd name="adj" fmla="val 7000"/>
            </a:avLst>
          </a:prstGeom>
          <a:solidFill>
            <a:srgbClr val="F6ECEF"/>
          </a:solidFill>
          <a:ln w="12700">
            <a:solidFill>
              <a:srgbClr val="7A1B3D"/>
            </a:solidFill>
          </a:ln>
        </p:spPr>
        <p:txBody>
          <a:bodyPr wrap="square" lIns="73152" tIns="36576" rIns="73152" bIns="36576" anchor="ctr">
            <a:normAutofit/>
          </a:bodyPr>
          <a:lstStyle/>
          <a:p>
            <a:pPr algn="ctr"/>
            <a:r>
              <a:rPr lang="en-US" sz="2000" dirty="0">
                <a:solidFill>
                  <a:srgbClr val="242021"/>
                </a:solidFill>
              </a:rPr>
              <a:t>Stage 0</a:t>
            </a:r>
          </a:p>
          <a:p>
            <a:pPr algn="ctr"/>
            <a:r>
              <a:rPr lang="en-US" sz="2000" dirty="0">
                <a:solidFill>
                  <a:srgbClr val="242021"/>
                </a:solidFill>
              </a:rPr>
              <a:t>(LCIS / DCIS)</a:t>
            </a:r>
          </a:p>
        </p:txBody>
      </p:sp>
      <p:sp>
        <p:nvSpPr>
          <p:cNvPr id="5" name="Box 5"/>
          <p:cNvSpPr/>
          <p:nvPr/>
        </p:nvSpPr>
        <p:spPr>
          <a:xfrm>
            <a:off x="3386320" y="3014472"/>
            <a:ext cx="2581648" cy="1377696"/>
          </a:xfrm>
          <a:prstGeom prst="roundRect">
            <a:avLst>
              <a:gd name="adj" fmla="val 7000"/>
            </a:avLst>
          </a:prstGeom>
          <a:solidFill>
            <a:srgbClr val="F6ECEF"/>
          </a:solidFill>
          <a:ln w="12700">
            <a:solidFill>
              <a:srgbClr val="7A1B3D"/>
            </a:solidFill>
          </a:ln>
        </p:spPr>
        <p:txBody>
          <a:bodyPr wrap="square" lIns="73152" tIns="36576" rIns="73152" bIns="36576" anchor="ctr">
            <a:normAutofit/>
          </a:bodyPr>
          <a:lstStyle/>
          <a:p>
            <a:pPr algn="ctr"/>
            <a:r>
              <a:rPr lang="en-US" sz="2000" dirty="0">
                <a:solidFill>
                  <a:srgbClr val="242021"/>
                </a:solidFill>
              </a:rPr>
              <a:t>Stage I–II</a:t>
            </a:r>
          </a:p>
          <a:p>
            <a:pPr algn="ctr"/>
            <a:r>
              <a:rPr lang="en-US" sz="2000" dirty="0">
                <a:solidFill>
                  <a:srgbClr val="242021"/>
                </a:solidFill>
              </a:rPr>
              <a:t>(early invasive)</a:t>
            </a:r>
          </a:p>
        </p:txBody>
      </p:sp>
      <p:sp>
        <p:nvSpPr>
          <p:cNvPr id="6" name="Box 6"/>
          <p:cNvSpPr/>
          <p:nvPr/>
        </p:nvSpPr>
        <p:spPr>
          <a:xfrm>
            <a:off x="6224001" y="3014472"/>
            <a:ext cx="2581648" cy="1377696"/>
          </a:xfrm>
          <a:prstGeom prst="roundRect">
            <a:avLst>
              <a:gd name="adj" fmla="val 7000"/>
            </a:avLst>
          </a:prstGeom>
          <a:solidFill>
            <a:srgbClr val="F6ECEF"/>
          </a:solidFill>
          <a:ln w="12700">
            <a:solidFill>
              <a:srgbClr val="7A1B3D"/>
            </a:solidFill>
          </a:ln>
        </p:spPr>
        <p:txBody>
          <a:bodyPr wrap="square" lIns="73152" tIns="36576" rIns="73152" bIns="36576" anchor="ctr">
            <a:normAutofit/>
          </a:bodyPr>
          <a:lstStyle/>
          <a:p>
            <a:pPr algn="ctr"/>
            <a:r>
              <a:rPr lang="en-US" sz="2000" dirty="0">
                <a:solidFill>
                  <a:srgbClr val="242021"/>
                </a:solidFill>
              </a:rPr>
              <a:t>Stage III</a:t>
            </a:r>
          </a:p>
          <a:p>
            <a:pPr algn="ctr"/>
            <a:r>
              <a:rPr lang="en-US" sz="2000" dirty="0">
                <a:solidFill>
                  <a:srgbClr val="242021"/>
                </a:solidFill>
              </a:rPr>
              <a:t>(locally advanced /</a:t>
            </a:r>
          </a:p>
          <a:p>
            <a:pPr algn="ctr"/>
            <a:r>
              <a:rPr lang="en-US" sz="2000" dirty="0">
                <a:solidFill>
                  <a:srgbClr val="242021"/>
                </a:solidFill>
              </a:rPr>
              <a:t>inflammatory)</a:t>
            </a:r>
          </a:p>
        </p:txBody>
      </p:sp>
      <p:sp>
        <p:nvSpPr>
          <p:cNvPr id="7" name="Box 7"/>
          <p:cNvSpPr/>
          <p:nvPr/>
        </p:nvSpPr>
        <p:spPr>
          <a:xfrm>
            <a:off x="9061681" y="3014472"/>
            <a:ext cx="2581648" cy="1377696"/>
          </a:xfrm>
          <a:prstGeom prst="roundRect">
            <a:avLst>
              <a:gd name="adj" fmla="val 7000"/>
            </a:avLst>
          </a:prstGeom>
          <a:solidFill>
            <a:srgbClr val="F6ECEF"/>
          </a:solidFill>
          <a:ln w="12700">
            <a:solidFill>
              <a:srgbClr val="7A1B3D"/>
            </a:solidFill>
          </a:ln>
        </p:spPr>
        <p:txBody>
          <a:bodyPr wrap="square" lIns="73152" tIns="36576" rIns="73152" bIns="36576" anchor="ctr">
            <a:normAutofit/>
          </a:bodyPr>
          <a:lstStyle/>
          <a:p>
            <a:pPr algn="ctr"/>
            <a:r>
              <a:rPr lang="en-US" sz="2000" dirty="0">
                <a:solidFill>
                  <a:srgbClr val="242021"/>
                </a:solidFill>
              </a:rPr>
              <a:t>Stage IV</a:t>
            </a:r>
          </a:p>
          <a:p>
            <a:pPr algn="ctr"/>
            <a:r>
              <a:rPr lang="en-US" sz="2000" dirty="0">
                <a:solidFill>
                  <a:srgbClr val="242021"/>
                </a:solidFill>
              </a:rPr>
              <a:t>(metastatic)</a:t>
            </a:r>
          </a:p>
        </p:txBody>
      </p:sp>
      <p:sp>
        <p:nvSpPr>
          <p:cNvPr id="8" name="Box 8"/>
          <p:cNvSpPr/>
          <p:nvPr/>
        </p:nvSpPr>
        <p:spPr>
          <a:xfrm>
            <a:off x="548640" y="4611624"/>
            <a:ext cx="2581648" cy="1377696"/>
          </a:xfrm>
          <a:prstGeom prst="roundRect">
            <a:avLst>
              <a:gd name="adj" fmla="val 7000"/>
            </a:avLst>
          </a:prstGeom>
          <a:solidFill>
            <a:srgbClr val="F6ECEF"/>
          </a:solidFill>
          <a:ln w="12700">
            <a:solidFill>
              <a:srgbClr val="7A1B3D"/>
            </a:solidFill>
          </a:ln>
        </p:spPr>
        <p:txBody>
          <a:bodyPr wrap="square" lIns="73152" tIns="36576" rIns="73152" bIns="36576" anchor="ctr">
            <a:normAutofit/>
          </a:bodyPr>
          <a:lstStyle/>
          <a:p>
            <a:pPr algn="ctr"/>
            <a:r>
              <a:rPr lang="en-US" sz="1600" dirty="0">
                <a:solidFill>
                  <a:srgbClr val="242021"/>
                </a:solidFill>
              </a:rPr>
              <a:t>Excision ± RT</a:t>
            </a:r>
          </a:p>
          <a:p>
            <a:pPr algn="ctr"/>
            <a:r>
              <a:rPr lang="en-US" sz="1600" dirty="0">
                <a:solidFill>
                  <a:srgbClr val="242021"/>
                </a:solidFill>
              </a:rPr>
              <a:t>± endocrine therapy</a:t>
            </a:r>
          </a:p>
        </p:txBody>
      </p:sp>
      <p:sp>
        <p:nvSpPr>
          <p:cNvPr id="9" name="Box 9"/>
          <p:cNvSpPr/>
          <p:nvPr/>
        </p:nvSpPr>
        <p:spPr>
          <a:xfrm>
            <a:off x="3386320" y="4611624"/>
            <a:ext cx="2581648" cy="1377696"/>
          </a:xfrm>
          <a:prstGeom prst="roundRect">
            <a:avLst>
              <a:gd name="adj" fmla="val 7000"/>
            </a:avLst>
          </a:prstGeom>
          <a:solidFill>
            <a:srgbClr val="F6ECEF"/>
          </a:solidFill>
          <a:ln w="12700">
            <a:solidFill>
              <a:srgbClr val="7A1B3D"/>
            </a:solidFill>
          </a:ln>
        </p:spPr>
        <p:txBody>
          <a:bodyPr wrap="square" lIns="73152" tIns="36576" rIns="73152" bIns="36576" anchor="ctr">
            <a:normAutofit/>
          </a:bodyPr>
          <a:lstStyle/>
          <a:p>
            <a:pPr algn="ctr"/>
            <a:r>
              <a:rPr lang="en-US" sz="1600" dirty="0">
                <a:solidFill>
                  <a:srgbClr val="242021"/>
                </a:solidFill>
              </a:rPr>
              <a:t>BCS or mastectomy</a:t>
            </a:r>
          </a:p>
          <a:p>
            <a:pPr algn="ctr"/>
            <a:r>
              <a:rPr lang="en-US" sz="1600" dirty="0">
                <a:solidFill>
                  <a:srgbClr val="242021"/>
                </a:solidFill>
              </a:rPr>
              <a:t>+ SLNB → RT ±</a:t>
            </a:r>
          </a:p>
          <a:p>
            <a:pPr algn="ctr"/>
            <a:r>
              <a:rPr lang="en-US" sz="1600" dirty="0">
                <a:solidFill>
                  <a:srgbClr val="242021"/>
                </a:solidFill>
              </a:rPr>
              <a:t>systemic therapy</a:t>
            </a:r>
          </a:p>
        </p:txBody>
      </p:sp>
      <p:sp>
        <p:nvSpPr>
          <p:cNvPr id="10" name="Box 10"/>
          <p:cNvSpPr/>
          <p:nvPr/>
        </p:nvSpPr>
        <p:spPr>
          <a:xfrm>
            <a:off x="6224001" y="4611624"/>
            <a:ext cx="2581648" cy="1377696"/>
          </a:xfrm>
          <a:prstGeom prst="roundRect">
            <a:avLst>
              <a:gd name="adj" fmla="val 7000"/>
            </a:avLst>
          </a:prstGeom>
          <a:solidFill>
            <a:srgbClr val="F6ECEF"/>
          </a:solidFill>
          <a:ln w="12700">
            <a:solidFill>
              <a:srgbClr val="7A1B3D"/>
            </a:solidFill>
          </a:ln>
        </p:spPr>
        <p:txBody>
          <a:bodyPr wrap="square" lIns="73152" tIns="36576" rIns="73152" bIns="36576" anchor="ctr">
            <a:normAutofit/>
          </a:bodyPr>
          <a:lstStyle/>
          <a:p>
            <a:pPr algn="ctr"/>
            <a:r>
              <a:rPr lang="en-US" sz="1600" dirty="0">
                <a:solidFill>
                  <a:srgbClr val="242021"/>
                </a:solidFill>
              </a:rPr>
              <a:t>Neoadjuvant therapy</a:t>
            </a:r>
          </a:p>
          <a:p>
            <a:pPr algn="ctr"/>
            <a:r>
              <a:rPr lang="en-US" sz="1600" dirty="0">
                <a:solidFill>
                  <a:srgbClr val="242021"/>
                </a:solidFill>
              </a:rPr>
              <a:t>→ surgery → RT →</a:t>
            </a:r>
          </a:p>
          <a:p>
            <a:pPr algn="ctr"/>
            <a:r>
              <a:rPr lang="en-US" sz="1600" dirty="0">
                <a:solidFill>
                  <a:srgbClr val="242021"/>
                </a:solidFill>
              </a:rPr>
              <a:t>adjuvant therapy</a:t>
            </a:r>
          </a:p>
        </p:txBody>
      </p:sp>
      <p:sp>
        <p:nvSpPr>
          <p:cNvPr id="11" name="Box 11"/>
          <p:cNvSpPr/>
          <p:nvPr/>
        </p:nvSpPr>
        <p:spPr>
          <a:xfrm>
            <a:off x="9061681" y="4611624"/>
            <a:ext cx="2581648" cy="1377696"/>
          </a:xfrm>
          <a:prstGeom prst="roundRect">
            <a:avLst>
              <a:gd name="adj" fmla="val 7000"/>
            </a:avLst>
          </a:prstGeom>
          <a:solidFill>
            <a:srgbClr val="F6ECEF"/>
          </a:solidFill>
          <a:ln w="12700">
            <a:solidFill>
              <a:srgbClr val="7A1B3D"/>
            </a:solidFill>
          </a:ln>
        </p:spPr>
        <p:txBody>
          <a:bodyPr wrap="square" lIns="73152" tIns="36576" rIns="73152" bIns="36576" anchor="ctr">
            <a:normAutofit/>
          </a:bodyPr>
          <a:lstStyle/>
          <a:p>
            <a:pPr algn="ctr"/>
            <a:r>
              <a:rPr lang="en-US" sz="1600" dirty="0">
                <a:solidFill>
                  <a:srgbClr val="242021"/>
                </a:solidFill>
              </a:rPr>
              <a:t>Systemic therapy</a:t>
            </a:r>
          </a:p>
          <a:p>
            <a:pPr algn="ctr"/>
            <a:r>
              <a:rPr lang="en-US" sz="1600" dirty="0">
                <a:solidFill>
                  <a:srgbClr val="242021"/>
                </a:solidFill>
              </a:rPr>
              <a:t>(endocrine/chemo/</a:t>
            </a:r>
          </a:p>
          <a:p>
            <a:pPr algn="ctr"/>
            <a:r>
              <a:rPr lang="en-US" sz="1600" dirty="0">
                <a:solidFill>
                  <a:srgbClr val="242021"/>
                </a:solidFill>
              </a:rPr>
              <a:t>targeted) ± palliation</a:t>
            </a:r>
          </a:p>
        </p:txBody>
      </p:sp>
      <p:cxnSp>
        <p:nvCxnSpPr>
          <p:cNvPr id="12" name="Connector 12"/>
          <p:cNvCxnSpPr/>
          <p:nvPr/>
        </p:nvCxnSpPr>
        <p:spPr>
          <a:xfrm flipH="1">
            <a:off x="1839464" y="2795016"/>
            <a:ext cx="4256521"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Connector 13"/>
          <p:cNvCxnSpPr/>
          <p:nvPr/>
        </p:nvCxnSpPr>
        <p:spPr>
          <a:xfrm flipH="1">
            <a:off x="4677145" y="2795016"/>
            <a:ext cx="1418840"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Connector 14"/>
          <p:cNvCxnSpPr/>
          <p:nvPr/>
        </p:nvCxnSpPr>
        <p:spPr>
          <a:xfrm>
            <a:off x="6095985" y="2795016"/>
            <a:ext cx="1418840"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Connector 15"/>
          <p:cNvCxnSpPr/>
          <p:nvPr/>
        </p:nvCxnSpPr>
        <p:spPr>
          <a:xfrm>
            <a:off x="6095985" y="2795016"/>
            <a:ext cx="4256521"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Connector 16"/>
          <p:cNvCxnSpPr/>
          <p:nvPr/>
        </p:nvCxnSpPr>
        <p:spPr>
          <a:xfrm>
            <a:off x="1839464" y="4392168"/>
            <a:ext cx="18288"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Connector 17"/>
          <p:cNvCxnSpPr/>
          <p:nvPr/>
        </p:nvCxnSpPr>
        <p:spPr>
          <a:xfrm>
            <a:off x="4677145" y="4392168"/>
            <a:ext cx="18288"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Connector 18"/>
          <p:cNvCxnSpPr/>
          <p:nvPr/>
        </p:nvCxnSpPr>
        <p:spPr>
          <a:xfrm>
            <a:off x="7514825" y="4392168"/>
            <a:ext cx="18288"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Connector 19"/>
          <p:cNvCxnSpPr/>
          <p:nvPr/>
        </p:nvCxnSpPr>
        <p:spPr>
          <a:xfrm>
            <a:off x="10352505" y="4392168"/>
            <a:ext cx="18288"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sp>
        <p:nvSpPr>
          <p:cNvPr id="20" name="Date Placeholder 19"/>
          <p:cNvSpPr>
            <a:spLocks noGrp="1"/>
          </p:cNvSpPr>
          <p:nvPr>
            <p:ph type="dt" sz="half" idx="10"/>
          </p:nvPr>
        </p:nvSpPr>
        <p:spPr/>
        <p:txBody>
          <a:bodyPr/>
          <a:lstStyle/>
          <a:p>
            <a:fld id="{7A1D2B3C-4E5F-4A60-8B71-92A3B4C5D6E7}" type="datetime4">
              <a:rPr lang="en-US"/>
              <a:t>September 22, 2026</a:t>
            </a:fld>
            <a:endParaRPr lang="en-US"/>
          </a:p>
        </p:txBody>
      </p:sp>
      <p:sp>
        <p:nvSpPr>
          <p:cNvPr id="21" name="Footer Placeholder 20"/>
          <p:cNvSpPr>
            <a:spLocks noGrp="1"/>
          </p:cNvSpPr>
          <p:nvPr>
            <p:ph type="ftr" sz="quarter" idx="11"/>
          </p:nvPr>
        </p:nvSpPr>
        <p:spPr/>
        <p:txBody>
          <a:bodyPr/>
          <a:lstStyle/>
          <a:p>
            <a:r>
              <a:rPr lang="en-US"/>
              <a:t>Management of breast cancer</a:t>
            </a:r>
          </a:p>
        </p:txBody>
      </p:sp>
      <p:sp>
        <p:nvSpPr>
          <p:cNvPr id="22" name="Slide Number Placeholder 21"/>
          <p:cNvSpPr>
            <a:spLocks noGrp="1"/>
          </p:cNvSpPr>
          <p:nvPr>
            <p:ph type="sldNum" sz="quarter" idx="12"/>
          </p:nvPr>
        </p:nvSpPr>
        <p:spPr/>
        <p:txBody>
          <a:bodyPr/>
          <a:lstStyle/>
          <a:p>
            <a:fld id="{B8C9D0E1-F2A3-4B4C-9D5E-6F708192A3B4}" type="slidenum">
              <a:rPr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Diagram 15"/>
          <p:cNvGraphicFramePr/>
          <p:nvPr>
            <p:extLst>
              <p:ext uri="{D42A27DB-BD31-4B8C-83A1-F6EECF244321}">
                <p14:modId xmlns:p14="http://schemas.microsoft.com/office/powerpoint/2010/main" val="3396949801"/>
              </p:ext>
            </p:extLst>
          </p:nvPr>
        </p:nvGraphicFramePr>
        <p:xfrm>
          <a:off x="548640" y="162872"/>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Box 3"/>
          <p:cNvSpPr/>
          <p:nvPr/>
        </p:nvSpPr>
        <p:spPr>
          <a:xfrm>
            <a:off x="548640" y="1203000"/>
            <a:ext cx="11094690" cy="2176272"/>
          </a:xfrm>
          <a:prstGeom prst="roundRect">
            <a:avLst>
              <a:gd name="adj" fmla="val 7000"/>
            </a:avLst>
          </a:prstGeom>
          <a:solidFill>
            <a:srgbClr val="7A1B3D"/>
          </a:solidFill>
          <a:ln w="12700">
            <a:solidFill>
              <a:srgbClr val="7A1B3D"/>
            </a:solidFill>
          </a:ln>
        </p:spPr>
        <p:txBody>
          <a:bodyPr wrap="square" lIns="73152" tIns="36576" rIns="73152" bIns="36576" anchor="ctr">
            <a:normAutofit/>
          </a:bodyPr>
          <a:lstStyle/>
          <a:p>
            <a:pPr algn="ctr"/>
            <a:r>
              <a:rPr lang="en-US" sz="2400" b="1" dirty="0">
                <a:solidFill>
                  <a:srgbClr val="FFFFFF"/>
                </a:solidFill>
              </a:rPr>
              <a:t>Goal: prevent or detect early the invasive cancer that follows in 25–35% of women with classic LCIS</a:t>
            </a:r>
          </a:p>
        </p:txBody>
      </p:sp>
      <p:sp>
        <p:nvSpPr>
          <p:cNvPr id="4" name="Box 4"/>
          <p:cNvSpPr/>
          <p:nvPr/>
        </p:nvSpPr>
        <p:spPr>
          <a:xfrm>
            <a:off x="548640" y="3598728"/>
            <a:ext cx="3527542" cy="2176272"/>
          </a:xfrm>
          <a:prstGeom prst="roundRect">
            <a:avLst>
              <a:gd name="adj" fmla="val 7000"/>
            </a:avLst>
          </a:prstGeom>
          <a:solidFill>
            <a:srgbClr val="F6ECEF"/>
          </a:solidFill>
          <a:ln w="12700">
            <a:solidFill>
              <a:srgbClr val="7A1B3D"/>
            </a:solidFill>
          </a:ln>
        </p:spPr>
        <p:txBody>
          <a:bodyPr wrap="square" lIns="45720" rIns="45720" anchor="ctr">
            <a:normAutofit/>
          </a:bodyPr>
          <a:lstStyle/>
          <a:p>
            <a:pPr algn="l"/>
            <a:r>
              <a:rPr sz="1150" b="0">
                <a:solidFill>
                  <a:srgbClr val="1F3556"/>
                </a:solidFill>
                <a:latin typeface="Aptos"/>
              </a:rPr>
              <a:t>Classic LCIS / ALH: observation when radiology-pathology concordant; clinical + imaging follow-up. Consider risk-reducing medication after risk discussion.</a:t>
            </a:r>
          </a:p>
        </p:txBody>
      </p:sp>
      <p:sp>
        <p:nvSpPr>
          <p:cNvPr id="5" name="Box 5"/>
          <p:cNvSpPr/>
          <p:nvPr/>
        </p:nvSpPr>
        <p:spPr>
          <a:xfrm>
            <a:off x="4332214" y="3598728"/>
            <a:ext cx="3527542" cy="2176272"/>
          </a:xfrm>
          <a:prstGeom prst="roundRect">
            <a:avLst>
              <a:gd name="adj" fmla="val 7000"/>
            </a:avLst>
          </a:prstGeom>
          <a:solidFill>
            <a:srgbClr val="F6ECEF"/>
          </a:solidFill>
          <a:ln w="12700">
            <a:solidFill>
              <a:srgbClr val="7A1B3D"/>
            </a:solidFill>
          </a:ln>
        </p:spPr>
        <p:txBody>
          <a:bodyPr wrap="square" lIns="45720" rIns="45720" anchor="ctr">
            <a:normAutofit/>
          </a:bodyPr>
          <a:lstStyle/>
          <a:p>
            <a:pPr algn="l"/>
            <a:r>
              <a:rPr sz="1150" b="0">
                <a:solidFill>
                  <a:srgbClr val="1F3556"/>
                </a:solidFill>
                <a:latin typeface="Aptos"/>
              </a:rPr>
              <a:t>Risk reduction: tamoxifen (and postmenopausal raloxifene/AIs when appropriate).</a:t>
            </a:r>
          </a:p>
        </p:txBody>
      </p:sp>
      <p:sp>
        <p:nvSpPr>
          <p:cNvPr id="6" name="Box 6"/>
          <p:cNvSpPr/>
          <p:nvPr/>
        </p:nvSpPr>
        <p:spPr>
          <a:xfrm>
            <a:off x="8115788" y="3598728"/>
            <a:ext cx="3527542" cy="2176272"/>
          </a:xfrm>
          <a:prstGeom prst="roundRect">
            <a:avLst>
              <a:gd name="adj" fmla="val 7000"/>
            </a:avLst>
          </a:prstGeom>
          <a:solidFill>
            <a:srgbClr val="F6ECEF"/>
          </a:solidFill>
          <a:ln w="12700">
            <a:solidFill>
              <a:srgbClr val="7A1B3D"/>
            </a:solidFill>
          </a:ln>
        </p:spPr>
        <p:txBody>
          <a:bodyPr wrap="square" lIns="45720" rIns="45720" anchor="ctr">
            <a:normAutofit/>
          </a:bodyPr>
          <a:lstStyle/>
          <a:p>
            <a:pPr algn="l"/>
            <a:r>
              <a:rPr sz="1150" b="0">
                <a:solidFill>
                  <a:srgbClr val="1F3556"/>
                </a:solidFill>
                <a:latin typeface="Aptos"/>
              </a:rPr>
              <a:t>Pleomorphic/florid LCIS: diagnostic excision is generally recommended; negative margins emphasized in 2026 ASBrS/SBI/CAP guidance.</a:t>
            </a:r>
          </a:p>
        </p:txBody>
      </p:sp>
      <p:cxnSp>
        <p:nvCxnSpPr>
          <p:cNvPr id="7" name="Connector 7"/>
          <p:cNvCxnSpPr/>
          <p:nvPr/>
        </p:nvCxnSpPr>
        <p:spPr>
          <a:xfrm flipH="1">
            <a:off x="2312411" y="3336408"/>
            <a:ext cx="3783574"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8" name="Connector 8"/>
          <p:cNvCxnSpPr/>
          <p:nvPr/>
        </p:nvCxnSpPr>
        <p:spPr>
          <a:xfrm>
            <a:off x="6114273" y="3336408"/>
            <a:ext cx="0" cy="233744"/>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9" name="Connector 9"/>
          <p:cNvCxnSpPr/>
          <p:nvPr/>
        </p:nvCxnSpPr>
        <p:spPr>
          <a:xfrm>
            <a:off x="6095985" y="3336408"/>
            <a:ext cx="3783574"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15" name="Diagram 14"/>
          <p:cNvGraphicFramePr/>
          <p:nvPr>
            <p:extLst>
              <p:ext uri="{D42A27DB-BD31-4B8C-83A1-F6EECF244321}">
                <p14:modId xmlns:p14="http://schemas.microsoft.com/office/powerpoint/2010/main" val="4240588389"/>
              </p:ext>
            </p:extLst>
          </p:nvPr>
        </p:nvGraphicFramePr>
        <p:xfrm>
          <a:off x="566928" y="5886450"/>
          <a:ext cx="11094690" cy="48577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1" name="Date Placeholder 10"/>
          <p:cNvSpPr>
            <a:spLocks noGrp="1"/>
          </p:cNvSpPr>
          <p:nvPr>
            <p:ph type="dt" sz="half" idx="10"/>
          </p:nvPr>
        </p:nvSpPr>
        <p:spPr/>
        <p:txBody>
          <a:bodyPr/>
          <a:lstStyle/>
          <a:p>
            <a:fld id="{7A1D2B3C-4E5F-4A60-8B71-92A3B4C5D6E7}" type="datetime4">
              <a:rPr lang="en-US"/>
              <a:t>September 22, 2026</a:t>
            </a:fld>
            <a:endParaRPr lang="en-US"/>
          </a:p>
        </p:txBody>
      </p:sp>
      <p:sp>
        <p:nvSpPr>
          <p:cNvPr id="12" name="Footer Placeholder 11"/>
          <p:cNvSpPr>
            <a:spLocks noGrp="1"/>
          </p:cNvSpPr>
          <p:nvPr>
            <p:ph type="ftr" sz="quarter" idx="11"/>
          </p:nvPr>
        </p:nvSpPr>
        <p:spPr/>
        <p:txBody>
          <a:bodyPr/>
          <a:lstStyle/>
          <a:p>
            <a:r>
              <a:rPr lang="en-US"/>
              <a:t>Management of breast cancer</a:t>
            </a:r>
          </a:p>
        </p:txBody>
      </p:sp>
      <p:sp>
        <p:nvSpPr>
          <p:cNvPr id="13" name="Slide Number Placeholder 12"/>
          <p:cNvSpPr>
            <a:spLocks noGrp="1"/>
          </p:cNvSpPr>
          <p:nvPr>
            <p:ph type="sldNum" sz="quarter" idx="12"/>
          </p:nvPr>
        </p:nvSpPr>
        <p:spPr/>
        <p:txBody>
          <a:bodyPr/>
          <a:lstStyle/>
          <a:p>
            <a:fld id="{B8C9D0E1-F2A3-4B4C-9D5E-6F708192A3B4}" type="slidenum">
              <a:rPr lang="en-US"/>
              <a:t>38</a:t>
            </a:fld>
            <a:endParaRPr lang="en-US"/>
          </a:p>
        </p:txBody>
      </p:sp>
    </p:spTree>
    <p:extLst>
      <p:ext uri="{BB962C8B-B14F-4D97-AF65-F5344CB8AC3E}">
        <p14:creationId xmlns:p14="http://schemas.microsoft.com/office/powerpoint/2010/main" val="27295511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Diagram 12"/>
          <p:cNvGraphicFramePr/>
          <p:nvPr>
            <p:extLst>
              <p:ext uri="{D42A27DB-BD31-4B8C-83A1-F6EECF244321}">
                <p14:modId xmlns:p14="http://schemas.microsoft.com/office/powerpoint/2010/main" val="3829661549"/>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Box 3"/>
          <p:cNvSpPr/>
          <p:nvPr/>
        </p:nvSpPr>
        <p:spPr>
          <a:xfrm>
            <a:off x="548640" y="1417320"/>
            <a:ext cx="5419329" cy="2176272"/>
          </a:xfrm>
          <a:prstGeom prst="roundRect">
            <a:avLst>
              <a:gd name="adj" fmla="val 7000"/>
            </a:avLst>
          </a:prstGeom>
          <a:solidFill>
            <a:srgbClr val="7A1B3D"/>
          </a:solidFill>
          <a:ln w="12700">
            <a:solidFill>
              <a:srgbClr val="7A1B3D"/>
            </a:solidFill>
          </a:ln>
        </p:spPr>
        <p:txBody>
          <a:bodyPr wrap="square" lIns="73152" tIns="36576" rIns="73152" bIns="36576" anchor="ctr">
            <a:normAutofit/>
          </a:bodyPr>
          <a:lstStyle/>
          <a:p>
            <a:pPr algn="ctr"/>
            <a:r>
              <a:rPr lang="en-US" sz="2400" b="1" dirty="0">
                <a:solidFill>
                  <a:srgbClr val="FFFFFF"/>
                </a:solidFill>
              </a:rPr>
              <a:t>Breast-Conserving Surgery + Whole-Breast RT</a:t>
            </a:r>
          </a:p>
        </p:txBody>
      </p:sp>
      <p:sp>
        <p:nvSpPr>
          <p:cNvPr id="4" name="Box 4"/>
          <p:cNvSpPr/>
          <p:nvPr/>
        </p:nvSpPr>
        <p:spPr>
          <a:xfrm>
            <a:off x="6224001" y="1417320"/>
            <a:ext cx="5419329" cy="2176272"/>
          </a:xfrm>
          <a:prstGeom prst="roundRect">
            <a:avLst>
              <a:gd name="adj" fmla="val 7000"/>
            </a:avLst>
          </a:prstGeom>
          <a:solidFill>
            <a:srgbClr val="7A1B3D"/>
          </a:solidFill>
          <a:ln w="12700">
            <a:solidFill>
              <a:srgbClr val="7A1B3D"/>
            </a:solidFill>
          </a:ln>
        </p:spPr>
        <p:txBody>
          <a:bodyPr wrap="square" lIns="73152" tIns="36576" rIns="73152" bIns="36576" anchor="ctr">
            <a:normAutofit/>
          </a:bodyPr>
          <a:lstStyle/>
          <a:p>
            <a:pPr algn="ctr"/>
            <a:r>
              <a:rPr lang="en-US" sz="2400" b="1" dirty="0">
                <a:solidFill>
                  <a:srgbClr val="FFFFFF"/>
                </a:solidFill>
              </a:rPr>
              <a:t>Mastectomy</a:t>
            </a:r>
          </a:p>
        </p:txBody>
      </p:sp>
      <p:sp>
        <p:nvSpPr>
          <p:cNvPr id="5" name="Box 5"/>
          <p:cNvSpPr/>
          <p:nvPr/>
        </p:nvSpPr>
        <p:spPr>
          <a:xfrm>
            <a:off x="548640" y="3813048"/>
            <a:ext cx="5419329" cy="2176272"/>
          </a:xfrm>
          <a:prstGeom prst="roundRect">
            <a:avLst>
              <a:gd name="adj" fmla="val 7000"/>
            </a:avLst>
          </a:prstGeom>
          <a:solidFill>
            <a:srgbClr val="F6ECEF"/>
          </a:solidFill>
          <a:ln w="12700">
            <a:solidFill>
              <a:srgbClr val="7A1B3D"/>
            </a:solidFill>
          </a:ln>
        </p:spPr>
        <p:txBody>
          <a:bodyPr wrap="square" lIns="45720" rIns="45720" anchor="ctr">
            <a:normAutofit/>
          </a:bodyPr>
          <a:lstStyle/>
          <a:p>
            <a:pPr algn="l"/>
            <a:r>
              <a:rPr sz="1150" b="0">
                <a:solidFill>
                  <a:srgbClr val="1F3556"/>
                </a:solidFill>
                <a:latin typeface="Aptos"/>
              </a:rPr>
              <a:t>Localized DCIS -&gt; BCS is appropriate when negative margins and acceptable cosmesis are achievable; RT is commonly added. Selected favorable cases may consider RT omission.</a:t>
            </a:r>
          </a:p>
        </p:txBody>
      </p:sp>
      <p:sp>
        <p:nvSpPr>
          <p:cNvPr id="6" name="Box 6"/>
          <p:cNvSpPr/>
          <p:nvPr/>
        </p:nvSpPr>
        <p:spPr>
          <a:xfrm>
            <a:off x="6224001" y="3813048"/>
            <a:ext cx="5419329" cy="2176272"/>
          </a:xfrm>
          <a:prstGeom prst="roundRect">
            <a:avLst>
              <a:gd name="adj" fmla="val 7000"/>
            </a:avLst>
          </a:prstGeom>
          <a:solidFill>
            <a:srgbClr val="F6ECEF"/>
          </a:solidFill>
          <a:ln w="12700">
            <a:solidFill>
              <a:srgbClr val="7A1B3D"/>
            </a:solidFill>
          </a:ln>
        </p:spPr>
        <p:txBody>
          <a:bodyPr wrap="square" lIns="45720" rIns="45720" anchor="ctr">
            <a:normAutofit/>
          </a:bodyPr>
          <a:lstStyle/>
          <a:p>
            <a:pPr algn="l"/>
            <a:r>
              <a:rPr sz="1150" b="0">
                <a:solidFill>
                  <a:srgbClr val="1F3556"/>
                </a:solidFill>
                <a:latin typeface="Aptos"/>
              </a:rPr>
              <a:t>Extensive/multicentric disease, inability to achieve acceptable margins/cosmesis, or RT not suitable -&gt; mastectomy. Add SLNB with mastectomy because later mapping may be unreliable.</a:t>
            </a:r>
          </a:p>
        </p:txBody>
      </p:sp>
      <p:cxnSp>
        <p:nvCxnSpPr>
          <p:cNvPr id="7" name="Connector 7"/>
          <p:cNvCxnSpPr/>
          <p:nvPr/>
        </p:nvCxnSpPr>
        <p:spPr>
          <a:xfrm>
            <a:off x="3258304" y="3593592"/>
            <a:ext cx="18288"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8" name="Connector 8"/>
          <p:cNvCxnSpPr/>
          <p:nvPr/>
        </p:nvCxnSpPr>
        <p:spPr>
          <a:xfrm>
            <a:off x="8933665" y="3593592"/>
            <a:ext cx="18288"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14" name="Diagram 13"/>
          <p:cNvGraphicFramePr/>
          <p:nvPr/>
        </p:nvGraphicFramePr>
        <p:xfrm>
          <a:off x="548640" y="6080760"/>
          <a:ext cx="11094690" cy="32004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0" name="Date Placeholder 9"/>
          <p:cNvSpPr>
            <a:spLocks noGrp="1"/>
          </p:cNvSpPr>
          <p:nvPr>
            <p:ph type="dt" sz="half" idx="10"/>
          </p:nvPr>
        </p:nvSpPr>
        <p:spPr/>
        <p:txBody>
          <a:bodyPr/>
          <a:lstStyle/>
          <a:p>
            <a:fld id="{7A1D2B3C-4E5F-4A60-8B71-92A3B4C5D6E7}" type="datetime4">
              <a:rPr lang="en-US"/>
              <a:t>September 22, 2026</a:t>
            </a:fld>
            <a:endParaRPr lang="en-US"/>
          </a:p>
        </p:txBody>
      </p:sp>
      <p:sp>
        <p:nvSpPr>
          <p:cNvPr id="11" name="Footer Placeholder 10"/>
          <p:cNvSpPr>
            <a:spLocks noGrp="1"/>
          </p:cNvSpPr>
          <p:nvPr>
            <p:ph type="ftr" sz="quarter" idx="11"/>
          </p:nvPr>
        </p:nvSpPr>
        <p:spPr/>
        <p:txBody>
          <a:bodyPr/>
          <a:lstStyle/>
          <a:p>
            <a:r>
              <a:rPr lang="en-US"/>
              <a:t>Management of breast cancer</a:t>
            </a:r>
          </a:p>
        </p:txBody>
      </p:sp>
      <p:sp>
        <p:nvSpPr>
          <p:cNvPr id="12" name="Slide Number Placeholder 11"/>
          <p:cNvSpPr>
            <a:spLocks noGrp="1"/>
          </p:cNvSpPr>
          <p:nvPr>
            <p:ph type="sldNum" sz="quarter" idx="12"/>
          </p:nvPr>
        </p:nvSpPr>
        <p:spPr/>
        <p:txBody>
          <a:bodyPr/>
          <a:lstStyle/>
          <a:p>
            <a:fld id="{B8C9D0E1-F2A3-4B4C-9D5E-6F708192A3B4}" type="slidenum">
              <a:rPr lang="en-US"/>
              <a:t>39</a:t>
            </a:fld>
            <a:endParaRPr lang="en-US"/>
          </a:p>
        </p:txBody>
      </p:sp>
    </p:spTree>
    <p:extLst>
      <p:ext uri="{BB962C8B-B14F-4D97-AF65-F5344CB8AC3E}">
        <p14:creationId xmlns:p14="http://schemas.microsoft.com/office/powerpoint/2010/main" val="141210055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7A1D2B3C-4E5F-4A60-8B71-92A3B4C5D6E7}" type="datetime4">
              <a:rPr lang="en-US"/>
              <a:t>September 22, 2026</a:t>
            </a:fld>
            <a:endParaRPr lang="en-US"/>
          </a:p>
        </p:txBody>
      </p:sp>
      <p:sp>
        <p:nvSpPr>
          <p:cNvPr id="8" name="Footer Placeholder 7"/>
          <p:cNvSpPr>
            <a:spLocks noGrp="1"/>
          </p:cNvSpPr>
          <p:nvPr>
            <p:ph type="ftr" sz="quarter" idx="11"/>
          </p:nvPr>
        </p:nvSpPr>
        <p:spPr/>
        <p:txBody>
          <a:bodyPr/>
          <a:lstStyle/>
          <a:p>
            <a:r>
              <a:rPr lang="en-US"/>
              <a:t>Management of breast cancer</a:t>
            </a:r>
          </a:p>
        </p:txBody>
      </p:sp>
      <p:sp>
        <p:nvSpPr>
          <p:cNvPr id="9" name="Slide Number Placeholder 8"/>
          <p:cNvSpPr>
            <a:spLocks noGrp="1"/>
          </p:cNvSpPr>
          <p:nvPr>
            <p:ph type="sldNum" sz="quarter" idx="12"/>
          </p:nvPr>
        </p:nvSpPr>
        <p:spPr/>
        <p:txBody>
          <a:bodyPr/>
          <a:lstStyle/>
          <a:p>
            <a:fld id="{B8C9D0E1-F2A3-4B4C-9D5E-6F708192A3B4}" type="slidenum">
              <a:rPr lang="en-US"/>
              <a:t>40</a:t>
            </a:fld>
            <a:endParaRPr lang="en-US"/>
          </a:p>
        </p:txBody>
      </p:sp>
      <p:sp>
        <p:nvSpPr>
          <p:cNvPr id="15" name="Rectangle 14"/>
          <p:cNvSpPr/>
          <p:nvPr/>
        </p:nvSpPr>
        <p:spPr>
          <a:xfrm>
            <a:off x="502920" y="256032"/>
            <a:ext cx="9966960" cy="621792"/>
          </a:xfrm>
          <a:prstGeom prst="rect">
            <a:avLst/>
          </a:prstGeom>
          <a:solidFill>
            <a:srgbClr val="FFFFFF"/>
          </a:solidFill>
          <a:ln w="12700">
            <a:solidFill>
              <a:srgbClr val="2B63B2"/>
            </a:solidFill>
          </a:ln>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l"/>
            <a:r>
              <a:rPr sz="2200" b="1">
                <a:solidFill>
                  <a:srgbClr val="2B63B2"/>
                </a:solidFill>
                <a:latin typeface="Aptos"/>
              </a:rPr>
              <a:t>DCIS - current management update</a:t>
            </a:r>
          </a:p>
        </p:txBody>
      </p:sp>
      <p:sp>
        <p:nvSpPr>
          <p:cNvPr id="16" name="Rounded Rectangle 15"/>
          <p:cNvSpPr/>
          <p:nvPr/>
        </p:nvSpPr>
        <p:spPr>
          <a:xfrm>
            <a:off x="594360" y="1097280"/>
            <a:ext cx="4709160" cy="4297680"/>
          </a:xfrm>
          <a:prstGeom prst="roundRect">
            <a:avLst/>
          </a:prstGeom>
          <a:solidFill>
            <a:srgbClr val="F7E8F0"/>
          </a:solidFill>
          <a:ln w="15240">
            <a:solidFill>
              <a:srgbClr val="841648"/>
            </a:solidFill>
          </a:ln>
        </p:spPr>
        <p:style>
          <a:lnRef idx="1">
            <a:schemeClr val="accent1"/>
          </a:lnRef>
          <a:fillRef idx="3">
            <a:schemeClr val="accent1"/>
          </a:fillRef>
          <a:effectRef idx="2">
            <a:schemeClr val="accent1"/>
          </a:effectRef>
          <a:fontRef idx="minor">
            <a:schemeClr val="lt1"/>
          </a:fontRef>
        </p:style>
        <p:txBody>
          <a:bodyPr rtlCol="0" anchor="ctr" lIns="109728" tIns="73152" bIns="73152"/>
          <a:lstStyle/>
          <a:p>
            <a:pPr algn="l"/>
            <a:r>
              <a:rPr sz="1320" b="1">
                <a:solidFill>
                  <a:srgbClr val="841648"/>
                </a:solidFill>
                <a:latin typeface="Aptos Display"/>
              </a:rPr>
              <a:t>Local treatment</a:t>
            </a:r>
          </a:p>
          <a:p>
            <a:pPr>
              <a:defRPr sz="1220">
                <a:solidFill>
                  <a:srgbClr val="1F3556"/>
                </a:solidFill>
                <a:latin typeface="Aptos"/>
              </a:defRPr>
            </a:pPr>
            <a:r>
              <a:t>BCS is appropriate for selected localized DCIS when complete excision and acceptable cosmesis are feasible.</a:t>
            </a:r>
          </a:p>
          <a:p>
            <a:pPr>
              <a:defRPr sz="1220">
                <a:solidFill>
                  <a:srgbClr val="1F3556"/>
                </a:solidFill>
                <a:latin typeface="Aptos"/>
              </a:defRPr>
            </a:pPr>
            <a:r>
              <a:t>Whole-breast RT reduces ipsilateral recurrence; partial-breast RT is an option for selected favorable patients.</a:t>
            </a:r>
          </a:p>
          <a:p>
            <a:pPr>
              <a:defRPr sz="1220">
                <a:solidFill>
                  <a:srgbClr val="1F3556"/>
                </a:solidFill>
                <a:latin typeface="Aptos"/>
              </a:defRPr>
            </a:pPr>
            <a:r>
              <a:t>Mastectomy is used for extensive/multicentric disease or when BCS/RT is unsuitable.</a:t>
            </a:r>
          </a:p>
        </p:txBody>
      </p:sp>
      <p:sp>
        <p:nvSpPr>
          <p:cNvPr id="17" name="Rounded Rectangle 16"/>
          <p:cNvSpPr/>
          <p:nvPr/>
        </p:nvSpPr>
        <p:spPr>
          <a:xfrm>
            <a:off x="5440680" y="1097280"/>
            <a:ext cx="4709160" cy="4297680"/>
          </a:xfrm>
          <a:prstGeom prst="roundRect">
            <a:avLst/>
          </a:prstGeom>
          <a:solidFill>
            <a:srgbClr val="E4EEF9"/>
          </a:solidFill>
          <a:ln w="15240">
            <a:solidFill>
              <a:srgbClr val="2B63B2"/>
            </a:solidFill>
          </a:ln>
        </p:spPr>
        <p:style>
          <a:lnRef idx="1">
            <a:schemeClr val="accent1"/>
          </a:lnRef>
          <a:fillRef idx="3">
            <a:schemeClr val="accent1"/>
          </a:fillRef>
          <a:effectRef idx="2">
            <a:schemeClr val="accent1"/>
          </a:effectRef>
          <a:fontRef idx="minor">
            <a:schemeClr val="lt1"/>
          </a:fontRef>
        </p:style>
        <p:txBody>
          <a:bodyPr rtlCol="0" anchor="ctr" lIns="109728" tIns="73152" bIns="73152"/>
          <a:lstStyle/>
          <a:p>
            <a:pPr algn="l"/>
            <a:r>
              <a:rPr sz="1320" b="1">
                <a:solidFill>
                  <a:srgbClr val="2B63B2"/>
                </a:solidFill>
                <a:latin typeface="Aptos Display"/>
              </a:rPr>
              <a:t>Systemic / prevention</a:t>
            </a:r>
          </a:p>
          <a:p>
            <a:pPr>
              <a:defRPr sz="1220">
                <a:solidFill>
                  <a:srgbClr val="1F3556"/>
                </a:solidFill>
                <a:latin typeface="Aptos"/>
              </a:defRPr>
            </a:pPr>
            <a:r>
              <a:t>ER-positive DCIS: endocrine therapy may reduce new breast events after BCS-based treatment.</a:t>
            </a:r>
          </a:p>
          <a:p>
            <a:pPr>
              <a:defRPr sz="1220">
                <a:solidFill>
                  <a:srgbClr val="1F3556"/>
                </a:solidFill>
                <a:latin typeface="Aptos"/>
              </a:defRPr>
            </a:pPr>
            <a:r>
              <a:t>Endocrine therapy is not a substitute for adequate local therapy.</a:t>
            </a:r>
          </a:p>
          <a:p>
            <a:pPr>
              <a:defRPr sz="1220">
                <a:solidFill>
                  <a:srgbClr val="1F3556"/>
                </a:solidFill>
                <a:latin typeface="Aptos"/>
              </a:defRPr>
            </a:pPr>
            <a:r>
              <a:t>After bilateral mastectomy, endocrine therapy for DCIS is generally not indicated.</a:t>
            </a:r>
          </a:p>
        </p:txBody>
      </p:sp>
    </p:spTree>
    <p:extLst>
      <p:ext uri="{BB962C8B-B14F-4D97-AF65-F5344CB8AC3E}">
        <p14:creationId xmlns:p14="http://schemas.microsoft.com/office/powerpoint/2010/main" val="1724205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33279247-ADAC-0D04-7FE5-17647DA0C283}"/>
              </a:ext>
            </a:extLst>
          </p:cNvPr>
          <p:cNvSpPr>
            <a:spLocks noGrp="1"/>
          </p:cNvSpPr>
          <p:nvPr>
            <p:ph idx="1"/>
          </p:nvPr>
        </p:nvSpPr>
        <p:spPr/>
        <p:txBody>
          <a:bodyPr lIns="45720" rIns="45720">
            <a:normAutofit/>
          </a:bodyPr>
          <a:lstStyle>
            <a:lvl1pPr>
              <a:defRPr sz="2000"/>
            </a:lvl1pPr>
            <a:lvl2pPr>
              <a:defRPr sz="1600"/>
            </a:lvl2pPr>
            <a:lvl3pPr>
              <a:defRPr sz="1400"/>
            </a:lvl3pPr>
            <a:lvl4pPr>
              <a:defRPr sz="1400"/>
            </a:lvl4pPr>
            <a:lvl5pPr>
              <a:defRPr sz="1400"/>
            </a:lvl5pPr>
          </a:lstStyle>
          <a:p>
            <a:pPr algn="l"/>
            <a:r>
              <a:rPr sz="1500" b="0">
                <a:solidFill>
                  <a:srgbClr val="1F3556"/>
                </a:solidFill>
                <a:latin typeface="Aptos"/>
              </a:rPr>
              <a:t>Local therapy: BCS + RT or mastectomy give equivalent survival in appropriately selected patients. Consider disease extent, margin feasibility, prior RT, genetics, anatomy and preference. BRCA1/2 does not automatically prohibit BCS; mastectomy may be discussed for future-risk reduction. Axillary staging and RT are risk-adapted.</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41</a:t>
            </a:fld>
            <a:endParaRPr lang="en-US"/>
          </a:p>
        </p:txBody>
      </p:sp>
    </p:spTree>
    <p:extLst>
      <p:ext uri="{BB962C8B-B14F-4D97-AF65-F5344CB8AC3E}">
        <p14:creationId xmlns:p14="http://schemas.microsoft.com/office/powerpoint/2010/main" val="183893622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p:cNvGraphicFramePr/>
          <p:nvPr>
            <p:extLst>
              <p:ext uri="{D42A27DB-BD31-4B8C-83A1-F6EECF244321}">
                <p14:modId xmlns:p14="http://schemas.microsoft.com/office/powerpoint/2010/main" val="2319020212"/>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Table 3"/>
          <p:cNvGraphicFramePr>
            <a:graphicFrameLocks noGrp="1"/>
          </p:cNvGraphicFramePr>
          <p:nvPr>
            <p:extLst>
              <p:ext uri="{D42A27DB-BD31-4B8C-83A1-F6EECF244321}">
                <p14:modId xmlns:p14="http://schemas.microsoft.com/office/powerpoint/2010/main" val="2493311308"/>
              </p:ext>
            </p:extLst>
          </p:nvPr>
        </p:nvGraphicFramePr>
        <p:xfrm>
          <a:off x="548640" y="1417320"/>
          <a:ext cx="11094689" cy="2258568"/>
        </p:xfrm>
        <a:graphic>
          <a:graphicData uri="http://schemas.openxmlformats.org/drawingml/2006/table">
            <a:tbl>
              <a:tblPr firstRow="1"/>
              <a:tblGrid>
                <a:gridCol w="2403849"/>
                <a:gridCol w="5177522"/>
                <a:gridCol w="3513318"/>
              </a:tblGrid>
              <a:tr h="420624">
                <a:tc>
                  <a:txBody>
                    <a:bodyPr/>
                    <a:lstStyle/>
                    <a:p>
                      <a:r>
                        <a:rPr sz="1050" b="1">
                          <a:solidFill>
                            <a:srgbClr val="FFFFFF"/>
                          </a:solidFill>
                          <a:latin typeface="Aptos"/>
                        </a:rPr>
                        <a:t>Biologic setting</a:t>
                      </a:r>
                    </a:p>
                  </a:txBody>
                  <a:tcPr marL="45720" marR="45720" marT="32004" marB="32004" anchor="ctr">
                    <a:solidFill>
                      <a:srgbClr val="1F3556"/>
                    </a:solidFill>
                  </a:tcPr>
                </a:tc>
                <a:tc>
                  <a:txBody>
                    <a:bodyPr/>
                    <a:lstStyle/>
                    <a:p>
                      <a:r>
                        <a:rPr sz="1050" b="1">
                          <a:solidFill>
                            <a:srgbClr val="FFFFFF"/>
                          </a:solidFill>
                          <a:latin typeface="Aptos"/>
                        </a:rPr>
                        <a:t>Representative systemic approach</a:t>
                      </a:r>
                    </a:p>
                  </a:txBody>
                  <a:tcPr marL="45720" marR="45720" marT="32004" marB="32004" anchor="ctr">
                    <a:solidFill>
                      <a:srgbClr val="1F3556"/>
                    </a:solidFill>
                  </a:tcPr>
                </a:tc>
                <a:tc>
                  <a:txBody>
                    <a:bodyPr/>
                    <a:lstStyle/>
                    <a:p>
                      <a:r>
                        <a:rPr sz="1050" b="1">
                          <a:solidFill>
                            <a:srgbClr val="FFFFFF"/>
                          </a:solidFill>
                          <a:latin typeface="Aptos"/>
                        </a:rPr>
                        <a:t>2026 teaching point</a:t>
                      </a:r>
                    </a:p>
                  </a:txBody>
                  <a:tcPr marL="45720" marR="45720" marT="32004" marB="32004" anchor="ctr">
                    <a:solidFill>
                      <a:srgbClr val="1F3556"/>
                    </a:solidFill>
                  </a:tcPr>
                </a:tc>
              </a:tr>
              <a:tr h="447040">
                <a:tc>
                  <a:txBody>
                    <a:bodyPr/>
                    <a:lstStyle/>
                    <a:p>
                      <a:r>
                        <a:rPr sz="1030" b="0">
                          <a:solidFill>
                            <a:srgbClr val="1F3556"/>
                          </a:solidFill>
                          <a:latin typeface="Aptos"/>
                        </a:rPr>
                        <a:t>HER2-negative / HR-negative</a:t>
                      </a:r>
                    </a:p>
                  </a:txBody>
                  <a:tcPr marL="45720" marR="45720" marT="32004" marB="32004" anchor="ctr">
                    <a:lnB w="6350">
                      <a:solidFill>
                        <a:srgbClr val="E4D6DB"/>
                      </a:solidFill>
                    </a:lnB>
                    <a:solidFill>
                      <a:srgbClr val="FFFFFF"/>
                    </a:solidFill>
                  </a:tcPr>
                </a:tc>
                <a:tc>
                  <a:txBody>
                    <a:bodyPr/>
                    <a:lstStyle/>
                    <a:p>
                      <a:r>
                        <a:rPr sz="1030" b="0">
                          <a:solidFill>
                            <a:srgbClr val="1F3556"/>
                          </a:solidFill>
                          <a:latin typeface="Aptos"/>
                        </a:rPr>
                        <a:t>Taxane- and anthracycline/platinum-based regimens selected by stage; TNBC may use pembrolizumab-based neoadjuvant therapy when eligible.</a:t>
                      </a:r>
                    </a:p>
                  </a:txBody>
                  <a:tcPr marL="45720" marR="45720" marT="32004" marB="32004" anchor="ctr">
                    <a:lnB w="6350">
                      <a:solidFill>
                        <a:srgbClr val="E4D6DB"/>
                      </a:solidFill>
                    </a:lnB>
                    <a:solidFill>
                      <a:srgbClr val="FFFFFF"/>
                    </a:solidFill>
                  </a:tcPr>
                </a:tc>
                <a:tc>
                  <a:txBody>
                    <a:bodyPr/>
                    <a:lstStyle/>
                    <a:p>
                      <a:r>
                        <a:rPr sz="1030" b="0">
                          <a:solidFill>
                            <a:srgbClr val="1F3556"/>
                          </a:solidFill>
                          <a:latin typeface="Aptos"/>
                        </a:rPr>
                        <a:t>Pathologic response can determine postoperative escalation/de-escalation.</a:t>
                      </a:r>
                    </a:p>
                  </a:txBody>
                  <a:tcPr marL="45720" marR="45720" marT="32004" marB="32004" anchor="ctr">
                    <a:lnB w="6350">
                      <a:solidFill>
                        <a:srgbClr val="E4D6DB"/>
                      </a:solidFill>
                    </a:lnB>
                    <a:solidFill>
                      <a:srgbClr val="FFFFFF"/>
                    </a:solidFill>
                  </a:tcPr>
                </a:tc>
              </a:tr>
              <a:tr h="447040">
                <a:tc>
                  <a:txBody>
                    <a:bodyPr/>
                    <a:lstStyle/>
                    <a:p>
                      <a:r>
                        <a:rPr sz="1030" b="0">
                          <a:solidFill>
                            <a:srgbClr val="1F3556"/>
                          </a:solidFill>
                          <a:latin typeface="Aptos"/>
                        </a:rPr>
                        <a:t>HER2-positive</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r>
                        <a:rPr sz="1030" b="0">
                          <a:solidFill>
                            <a:srgbClr val="1F3556"/>
                          </a:solidFill>
                          <a:latin typeface="Aptos"/>
                        </a:rPr>
                        <a:t>Neoadjuvant chemotherapy + HER2-directed therapy for many stage II-III tumors; selected 2026 FDA pathways now include T-DXd.</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r>
                        <a:rPr sz="1030" b="0">
                          <a:solidFill>
                            <a:srgbClr val="1F3556"/>
                          </a:solidFill>
                          <a:latin typeface="Aptos"/>
                        </a:rPr>
                        <a:t>Residual invasive disease after neoadjuvant therapy is a key trigger for postoperative escalation.</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r h="447040">
                <a:tc>
                  <a:txBody>
                    <a:bodyPr/>
                    <a:lstStyle/>
                    <a:p>
                      <a:r>
                        <a:rPr sz="1030" b="0">
                          <a:solidFill>
                            <a:srgbClr val="1F3556"/>
                          </a:solidFill>
                          <a:latin typeface="Aptos"/>
                        </a:rPr>
                        <a:t>HR-positive / HER2-negative</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r>
                        <a:rPr sz="1030" b="0">
                          <a:solidFill>
                            <a:srgbClr val="1F3556"/>
                          </a:solidFill>
                          <a:latin typeface="Aptos"/>
                        </a:rPr>
                        <a:t>Endocrine therapy is the backbone; chemotherapy is individualized; selected high-risk patients may receive adjuvant CDK4/6 inhibition.</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r>
                        <a:rPr sz="1030" b="0">
                          <a:solidFill>
                            <a:srgbClr val="1F3556"/>
                          </a:solidFill>
                          <a:latin typeface="Aptos"/>
                        </a:rPr>
                        <a:t>Use clinical + pathologic + genomic risk, not a single variable.</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r>
            </a:tbl>
          </a:graphicData>
        </a:graphic>
      </p:graphicFrame>
      <p:graphicFrame>
        <p:nvGraphicFramePr>
          <p:cNvPr id="9" name="Diagram 8"/>
          <p:cNvGraphicFramePr/>
          <p:nvPr>
            <p:extLst>
              <p:ext uri="{D42A27DB-BD31-4B8C-83A1-F6EECF244321}">
                <p14:modId xmlns:p14="http://schemas.microsoft.com/office/powerpoint/2010/main" val="140447129"/>
              </p:ext>
            </p:extLst>
          </p:nvPr>
        </p:nvGraphicFramePr>
        <p:xfrm>
          <a:off x="548640" y="4239767"/>
          <a:ext cx="11094690" cy="146094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5" name="Date Placeholder 4"/>
          <p:cNvSpPr>
            <a:spLocks noGrp="1"/>
          </p:cNvSpPr>
          <p:nvPr>
            <p:ph type="dt" sz="half" idx="10"/>
          </p:nvPr>
        </p:nvSpPr>
        <p:spPr/>
        <p:txBody>
          <a:bodyPr/>
          <a:lstStyle/>
          <a:p>
            <a:fld id="{7A1D2B3C-4E5F-4A60-8B71-92A3B4C5D6E7}" type="datetime4">
              <a:rPr lang="en-US"/>
              <a:t>September 22, 2026</a:t>
            </a:fld>
            <a:endParaRPr lang="en-US"/>
          </a:p>
        </p:txBody>
      </p:sp>
      <p:sp>
        <p:nvSpPr>
          <p:cNvPr id="6" name="Footer Placeholder 5"/>
          <p:cNvSpPr>
            <a:spLocks noGrp="1"/>
          </p:cNvSpPr>
          <p:nvPr>
            <p:ph type="ftr" sz="quarter" idx="11"/>
          </p:nvPr>
        </p:nvSpPr>
        <p:spPr/>
        <p:txBody>
          <a:bodyPr/>
          <a:lstStyle/>
          <a:p>
            <a:r>
              <a:rPr lang="en-US"/>
              <a:t>Management of breast cancer</a:t>
            </a:r>
          </a:p>
        </p:txBody>
      </p:sp>
      <p:sp>
        <p:nvSpPr>
          <p:cNvPr id="7" name="Slide Number Placeholder 6"/>
          <p:cNvSpPr>
            <a:spLocks noGrp="1"/>
          </p:cNvSpPr>
          <p:nvPr>
            <p:ph type="sldNum" sz="quarter" idx="12"/>
          </p:nvPr>
        </p:nvSpPr>
        <p:spPr/>
        <p:txBody>
          <a:bodyPr/>
          <a:lstStyle/>
          <a:p>
            <a:fld id="{B8C9D0E1-F2A3-4B4C-9D5E-6F708192A3B4}" type="slidenum">
              <a:rPr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408433655"/>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Table 3"/>
          <p:cNvGraphicFramePr>
            <a:graphicFrameLocks noGrp="1"/>
          </p:cNvGraphicFramePr>
          <p:nvPr>
            <p:extLst>
              <p:ext uri="{D42A27DB-BD31-4B8C-83A1-F6EECF244321}">
                <p14:modId xmlns:p14="http://schemas.microsoft.com/office/powerpoint/2010/main" val="954420552"/>
              </p:ext>
            </p:extLst>
          </p:nvPr>
        </p:nvGraphicFramePr>
        <p:xfrm>
          <a:off x="548640" y="1417320"/>
          <a:ext cx="11094689" cy="3968496"/>
        </p:xfrm>
        <a:graphic>
          <a:graphicData uri="http://schemas.openxmlformats.org/drawingml/2006/table">
            <a:tbl>
              <a:tblPr firstRow="1"/>
              <a:tblGrid>
                <a:gridCol w="2958584"/>
                <a:gridCol w="4622787"/>
                <a:gridCol w="3513318"/>
              </a:tblGrid>
              <a:tr h="420624">
                <a:tc>
                  <a:txBody>
                    <a:bodyPr/>
                    <a:lstStyle/>
                    <a:p>
                      <a:r>
                        <a:rPr sz="1019" b="1">
                          <a:solidFill>
                            <a:srgbClr val="FFFFFF"/>
                          </a:solidFill>
                          <a:latin typeface="Aptos"/>
                        </a:rPr>
                        <a:t>Agent / strategy</a:t>
                      </a:r>
                    </a:p>
                  </a:txBody>
                  <a:tcPr marL="45720" marR="45720" marT="32004" marB="32004" anchor="ctr">
                    <a:solidFill>
                      <a:srgbClr val="841648"/>
                    </a:solidFill>
                  </a:tcPr>
                </a:tc>
                <a:tc>
                  <a:txBody>
                    <a:bodyPr/>
                    <a:lstStyle/>
                    <a:p>
                      <a:r>
                        <a:rPr sz="1019" b="1">
                          <a:solidFill>
                            <a:srgbClr val="FFFFFF"/>
                          </a:solidFill>
                          <a:latin typeface="Aptos"/>
                        </a:rPr>
                        <a:t>Typical setting</a:t>
                      </a:r>
                    </a:p>
                  </a:txBody>
                  <a:tcPr marL="45720" marR="45720" marT="32004" marB="32004" anchor="ctr">
                    <a:solidFill>
                      <a:srgbClr val="841648"/>
                    </a:solidFill>
                  </a:tcPr>
                </a:tc>
                <a:tc>
                  <a:txBody>
                    <a:bodyPr/>
                    <a:lstStyle/>
                    <a:p>
                      <a:r>
                        <a:rPr sz="1019" b="1">
                          <a:solidFill>
                            <a:srgbClr val="FFFFFF"/>
                          </a:solidFill>
                          <a:latin typeface="Aptos"/>
                        </a:rPr>
                        <a:t>Key update</a:t>
                      </a:r>
                    </a:p>
                  </a:txBody>
                  <a:tcPr marL="45720" marR="45720" marT="32004" marB="32004" anchor="ctr">
                    <a:solidFill>
                      <a:srgbClr val="841648"/>
                    </a:solidFill>
                  </a:tcPr>
                </a:tc>
              </a:tr>
              <a:tr h="447040">
                <a:tc>
                  <a:txBody>
                    <a:bodyPr/>
                    <a:lstStyle/>
                    <a:p>
                      <a:r>
                        <a:rPr sz="1000" b="0">
                          <a:solidFill>
                            <a:srgbClr val="1F3556"/>
                          </a:solidFill>
                          <a:latin typeface="Aptos"/>
                        </a:rPr>
                        <a:t>Tamoxifen</a:t>
                      </a:r>
                    </a:p>
                  </a:txBody>
                  <a:tcPr marL="45720" marR="45720" marT="32004" marB="32004" anchor="ctr">
                    <a:lnB w="6350">
                      <a:solidFill>
                        <a:srgbClr val="E4D6DB"/>
                      </a:solidFill>
                    </a:lnB>
                    <a:solidFill>
                      <a:srgbClr val="FFFFFF"/>
                    </a:solidFill>
                  </a:tcPr>
                </a:tc>
                <a:tc>
                  <a:txBody>
                    <a:bodyPr/>
                    <a:lstStyle/>
                    <a:p>
                      <a:r>
                        <a:rPr sz="1000" b="0">
                          <a:solidFill>
                            <a:srgbClr val="1F3556"/>
                          </a:solidFill>
                          <a:latin typeface="Aptos"/>
                        </a:rPr>
                        <a:t>Premenopausal and postmenopausal HR+ early disease; also DCIS/risk reduction; usual endocrine backbone in men.</a:t>
                      </a:r>
                    </a:p>
                  </a:txBody>
                  <a:tcPr marL="45720" marR="45720" marT="32004" marB="32004" anchor="ctr">
                    <a:lnB w="6350">
                      <a:solidFill>
                        <a:srgbClr val="E4D6DB"/>
                      </a:solidFill>
                    </a:lnB>
                    <a:solidFill>
                      <a:srgbClr val="FFFFFF"/>
                    </a:solidFill>
                  </a:tcPr>
                </a:tc>
                <a:tc>
                  <a:txBody>
                    <a:bodyPr/>
                    <a:lstStyle/>
                    <a:p>
                      <a:r>
                        <a:rPr sz="1000" b="0">
                          <a:solidFill>
                            <a:srgbClr val="1F3556"/>
                          </a:solidFill>
                          <a:latin typeface="Aptos"/>
                        </a:rPr>
                        <a:t>Five years is a common starting course; longer therapy may be appropriate depending on recurrence risk and tolerance.</a:t>
                      </a:r>
                    </a:p>
                  </a:txBody>
                  <a:tcPr marL="45720" marR="45720" marT="32004" marB="32004" anchor="ctr">
                    <a:lnB w="6350">
                      <a:solidFill>
                        <a:srgbClr val="E4D6DB"/>
                      </a:solidFill>
                    </a:lnB>
                    <a:solidFill>
                      <a:srgbClr val="FFFFFF"/>
                    </a:solidFill>
                  </a:tcPr>
                </a:tc>
              </a:tr>
              <a:tr h="447040">
                <a:tc>
                  <a:txBody>
                    <a:bodyPr/>
                    <a:lstStyle/>
                    <a:p>
                      <a:r>
                        <a:rPr sz="1000" b="0">
                          <a:solidFill>
                            <a:srgbClr val="1F3556"/>
                          </a:solidFill>
                          <a:latin typeface="Aptos"/>
                        </a:rPr>
                        <a:t>Aromatase inhibitors</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r>
                        <a:rPr sz="1000" b="0">
                          <a:solidFill>
                            <a:srgbClr val="1F3556"/>
                          </a:solidFill>
                          <a:latin typeface="Aptos"/>
                        </a:rPr>
                        <a:t>Postmenopausal HR+ early disease; premenopausal only with ovarian suppression.</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r>
                        <a:rPr sz="1000" b="0">
                          <a:solidFill>
                            <a:srgbClr val="1F3556"/>
                          </a:solidFill>
                          <a:latin typeface="Aptos"/>
                        </a:rPr>
                        <a:t>Bone health and menopausal adverse effects require active management.</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r h="447040">
                <a:tc>
                  <a:txBody>
                    <a:bodyPr/>
                    <a:lstStyle/>
                    <a:p>
                      <a:r>
                        <a:rPr sz="1000" b="0">
                          <a:solidFill>
                            <a:srgbClr val="1F3556"/>
                          </a:solidFill>
                          <a:latin typeface="Aptos"/>
                        </a:rPr>
                        <a:t>Ovarian function suppression</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r>
                        <a:rPr sz="1000" b="0">
                          <a:solidFill>
                            <a:srgbClr val="1F3556"/>
                          </a:solidFill>
                          <a:latin typeface="Aptos"/>
                        </a:rPr>
                        <a:t>Selected higher-risk premenopausal HR+ disease.</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r>
                        <a:rPr sz="1000" b="0">
                          <a:solidFill>
                            <a:srgbClr val="1F3556"/>
                          </a:solidFill>
                          <a:latin typeface="Aptos"/>
                        </a:rPr>
                        <a:t>Long-term SOFT/TEXT data reinforce greater benefit in higher-risk groups.</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r>
              <a:tr h="447040">
                <a:tc>
                  <a:txBody>
                    <a:bodyPr/>
                    <a:lstStyle/>
                    <a:p>
                      <a:r>
                        <a:rPr sz="1000" b="0">
                          <a:solidFill>
                            <a:srgbClr val="1F3556"/>
                          </a:solidFill>
                          <a:latin typeface="Aptos"/>
                        </a:rPr>
                        <a:t>Adjuvant CDK4/6 inhibition</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r>
                        <a:rPr sz="1000" b="0">
                          <a:solidFill>
                            <a:srgbClr val="1F3556"/>
                          </a:solidFill>
                          <a:latin typeface="Aptos"/>
                        </a:rPr>
                        <a:t>Selected high-risk HR+/HER2- early disease.</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r>
                        <a:rPr sz="1000" b="0">
                          <a:solidFill>
                            <a:srgbClr val="1F3556"/>
                          </a:solidFill>
                          <a:latin typeface="Aptos"/>
                        </a:rPr>
                        <a:t>Eligibility depends on current regulatory label and risk features.</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bl>
          </a:graphicData>
        </a:graphic>
      </p:graphicFrame>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43</a:t>
            </a:fld>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2407475255"/>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Table 3"/>
          <p:cNvGraphicFramePr>
            <a:graphicFrameLocks noGrp="1"/>
          </p:cNvGraphicFramePr>
          <p:nvPr>
            <p:extLst>
              <p:ext uri="{D42A27DB-BD31-4B8C-83A1-F6EECF244321}">
                <p14:modId xmlns:p14="http://schemas.microsoft.com/office/powerpoint/2010/main" val="2968082757"/>
              </p:ext>
            </p:extLst>
          </p:nvPr>
        </p:nvGraphicFramePr>
        <p:xfrm>
          <a:off x="548640" y="1417320"/>
          <a:ext cx="11094689" cy="3483864"/>
        </p:xfrm>
        <a:graphic>
          <a:graphicData uri="http://schemas.openxmlformats.org/drawingml/2006/table">
            <a:tbl>
              <a:tblPr firstRow="1"/>
              <a:tblGrid>
                <a:gridCol w="2958584"/>
                <a:gridCol w="3513318"/>
                <a:gridCol w="4622787"/>
              </a:tblGrid>
              <a:tr h="420624">
                <a:tc>
                  <a:txBody>
                    <a:bodyPr/>
                    <a:lstStyle/>
                    <a:p>
                      <a:r>
                        <a:rPr sz="1000" b="1">
                          <a:solidFill>
                            <a:srgbClr val="FFFFFF"/>
                          </a:solidFill>
                          <a:latin typeface="Aptos"/>
                        </a:rPr>
                        <a:t>Setting</a:t>
                      </a:r>
                    </a:p>
                  </a:txBody>
                  <a:tcPr marL="45720" marR="45720" marT="32004" marB="32004" anchor="ctr">
                    <a:solidFill>
                      <a:srgbClr val="2B63B2"/>
                    </a:solidFill>
                  </a:tcPr>
                </a:tc>
                <a:tc>
                  <a:txBody>
                    <a:bodyPr/>
                    <a:lstStyle/>
                    <a:p>
                      <a:r>
                        <a:rPr sz="1000" b="1">
                          <a:solidFill>
                            <a:srgbClr val="FFFFFF"/>
                          </a:solidFill>
                          <a:latin typeface="Aptos"/>
                        </a:rPr>
                        <a:t>Representative strategy</a:t>
                      </a:r>
                    </a:p>
                  </a:txBody>
                  <a:tcPr marL="45720" marR="45720" marT="32004" marB="32004" anchor="ctr">
                    <a:solidFill>
                      <a:srgbClr val="2B63B2"/>
                    </a:solidFill>
                  </a:tcPr>
                </a:tc>
                <a:tc>
                  <a:txBody>
                    <a:bodyPr/>
                    <a:lstStyle/>
                    <a:p>
                      <a:r>
                        <a:rPr sz="1000" b="1">
                          <a:solidFill>
                            <a:srgbClr val="FFFFFF"/>
                          </a:solidFill>
                          <a:latin typeface="Aptos"/>
                        </a:rPr>
                        <a:t>2026 update</a:t>
                      </a:r>
                    </a:p>
                  </a:txBody>
                  <a:tcPr marL="45720" marR="45720" marT="32004" marB="32004" anchor="ctr">
                    <a:solidFill>
                      <a:srgbClr val="2B63B2"/>
                    </a:solidFill>
                  </a:tcPr>
                </a:tc>
              </a:tr>
              <a:tr h="268224">
                <a:tc>
                  <a:txBody>
                    <a:bodyPr/>
                    <a:lstStyle/>
                    <a:p>
                      <a:r>
                        <a:rPr sz="950" b="0">
                          <a:solidFill>
                            <a:srgbClr val="1F3556"/>
                          </a:solidFill>
                          <a:latin typeface="Aptos"/>
                        </a:rPr>
                        <a:t>Neoadjuvant stage II-III</a:t>
                      </a:r>
                    </a:p>
                  </a:txBody>
                  <a:tcPr marL="45720" marR="45720" marT="32004" marB="32004" anchor="ctr">
                    <a:lnB w="6350">
                      <a:solidFill>
                        <a:srgbClr val="E4D6DB"/>
                      </a:solidFill>
                    </a:lnB>
                    <a:solidFill>
                      <a:srgbClr val="FFFFFF"/>
                    </a:solidFill>
                  </a:tcPr>
                </a:tc>
                <a:tc>
                  <a:txBody>
                    <a:bodyPr/>
                    <a:lstStyle/>
                    <a:p>
                      <a:r>
                        <a:rPr sz="950" b="0">
                          <a:solidFill>
                            <a:srgbClr val="1F3556"/>
                          </a:solidFill>
                          <a:latin typeface="Aptos"/>
                        </a:rPr>
                        <a:t>Chemotherapy + trastuzumab/pertuzumab; T-DXd-based option now FDA-approved in selected HER2+ stage II-III patients.</a:t>
                      </a:r>
                    </a:p>
                  </a:txBody>
                  <a:tcPr marL="45720" marR="45720" marT="32004" marB="32004" anchor="ctr">
                    <a:lnB w="6350">
                      <a:solidFill>
                        <a:srgbClr val="E4D6DB"/>
                      </a:solidFill>
                    </a:lnB>
                    <a:solidFill>
                      <a:srgbClr val="FFFFFF"/>
                    </a:solidFill>
                  </a:tcPr>
                </a:tc>
                <a:tc>
                  <a:txBody>
                    <a:bodyPr/>
                    <a:lstStyle/>
                    <a:p>
                      <a:r>
                        <a:rPr sz="950" b="0">
                          <a:solidFill>
                            <a:srgbClr val="1F3556"/>
                          </a:solidFill>
                          <a:latin typeface="Aptos"/>
                        </a:rPr>
                        <a:t>T-DXd followed by THP is a new U.S. FDA neoadjuvant pathway (May 2026).</a:t>
                      </a:r>
                    </a:p>
                  </a:txBody>
                  <a:tcPr marL="45720" marR="45720" marT="32004" marB="32004" anchor="ctr">
                    <a:lnB w="6350">
                      <a:solidFill>
                        <a:srgbClr val="E4D6DB"/>
                      </a:solidFill>
                    </a:lnB>
                    <a:solidFill>
                      <a:srgbClr val="FFFFFF"/>
                    </a:solidFill>
                  </a:tcPr>
                </a:tc>
              </a:tr>
              <a:tr h="447040">
                <a:tc>
                  <a:txBody>
                    <a:bodyPr/>
                    <a:lstStyle/>
                    <a:p>
                      <a:r>
                        <a:rPr sz="950" b="0">
                          <a:solidFill>
                            <a:srgbClr val="1F3556"/>
                          </a:solidFill>
                          <a:latin typeface="Aptos"/>
                        </a:rPr>
                        <a:t>Residual invasive disease after neoadjuvant therapy</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r>
                        <a:rPr sz="950" b="0">
                          <a:solidFill>
                            <a:srgbClr val="1F3556"/>
                          </a:solidFill>
                          <a:latin typeface="Aptos"/>
                        </a:rPr>
                        <a:t>Postoperative HER2-directed escalation.</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r>
                        <a:rPr sz="950" b="0">
                          <a:solidFill>
                            <a:srgbClr val="1F3556"/>
                          </a:solidFill>
                          <a:latin typeface="Aptos"/>
                        </a:rPr>
                        <a:t>T-DXd approved by FDA for residual invasive HER2+ early disease after selected neoadjuvant treatment.</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r h="447040">
                <a:tc>
                  <a:txBody>
                    <a:bodyPr/>
                    <a:lstStyle/>
                    <a:p>
                      <a:r>
                        <a:rPr sz="950" b="0">
                          <a:solidFill>
                            <a:srgbClr val="1F3556"/>
                          </a:solidFill>
                          <a:latin typeface="Aptos"/>
                        </a:rPr>
                        <a:t>Small node-negative stage I</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r>
                        <a:rPr sz="950" b="0">
                          <a:solidFill>
                            <a:srgbClr val="1F3556"/>
                          </a:solidFill>
                          <a:latin typeface="Aptos"/>
                        </a:rPr>
                        <a:t>Selected lower-risk patients may receive de-escalated paclitaxel + trastuzumab-based therapy.</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r>
                        <a:rPr sz="950" b="0">
                          <a:solidFill>
                            <a:srgbClr val="1F3556"/>
                          </a:solidFill>
                          <a:latin typeface="Aptos"/>
                        </a:rPr>
                        <a:t>Choice depends on tumor size, cardiac risk and multidisciplinary assessment.</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r>
              <a:tr h="268224">
                <a:tc>
                  <a:txBody>
                    <a:bodyPr/>
                    <a:lstStyle/>
                    <a:p>
                      <a:r>
                        <a:rPr sz="950" b="0">
                          <a:solidFill>
                            <a:srgbClr val="1F3556"/>
                          </a:solidFill>
                          <a:latin typeface="Aptos"/>
                        </a:rPr>
                        <a:t>Metastatic HER2+</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r>
                        <a:rPr sz="950" b="0">
                          <a:solidFill>
                            <a:srgbClr val="1F3556"/>
                          </a:solidFill>
                          <a:latin typeface="Aptos"/>
                        </a:rPr>
                        <a:t>HER2-directed therapy + taxane is a major first-line paradigm; later ADC/TKI sequencing depends on prior treatment and CNS disease.</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r>
                        <a:rPr sz="950" b="0">
                          <a:solidFill>
                            <a:srgbClr val="1F3556"/>
                          </a:solidFill>
                          <a:latin typeface="Aptos"/>
                        </a:rPr>
                        <a:t>HR+ HER2+ patients may also receive endocrine therapy; 2026 FDA added maintenance palbociclib in selected patients after induction.</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r h="447040">
                <a:tc>
                  <a:txBody>
                    <a:bodyPr/>
                    <a:lstStyle/>
                    <a:p>
                      <a:pPr algn="l"/>
                      <a:r>
                        <a:rPr lang="en-US" sz="1800" b="1" dirty="0">
                          <a:solidFill>
                            <a:srgbClr val="242021"/>
                          </a:solidFill>
                        </a:rPr>
                        <a:t>Metastatic</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800" dirty="0">
                          <a:solidFill>
                            <a:srgbClr val="242021"/>
                          </a:solidFill>
                        </a:rPr>
                        <a:t>Trastuzumab deruxtecan; trastuzumab + pertuzumab + taxane</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pPr algn="l"/>
                      <a:r>
                        <a:rPr lang="en-US" sz="1800" dirty="0">
                          <a:solidFill>
                            <a:srgbClr val="242021"/>
                          </a:solidFill>
                        </a:rPr>
                        <a:t>Median overall survival ≈57 months with first-line triplet</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r>
            </a:tbl>
          </a:graphicData>
        </a:graphic>
      </p:graphicFrame>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44</a:t>
            </a:fld>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7A1D2B3C-4E5F-4A60-8B71-92A3B4C5D6E7}" type="datetime4">
              <a:rPr lang="en-US"/>
              <a:t>September 22, 2026</a:t>
            </a:fld>
            <a:endParaRPr lang="en-US"/>
          </a:p>
        </p:txBody>
      </p:sp>
      <p:sp>
        <p:nvSpPr>
          <p:cNvPr id="8" name="Footer Placeholder 7"/>
          <p:cNvSpPr>
            <a:spLocks noGrp="1"/>
          </p:cNvSpPr>
          <p:nvPr>
            <p:ph type="ftr" sz="quarter" idx="11"/>
          </p:nvPr>
        </p:nvSpPr>
        <p:spPr/>
        <p:txBody>
          <a:bodyPr/>
          <a:lstStyle/>
          <a:p>
            <a:r>
              <a:rPr lang="en-US"/>
              <a:t>Management of breast cancer</a:t>
            </a:r>
          </a:p>
        </p:txBody>
      </p:sp>
      <p:sp>
        <p:nvSpPr>
          <p:cNvPr id="9" name="Slide Number Placeholder 8"/>
          <p:cNvSpPr>
            <a:spLocks noGrp="1"/>
          </p:cNvSpPr>
          <p:nvPr>
            <p:ph type="sldNum" sz="quarter" idx="12"/>
          </p:nvPr>
        </p:nvSpPr>
        <p:spPr/>
        <p:txBody>
          <a:bodyPr/>
          <a:lstStyle/>
          <a:p>
            <a:fld id="{B8C9D0E1-F2A3-4B4C-9D5E-6F708192A3B4}" type="slidenum">
              <a:rPr lang="en-US"/>
              <a:t>45</a:t>
            </a:fld>
            <a:endParaRPr lang="en-US"/>
          </a:p>
        </p:txBody>
      </p:sp>
      <p:sp>
        <p:nvSpPr>
          <p:cNvPr id="15" name="Rectangle 14"/>
          <p:cNvSpPr/>
          <p:nvPr/>
        </p:nvSpPr>
        <p:spPr>
          <a:xfrm>
            <a:off x="502920" y="256032"/>
            <a:ext cx="9966960" cy="621792"/>
          </a:xfrm>
          <a:prstGeom prst="rect">
            <a:avLst/>
          </a:prstGeom>
          <a:solidFill>
            <a:srgbClr val="FFFFFF"/>
          </a:solidFill>
          <a:ln w="12700">
            <a:solidFill>
              <a:srgbClr val="2B63B2"/>
            </a:solidFill>
          </a:ln>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l"/>
            <a:r>
              <a:rPr sz="2200" b="1">
                <a:solidFill>
                  <a:srgbClr val="2B63B2"/>
                </a:solidFill>
                <a:latin typeface="Aptos"/>
              </a:rPr>
              <a:t>Early invasive breast cancer - treatment selection after staging</a:t>
            </a:r>
          </a:p>
        </p:txBody>
      </p:sp>
      <p:sp>
        <p:nvSpPr>
          <p:cNvPr id="16" name="Rounded Rectangle 15"/>
          <p:cNvSpPr/>
          <p:nvPr/>
        </p:nvSpPr>
        <p:spPr>
          <a:xfrm>
            <a:off x="594360" y="1097280"/>
            <a:ext cx="3154680" cy="4343400"/>
          </a:xfrm>
          <a:prstGeom prst="roundRect">
            <a:avLst/>
          </a:prstGeom>
          <a:solidFill>
            <a:srgbClr val="E4EEF9"/>
          </a:solidFill>
          <a:ln w="15240">
            <a:solidFill>
              <a:srgbClr val="2B63B2"/>
            </a:solidFill>
          </a:ln>
        </p:spPr>
        <p:style>
          <a:lnRef idx="1">
            <a:schemeClr val="accent1"/>
          </a:lnRef>
          <a:fillRef idx="3">
            <a:schemeClr val="accent1"/>
          </a:fillRef>
          <a:effectRef idx="2">
            <a:schemeClr val="accent1"/>
          </a:effectRef>
          <a:fontRef idx="minor">
            <a:schemeClr val="lt1"/>
          </a:fontRef>
        </p:style>
        <p:txBody>
          <a:bodyPr rtlCol="0" anchor="ctr" lIns="109728" tIns="73152" bIns="73152"/>
          <a:lstStyle/>
          <a:p>
            <a:pPr algn="l"/>
            <a:r>
              <a:rPr sz="1300" b="1">
                <a:solidFill>
                  <a:srgbClr val="2B63B2"/>
                </a:solidFill>
                <a:latin typeface="Aptos Display"/>
              </a:rPr>
              <a:t>1. Decide local sequence</a:t>
            </a:r>
          </a:p>
          <a:p>
            <a:pPr>
              <a:defRPr sz="1200">
                <a:solidFill>
                  <a:srgbClr val="1F3556"/>
                </a:solidFill>
                <a:latin typeface="Aptos"/>
              </a:defRPr>
            </a:pPr>
            <a:r>
              <a:t>Neoadjuvant systemic therapy when response can change surgery or postoperative systemic therapy.</a:t>
            </a:r>
          </a:p>
          <a:p>
            <a:pPr>
              <a:defRPr sz="1200">
                <a:solidFill>
                  <a:srgbClr val="1F3556"/>
                </a:solidFill>
                <a:latin typeface="Aptos"/>
              </a:defRPr>
            </a:pPr>
            <a:r>
              <a:t>Upfront surgery remains appropriate for selected operable cancers.</a:t>
            </a:r>
          </a:p>
        </p:txBody>
      </p:sp>
      <p:sp>
        <p:nvSpPr>
          <p:cNvPr id="17" name="Rounded Rectangle 16"/>
          <p:cNvSpPr/>
          <p:nvPr/>
        </p:nvSpPr>
        <p:spPr>
          <a:xfrm>
            <a:off x="3886200" y="1097280"/>
            <a:ext cx="3154680" cy="4343400"/>
          </a:xfrm>
          <a:prstGeom prst="roundRect">
            <a:avLst/>
          </a:prstGeom>
          <a:solidFill>
            <a:srgbClr val="F7E8F0"/>
          </a:solidFill>
          <a:ln w="15240">
            <a:solidFill>
              <a:srgbClr val="841648"/>
            </a:solidFill>
          </a:ln>
        </p:spPr>
        <p:style>
          <a:lnRef idx="1">
            <a:schemeClr val="accent1"/>
          </a:lnRef>
          <a:fillRef idx="3">
            <a:schemeClr val="accent1"/>
          </a:fillRef>
          <a:effectRef idx="2">
            <a:schemeClr val="accent1"/>
          </a:effectRef>
          <a:fontRef idx="minor">
            <a:schemeClr val="lt1"/>
          </a:fontRef>
        </p:style>
        <p:txBody>
          <a:bodyPr rtlCol="0" anchor="ctr" lIns="109728" tIns="73152" bIns="73152"/>
          <a:lstStyle/>
          <a:p>
            <a:pPr algn="l"/>
            <a:r>
              <a:rPr sz="1260" b="1">
                <a:solidFill>
                  <a:srgbClr val="841648"/>
                </a:solidFill>
                <a:latin typeface="Aptos Display"/>
              </a:rPr>
              <a:t>2. Match biology</a:t>
            </a:r>
          </a:p>
          <a:p>
            <a:pPr>
              <a:defRPr sz="1160">
                <a:solidFill>
                  <a:srgbClr val="1F3556"/>
                </a:solidFill>
                <a:latin typeface="Aptos"/>
              </a:defRPr>
            </a:pPr>
            <a:r>
              <a:t>HR+/HER2-: endocrine backbone; add chemotherapy/targeted therapy according to risk.</a:t>
            </a:r>
          </a:p>
          <a:p>
            <a:pPr>
              <a:defRPr sz="1160">
                <a:solidFill>
                  <a:srgbClr val="1F3556"/>
                </a:solidFill>
                <a:latin typeface="Aptos"/>
              </a:defRPr>
            </a:pPr>
            <a:r>
              <a:t>HER2+: HER2-directed therapy + chemotherapy; use response to guide escalation.</a:t>
            </a:r>
          </a:p>
          <a:p>
            <a:pPr>
              <a:defRPr sz="1160">
                <a:solidFill>
                  <a:srgbClr val="1F3556"/>
                </a:solidFill>
                <a:latin typeface="Aptos"/>
              </a:defRPr>
            </a:pPr>
            <a:r>
              <a:t>TNBC: neoadjuvant chemo-immunotherapy for eligible high-risk disease.</a:t>
            </a:r>
          </a:p>
        </p:txBody>
      </p:sp>
      <p:sp>
        <p:nvSpPr>
          <p:cNvPr id="18" name="Rounded Rectangle 17"/>
          <p:cNvSpPr/>
          <p:nvPr/>
        </p:nvSpPr>
        <p:spPr>
          <a:xfrm>
            <a:off x="7178040" y="1097280"/>
            <a:ext cx="3154680" cy="4343400"/>
          </a:xfrm>
          <a:prstGeom prst="roundRect">
            <a:avLst/>
          </a:prstGeom>
          <a:solidFill>
            <a:srgbClr val="E8F6EF"/>
          </a:solidFill>
          <a:ln w="15240">
            <a:solidFill>
              <a:srgbClr val="217E5B"/>
            </a:solidFill>
          </a:ln>
        </p:spPr>
        <p:style>
          <a:lnRef idx="1">
            <a:schemeClr val="accent1"/>
          </a:lnRef>
          <a:fillRef idx="3">
            <a:schemeClr val="accent1"/>
          </a:fillRef>
          <a:effectRef idx="2">
            <a:schemeClr val="accent1"/>
          </a:effectRef>
          <a:fontRef idx="minor">
            <a:schemeClr val="lt1"/>
          </a:fontRef>
        </p:style>
        <p:txBody>
          <a:bodyPr rtlCol="0" anchor="ctr" lIns="109728" tIns="73152" bIns="73152"/>
          <a:lstStyle/>
          <a:p>
            <a:pPr algn="l"/>
            <a:r>
              <a:rPr sz="1300" b="1">
                <a:solidFill>
                  <a:srgbClr val="217E5B"/>
                </a:solidFill>
                <a:latin typeface="Aptos Display"/>
              </a:rPr>
              <a:t>3. Complete multimodal plan</a:t>
            </a:r>
          </a:p>
          <a:p>
            <a:pPr>
              <a:defRPr sz="1200">
                <a:solidFill>
                  <a:srgbClr val="1F3556"/>
                </a:solidFill>
                <a:latin typeface="Aptos"/>
              </a:defRPr>
            </a:pPr>
            <a:r>
              <a:t>Breast surgery + axillary strategy.</a:t>
            </a:r>
          </a:p>
          <a:p>
            <a:pPr>
              <a:defRPr sz="1200">
                <a:solidFill>
                  <a:srgbClr val="1F3556"/>
                </a:solidFill>
                <a:latin typeface="Aptos"/>
              </a:defRPr>
            </a:pPr>
            <a:r>
              <a:t>Radiation according to breast/axillary/PMRT indications.</a:t>
            </a:r>
          </a:p>
          <a:p>
            <a:pPr>
              <a:defRPr sz="1200">
                <a:solidFill>
                  <a:srgbClr val="1F3556"/>
                </a:solidFill>
                <a:latin typeface="Aptos"/>
              </a:defRPr>
            </a:pPr>
            <a:r>
              <a:t>Adjuvant systemic therapy based on pathology, biomarkers and residual disease.</a:t>
            </a:r>
          </a:p>
        </p:txBody>
      </p:sp>
    </p:spTree>
    <p:extLst>
      <p:ext uri="{BB962C8B-B14F-4D97-AF65-F5344CB8AC3E}">
        <p14:creationId xmlns:p14="http://schemas.microsoft.com/office/powerpoint/2010/main" val="663435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4"/>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p:cNvGraphicFramePr/>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6F0452BA-1D4E-7279-A100-ABBADE26BB5D}"/>
              </a:ext>
            </a:extLst>
          </p:cNvPr>
          <p:cNvSpPr>
            <a:spLocks noGrp="1"/>
          </p:cNvSpPr>
          <p:nvPr>
            <p:ph idx="1"/>
          </p:nvPr>
        </p:nvSpPr>
        <p:spPr>
          <a:xfrm>
            <a:off x="548640" y="1417320"/>
            <a:ext cx="4937760" cy="4800600"/>
          </a:xfrm>
        </p:spPr>
        <p:txBody>
          <a:bodyPr lIns="45720" rIns="45720">
            <a:normAutofit/>
          </a:bodyPr>
          <a:lstStyle>
            <a:lvl1pPr>
              <a:defRPr sz="1800"/>
            </a:lvl1pPr>
            <a:lvl2pPr>
              <a:defRPr sz="1400"/>
            </a:lvl2pPr>
            <a:lvl3pPr>
              <a:defRPr sz="1400"/>
            </a:lvl3pPr>
            <a:lvl4pPr>
              <a:defRPr sz="1400"/>
            </a:lvl4pPr>
            <a:lvl5pPr>
              <a:defRPr sz="1400"/>
            </a:lvl5pPr>
          </a:lstStyle>
          <a:p>
            <a:pPr algn="l"/>
            <a:r>
              <a:rPr sz="1400" b="0">
                <a:solidFill>
                  <a:srgbClr val="1F3556"/>
                </a:solidFill>
                <a:latin typeface="Aptos"/>
              </a:rPr>
              <a:t>Stage III / locally advanced disease: generally neoadjuvant systemic therapy -&gt; surgery -&gt; radiation -&gt; adjuvant systemic therapy. Use modern HER2/TNBC regimens by biology; the 2025 ASTRO/ASCO/SSO PMRT guideline emphasizes individualized PMRT indications after upfront surgery and after neoadjuvant therapy.</a:t>
            </a:r>
          </a:p>
        </p:txBody>
      </p:sp>
      <p:pic>
        <p:nvPicPr>
          <p:cNvPr id="4" name="Picture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897880" y="1417320"/>
            <a:ext cx="5745450" cy="4359834"/>
          </a:xfrm>
          <a:prstGeom prst="rect">
            <a:avLst/>
          </a:prstGeom>
        </p:spPr>
      </p:pic>
      <p:sp>
        <p:nvSpPr>
          <p:cNvPr id="5" name="Date Placeholder 4"/>
          <p:cNvSpPr>
            <a:spLocks noGrp="1"/>
          </p:cNvSpPr>
          <p:nvPr>
            <p:ph type="dt" sz="half" idx="10"/>
          </p:nvPr>
        </p:nvSpPr>
        <p:spPr/>
        <p:txBody>
          <a:bodyPr/>
          <a:lstStyle/>
          <a:p>
            <a:fld id="{7A1D2B3C-4E5F-4A60-8B71-92A3B4C5D6E7}" type="datetime4">
              <a:rPr lang="en-US"/>
              <a:t>September 22, 2026</a:t>
            </a:fld>
            <a:endParaRPr lang="en-US"/>
          </a:p>
        </p:txBody>
      </p:sp>
      <p:sp>
        <p:nvSpPr>
          <p:cNvPr id="6" name="Footer Placeholder 5"/>
          <p:cNvSpPr>
            <a:spLocks noGrp="1"/>
          </p:cNvSpPr>
          <p:nvPr>
            <p:ph type="ftr" sz="quarter" idx="11"/>
          </p:nvPr>
        </p:nvSpPr>
        <p:spPr/>
        <p:txBody>
          <a:bodyPr/>
          <a:lstStyle/>
          <a:p>
            <a:r>
              <a:rPr lang="en-US"/>
              <a:t>Management of breast cancer</a:t>
            </a:r>
          </a:p>
        </p:txBody>
      </p:sp>
      <p:sp>
        <p:nvSpPr>
          <p:cNvPr id="7" name="Slide Number Placeholder 6"/>
          <p:cNvSpPr>
            <a:spLocks noGrp="1"/>
          </p:cNvSpPr>
          <p:nvPr>
            <p:ph type="sldNum" sz="quarter" idx="12"/>
          </p:nvPr>
        </p:nvSpPr>
        <p:spPr/>
        <p:txBody>
          <a:bodyPr/>
          <a:lstStyle/>
          <a:p>
            <a:fld id="{B8C9D0E1-F2A3-4B4C-9D5E-6F708192A3B4}" type="slidenum">
              <a:rPr lang="en-US"/>
              <a:t>46</a:t>
            </a:fld>
            <a:endParaRPr lang="en-US"/>
          </a:p>
        </p:txBody>
      </p:sp>
    </p:spTree>
    <p:extLst>
      <p:ext uri="{BB962C8B-B14F-4D97-AF65-F5344CB8AC3E}">
        <p14:creationId xmlns:p14="http://schemas.microsoft.com/office/powerpoint/2010/main" val="3882208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C75A0B32-017B-E361-362B-231C25E128A8}"/>
              </a:ext>
            </a:extLst>
          </p:cNvPr>
          <p:cNvSpPr>
            <a:spLocks noGrp="1"/>
          </p:cNvSpPr>
          <p:nvPr>
            <p:ph idx="1"/>
          </p:nvPr>
        </p:nvSpPr>
        <p:spPr/>
        <p:txBody>
          <a:bodyPr lIns="45720" rIns="45720">
            <a:normAutofit/>
          </a:bodyPr>
          <a:lstStyle>
            <a:lvl1pPr>
              <a:defRPr sz="2200"/>
            </a:lvl1pPr>
            <a:lvl2pPr>
              <a:defRPr sz="1800"/>
            </a:lvl2pPr>
            <a:lvl3pPr>
              <a:defRPr sz="1600"/>
            </a:lvl3pPr>
            <a:lvl4pPr>
              <a:defRPr sz="1400"/>
            </a:lvl4pPr>
            <a:lvl5pPr>
              <a:defRPr sz="1400"/>
            </a:lvl5pPr>
          </a:lstStyle>
          <a:p>
            <a:pPr algn="l"/>
            <a:r>
              <a:rPr sz="1400" b="0">
                <a:solidFill>
                  <a:srgbClr val="1F3556"/>
                </a:solidFill>
                <a:latin typeface="Aptos"/>
              </a:rPr>
              <a:t>Metastatic disease: treatment is usually disease-control / symptom-control rather than cure. HR+/HER2- without visceral crisis -&gt; endocrine-based therapy + targeted therapy such as CDK4/6 inhibition. Reassess ESR1, PIK3CA/AKT/PTEN, germline BRCA and HER2 status when results can change therapy. 'Visceral crisis' means imminent organ failure, not merely visceral metastases.</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47</a:t>
            </a:fld>
            <a:endParaRPr lang="en-US"/>
          </a:p>
        </p:txBody>
      </p:sp>
    </p:spTree>
    <p:extLst>
      <p:ext uri="{BB962C8B-B14F-4D97-AF65-F5344CB8AC3E}">
        <p14:creationId xmlns:p14="http://schemas.microsoft.com/office/powerpoint/2010/main" val="195480240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p:cNvGraphicFramePr/>
          <p:nvPr>
            <p:extLst>
              <p:ext uri="{D42A27DB-BD31-4B8C-83A1-F6EECF244321}">
                <p14:modId xmlns:p14="http://schemas.microsoft.com/office/powerpoint/2010/main" val="61502897"/>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Table 3"/>
          <p:cNvGraphicFramePr>
            <a:graphicFrameLocks noGrp="1"/>
          </p:cNvGraphicFramePr>
          <p:nvPr>
            <p:extLst>
              <p:ext uri="{D42A27DB-BD31-4B8C-83A1-F6EECF244321}">
                <p14:modId xmlns:p14="http://schemas.microsoft.com/office/powerpoint/2010/main" val="727736845"/>
              </p:ext>
            </p:extLst>
          </p:nvPr>
        </p:nvGraphicFramePr>
        <p:xfrm>
          <a:off x="548640" y="1417320"/>
          <a:ext cx="11094689" cy="2807208"/>
        </p:xfrm>
        <a:graphic>
          <a:graphicData uri="http://schemas.openxmlformats.org/drawingml/2006/table">
            <a:tbl>
              <a:tblPr firstRow="1"/>
              <a:tblGrid>
                <a:gridCol w="2403849"/>
                <a:gridCol w="4622787"/>
                <a:gridCol w="4068053"/>
              </a:tblGrid>
              <a:tr h="420624">
                <a:tc>
                  <a:txBody>
                    <a:bodyPr/>
                    <a:lstStyle/>
                    <a:p>
                      <a:r>
                        <a:rPr sz="950" b="1">
                          <a:solidFill>
                            <a:srgbClr val="FFFFFF"/>
                          </a:solidFill>
                          <a:latin typeface="Aptos"/>
                        </a:rPr>
                        <a:t>Subtype</a:t>
                      </a:r>
                    </a:p>
                  </a:txBody>
                  <a:tcPr marL="45720" marR="45720" marT="32004" marB="32004" anchor="ctr">
                    <a:solidFill>
                      <a:srgbClr val="841648"/>
                    </a:solidFill>
                  </a:tcPr>
                </a:tc>
                <a:tc>
                  <a:txBody>
                    <a:bodyPr/>
                    <a:lstStyle/>
                    <a:p>
                      <a:r>
                        <a:rPr sz="950" b="1">
                          <a:solidFill>
                            <a:srgbClr val="FFFFFF"/>
                          </a:solidFill>
                          <a:latin typeface="Aptos"/>
                        </a:rPr>
                        <a:t>Core strategy</a:t>
                      </a:r>
                    </a:p>
                  </a:txBody>
                  <a:tcPr marL="45720" marR="45720" marT="32004" marB="32004" anchor="ctr">
                    <a:solidFill>
                      <a:srgbClr val="841648"/>
                    </a:solidFill>
                  </a:tcPr>
                </a:tc>
                <a:tc>
                  <a:txBody>
                    <a:bodyPr/>
                    <a:lstStyle/>
                    <a:p>
                      <a:r>
                        <a:rPr sz="950" b="1">
                          <a:solidFill>
                            <a:srgbClr val="FFFFFF"/>
                          </a:solidFill>
                          <a:latin typeface="Aptos"/>
                        </a:rPr>
                        <a:t>Selected 2026 U.S. updates</a:t>
                      </a:r>
                    </a:p>
                  </a:txBody>
                  <a:tcPr marL="45720" marR="45720" marT="32004" marB="32004" anchor="ctr">
                    <a:solidFill>
                      <a:srgbClr val="841648"/>
                    </a:solidFill>
                  </a:tcPr>
                </a:tc>
              </a:tr>
              <a:tr h="447040">
                <a:tc>
                  <a:txBody>
                    <a:bodyPr/>
                    <a:lstStyle/>
                    <a:p>
                      <a:r>
                        <a:rPr sz="919" b="0">
                          <a:solidFill>
                            <a:srgbClr val="1F3556"/>
                          </a:solidFill>
                          <a:latin typeface="Aptos"/>
                        </a:rPr>
                        <a:t>HR+ / HER2-</a:t>
                      </a:r>
                    </a:p>
                  </a:txBody>
                  <a:tcPr marL="45720" marR="45720" marT="32004" marB="32004" anchor="ctr">
                    <a:lnB w="6350">
                      <a:solidFill>
                        <a:srgbClr val="E4D6DB"/>
                      </a:solidFill>
                    </a:lnB>
                    <a:solidFill>
                      <a:srgbClr val="FFFFFF"/>
                    </a:solidFill>
                  </a:tcPr>
                </a:tc>
                <a:tc>
                  <a:txBody>
                    <a:bodyPr/>
                    <a:lstStyle/>
                    <a:p>
                      <a:r>
                        <a:rPr sz="919" b="0">
                          <a:solidFill>
                            <a:srgbClr val="1F3556"/>
                          </a:solidFill>
                          <a:latin typeface="Aptos"/>
                        </a:rPr>
                        <a:t>Endocrine + CDK4/6 inhibitor for most patients without visceral crisis; later therapy is biomarker- and prior-exposure driven.</a:t>
                      </a:r>
                    </a:p>
                  </a:txBody>
                  <a:tcPr marL="45720" marR="45720" marT="32004" marB="32004" anchor="ctr">
                    <a:lnB w="6350">
                      <a:solidFill>
                        <a:srgbClr val="E4D6DB"/>
                      </a:solidFill>
                    </a:lnB>
                    <a:solidFill>
                      <a:srgbClr val="FFFFFF"/>
                    </a:solidFill>
                  </a:tcPr>
                </a:tc>
                <a:tc>
                  <a:txBody>
                    <a:bodyPr/>
                    <a:lstStyle/>
                    <a:p>
                      <a:r>
                        <a:rPr sz="919" b="0">
                          <a:solidFill>
                            <a:srgbClr val="1F3556"/>
                          </a:solidFill>
                          <a:latin typeface="Aptos"/>
                        </a:rPr>
                        <a:t>ESR1-directed options expanded: vepdegestrant, imlunestrant, imlunestrant + abemaciclib, camizestrant + CDK4/6i (accelerated); gedatolisib in selected PIK3CA-wild-type disease.</a:t>
                      </a:r>
                    </a:p>
                  </a:txBody>
                  <a:tcPr marL="45720" marR="45720" marT="32004" marB="32004" anchor="ctr">
                    <a:lnB w="6350">
                      <a:solidFill>
                        <a:srgbClr val="E4D6DB"/>
                      </a:solidFill>
                    </a:lnB>
                    <a:solidFill>
                      <a:srgbClr val="FFFFFF"/>
                    </a:solidFill>
                  </a:tcPr>
                </a:tc>
              </a:tr>
              <a:tr h="268224">
                <a:tc>
                  <a:txBody>
                    <a:bodyPr/>
                    <a:lstStyle/>
                    <a:p>
                      <a:r>
                        <a:rPr sz="919" b="0">
                          <a:solidFill>
                            <a:srgbClr val="1F3556"/>
                          </a:solidFill>
                          <a:latin typeface="Aptos"/>
                        </a:rPr>
                        <a:t>HER2+</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r>
                        <a:rPr sz="919" b="0">
                          <a:solidFill>
                            <a:srgbClr val="1F3556"/>
                          </a:solidFill>
                          <a:latin typeface="Aptos"/>
                        </a:rPr>
                        <a:t>Taxane + trastuzumab + pertuzumab is a major first-line paradigm; later ADC/TKI sequencing depends on prior therapy and CNS disease.</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r>
                        <a:rPr sz="919" b="0">
                          <a:solidFill>
                            <a:srgbClr val="1F3556"/>
                          </a:solidFill>
                          <a:latin typeface="Aptos"/>
                        </a:rPr>
                        <a:t>2026 FDA maintenance palbociclib added for selected HR+/HER2+ patients after induction.</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r h="447040">
                <a:tc>
                  <a:txBody>
                    <a:bodyPr/>
                    <a:lstStyle/>
                    <a:p>
                      <a:r>
                        <a:rPr sz="919" b="0">
                          <a:solidFill>
                            <a:srgbClr val="1F3556"/>
                          </a:solidFill>
                          <a:latin typeface="Aptos"/>
                        </a:rPr>
                        <a:t>TNBC</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r>
                        <a:rPr sz="919" b="0">
                          <a:solidFill>
                            <a:srgbClr val="1F3556"/>
                          </a:solidFill>
                          <a:latin typeface="Aptos"/>
                        </a:rPr>
                        <a:t>PD-L1, germline BRCA, prior ICI/ADC and disease tempo guide therapy.</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r>
                        <a:rPr sz="919" b="0">
                          <a:solidFill>
                            <a:srgbClr val="1F3556"/>
                          </a:solidFill>
                          <a:latin typeface="Aptos"/>
                        </a:rPr>
                        <a:t>2026 FDA: sacituzumab + pembrolizumab in selected PD-L1 CPS&gt;=10 first-line disease; sacituzumab monotherapy when PD-1/PD-L1 unsuitable; datopotamab deruxtecan in selected PD-1/PD-L1-ineligible metastatic TNBC.</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r>
            </a:tbl>
          </a:graphicData>
        </a:graphic>
      </p:graphicFrame>
      <p:graphicFrame>
        <p:nvGraphicFramePr>
          <p:cNvPr id="9" name="Diagram 8"/>
          <p:cNvGraphicFramePr/>
          <p:nvPr>
            <p:extLst>
              <p:ext uri="{D42A27DB-BD31-4B8C-83A1-F6EECF244321}">
                <p14:modId xmlns:p14="http://schemas.microsoft.com/office/powerpoint/2010/main" val="4275136247"/>
              </p:ext>
            </p:extLst>
          </p:nvPr>
        </p:nvGraphicFramePr>
        <p:xfrm>
          <a:off x="548640" y="4561014"/>
          <a:ext cx="11094690" cy="99682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5" name="Date Placeholder 4"/>
          <p:cNvSpPr>
            <a:spLocks noGrp="1"/>
          </p:cNvSpPr>
          <p:nvPr>
            <p:ph type="dt" sz="half" idx="10"/>
          </p:nvPr>
        </p:nvSpPr>
        <p:spPr/>
        <p:txBody>
          <a:bodyPr/>
          <a:lstStyle/>
          <a:p>
            <a:fld id="{7A1D2B3C-4E5F-4A60-8B71-92A3B4C5D6E7}" type="datetime4">
              <a:rPr lang="en-US"/>
              <a:t>September 22, 2026</a:t>
            </a:fld>
            <a:endParaRPr lang="en-US"/>
          </a:p>
        </p:txBody>
      </p:sp>
      <p:sp>
        <p:nvSpPr>
          <p:cNvPr id="6" name="Footer Placeholder 5"/>
          <p:cNvSpPr>
            <a:spLocks noGrp="1"/>
          </p:cNvSpPr>
          <p:nvPr>
            <p:ph type="ftr" sz="quarter" idx="11"/>
          </p:nvPr>
        </p:nvSpPr>
        <p:spPr/>
        <p:txBody>
          <a:bodyPr/>
          <a:lstStyle/>
          <a:p>
            <a:r>
              <a:rPr lang="en-US"/>
              <a:t>Management of breast cancer</a:t>
            </a:r>
          </a:p>
        </p:txBody>
      </p:sp>
      <p:sp>
        <p:nvSpPr>
          <p:cNvPr id="7" name="Slide Number Placeholder 6"/>
          <p:cNvSpPr>
            <a:spLocks noGrp="1"/>
          </p:cNvSpPr>
          <p:nvPr>
            <p:ph type="sldNum" sz="quarter" idx="12"/>
          </p:nvPr>
        </p:nvSpPr>
        <p:spPr/>
        <p:txBody>
          <a:bodyPr/>
          <a:lstStyle/>
          <a:p>
            <a:fld id="{B8C9D0E1-F2A3-4B4C-9D5E-6F708192A3B4}" type="slidenum">
              <a:rPr lang="en-US"/>
              <a:t>48</a:t>
            </a:fld>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Diagram 15"/>
          <p:cNvGraphicFramePr/>
          <p:nvPr>
            <p:extLst>
              <p:ext uri="{D42A27DB-BD31-4B8C-83A1-F6EECF244321}">
                <p14:modId xmlns:p14="http://schemas.microsoft.com/office/powerpoint/2010/main" val="1046551044"/>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Box 3"/>
          <p:cNvSpPr/>
          <p:nvPr/>
        </p:nvSpPr>
        <p:spPr>
          <a:xfrm>
            <a:off x="548640" y="1174424"/>
            <a:ext cx="11094690" cy="1377696"/>
          </a:xfrm>
          <a:prstGeom prst="roundRect">
            <a:avLst>
              <a:gd name="adj" fmla="val 7000"/>
            </a:avLst>
          </a:prstGeom>
          <a:solidFill>
            <a:srgbClr val="7A1B3D"/>
          </a:solidFill>
          <a:ln w="12700">
            <a:solidFill>
              <a:srgbClr val="7A1B3D"/>
            </a:solidFill>
          </a:ln>
        </p:spPr>
        <p:txBody>
          <a:bodyPr wrap="square" lIns="73152" tIns="36576" rIns="73152" bIns="36576" anchor="ctr">
            <a:normAutofit/>
          </a:bodyPr>
          <a:lstStyle/>
          <a:p>
            <a:pPr algn="ctr"/>
            <a:r>
              <a:rPr lang="en-US" sz="2000" b="1" dirty="0">
                <a:solidFill>
                  <a:srgbClr val="FFFFFF"/>
                </a:solidFill>
              </a:rPr>
              <a:t>Local &amp; systemic palliative measures for stage IV disease</a:t>
            </a:r>
          </a:p>
        </p:txBody>
      </p:sp>
      <p:sp>
        <p:nvSpPr>
          <p:cNvPr id="4" name="Box 4"/>
          <p:cNvSpPr/>
          <p:nvPr/>
        </p:nvSpPr>
        <p:spPr>
          <a:xfrm>
            <a:off x="548640" y="2771576"/>
            <a:ext cx="5419329" cy="1377696"/>
          </a:xfrm>
          <a:prstGeom prst="roundRect">
            <a:avLst>
              <a:gd name="adj" fmla="val 7000"/>
            </a:avLst>
          </a:prstGeom>
          <a:solidFill>
            <a:srgbClr val="7A1B3D"/>
          </a:solidFill>
          <a:ln w="12700">
            <a:solidFill>
              <a:srgbClr val="7A1B3D"/>
            </a:solidFill>
          </a:ln>
        </p:spPr>
        <p:txBody>
          <a:bodyPr wrap="square" lIns="73152" tIns="36576" rIns="73152" bIns="36576" anchor="ctr">
            <a:normAutofit/>
          </a:bodyPr>
          <a:lstStyle/>
          <a:p>
            <a:pPr algn="ctr"/>
            <a:r>
              <a:rPr lang="en-US" b="1" dirty="0">
                <a:solidFill>
                  <a:srgbClr val="FFFFFF"/>
                </a:solidFill>
              </a:rPr>
              <a:t>Organ / Structural</a:t>
            </a:r>
          </a:p>
        </p:txBody>
      </p:sp>
      <p:sp>
        <p:nvSpPr>
          <p:cNvPr id="5" name="Box 5"/>
          <p:cNvSpPr/>
          <p:nvPr/>
        </p:nvSpPr>
        <p:spPr>
          <a:xfrm>
            <a:off x="6224001" y="2771576"/>
            <a:ext cx="5419329" cy="1377696"/>
          </a:xfrm>
          <a:prstGeom prst="roundRect">
            <a:avLst>
              <a:gd name="adj" fmla="val 7000"/>
            </a:avLst>
          </a:prstGeom>
          <a:solidFill>
            <a:srgbClr val="7A1B3D"/>
          </a:solidFill>
          <a:ln w="12700">
            <a:solidFill>
              <a:srgbClr val="7A1B3D"/>
            </a:solidFill>
          </a:ln>
        </p:spPr>
        <p:txBody>
          <a:bodyPr wrap="square" lIns="73152" tIns="36576" rIns="73152" bIns="36576" anchor="ctr">
            <a:normAutofit/>
          </a:bodyPr>
          <a:lstStyle/>
          <a:p>
            <a:pPr algn="ctr"/>
            <a:r>
              <a:rPr lang="en-US" b="1" dirty="0">
                <a:solidFill>
                  <a:srgbClr val="FFFFFF"/>
                </a:solidFill>
              </a:rPr>
              <a:t>Bone</a:t>
            </a:r>
          </a:p>
        </p:txBody>
      </p:sp>
      <p:sp>
        <p:nvSpPr>
          <p:cNvPr id="6" name="Box 6"/>
          <p:cNvSpPr/>
          <p:nvPr/>
        </p:nvSpPr>
        <p:spPr>
          <a:xfrm>
            <a:off x="548640" y="4368728"/>
            <a:ext cx="5419329" cy="1377696"/>
          </a:xfrm>
          <a:prstGeom prst="roundRect">
            <a:avLst>
              <a:gd name="adj" fmla="val 7000"/>
            </a:avLst>
          </a:prstGeom>
          <a:solidFill>
            <a:srgbClr val="F6ECEF"/>
          </a:solidFill>
          <a:ln w="12700">
            <a:solidFill>
              <a:srgbClr val="7A1B3D"/>
            </a:solidFill>
          </a:ln>
        </p:spPr>
        <p:txBody>
          <a:bodyPr wrap="square" lIns="73152" tIns="36576" rIns="73152" bIns="36576" anchor="ctr">
            <a:normAutofit/>
          </a:bodyPr>
          <a:lstStyle/>
          <a:p>
            <a:pPr algn="ctr"/>
            <a:r>
              <a:rPr lang="en-US" sz="1600" dirty="0">
                <a:solidFill>
                  <a:srgbClr val="242021"/>
                </a:solidFill>
              </a:rPr>
              <a:t>Brain metastasis (SRS / WBRT)</a:t>
            </a:r>
          </a:p>
          <a:p>
            <a:pPr algn="ctr"/>
            <a:r>
              <a:rPr lang="en-US" sz="1600" dirty="0">
                <a:solidFill>
                  <a:srgbClr val="242021"/>
                </a:solidFill>
              </a:rPr>
              <a:t>Pleural or pericardial effusion (drainage)</a:t>
            </a:r>
          </a:p>
          <a:p>
            <a:pPr algn="ctr"/>
            <a:r>
              <a:rPr lang="en-US" sz="1600" dirty="0">
                <a:solidFill>
                  <a:srgbClr val="242021"/>
                </a:solidFill>
              </a:rPr>
              <a:t>Biliary or ureteral obstruction (stenting)</a:t>
            </a:r>
          </a:p>
          <a:p>
            <a:pPr algn="ctr"/>
            <a:r>
              <a:rPr lang="en-US" sz="1600" dirty="0">
                <a:solidFill>
                  <a:srgbClr val="242021"/>
                </a:solidFill>
              </a:rPr>
              <a:t>Spinal cord compression (urgent MRI + steroids + RT/surgery)</a:t>
            </a:r>
          </a:p>
        </p:txBody>
      </p:sp>
      <p:sp>
        <p:nvSpPr>
          <p:cNvPr id="7" name="Box 7"/>
          <p:cNvSpPr/>
          <p:nvPr/>
        </p:nvSpPr>
        <p:spPr>
          <a:xfrm>
            <a:off x="6224001" y="4368728"/>
            <a:ext cx="5419329" cy="1377696"/>
          </a:xfrm>
          <a:prstGeom prst="roundRect">
            <a:avLst>
              <a:gd name="adj" fmla="val 7000"/>
            </a:avLst>
          </a:prstGeom>
          <a:solidFill>
            <a:srgbClr val="F6ECEF"/>
          </a:solidFill>
          <a:ln w="12700">
            <a:solidFill>
              <a:srgbClr val="7A1B3D"/>
            </a:solidFill>
          </a:ln>
        </p:spPr>
        <p:txBody>
          <a:bodyPr wrap="square" lIns="45720" rIns="45720" anchor="ctr">
            <a:normAutofit/>
          </a:bodyPr>
          <a:lstStyle/>
          <a:p>
            <a:pPr algn="l"/>
            <a:r>
              <a:rPr sz="1250" b="0">
                <a:solidFill>
                  <a:srgbClr val="1F3556"/>
                </a:solidFill>
                <a:latin typeface="Aptos"/>
              </a:rPr>
              <a:t>Bone metastases: RT for pain/threatened fracture; surgery for instability/pathologic fracture; bone-modifying agent (denosumab or bisphosphonate) to reduce skeletal-related events. Brain/CNS symptoms -&gt; targeted neuroimaging and CNS-directed therapy. Urgent spinal cord compression -&gt; MRI + steroids + surgery/RT.</a:t>
            </a:r>
          </a:p>
        </p:txBody>
      </p:sp>
      <p:cxnSp>
        <p:nvCxnSpPr>
          <p:cNvPr id="8" name="Connector 8"/>
          <p:cNvCxnSpPr/>
          <p:nvPr/>
        </p:nvCxnSpPr>
        <p:spPr>
          <a:xfrm flipH="1">
            <a:off x="3258304" y="2509256"/>
            <a:ext cx="2837680"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9" name="Connector 9"/>
          <p:cNvCxnSpPr/>
          <p:nvPr/>
        </p:nvCxnSpPr>
        <p:spPr>
          <a:xfrm>
            <a:off x="6095985" y="2509256"/>
            <a:ext cx="2837680"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Connector 10"/>
          <p:cNvCxnSpPr/>
          <p:nvPr/>
        </p:nvCxnSpPr>
        <p:spPr>
          <a:xfrm>
            <a:off x="3258304" y="4177848"/>
            <a:ext cx="18288"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Connector 11"/>
          <p:cNvCxnSpPr/>
          <p:nvPr/>
        </p:nvCxnSpPr>
        <p:spPr>
          <a:xfrm>
            <a:off x="8933665" y="4177848"/>
            <a:ext cx="18288"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17" name="Diagram 16"/>
          <p:cNvGraphicFramePr/>
          <p:nvPr>
            <p:extLst>
              <p:ext uri="{D42A27DB-BD31-4B8C-83A1-F6EECF244321}">
                <p14:modId xmlns:p14="http://schemas.microsoft.com/office/powerpoint/2010/main" val="3000732497"/>
              </p:ext>
            </p:extLst>
          </p:nvPr>
        </p:nvGraphicFramePr>
        <p:xfrm>
          <a:off x="548640" y="5900738"/>
          <a:ext cx="11094690" cy="50006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3" name="Date Placeholder 12"/>
          <p:cNvSpPr>
            <a:spLocks noGrp="1"/>
          </p:cNvSpPr>
          <p:nvPr>
            <p:ph type="dt" sz="half" idx="10"/>
          </p:nvPr>
        </p:nvSpPr>
        <p:spPr/>
        <p:txBody>
          <a:bodyPr/>
          <a:lstStyle/>
          <a:p>
            <a:fld id="{7A1D2B3C-4E5F-4A60-8B71-92A3B4C5D6E7}" type="datetime4">
              <a:rPr lang="en-US"/>
              <a:t>September 22, 2026</a:t>
            </a:fld>
            <a:endParaRPr lang="en-US"/>
          </a:p>
        </p:txBody>
      </p:sp>
      <p:sp>
        <p:nvSpPr>
          <p:cNvPr id="14" name="Footer Placeholder 13"/>
          <p:cNvSpPr>
            <a:spLocks noGrp="1"/>
          </p:cNvSpPr>
          <p:nvPr>
            <p:ph type="ftr" sz="quarter" idx="11"/>
          </p:nvPr>
        </p:nvSpPr>
        <p:spPr/>
        <p:txBody>
          <a:bodyPr/>
          <a:lstStyle/>
          <a:p>
            <a:r>
              <a:rPr lang="en-US"/>
              <a:t>Management of breast cancer</a:t>
            </a:r>
          </a:p>
        </p:txBody>
      </p:sp>
      <p:sp>
        <p:nvSpPr>
          <p:cNvPr id="15" name="Slide Number Placeholder 14"/>
          <p:cNvSpPr>
            <a:spLocks noGrp="1"/>
          </p:cNvSpPr>
          <p:nvPr>
            <p:ph type="sldNum" sz="quarter" idx="12"/>
          </p:nvPr>
        </p:nvSpPr>
        <p:spPr/>
        <p:txBody>
          <a:bodyPr/>
          <a:lstStyle/>
          <a:p>
            <a:fld id="{B8C9D0E1-F2A3-4B4C-9D5E-6F708192A3B4}" type="slidenum">
              <a:rPr lang="en-US"/>
              <a:t>49</a:t>
            </a:fld>
            <a:endParaRPr lang="en-US"/>
          </a:p>
        </p:txBody>
      </p:sp>
    </p:spTree>
    <p:extLst>
      <p:ext uri="{BB962C8B-B14F-4D97-AF65-F5344CB8AC3E}">
        <p14:creationId xmlns:p14="http://schemas.microsoft.com/office/powerpoint/2010/main" val="72382377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7A1D2B3C-4E5F-4A60-8B71-92A3B4C5D6E7}" type="datetime4">
              <a:rPr lang="en-US"/>
              <a:t>September 22, 2026</a:t>
            </a:fld>
            <a:endParaRPr lang="en-US"/>
          </a:p>
        </p:txBody>
      </p:sp>
      <p:sp>
        <p:nvSpPr>
          <p:cNvPr id="6" name="Footer Placeholder 5"/>
          <p:cNvSpPr>
            <a:spLocks noGrp="1"/>
          </p:cNvSpPr>
          <p:nvPr>
            <p:ph type="ftr" sz="quarter" idx="11"/>
          </p:nvPr>
        </p:nvSpPr>
        <p:spPr/>
        <p:txBody>
          <a:bodyPr/>
          <a:lstStyle/>
          <a:p>
            <a:r>
              <a:rPr lang="en-US"/>
              <a:t>Management of breast cancer</a:t>
            </a:r>
          </a:p>
        </p:txBody>
      </p:sp>
      <p:sp>
        <p:nvSpPr>
          <p:cNvPr id="7" name="Slide Number Placeholder 6"/>
          <p:cNvSpPr>
            <a:spLocks noGrp="1"/>
          </p:cNvSpPr>
          <p:nvPr>
            <p:ph type="sldNum" sz="quarter" idx="12"/>
          </p:nvPr>
        </p:nvSpPr>
        <p:spPr/>
        <p:txBody>
          <a:bodyPr/>
          <a:lstStyle/>
          <a:p>
            <a:fld id="{B8C9D0E1-F2A3-4B4C-9D5E-6F708192A3B4}" type="slidenum">
              <a:rPr lang="en-US"/>
              <a:t>50</a:t>
            </a:fld>
            <a:endParaRPr lang="en-US"/>
          </a:p>
        </p:txBody>
      </p:sp>
      <p:sp>
        <p:nvSpPr>
          <p:cNvPr id="9" name="Rectangle 8"/>
          <p:cNvSpPr/>
          <p:nvPr/>
        </p:nvSpPr>
        <p:spPr>
          <a:xfrm>
            <a:off x="502920" y="256032"/>
            <a:ext cx="9966960" cy="621792"/>
          </a:xfrm>
          <a:prstGeom prst="rect">
            <a:avLst/>
          </a:prstGeom>
          <a:solidFill>
            <a:srgbClr val="FFFFFF"/>
          </a:solidFill>
          <a:ln w="12700">
            <a:solidFill>
              <a:srgbClr val="2B63B2"/>
            </a:solidFill>
          </a:ln>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l"/>
            <a:r>
              <a:rPr sz="2200" b="1">
                <a:solidFill>
                  <a:srgbClr val="2B63B2"/>
                </a:solidFill>
                <a:latin typeface="Aptos"/>
              </a:rPr>
              <a:t>Axillary management - 2026 de-escalation points</a:t>
            </a:r>
          </a:p>
        </p:txBody>
      </p:sp>
      <p:sp>
        <p:nvSpPr>
          <p:cNvPr id="10" name="Rounded Rectangle 9"/>
          <p:cNvSpPr/>
          <p:nvPr/>
        </p:nvSpPr>
        <p:spPr>
          <a:xfrm>
            <a:off x="594360" y="1097280"/>
            <a:ext cx="4709160" cy="4297680"/>
          </a:xfrm>
          <a:prstGeom prst="roundRect">
            <a:avLst/>
          </a:prstGeom>
          <a:solidFill>
            <a:srgbClr val="E4EEF9"/>
          </a:solidFill>
          <a:ln w="15240">
            <a:solidFill>
              <a:srgbClr val="2B63B2"/>
            </a:solidFill>
          </a:ln>
        </p:spPr>
        <p:style>
          <a:lnRef idx="1">
            <a:schemeClr val="accent1"/>
          </a:lnRef>
          <a:fillRef idx="3">
            <a:schemeClr val="accent1"/>
          </a:fillRef>
          <a:effectRef idx="2">
            <a:schemeClr val="accent1"/>
          </a:effectRef>
          <a:fontRef idx="minor">
            <a:schemeClr val="lt1"/>
          </a:fontRef>
        </p:style>
        <p:txBody>
          <a:bodyPr rtlCol="0" anchor="ctr" lIns="109728" tIns="73152" bIns="73152"/>
          <a:lstStyle/>
          <a:p>
            <a:pPr algn="l"/>
            <a:r>
              <a:rPr sz="1300" b="1">
                <a:solidFill>
                  <a:srgbClr val="2B63B2"/>
                </a:solidFill>
                <a:latin typeface="Aptos Display"/>
              </a:rPr>
              <a:t>Clinically node-negative</a:t>
            </a:r>
          </a:p>
          <a:p>
            <a:pPr>
              <a:defRPr sz="1200">
                <a:solidFill>
                  <a:srgbClr val="1F3556"/>
                </a:solidFill>
                <a:latin typeface="Aptos"/>
              </a:defRPr>
            </a:pPr>
            <a:r>
              <a:t>SLNB remains a major staging option for many invasive cancers.</a:t>
            </a:r>
          </a:p>
          <a:p>
            <a:pPr>
              <a:defRPr sz="1200">
                <a:solidFill>
                  <a:srgbClr val="1F3556"/>
                </a:solidFill>
                <a:latin typeface="Aptos"/>
              </a:defRPr>
            </a:pPr>
            <a:r>
              <a:t>SOUND/INSEMA data support omission in selected low-risk clinically node-negative patients when strict criteria are met.</a:t>
            </a:r>
          </a:p>
          <a:p>
            <a:pPr>
              <a:defRPr sz="1200">
                <a:solidFill>
                  <a:srgbClr val="1F3556"/>
                </a:solidFill>
                <a:latin typeface="Aptos"/>
              </a:defRPr>
            </a:pPr>
            <a:r>
              <a:t>Do not extrapolate omission to every cN0 patient.</a:t>
            </a:r>
          </a:p>
        </p:txBody>
      </p:sp>
      <p:sp>
        <p:nvSpPr>
          <p:cNvPr id="11" name="Rounded Rectangle 10"/>
          <p:cNvSpPr/>
          <p:nvPr/>
        </p:nvSpPr>
        <p:spPr>
          <a:xfrm>
            <a:off x="5440680" y="1097280"/>
            <a:ext cx="4709160" cy="4297680"/>
          </a:xfrm>
          <a:prstGeom prst="roundRect">
            <a:avLst/>
          </a:prstGeom>
          <a:solidFill>
            <a:srgbClr val="F7E8F0"/>
          </a:solidFill>
          <a:ln w="15240">
            <a:solidFill>
              <a:srgbClr val="841648"/>
            </a:solidFill>
          </a:ln>
        </p:spPr>
        <p:style>
          <a:lnRef idx="1">
            <a:schemeClr val="accent1"/>
          </a:lnRef>
          <a:fillRef idx="3">
            <a:schemeClr val="accent1"/>
          </a:fillRef>
          <a:effectRef idx="2">
            <a:schemeClr val="accent1"/>
          </a:effectRef>
          <a:fontRef idx="minor">
            <a:schemeClr val="lt1"/>
          </a:fontRef>
        </p:style>
        <p:txBody>
          <a:bodyPr rtlCol="0" anchor="ctr" lIns="109728" tIns="73152" bIns="73152"/>
          <a:lstStyle/>
          <a:p>
            <a:pPr algn="l"/>
            <a:r>
              <a:rPr sz="1280" b="1">
                <a:solidFill>
                  <a:srgbClr val="841648"/>
                </a:solidFill>
                <a:latin typeface="Aptos Display"/>
              </a:rPr>
              <a:t>Limited SLN-positive disease</a:t>
            </a:r>
          </a:p>
          <a:p>
            <a:pPr>
              <a:defRPr sz="1180">
                <a:solidFill>
                  <a:srgbClr val="1F3556"/>
                </a:solidFill>
                <a:latin typeface="Aptos"/>
              </a:defRPr>
            </a:pPr>
            <a:r>
              <a:t>Z0011-era criteria already permit ALND omission in selected BCS + whole-breast RT patients with 1-2 positive SLNs.</a:t>
            </a:r>
          </a:p>
          <a:p>
            <a:pPr>
              <a:defRPr sz="1180">
                <a:solidFill>
                  <a:srgbClr val="1F3556"/>
                </a:solidFill>
                <a:latin typeface="Aptos"/>
              </a:defRPr>
            </a:pPr>
            <a:r>
              <a:t>2026 ASCO reporting from SENOMAC further supports ALND omission for selected patients with 1-2 positive SLNs.</a:t>
            </a:r>
          </a:p>
          <a:p>
            <a:pPr>
              <a:defRPr sz="1180">
                <a:solidFill>
                  <a:srgbClr val="1F3556"/>
                </a:solidFill>
                <a:latin typeface="Aptos"/>
              </a:defRPr>
            </a:pPr>
            <a:r>
              <a:t>Neoadjuvant setting and residual nodal disease require separate decision rules.</a:t>
            </a:r>
          </a:p>
        </p:txBody>
      </p:sp>
    </p:spTree>
    <p:extLst>
      <p:ext uri="{BB962C8B-B14F-4D97-AF65-F5344CB8AC3E}">
        <p14:creationId xmlns:p14="http://schemas.microsoft.com/office/powerpoint/2010/main" val="710394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Diagram 16"/>
          <p:cNvGraphicFramePr/>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Box 3"/>
          <p:cNvSpPr/>
          <p:nvPr/>
        </p:nvSpPr>
        <p:spPr>
          <a:xfrm>
            <a:off x="548640" y="1417320"/>
            <a:ext cx="5419329" cy="1377696"/>
          </a:xfrm>
          <a:prstGeom prst="roundRect">
            <a:avLst>
              <a:gd name="adj" fmla="val 7000"/>
            </a:avLst>
          </a:prstGeom>
          <a:solidFill>
            <a:srgbClr val="7A1B3D"/>
          </a:solidFill>
          <a:ln w="12700">
            <a:solidFill>
              <a:srgbClr val="7A1B3D"/>
            </a:solidFill>
          </a:ln>
        </p:spPr>
        <p:txBody>
          <a:bodyPr wrap="square" lIns="73152" tIns="36576" rIns="73152" bIns="36576" anchor="ctr">
            <a:normAutofit/>
          </a:bodyPr>
          <a:lstStyle/>
          <a:p>
            <a:pPr algn="ctr"/>
            <a:r>
              <a:rPr lang="en-US" sz="2400" b="1" dirty="0">
                <a:solidFill>
                  <a:srgbClr val="FFFFFF"/>
                </a:solidFill>
              </a:rPr>
              <a:t>Clinically node-negative axilla</a:t>
            </a:r>
          </a:p>
        </p:txBody>
      </p:sp>
      <p:sp>
        <p:nvSpPr>
          <p:cNvPr id="4" name="Box 4"/>
          <p:cNvSpPr/>
          <p:nvPr/>
        </p:nvSpPr>
        <p:spPr>
          <a:xfrm>
            <a:off x="6224001" y="1417320"/>
            <a:ext cx="5419329" cy="1377696"/>
          </a:xfrm>
          <a:prstGeom prst="roundRect">
            <a:avLst>
              <a:gd name="adj" fmla="val 7000"/>
            </a:avLst>
          </a:prstGeom>
          <a:solidFill>
            <a:srgbClr val="7A1B3D"/>
          </a:solidFill>
          <a:ln w="12700">
            <a:solidFill>
              <a:srgbClr val="7A1B3D"/>
            </a:solidFill>
          </a:ln>
        </p:spPr>
        <p:txBody>
          <a:bodyPr wrap="square" lIns="73152" tIns="36576" rIns="73152" bIns="36576" anchor="ctr">
            <a:normAutofit/>
          </a:bodyPr>
          <a:lstStyle/>
          <a:p>
            <a:pPr algn="ctr"/>
            <a:r>
              <a:rPr lang="en-US" sz="2400" b="1" dirty="0">
                <a:solidFill>
                  <a:srgbClr val="FFFFFF"/>
                </a:solidFill>
              </a:rPr>
              <a:t>Clinically suspicious / palpable node</a:t>
            </a:r>
          </a:p>
        </p:txBody>
      </p:sp>
      <p:sp>
        <p:nvSpPr>
          <p:cNvPr id="5" name="Box 5"/>
          <p:cNvSpPr/>
          <p:nvPr/>
        </p:nvSpPr>
        <p:spPr>
          <a:xfrm>
            <a:off x="548640" y="3014472"/>
            <a:ext cx="5419329" cy="1377696"/>
          </a:xfrm>
          <a:prstGeom prst="roundRect">
            <a:avLst>
              <a:gd name="adj" fmla="val 7000"/>
            </a:avLst>
          </a:prstGeom>
          <a:solidFill>
            <a:srgbClr val="F6ECEF"/>
          </a:solidFill>
          <a:ln w="12700">
            <a:solidFill>
              <a:srgbClr val="7A1B3D"/>
            </a:solidFill>
          </a:ln>
        </p:spPr>
        <p:txBody>
          <a:bodyPr wrap="square" lIns="73152" tIns="36576" rIns="73152" bIns="36576" anchor="ctr">
            <a:normAutofit/>
          </a:bodyPr>
          <a:lstStyle/>
          <a:p>
            <a:pPr algn="ctr"/>
            <a:r>
              <a:rPr lang="en-US" sz="2000" dirty="0">
                <a:solidFill>
                  <a:srgbClr val="242021"/>
                </a:solidFill>
              </a:rPr>
              <a:t>Sentinel lymph node biopsy</a:t>
            </a:r>
          </a:p>
          <a:p>
            <a:pPr algn="ctr"/>
            <a:r>
              <a:rPr lang="en-US" sz="2000" dirty="0">
                <a:solidFill>
                  <a:srgbClr val="242021"/>
                </a:solidFill>
              </a:rPr>
              <a:t>(dual tracer; ≥10% rule)</a:t>
            </a:r>
          </a:p>
        </p:txBody>
      </p:sp>
      <p:sp>
        <p:nvSpPr>
          <p:cNvPr id="6" name="Box 6"/>
          <p:cNvSpPr/>
          <p:nvPr/>
        </p:nvSpPr>
        <p:spPr>
          <a:xfrm>
            <a:off x="6224001" y="3014472"/>
            <a:ext cx="5419329" cy="1377696"/>
          </a:xfrm>
          <a:prstGeom prst="roundRect">
            <a:avLst>
              <a:gd name="adj" fmla="val 7000"/>
            </a:avLst>
          </a:prstGeom>
          <a:solidFill>
            <a:srgbClr val="F6ECEF"/>
          </a:solidFill>
          <a:ln w="12700">
            <a:solidFill>
              <a:srgbClr val="7A1B3D"/>
            </a:solidFill>
          </a:ln>
        </p:spPr>
        <p:txBody>
          <a:bodyPr wrap="square" lIns="73152" tIns="36576" rIns="73152" bIns="36576" anchor="ctr">
            <a:normAutofit/>
          </a:bodyPr>
          <a:lstStyle/>
          <a:p>
            <a:pPr algn="ctr"/>
            <a:r>
              <a:rPr lang="en-US" sz="2000" dirty="0">
                <a:solidFill>
                  <a:srgbClr val="242021"/>
                </a:solidFill>
              </a:rPr>
              <a:t>Ultrasound-guided FNA</a:t>
            </a:r>
          </a:p>
          <a:p>
            <a:pPr algn="ctr"/>
            <a:r>
              <a:rPr lang="en-US" sz="2000" dirty="0">
                <a:solidFill>
                  <a:srgbClr val="242021"/>
                </a:solidFill>
              </a:rPr>
              <a:t>or core biopsy of the node</a:t>
            </a:r>
          </a:p>
        </p:txBody>
      </p:sp>
      <p:sp>
        <p:nvSpPr>
          <p:cNvPr id="7" name="Box 7"/>
          <p:cNvSpPr/>
          <p:nvPr/>
        </p:nvSpPr>
        <p:spPr>
          <a:xfrm>
            <a:off x="548640" y="4611624"/>
            <a:ext cx="5419329" cy="1377696"/>
          </a:xfrm>
          <a:prstGeom prst="roundRect">
            <a:avLst>
              <a:gd name="adj" fmla="val 7000"/>
            </a:avLst>
          </a:prstGeom>
          <a:solidFill>
            <a:srgbClr val="F6ECEF"/>
          </a:solidFill>
          <a:ln w="12700">
            <a:solidFill>
              <a:srgbClr val="7A1B3D"/>
            </a:solidFill>
          </a:ln>
        </p:spPr>
        <p:txBody>
          <a:bodyPr wrap="square" lIns="73152" tIns="36576" rIns="73152" bIns="36576" anchor="ctr">
            <a:normAutofit/>
          </a:bodyPr>
          <a:lstStyle/>
          <a:p>
            <a:pPr algn="ctr"/>
            <a:r>
              <a:rPr lang="en-US" dirty="0">
                <a:solidFill>
                  <a:srgbClr val="242021"/>
                </a:solidFill>
              </a:rPr>
              <a:t>SLN negative: no further surgery.</a:t>
            </a:r>
          </a:p>
          <a:p>
            <a:pPr algn="ctr"/>
            <a:r>
              <a:rPr lang="en-US" dirty="0">
                <a:solidFill>
                  <a:srgbClr val="242021"/>
                </a:solidFill>
              </a:rPr>
              <a:t>1–2 SLN+ with BCS + whole-breast RT:</a:t>
            </a:r>
          </a:p>
          <a:p>
            <a:pPr algn="ctr"/>
            <a:r>
              <a:rPr lang="en-US" dirty="0">
                <a:solidFill>
                  <a:srgbClr val="242021"/>
                </a:solidFill>
              </a:rPr>
              <a:t>ALND often omitted (Z0011)</a:t>
            </a:r>
          </a:p>
        </p:txBody>
      </p:sp>
      <p:sp>
        <p:nvSpPr>
          <p:cNvPr id="8" name="Box 8"/>
          <p:cNvSpPr/>
          <p:nvPr/>
        </p:nvSpPr>
        <p:spPr>
          <a:xfrm>
            <a:off x="6224001" y="4611624"/>
            <a:ext cx="5419329" cy="1377696"/>
          </a:xfrm>
          <a:prstGeom prst="roundRect">
            <a:avLst>
              <a:gd name="adj" fmla="val 7000"/>
            </a:avLst>
          </a:prstGeom>
          <a:solidFill>
            <a:srgbClr val="F6ECEF"/>
          </a:solidFill>
          <a:ln w="12700">
            <a:solidFill>
              <a:srgbClr val="7A1B3D"/>
            </a:solidFill>
          </a:ln>
        </p:spPr>
        <p:txBody>
          <a:bodyPr wrap="square" lIns="73152" tIns="36576" rIns="73152" bIns="36576" anchor="ctr">
            <a:normAutofit/>
          </a:bodyPr>
          <a:lstStyle/>
          <a:p>
            <a:pPr algn="ctr"/>
            <a:r>
              <a:rPr lang="en-US" dirty="0">
                <a:solidFill>
                  <a:srgbClr val="242021"/>
                </a:solidFill>
              </a:rPr>
              <a:t>Node-positive: neoadjuvant systemic</a:t>
            </a:r>
          </a:p>
          <a:p>
            <a:pPr algn="ctr"/>
            <a:r>
              <a:rPr lang="en-US" dirty="0">
                <a:solidFill>
                  <a:srgbClr val="242021"/>
                </a:solidFill>
              </a:rPr>
              <a:t>therapy, or proceed to ALND</a:t>
            </a:r>
          </a:p>
        </p:txBody>
      </p:sp>
      <p:cxnSp>
        <p:nvCxnSpPr>
          <p:cNvPr id="9" name="Connector 9"/>
          <p:cNvCxnSpPr/>
          <p:nvPr/>
        </p:nvCxnSpPr>
        <p:spPr>
          <a:xfrm>
            <a:off x="3258304" y="2795016"/>
            <a:ext cx="18288"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Connector 10"/>
          <p:cNvCxnSpPr/>
          <p:nvPr/>
        </p:nvCxnSpPr>
        <p:spPr>
          <a:xfrm>
            <a:off x="8933665" y="2795016"/>
            <a:ext cx="18288"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Connector 11"/>
          <p:cNvCxnSpPr/>
          <p:nvPr/>
        </p:nvCxnSpPr>
        <p:spPr>
          <a:xfrm>
            <a:off x="3258304" y="4392168"/>
            <a:ext cx="18288"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Connector 12"/>
          <p:cNvCxnSpPr/>
          <p:nvPr/>
        </p:nvCxnSpPr>
        <p:spPr>
          <a:xfrm>
            <a:off x="8933665" y="4392168"/>
            <a:ext cx="18288" cy="219456"/>
          </a:xfrm>
          <a:prstGeom prst="straightConnector1">
            <a:avLst/>
          </a:prstGeom>
          <a:ln w="19050">
            <a:solidFill>
              <a:srgbClr val="7A1B3D"/>
            </a:solidFill>
            <a:tailEnd type="triangle" w="med" len="med"/>
          </a:ln>
        </p:spPr>
        <p:style>
          <a:lnRef idx="1">
            <a:schemeClr val="accent1"/>
          </a:lnRef>
          <a:fillRef idx="0">
            <a:schemeClr val="accent1"/>
          </a:fillRef>
          <a:effectRef idx="0">
            <a:schemeClr val="accent1"/>
          </a:effectRef>
          <a:fontRef idx="minor">
            <a:schemeClr val="tx1"/>
          </a:fontRef>
        </p:style>
      </p:cxnSp>
      <p:sp>
        <p:nvSpPr>
          <p:cNvPr id="13" name="Caption"/>
          <p:cNvSpPr txBox="1"/>
          <p:nvPr/>
        </p:nvSpPr>
        <p:spPr>
          <a:xfrm>
            <a:off x="548640" y="6080760"/>
            <a:ext cx="11094690" cy="320040"/>
          </a:xfrm>
          <a:prstGeom prst="rect">
            <a:avLst/>
          </a:prstGeom>
          <a:noFill/>
        </p:spPr>
        <p:txBody>
          <a:bodyPr wrap="square" lIns="0" tIns="0" rIns="0" bIns="0">
            <a:normAutofit/>
          </a:bodyPr>
          <a:lstStyle/>
          <a:p>
            <a:r>
              <a:rPr lang="en-US" sz="1400" i="1" dirty="0">
                <a:solidFill>
                  <a:srgbClr val="6B6B6B"/>
                </a:solidFill>
              </a:rPr>
              <a:t>≥3 positive nodes, failed mapping, or residual disease after neoadjuvant therapy → axillary lymph node dissection (levels I–II).</a:t>
            </a:r>
          </a:p>
        </p:txBody>
      </p:sp>
      <p:sp>
        <p:nvSpPr>
          <p:cNvPr id="14" name="Date Placeholder 13"/>
          <p:cNvSpPr>
            <a:spLocks noGrp="1"/>
          </p:cNvSpPr>
          <p:nvPr>
            <p:ph type="dt" sz="half" idx="10"/>
          </p:nvPr>
        </p:nvSpPr>
        <p:spPr/>
        <p:txBody>
          <a:bodyPr/>
          <a:lstStyle/>
          <a:p>
            <a:fld id="{7A1D2B3C-4E5F-4A60-8B71-92A3B4C5D6E7}" type="datetime4">
              <a:rPr lang="en-US"/>
              <a:t>September 22, 2026</a:t>
            </a:fld>
            <a:endParaRPr lang="en-US"/>
          </a:p>
        </p:txBody>
      </p:sp>
      <p:sp>
        <p:nvSpPr>
          <p:cNvPr id="15" name="Footer Placeholder 14"/>
          <p:cNvSpPr>
            <a:spLocks noGrp="1"/>
          </p:cNvSpPr>
          <p:nvPr>
            <p:ph type="ftr" sz="quarter" idx="11"/>
          </p:nvPr>
        </p:nvSpPr>
        <p:spPr/>
        <p:txBody>
          <a:bodyPr/>
          <a:lstStyle/>
          <a:p>
            <a:r>
              <a:rPr lang="en-US"/>
              <a:t>Management of breast cancer</a:t>
            </a:r>
          </a:p>
        </p:txBody>
      </p:sp>
      <p:sp>
        <p:nvSpPr>
          <p:cNvPr id="16" name="Slide Number Placeholder 15"/>
          <p:cNvSpPr>
            <a:spLocks noGrp="1"/>
          </p:cNvSpPr>
          <p:nvPr>
            <p:ph type="sldNum" sz="quarter" idx="12"/>
          </p:nvPr>
        </p:nvSpPr>
        <p:spPr/>
        <p:txBody>
          <a:bodyPr/>
          <a:lstStyle/>
          <a:p>
            <a:fld id="{B8C9D0E1-F2A3-4B4C-9D5E-6F708192A3B4}" type="slidenum">
              <a:rPr lang="en-US"/>
              <a:t>51</a:t>
            </a:fld>
            <a:endParaRPr 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7A1D2B3C-4E5F-4A60-8B71-92A3B4C5D6E7}" type="datetime4">
              <a:rPr lang="en-US"/>
              <a:t>September 22, 2026</a:t>
            </a:fld>
            <a:endParaRPr lang="en-US"/>
          </a:p>
        </p:txBody>
      </p:sp>
      <p:sp>
        <p:nvSpPr>
          <p:cNvPr id="6" name="Footer Placeholder 5"/>
          <p:cNvSpPr>
            <a:spLocks noGrp="1"/>
          </p:cNvSpPr>
          <p:nvPr>
            <p:ph type="ftr" sz="quarter" idx="11"/>
          </p:nvPr>
        </p:nvSpPr>
        <p:spPr/>
        <p:txBody>
          <a:bodyPr/>
          <a:lstStyle/>
          <a:p>
            <a:r>
              <a:rPr lang="en-US"/>
              <a:t>Management of breast cancer</a:t>
            </a:r>
          </a:p>
        </p:txBody>
      </p:sp>
      <p:sp>
        <p:nvSpPr>
          <p:cNvPr id="7" name="Slide Number Placeholder 6"/>
          <p:cNvSpPr>
            <a:spLocks noGrp="1"/>
          </p:cNvSpPr>
          <p:nvPr>
            <p:ph type="sldNum" sz="quarter" idx="12"/>
          </p:nvPr>
        </p:nvSpPr>
        <p:spPr/>
        <p:txBody>
          <a:bodyPr/>
          <a:lstStyle/>
          <a:p>
            <a:fld id="{B8C9D0E1-F2A3-4B4C-9D5E-6F708192A3B4}" type="slidenum">
              <a:rPr lang="en-US"/>
              <a:t>52</a:t>
            </a:fld>
            <a:endParaRPr lang="en-US"/>
          </a:p>
        </p:txBody>
      </p:sp>
      <p:sp>
        <p:nvSpPr>
          <p:cNvPr id="9" name="Rectangle 8"/>
          <p:cNvSpPr/>
          <p:nvPr/>
        </p:nvSpPr>
        <p:spPr>
          <a:xfrm>
            <a:off x="502920" y="256032"/>
            <a:ext cx="9966960" cy="621792"/>
          </a:xfrm>
          <a:prstGeom prst="rect">
            <a:avLst/>
          </a:prstGeom>
          <a:solidFill>
            <a:srgbClr val="FFFFFF"/>
          </a:solidFill>
          <a:ln w="12700">
            <a:solidFill>
              <a:srgbClr val="2B63B2"/>
            </a:solidFill>
          </a:ln>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l"/>
            <a:r>
              <a:rPr sz="2200" b="1">
                <a:solidFill>
                  <a:srgbClr val="2B63B2"/>
                </a:solidFill>
                <a:latin typeface="Aptos"/>
              </a:rPr>
              <a:t>Breast cancer during pregnancy - what changes</a:t>
            </a:r>
          </a:p>
        </p:txBody>
      </p:sp>
      <p:sp>
        <p:nvSpPr>
          <p:cNvPr id="10" name="Rounded Rectangle 9"/>
          <p:cNvSpPr/>
          <p:nvPr/>
        </p:nvSpPr>
        <p:spPr>
          <a:xfrm>
            <a:off x="594360" y="1097280"/>
            <a:ext cx="4709160" cy="4297680"/>
          </a:xfrm>
          <a:prstGeom prst="roundRect">
            <a:avLst/>
          </a:prstGeom>
          <a:solidFill>
            <a:srgbClr val="E4EEF9"/>
          </a:solidFill>
          <a:ln w="15240">
            <a:solidFill>
              <a:srgbClr val="2B63B2"/>
            </a:solidFill>
          </a:ln>
        </p:spPr>
        <p:style>
          <a:lnRef idx="1">
            <a:schemeClr val="accent1"/>
          </a:lnRef>
          <a:fillRef idx="3">
            <a:schemeClr val="accent1"/>
          </a:fillRef>
          <a:effectRef idx="2">
            <a:schemeClr val="accent1"/>
          </a:effectRef>
          <a:fontRef idx="minor">
            <a:schemeClr val="lt1"/>
          </a:fontRef>
        </p:style>
        <p:txBody>
          <a:bodyPr rtlCol="0" anchor="ctr" lIns="109728" tIns="73152" bIns="73152"/>
          <a:lstStyle/>
          <a:p>
            <a:pPr algn="l"/>
            <a:r>
              <a:rPr sz="1300" b="1">
                <a:solidFill>
                  <a:srgbClr val="2B63B2"/>
                </a:solidFill>
                <a:latin typeface="Aptos Display"/>
              </a:rPr>
              <a:t>Diagnosis / staging</a:t>
            </a:r>
          </a:p>
          <a:p>
            <a:pPr>
              <a:defRPr sz="1200">
                <a:solidFill>
                  <a:srgbClr val="1F3556"/>
                </a:solidFill>
                <a:latin typeface="Aptos"/>
              </a:defRPr>
            </a:pPr>
            <a:r>
              <a:t>Ultrasound and core biopsy are central.</a:t>
            </a:r>
          </a:p>
          <a:p>
            <a:pPr>
              <a:defRPr sz="1200">
                <a:solidFill>
                  <a:srgbClr val="1F3556"/>
                </a:solidFill>
                <a:latin typeface="Aptos"/>
              </a:defRPr>
            </a:pPr>
            <a:r>
              <a:t>Use ionizing radiation only when necessary; imaging is adapted to gestation.</a:t>
            </a:r>
          </a:p>
          <a:p>
            <a:pPr>
              <a:defRPr sz="1200">
                <a:solidFill>
                  <a:srgbClr val="1F3556"/>
                </a:solidFill>
                <a:latin typeface="Aptos"/>
              </a:defRPr>
            </a:pPr>
            <a:r>
              <a:t>Multidisciplinary maternal-fetal medicine + oncology planning is essential.</a:t>
            </a:r>
          </a:p>
        </p:txBody>
      </p:sp>
      <p:sp>
        <p:nvSpPr>
          <p:cNvPr id="11" name="Rounded Rectangle 10"/>
          <p:cNvSpPr/>
          <p:nvPr/>
        </p:nvSpPr>
        <p:spPr>
          <a:xfrm>
            <a:off x="5440680" y="1097280"/>
            <a:ext cx="4709160" cy="4297680"/>
          </a:xfrm>
          <a:prstGeom prst="roundRect">
            <a:avLst/>
          </a:prstGeom>
          <a:solidFill>
            <a:srgbClr val="F7E8F0"/>
          </a:solidFill>
          <a:ln w="15240">
            <a:solidFill>
              <a:srgbClr val="841648"/>
            </a:solidFill>
          </a:ln>
        </p:spPr>
        <p:style>
          <a:lnRef idx="1">
            <a:schemeClr val="accent1"/>
          </a:lnRef>
          <a:fillRef idx="3">
            <a:schemeClr val="accent1"/>
          </a:fillRef>
          <a:effectRef idx="2">
            <a:schemeClr val="accent1"/>
          </a:effectRef>
          <a:fontRef idx="minor">
            <a:schemeClr val="lt1"/>
          </a:fontRef>
        </p:style>
        <p:txBody>
          <a:bodyPr rtlCol="0" anchor="ctr" lIns="109728" tIns="73152" bIns="73152"/>
          <a:lstStyle/>
          <a:p>
            <a:pPr algn="l"/>
            <a:r>
              <a:rPr sz="1300" b="1">
                <a:solidFill>
                  <a:srgbClr val="841648"/>
                </a:solidFill>
                <a:latin typeface="Aptos Display"/>
              </a:rPr>
              <a:t>Treatment timing</a:t>
            </a:r>
          </a:p>
          <a:p>
            <a:pPr>
              <a:defRPr sz="1200">
                <a:solidFill>
                  <a:srgbClr val="1F3556"/>
                </a:solidFill>
                <a:latin typeface="Aptos"/>
              </a:defRPr>
            </a:pPr>
            <a:r>
              <a:t>Surgery is generally feasible during pregnancy.</a:t>
            </a:r>
          </a:p>
          <a:p>
            <a:pPr>
              <a:defRPr sz="1200">
                <a:solidFill>
                  <a:srgbClr val="1F3556"/>
                </a:solidFill>
                <a:latin typeface="Aptos"/>
              </a:defRPr>
            </a:pPr>
            <a:r>
              <a:t>Selected chemotherapy can be given after the first trimester.</a:t>
            </a:r>
          </a:p>
          <a:p>
            <a:pPr>
              <a:defRPr sz="1200">
                <a:solidFill>
                  <a:srgbClr val="1F3556"/>
                </a:solidFill>
                <a:latin typeface="Aptos"/>
              </a:defRPr>
            </a:pPr>
            <a:r>
              <a:t>Radiation, endocrine therapy and HER2-targeted therapy are generally deferred until after delivery.</a:t>
            </a:r>
          </a:p>
        </p:txBody>
      </p:sp>
    </p:spTree>
    <p:extLst>
      <p:ext uri="{BB962C8B-B14F-4D97-AF65-F5344CB8AC3E}">
        <p14:creationId xmlns:p14="http://schemas.microsoft.com/office/powerpoint/2010/main" val="1437552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DABAF313-3BB2-211E-2C9D-753D39E5DFC1}"/>
              </a:ext>
            </a:extLst>
          </p:cNvPr>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r>
              <a:rPr lang="en-US"/>
              <a:t>Clinical stage IIIB (T4d); accounts for &lt;3% of breast cancers.</a:t>
            </a:r>
          </a:p>
          <a:p>
            <a:r>
              <a:rPr lang="en-US"/>
              <a:t>This cancer is characterized by the skin changes of brawny induration, erythema with a raised edge, and edema (peau d’orange), with rapid onset over weeks.</a:t>
            </a:r>
          </a:p>
          <a:p>
            <a:r>
              <a:rPr lang="en-US"/>
              <a:t>Dermal lymphatic invasion is supportive on skin biopsy but not required for diagnosis</a:t>
            </a:r>
          </a:p>
          <a:p>
            <a:r>
              <a:rPr lang="en-US"/>
              <a:t>75% present with palpable axillary lymphadenopathy, and distant metastases are present in ≈25% at diagnosis</a:t>
            </a:r>
          </a:p>
          <a:p>
            <a:r>
              <a:rPr lang="en-US"/>
              <a:t>usually HR-negative and is more frequently HER2-positive than non-inflammatory locally advanced cancer</a:t>
            </a:r>
          </a:p>
          <a:p>
            <a:r>
              <a:rPr lang="en-US"/>
              <a:t>Easily mistaken for mastitis — a failed short course of antibiotics should prompt biopsy</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53</a:t>
            </a:fld>
            <a:endParaRPr lang="en-US"/>
          </a:p>
        </p:txBody>
      </p:sp>
    </p:spTree>
    <p:extLst>
      <p:ext uri="{BB962C8B-B14F-4D97-AF65-F5344CB8AC3E}">
        <p14:creationId xmlns:p14="http://schemas.microsoft.com/office/powerpoint/2010/main" val="239270608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7A1D2B3C-4E5F-4A60-8B71-92A3B4C5D6E7}" type="datetime4">
              <a:rPr lang="en-US"/>
              <a:t>September 22, 2026</a:t>
            </a:fld>
            <a:endParaRPr lang="en-US"/>
          </a:p>
        </p:txBody>
      </p:sp>
      <p:sp>
        <p:nvSpPr>
          <p:cNvPr id="7" name="Footer Placeholder 6"/>
          <p:cNvSpPr>
            <a:spLocks noGrp="1"/>
          </p:cNvSpPr>
          <p:nvPr>
            <p:ph type="ftr" sz="quarter" idx="11"/>
          </p:nvPr>
        </p:nvSpPr>
        <p:spPr/>
        <p:txBody>
          <a:bodyPr/>
          <a:lstStyle/>
          <a:p>
            <a:r>
              <a:rPr lang="en-US"/>
              <a:t>Management of breast cancer</a:t>
            </a:r>
          </a:p>
        </p:txBody>
      </p:sp>
      <p:sp>
        <p:nvSpPr>
          <p:cNvPr id="8" name="Slide Number Placeholder 7"/>
          <p:cNvSpPr>
            <a:spLocks noGrp="1"/>
          </p:cNvSpPr>
          <p:nvPr>
            <p:ph type="sldNum" sz="quarter" idx="12"/>
          </p:nvPr>
        </p:nvSpPr>
        <p:spPr/>
        <p:txBody>
          <a:bodyPr/>
          <a:lstStyle/>
          <a:p>
            <a:fld id="{B8C9D0E1-F2A3-4B4C-9D5E-6F708192A3B4}" type="slidenum">
              <a:rPr lang="en-US"/>
              <a:t>54</a:t>
            </a:fld>
            <a:endParaRPr lang="en-US"/>
          </a:p>
        </p:txBody>
      </p:sp>
      <p:sp>
        <p:nvSpPr>
          <p:cNvPr id="15" name="Rectangle 14"/>
          <p:cNvSpPr/>
          <p:nvPr/>
        </p:nvSpPr>
        <p:spPr>
          <a:xfrm>
            <a:off x="502920" y="256032"/>
            <a:ext cx="9966960" cy="621792"/>
          </a:xfrm>
          <a:prstGeom prst="rect">
            <a:avLst/>
          </a:prstGeom>
          <a:solidFill>
            <a:srgbClr val="FFFFFF"/>
          </a:solidFill>
          <a:ln w="12700">
            <a:solidFill>
              <a:srgbClr val="2B63B2"/>
            </a:solidFill>
          </a:ln>
        </p:spPr>
        <p:style>
          <a:lnRef idx="1">
            <a:schemeClr val="accent1"/>
          </a:lnRef>
          <a:fillRef idx="3">
            <a:schemeClr val="accent1"/>
          </a:fillRef>
          <a:effectRef idx="2">
            <a:schemeClr val="accent1"/>
          </a:effectRef>
          <a:fontRef idx="minor">
            <a:schemeClr val="lt1"/>
          </a:fontRef>
        </p:style>
        <p:txBody>
          <a:bodyPr rtlCol="0" anchor="ctr" lIns="73152" rIns="73152" tIns="73152" bIns="73152"/>
          <a:lstStyle/>
          <a:p>
            <a:pPr algn="l"/>
            <a:r>
              <a:rPr sz="2200" b="1">
                <a:solidFill>
                  <a:srgbClr val="2B63B2"/>
                </a:solidFill>
                <a:latin typeface="Aptos"/>
              </a:rPr>
              <a:t>Inflammatory breast cancer - modern trimodality pathway</a:t>
            </a:r>
          </a:p>
        </p:txBody>
      </p:sp>
      <p:sp>
        <p:nvSpPr>
          <p:cNvPr id="16" name="Rounded Rectangle 15"/>
          <p:cNvSpPr/>
          <p:nvPr/>
        </p:nvSpPr>
        <p:spPr>
          <a:xfrm>
            <a:off x="594360" y="1097280"/>
            <a:ext cx="4709160" cy="4297680"/>
          </a:xfrm>
          <a:prstGeom prst="roundRect">
            <a:avLst/>
          </a:prstGeom>
          <a:solidFill>
            <a:srgbClr val="F7E8F0"/>
          </a:solidFill>
          <a:ln w="15240">
            <a:solidFill>
              <a:srgbClr val="841648"/>
            </a:solidFill>
          </a:ln>
        </p:spPr>
        <p:style>
          <a:lnRef idx="1">
            <a:schemeClr val="accent1"/>
          </a:lnRef>
          <a:fillRef idx="3">
            <a:schemeClr val="accent1"/>
          </a:fillRef>
          <a:effectRef idx="2">
            <a:schemeClr val="accent1"/>
          </a:effectRef>
          <a:fontRef idx="minor">
            <a:schemeClr val="lt1"/>
          </a:fontRef>
        </p:style>
        <p:txBody>
          <a:bodyPr rtlCol="0" anchor="ctr" lIns="109728" tIns="73152" bIns="73152"/>
          <a:lstStyle/>
          <a:p>
            <a:pPr algn="l"/>
            <a:r>
              <a:rPr sz="1280" b="1">
                <a:solidFill>
                  <a:srgbClr val="841648"/>
                </a:solidFill>
                <a:latin typeface="Aptos Display"/>
              </a:rPr>
              <a:t>1. Neoadjuvant systemic therapy</a:t>
            </a:r>
          </a:p>
          <a:p>
            <a:pPr>
              <a:defRPr sz="1180">
                <a:solidFill>
                  <a:srgbClr val="1F3556"/>
                </a:solidFill>
                <a:latin typeface="Aptos"/>
              </a:defRPr>
            </a:pPr>
            <a:r>
              <a:t>Treat according to biology: HER2-directed therapy for HER2+; TNBC chemo-immunotherapy when appropriate; endocrine-sensitive disease receives systemic treatment as indicated.</a:t>
            </a:r>
          </a:p>
          <a:p>
            <a:pPr>
              <a:defRPr sz="1180">
                <a:solidFill>
                  <a:srgbClr val="1F3556"/>
                </a:solidFill>
                <a:latin typeface="Aptos"/>
              </a:defRPr>
            </a:pPr>
            <a:r>
              <a:t>Response assessment helps define surgery and postoperative therapy.</a:t>
            </a:r>
          </a:p>
        </p:txBody>
      </p:sp>
      <p:sp>
        <p:nvSpPr>
          <p:cNvPr id="17" name="Rounded Rectangle 16"/>
          <p:cNvSpPr/>
          <p:nvPr/>
        </p:nvSpPr>
        <p:spPr>
          <a:xfrm>
            <a:off x="5440680" y="1097280"/>
            <a:ext cx="4709160" cy="4297680"/>
          </a:xfrm>
          <a:prstGeom prst="roundRect">
            <a:avLst/>
          </a:prstGeom>
          <a:solidFill>
            <a:srgbClr val="E4EEF9"/>
          </a:solidFill>
          <a:ln w="15240">
            <a:solidFill>
              <a:srgbClr val="2B63B2"/>
            </a:solidFill>
          </a:ln>
        </p:spPr>
        <p:style>
          <a:lnRef idx="1">
            <a:schemeClr val="accent1"/>
          </a:lnRef>
          <a:fillRef idx="3">
            <a:schemeClr val="accent1"/>
          </a:fillRef>
          <a:effectRef idx="2">
            <a:schemeClr val="accent1"/>
          </a:effectRef>
          <a:fontRef idx="minor">
            <a:schemeClr val="lt1"/>
          </a:fontRef>
        </p:style>
        <p:txBody>
          <a:bodyPr rtlCol="0" anchor="ctr" lIns="109728" tIns="73152" bIns="73152"/>
          <a:lstStyle/>
          <a:p>
            <a:pPr algn="l"/>
            <a:r>
              <a:rPr sz="1280" b="1">
                <a:solidFill>
                  <a:srgbClr val="2B63B2"/>
                </a:solidFill>
                <a:latin typeface="Aptos Display"/>
              </a:rPr>
              <a:t>2. Surgery + radiation</a:t>
            </a:r>
          </a:p>
          <a:p>
            <a:pPr>
              <a:defRPr sz="1180">
                <a:solidFill>
                  <a:srgbClr val="1F3556"/>
                </a:solidFill>
                <a:latin typeface="Aptos"/>
              </a:defRPr>
            </a:pPr>
            <a:r>
              <a:t>Total mastectomy with appropriate axillary surgery is standard local therapy after response.</a:t>
            </a:r>
          </a:p>
          <a:p>
            <a:pPr>
              <a:defRPr sz="1180">
                <a:solidFill>
                  <a:srgbClr val="1F3556"/>
                </a:solidFill>
                <a:latin typeface="Aptos"/>
              </a:defRPr>
            </a:pPr>
            <a:r>
              <a:t>Comprehensive chest-wall and regional-node RT follows surgery.</a:t>
            </a:r>
          </a:p>
          <a:p>
            <a:pPr>
              <a:defRPr sz="1180">
                <a:solidFill>
                  <a:srgbClr val="1F3556"/>
                </a:solidFill>
                <a:latin typeface="Aptos"/>
              </a:defRPr>
            </a:pPr>
            <a:r>
              <a:t>Reconstruction timing is individualized, often deferred when postoperative RT is anticipated.</a:t>
            </a:r>
          </a:p>
        </p:txBody>
      </p:sp>
    </p:spTree>
    <p:extLst>
      <p:ext uri="{BB962C8B-B14F-4D97-AF65-F5344CB8AC3E}">
        <p14:creationId xmlns:p14="http://schemas.microsoft.com/office/powerpoint/2010/main" val="1924976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1383416349"/>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BA9B9A19-9BF0-D4F1-8A95-C26236272665}"/>
              </a:ext>
            </a:extLst>
          </p:cNvPr>
          <p:cNvSpPr>
            <a:spLocks noGrp="1"/>
          </p:cNvSpPr>
          <p:nvPr>
            <p:ph idx="1"/>
          </p:nvPr>
        </p:nvSpPr>
        <p:spPr/>
        <p:txBody>
          <a:bodyPr lIns="45720" rIns="45720">
            <a:normAutofit/>
          </a:bodyPr>
          <a:lstStyle>
            <a:lvl1pPr>
              <a:defRPr sz="2400"/>
            </a:lvl1pPr>
            <a:lvl2pPr>
              <a:defRPr sz="2000"/>
            </a:lvl2pPr>
            <a:lvl3pPr>
              <a:defRPr sz="1800"/>
            </a:lvl3pPr>
            <a:lvl4pPr>
              <a:defRPr sz="1600"/>
            </a:lvl4pPr>
            <a:lvl5pPr>
              <a:defRPr sz="1600"/>
            </a:lvl5pPr>
          </a:lstStyle>
          <a:p>
            <a:pPr algn="l"/>
            <a:r>
              <a:rPr sz="1400" b="0">
                <a:solidFill>
                  <a:srgbClr val="1F3556"/>
                </a:solidFill>
                <a:latin typeface="Aptos"/>
              </a:rPr>
              <a:t>Male breast cancer is &lt;1% of breast cancer and usually presents at older age. Staging is identical to female breast cancer. Most tumors are HR-positive; BRCA2 and other hereditary factors are important. Mastectomy is common because of limited breast tissue, but selected men can undergo breast-conserving surgery.</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55</a:t>
            </a:fld>
            <a:endParaRPr lang="en-US"/>
          </a:p>
        </p:txBody>
      </p:sp>
    </p:spTree>
    <p:extLst>
      <p:ext uri="{BB962C8B-B14F-4D97-AF65-F5344CB8AC3E}">
        <p14:creationId xmlns:p14="http://schemas.microsoft.com/office/powerpoint/2010/main" val="143896739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2166204787"/>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855CAF63-7A41-01C5-0992-05316F885630}"/>
              </a:ext>
            </a:extLst>
          </p:cNvPr>
          <p:cNvSpPr>
            <a:spLocks noGrp="1"/>
          </p:cNvSpPr>
          <p:nvPr>
            <p:ph idx="1"/>
          </p:nvPr>
        </p:nvSpPr>
        <p:spPr/>
        <p:txBody>
          <a:bodyPr lIns="45720" rIns="45720">
            <a:normAutofit/>
          </a:bodyPr>
          <a:lstStyle>
            <a:lvl1pPr>
              <a:defRPr sz="2600"/>
            </a:lvl1pPr>
            <a:lvl2pPr>
              <a:defRPr sz="2200"/>
            </a:lvl2pPr>
            <a:lvl3pPr>
              <a:defRPr sz="2000"/>
            </a:lvl3pPr>
            <a:lvl4pPr>
              <a:defRPr sz="1800"/>
            </a:lvl4pPr>
            <a:lvl5pPr>
              <a:defRPr sz="1800"/>
            </a:lvl5pPr>
          </a:lstStyle>
          <a:p>
            <a:pPr algn="l"/>
            <a:r>
              <a:rPr sz="1400" b="0">
                <a:solidFill>
                  <a:srgbClr val="1F3556"/>
                </a:solidFill>
                <a:latin typeface="Aptos"/>
              </a:rPr>
              <a:t>Endocrine therapy: tamoxifen is the usual backbone for HR-positive disease. If an AI is used, add gonadal suppression; AI monotherapy is not adequate in men. Use chemotherapy/HER2-directed therapy according to the same biologic principles as in women. Offer genetic counseling/testing.</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56</a:t>
            </a:fld>
            <a:endParaRPr lang="en-US"/>
          </a:p>
        </p:txBody>
      </p:sp>
    </p:spTree>
    <p:extLst>
      <p:ext uri="{BB962C8B-B14F-4D97-AF65-F5344CB8AC3E}">
        <p14:creationId xmlns:p14="http://schemas.microsoft.com/office/powerpoint/2010/main" val="317302387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57</a:t>
            </a:fld>
            <a:endParaRPr lang="en-US"/>
          </a:p>
        </p:txBody>
      </p:sp>
      <p:sp>
        <p:nvSpPr>
          <p:cNvPr id="7" name="Rounded Rectangle 6"/>
          <p:cNvSpPr/>
          <p:nvPr/>
        </p:nvSpPr>
        <p:spPr>
          <a:xfrm>
            <a:off x="548640" y="292608"/>
            <a:ext cx="11064240" cy="685800"/>
          </a:xfrm>
          <a:prstGeom prst="roundRect">
            <a:avLst/>
          </a:prstGeom>
          <a:solidFill>
            <a:srgbClr val="4169B4"/>
          </a:solidFill>
          <a:ln>
            <a:solidFill>
              <a:srgbClr val="4169B4"/>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2500" b="1">
                <a:solidFill>
                  <a:srgbClr val="FFFFFF"/>
                </a:solidFill>
              </a:rPr>
              <a:t>2026 treatment updates to remember</a:t>
            </a:r>
          </a:p>
        </p:txBody>
      </p:sp>
      <p:sp>
        <p:nvSpPr>
          <p:cNvPr id="8" name="TextBox 7"/>
          <p:cNvSpPr txBox="1"/>
          <p:nvPr/>
        </p:nvSpPr>
        <p:spPr>
          <a:xfrm>
            <a:off x="777240" y="1417320"/>
            <a:ext cx="10607040" cy="4297680"/>
          </a:xfrm>
          <a:prstGeom prst="rect">
            <a:avLst/>
          </a:prstGeom>
          <a:noFill/>
        </p:spPr>
        <p:txBody>
          <a:bodyPr wrap="square" lIns="45720" rIns="45720">
            <a:spAutoFit/>
          </a:bodyPr>
          <a:lstStyle/>
          <a:p>
            <a:pPr>
              <a:spcAft>
                <a:spcPts val="1400"/>
              </a:spcAft>
              <a:defRPr sz="2300">
                <a:solidFill>
                  <a:srgbClr val="1F3F70"/>
                </a:solidFill>
              </a:defRPr>
            </a:pPr>
            <a:r>
              <a:t>• HER2+ early disease: new FDA-approved T-DXd neoadjuvant and adjuvant indications in selected settings.</a:t>
            </a:r>
          </a:p>
          <a:p>
            <a:pPr>
              <a:spcAft>
                <a:spcPts val="1400"/>
              </a:spcAft>
              <a:defRPr sz="2300">
                <a:solidFill>
                  <a:srgbClr val="1F3F70"/>
                </a:solidFill>
              </a:defRPr>
            </a:pPr>
            <a:r>
              <a:t>• TNBC metastatic: sacituzumab-based first-line options and datopotamab deruxtecan broaden the ADC landscape.</a:t>
            </a:r>
          </a:p>
          <a:p>
            <a:pPr>
              <a:spcAft>
                <a:spcPts val="1400"/>
              </a:spcAft>
              <a:defRPr sz="2300">
                <a:solidFill>
                  <a:srgbClr val="1F3F70"/>
                </a:solidFill>
              </a:defRPr>
            </a:pPr>
            <a:r>
              <a:t>• HR+/HER2- metastatic: multiple new ESR1-directed agents/combination strategies were FDA-approved in 2026.</a:t>
            </a:r>
          </a:p>
          <a:p>
            <a:pPr>
              <a:spcAft>
                <a:spcPts val="1400"/>
              </a:spcAft>
              <a:defRPr sz="2300">
                <a:solidFill>
                  <a:srgbClr val="1F3F70"/>
                </a:solidFill>
              </a:defRPr>
            </a:pPr>
            <a:r>
              <a:t>• Clinical trials and local formulary/label rules still determine real-world access and sequencing.</a:t>
            </a:r>
          </a:p>
        </p:txBody>
      </p:sp>
    </p:spTree>
    <p:extLst>
      <p:ext uri="{BB962C8B-B14F-4D97-AF65-F5344CB8AC3E}">
        <p14:creationId xmlns:p14="http://schemas.microsoft.com/office/powerpoint/2010/main" val="29351848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1955189235"/>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Table 3"/>
          <p:cNvGraphicFramePr>
            <a:graphicFrameLocks noGrp="1"/>
          </p:cNvGraphicFramePr>
          <p:nvPr>
            <p:extLst>
              <p:ext uri="{D42A27DB-BD31-4B8C-83A1-F6EECF244321}">
                <p14:modId xmlns:p14="http://schemas.microsoft.com/office/powerpoint/2010/main" val="2002451658"/>
              </p:ext>
            </p:extLst>
          </p:nvPr>
        </p:nvGraphicFramePr>
        <p:xfrm>
          <a:off x="548640" y="1417320"/>
          <a:ext cx="11094690" cy="4157472"/>
        </p:xfrm>
        <a:graphic>
          <a:graphicData uri="http://schemas.openxmlformats.org/drawingml/2006/table">
            <a:tbl>
              <a:tblPr firstRow="1"/>
              <a:tblGrid>
                <a:gridCol w="3328407"/>
                <a:gridCol w="7766283"/>
              </a:tblGrid>
              <a:tr h="420624">
                <a:tc>
                  <a:txBody>
                    <a:bodyPr/>
                    <a:lstStyle/>
                    <a:p>
                      <a:r>
                        <a:rPr sz="980" b="1">
                          <a:solidFill>
                            <a:srgbClr val="FFFFFF"/>
                          </a:solidFill>
                          <a:latin typeface="Aptos"/>
                        </a:rPr>
                        <a:t>Element</a:t>
                      </a:r>
                    </a:p>
                  </a:txBody>
                  <a:tcPr marL="45720" marR="45720" marT="32004" marB="32004" anchor="ctr">
                    <a:solidFill>
                      <a:srgbClr val="2B63B2"/>
                    </a:solidFill>
                  </a:tcPr>
                </a:tc>
                <a:tc>
                  <a:txBody>
                    <a:bodyPr/>
                    <a:lstStyle/>
                    <a:p>
                      <a:r>
                        <a:rPr sz="980" b="1">
                          <a:solidFill>
                            <a:srgbClr val="FFFFFF"/>
                          </a:solidFill>
                          <a:latin typeface="Aptos"/>
                        </a:rPr>
                        <a:t>Current practical approach</a:t>
                      </a:r>
                    </a:p>
                  </a:txBody>
                  <a:tcPr marL="45720" marR="45720" marT="32004" marB="32004" anchor="ctr">
                    <a:solidFill>
                      <a:srgbClr val="2B63B2"/>
                    </a:solidFill>
                  </a:tcPr>
                </a:tc>
              </a:tr>
              <a:tr h="268224">
                <a:tc>
                  <a:txBody>
                    <a:bodyPr/>
                    <a:lstStyle/>
                    <a:p>
                      <a:r>
                        <a:rPr sz="930" b="0">
                          <a:solidFill>
                            <a:srgbClr val="1F3556"/>
                          </a:solidFill>
                          <a:latin typeface="Aptos"/>
                        </a:rPr>
                        <a:t>History &amp; examination</a:t>
                      </a:r>
                    </a:p>
                  </a:txBody>
                  <a:tcPr marL="45720" marR="45720" marT="32004" marB="32004" anchor="ctr">
                    <a:lnB w="6350">
                      <a:solidFill>
                        <a:srgbClr val="E4D6DB"/>
                      </a:solidFill>
                    </a:lnB>
                    <a:solidFill>
                      <a:srgbClr val="FFFFFF"/>
                    </a:solidFill>
                  </a:tcPr>
                </a:tc>
                <a:tc>
                  <a:txBody>
                    <a:bodyPr/>
                    <a:lstStyle/>
                    <a:p>
                      <a:r>
                        <a:rPr sz="930" b="0">
                          <a:solidFill>
                            <a:srgbClr val="1F3556"/>
                          </a:solidFill>
                          <a:latin typeface="Aptos"/>
                        </a:rPr>
                        <a:t>Regularly during the first years, then less frequently; exact interval follows local follow-up guideline and recurrence risk.</a:t>
                      </a:r>
                    </a:p>
                  </a:txBody>
                  <a:tcPr marL="45720" marR="45720" marT="32004" marB="32004" anchor="ctr">
                    <a:lnB w="6350">
                      <a:solidFill>
                        <a:srgbClr val="E4D6DB"/>
                      </a:solidFill>
                    </a:lnB>
                    <a:solidFill>
                      <a:srgbClr val="FFFFFF"/>
                    </a:solidFill>
                  </a:tcPr>
                </a:tc>
              </a:tr>
              <a:tr h="268224">
                <a:tc>
                  <a:txBody>
                    <a:bodyPr/>
                    <a:lstStyle/>
                    <a:p>
                      <a:r>
                        <a:rPr sz="930" b="0">
                          <a:solidFill>
                            <a:srgbClr val="1F3556"/>
                          </a:solidFill>
                          <a:latin typeface="Aptos"/>
                        </a:rPr>
                        <a:t>Breast imaging</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r>
                        <a:rPr sz="930" b="0">
                          <a:solidFill>
                            <a:srgbClr val="1F3556"/>
                          </a:solidFill>
                          <a:latin typeface="Aptos"/>
                        </a:rPr>
                        <a:t>Annual mammography after completion of breast-conserving treatment; timing of first post-treatment study depends on surgery/RT schedule.</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r h="447040">
                <a:tc>
                  <a:txBody>
                    <a:bodyPr/>
                    <a:lstStyle/>
                    <a:p>
                      <a:r>
                        <a:rPr sz="930" b="0">
                          <a:solidFill>
                            <a:srgbClr val="1F3556"/>
                          </a:solidFill>
                          <a:latin typeface="Aptos"/>
                        </a:rPr>
                        <a:t>Routine CT/PET/bone scan or tumor markers</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r>
                        <a:rPr sz="930" b="0">
                          <a:solidFill>
                            <a:srgbClr val="1F3556"/>
                          </a:solidFill>
                          <a:latin typeface="Aptos"/>
                        </a:rPr>
                        <a:t>Not recommended for asymptomatic survivors after curative-intent treatment; evaluate new symptoms or signs promptly.</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r>
              <a:tr h="268224">
                <a:tc>
                  <a:txBody>
                    <a:bodyPr/>
                    <a:lstStyle/>
                    <a:p>
                      <a:r>
                        <a:rPr sz="930" b="0">
                          <a:solidFill>
                            <a:srgbClr val="1F3556"/>
                          </a:solidFill>
                          <a:latin typeface="Aptos"/>
                        </a:rPr>
                        <a:t>Endocrine therapy / toxicity</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r>
                        <a:rPr sz="930" b="0">
                          <a:solidFill>
                            <a:srgbClr val="1F3556"/>
                          </a:solidFill>
                          <a:latin typeface="Aptos"/>
                        </a:rPr>
                        <a:t>Review adherence, menopausal symptoms, bone health, cardiovascular risk and drug interactions throughout therapy.</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r h="447040">
                <a:tc>
                  <a:txBody>
                    <a:bodyPr/>
                    <a:lstStyle/>
                    <a:p>
                      <a:r>
                        <a:rPr sz="930" b="0">
                          <a:solidFill>
                            <a:srgbClr val="1F3556"/>
                          </a:solidFill>
                          <a:latin typeface="Aptos"/>
                        </a:rPr>
                        <a:t>Late effects</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c>
                  <a:txBody>
                    <a:bodyPr/>
                    <a:lstStyle/>
                    <a:p>
                      <a:r>
                        <a:rPr sz="930" b="0">
                          <a:solidFill>
                            <a:srgbClr val="1F3556"/>
                          </a:solidFill>
                          <a:latin typeface="Aptos"/>
                        </a:rPr>
                        <a:t>Lymphedema, neuropathy, cardiac toxicity, bone loss, sexual health, fertility/menopause and psychosocial needs.</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FFFFF"/>
                    </a:solidFill>
                  </a:tcPr>
                </a:tc>
              </a:tr>
              <a:tr h="447040">
                <a:tc>
                  <a:txBody>
                    <a:bodyPr/>
                    <a:lstStyle/>
                    <a:p>
                      <a:r>
                        <a:rPr sz="930" b="0">
                          <a:solidFill>
                            <a:srgbClr val="1F3556"/>
                          </a:solidFill>
                          <a:latin typeface="Aptos"/>
                        </a:rPr>
                        <a:t>New symptoms</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c>
                  <a:txBody>
                    <a:bodyPr/>
                    <a:lstStyle/>
                    <a:p>
                      <a:r>
                        <a:rPr sz="930" b="0">
                          <a:solidFill>
                            <a:srgbClr val="1F3556"/>
                          </a:solidFill>
                          <a:latin typeface="Aptos"/>
                        </a:rPr>
                        <a:t>Use symptom-directed imaging and biopsy of suspected recurrence when it will establish diagnosis and guide treatment.</a:t>
                      </a:r>
                    </a:p>
                  </a:txBody>
                  <a:tcPr marL="45720" marR="45720" marT="32004" marB="32004" anchor="ctr">
                    <a:lnT w="6350" cap="flat" cmpd="sng" algn="ctr">
                      <a:solidFill>
                        <a:srgbClr val="E4D6DB"/>
                      </a:solidFill>
                      <a:prstDash val="solid"/>
                      <a:round/>
                      <a:headEnd type="none" w="med" len="med"/>
                      <a:tailEnd type="none" w="med" len="med"/>
                    </a:lnT>
                    <a:lnB w="6350">
                      <a:solidFill>
                        <a:srgbClr val="E4D6DB"/>
                      </a:solidFill>
                    </a:lnB>
                    <a:solidFill>
                      <a:srgbClr val="F6ECEF"/>
                    </a:solidFill>
                  </a:tcPr>
                </a:tc>
              </a:tr>
            </a:tbl>
          </a:graphicData>
        </a:graphic>
      </p:graphicFrame>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58</a:t>
            </a:fld>
            <a:endParaRPr lang="en-US"/>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2905427615"/>
              </p:ext>
            </p:extLst>
          </p:nvPr>
        </p:nvGraphicFramePr>
        <p:xfrm>
          <a:off x="548640" y="320040"/>
          <a:ext cx="11094690" cy="960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xmlns="" id="{85890FA3-365B-3A9F-87B7-315C9BE18570}"/>
              </a:ext>
            </a:extLst>
          </p:cNvPr>
          <p:cNvSpPr>
            <a:spLocks noGrp="1"/>
          </p:cNvSpPr>
          <p:nvPr>
            <p:ph idx="1"/>
          </p:nvPr>
        </p:nvSpPr>
        <p:spPr/>
        <p:txBody>
          <a:bodyPr lIns="45720" rIns="45720">
            <a:normAutofit/>
          </a:bodyPr>
          <a:lstStyle>
            <a:lvl1pPr>
              <a:defRPr sz="1600"/>
            </a:lvl1pPr>
            <a:lvl2pPr>
              <a:defRPr sz="1400"/>
            </a:lvl2pPr>
            <a:lvl3pPr>
              <a:defRPr sz="1400"/>
            </a:lvl3pPr>
            <a:lvl4pPr>
              <a:defRPr sz="1400"/>
            </a:lvl4pPr>
            <a:lvl5pPr>
              <a:defRPr sz="1400"/>
            </a:lvl5pPr>
          </a:lstStyle>
          <a:p>
            <a:pPr algn="l">
              <a:buNone/>
            </a:pPr>
            <a:r>
              <a:rPr sz="1120" b="0">
                <a:solidFill>
                  <a:srgbClr val="1F3556"/>
                </a:solidFill>
                <a:latin typeface="Aptos"/>
              </a:rPr>
              <a:t>Selected references for the 2026 update
1. ACS Breast Cancer Screening Recommendations.
2. USPSTF Breast Cancer Screening (2024).
3. USPSTF Breast Cancer Medication Risk Reduction.
4. NCI Breast Cancer Treatment PDQ.
5. NCI Breast Cancer Treatment During Pregnancy PDQ.
6. NCI Male Breast Cancer Treatment PDQ.
7. ASTRO/ASCO/SSO Postmastectomy Radiation Therapy Guideline (2025).
8. ASTRO/ASCO/SSO Partial Breast Irradiation Guideline.
9. ASCO 2026 axillary de-escalation update.
10. ASBrS/SBI/CAP 2026 LCIS/atypia guideline.
11-19. ESMO Breast Cancer Pocket Guideline + 2026 FDA breast-cancer approvals.
NCCN screenshots were removed rather than reproduced; consult the current licensed NCCN document directly when authorized.</a:t>
            </a:r>
          </a:p>
        </p:txBody>
      </p:sp>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59</a:t>
            </a:fld>
            <a:endParaRPr lang="en-US"/>
          </a:p>
        </p:txBody>
      </p:sp>
    </p:spTree>
    <p:extLst>
      <p:ext uri="{BB962C8B-B14F-4D97-AF65-F5344CB8AC3E}">
        <p14:creationId xmlns:p14="http://schemas.microsoft.com/office/powerpoint/2010/main" val="67630349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A1D2B3C-4E5F-4A60-8B71-92A3B4C5D6E7}" type="datetime4">
              <a:rPr lang="en-US"/>
              <a:t>September 22, 2026</a:t>
            </a:fld>
            <a:endParaRPr lang="en-US"/>
          </a:p>
        </p:txBody>
      </p:sp>
      <p:sp>
        <p:nvSpPr>
          <p:cNvPr id="5" name="Footer Placeholder 4"/>
          <p:cNvSpPr>
            <a:spLocks noGrp="1"/>
          </p:cNvSpPr>
          <p:nvPr>
            <p:ph type="ftr" sz="quarter" idx="11"/>
          </p:nvPr>
        </p:nvSpPr>
        <p:spPr/>
        <p:txBody>
          <a:bodyPr/>
          <a:lstStyle/>
          <a:p>
            <a:r>
              <a:rPr lang="en-US"/>
              <a:t>Management of breast cancer</a:t>
            </a:r>
          </a:p>
        </p:txBody>
      </p:sp>
      <p:sp>
        <p:nvSpPr>
          <p:cNvPr id="6" name="Slide Number Placeholder 5"/>
          <p:cNvSpPr>
            <a:spLocks noGrp="1"/>
          </p:cNvSpPr>
          <p:nvPr>
            <p:ph type="sldNum" sz="quarter" idx="12"/>
          </p:nvPr>
        </p:nvSpPr>
        <p:spPr/>
        <p:txBody>
          <a:bodyPr/>
          <a:lstStyle/>
          <a:p>
            <a:fld id="{B8C9D0E1-F2A3-4B4C-9D5E-6F708192A3B4}" type="slidenum">
              <a:rPr lang="en-US"/>
              <a:t>60</a:t>
            </a:fld>
            <a:endParaRPr lang="en-US"/>
          </a:p>
        </p:txBody>
      </p:sp>
      <p:graphicFrame>
        <p:nvGraphicFramePr>
          <p:cNvPr id="12" name="Diagram 11"/>
          <p:cNvGraphicFramePr/>
          <p:nvPr>
            <p:extLst>
              <p:ext uri="{D42A27DB-BD31-4B8C-83A1-F6EECF244321}">
                <p14:modId xmlns:p14="http://schemas.microsoft.com/office/powerpoint/2010/main" val="1784274800"/>
              </p:ext>
            </p:extLst>
          </p:nvPr>
        </p:nvGraphicFramePr>
        <p:xfrm>
          <a:off x="2426610" y="1985963"/>
          <a:ext cx="7303178" cy="21145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9196939"/>
      </p:ext>
    </p:extLst>
  </p:cSld>
  <p:clrMapOvr>
    <a:masterClrMapping/>
  </p:clrMapOvr>
  <p:timing>
    <p:tnLst>
      <p:par>
        <p:cTn id="1" dur="indefinite" restart="never" nodeType="tmRoot"/>
      </p:par>
    </p:tnLst>
  </p:timing>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94360" y="1051560"/>
            <a:ext cx="9601200" cy="914400"/>
          </a:xfrm>
        </p:spPr>
        <p:txBody>
          <a:bodyPr/>
          <a:lstStyle/>
          <a:p>
            <a:r>
              <a:rPr sz="3400" b="1">
                <a:solidFill>
                  <a:srgbClr val="1F3756"/>
                </a:solidFill>
                <a:latin typeface="Aptos Display"/>
              </a:rPr>
              <a:t>NCCN Breast Cancer v6.2026 — Clinical Update Addendum</a:t>
            </a:r>
          </a:p>
        </p:txBody>
      </p:sp>
      <p:sp>
        <p:nvSpPr>
          <p:cNvPr id="3" name="Text Placeholder 2"/>
          <p:cNvSpPr>
            <a:spLocks noGrp="1"/>
          </p:cNvSpPr>
          <p:nvPr>
            <p:ph type="body" idx="1"/>
          </p:nvPr>
        </p:nvSpPr>
        <p:spPr/>
        <p:txBody>
          <a:bodyPr/>
          <a:lstStyle/>
          <a:p/>
        </p:txBody>
      </p:sp>
      <p:sp>
        <p:nvSpPr>
          <p:cNvPr id="4" name="TextBox 3"/>
          <p:cNvSpPr txBox="1"/>
          <p:nvPr/>
        </p:nvSpPr>
        <p:spPr>
          <a:xfrm>
            <a:off x="640080" y="2057400"/>
            <a:ext cx="9418320" cy="1280160"/>
          </a:xfrm>
          <a:prstGeom prst="rect">
            <a:avLst/>
          </a:prstGeom>
          <a:noFill/>
        </p:spPr>
        <p:txBody>
          <a:bodyPr wrap="none">
            <a:spAutoFit/>
          </a:bodyPr>
          <a:lstStyle/>
          <a:p>
            <a:r>
              <a:rPr sz="1800">
                <a:solidFill>
                  <a:srgbClr val="5A6978"/>
                </a:solidFill>
                <a:latin typeface="Aptos"/>
              </a:rPr>
              <a:t>Comprehensive, concise management bullets derived from the supplied NCCN 2026 Breast Cancer and Breast Cancer Risk Reduction PDFs. Use with the current licensed NCCN algorithms at the bedside or for formal guideline interpretation.</a:t>
            </a:r>
          </a:p>
        </p:txBody>
      </p:sp>
      <p:sp>
        <p:nvSpPr>
          <p:cNvPr id="5" name="Rectangle 4"/>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7" name="TextBox 6"/>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8" name="TextBox 7"/>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How to read the NCCN 6.2026 framework</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Core inputs</a:t>
            </a:r>
          </a:p>
          <a:p>
            <a:pPr>
              <a:lnSpc>
                <a:spcPct val="103000"/>
              </a:lnSpc>
              <a:spcBef>
                <a:spcPts val="200"/>
              </a:spcBef>
              <a:spcAft>
                <a:spcPts val="200"/>
              </a:spcAft>
            </a:pPr>
            <a:r>
              <a:rPr sz="1520">
                <a:solidFill>
                  <a:srgbClr val="232A32"/>
                </a:solidFill>
                <a:latin typeface="Aptos"/>
              </a:rPr>
              <a:t>• Anatomic extent: T, N, M and resectability.</a:t>
            </a:r>
          </a:p>
          <a:p>
            <a:pPr>
              <a:lnSpc>
                <a:spcPct val="103000"/>
              </a:lnSpc>
              <a:spcBef>
                <a:spcPts val="200"/>
              </a:spcBef>
              <a:spcAft>
                <a:spcPts val="200"/>
              </a:spcAft>
            </a:pPr>
            <a:r>
              <a:rPr sz="1520">
                <a:solidFill>
                  <a:srgbClr val="232A32"/>
                </a:solidFill>
                <a:latin typeface="Aptos"/>
              </a:rPr>
              <a:t>• Biology: ER, PR, HER2, grade and selected molecular/genomic tests.</a:t>
            </a:r>
          </a:p>
          <a:p>
            <a:pPr>
              <a:lnSpc>
                <a:spcPct val="103000"/>
              </a:lnSpc>
              <a:spcBef>
                <a:spcPts val="200"/>
              </a:spcBef>
              <a:spcAft>
                <a:spcPts val="200"/>
              </a:spcAft>
            </a:pPr>
            <a:r>
              <a:rPr sz="1520">
                <a:solidFill>
                  <a:srgbClr val="232A32"/>
                </a:solidFill>
                <a:latin typeface="Aptos"/>
              </a:rPr>
              <a:t>• Patient factors: age, menopause, pregnancy, genetics, comorbidity, fertility and preferences.</a:t>
            </a:r>
          </a:p>
          <a:p>
            <a:pPr>
              <a:lnSpc>
                <a:spcPct val="103000"/>
              </a:lnSpc>
              <a:spcBef>
                <a:spcPts val="200"/>
              </a:spcBef>
              <a:spcAft>
                <a:spcPts val="200"/>
              </a:spcAft>
            </a:pPr>
            <a:r>
              <a:rPr sz="1520">
                <a:solidFill>
                  <a:srgbClr val="232A32"/>
                </a:solidFill>
                <a:latin typeface="Aptos"/>
              </a:rPr>
              <a:t>• Neoadjuvant response: pCR versus residual invasive disease can change postoperative treatment.</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Evidence / categories</a:t>
            </a:r>
          </a:p>
          <a:p>
            <a:pPr>
              <a:lnSpc>
                <a:spcPct val="103000"/>
              </a:lnSpc>
              <a:spcBef>
                <a:spcPts val="200"/>
              </a:spcBef>
              <a:spcAft>
                <a:spcPts val="200"/>
              </a:spcAft>
            </a:pPr>
            <a:r>
              <a:rPr sz="1520">
                <a:solidFill>
                  <a:srgbClr val="232A32"/>
                </a:solidFill>
                <a:latin typeface="Aptos"/>
              </a:rPr>
              <a:t>• NCCN states that recommendations are Category 2A unless otherwise indicated.</a:t>
            </a:r>
          </a:p>
          <a:p>
            <a:pPr>
              <a:lnSpc>
                <a:spcPct val="103000"/>
              </a:lnSpc>
              <a:spcBef>
                <a:spcPts val="200"/>
              </a:spcBef>
              <a:spcAft>
                <a:spcPts val="200"/>
              </a:spcAft>
            </a:pPr>
            <a:r>
              <a:rPr sz="1520">
                <a:solidFill>
                  <a:srgbClr val="232A32"/>
                </a:solidFill>
                <a:latin typeface="Aptos"/>
              </a:rPr>
              <a:t>• Category 1: high-level evidence with uniform NCCN consensus.</a:t>
            </a:r>
          </a:p>
          <a:p>
            <a:pPr>
              <a:lnSpc>
                <a:spcPct val="103000"/>
              </a:lnSpc>
              <a:spcBef>
                <a:spcPts val="200"/>
              </a:spcBef>
              <a:spcAft>
                <a:spcPts val="200"/>
              </a:spcAft>
            </a:pPr>
            <a:r>
              <a:rPr sz="1520">
                <a:solidFill>
                  <a:srgbClr val="232A32"/>
                </a:solidFill>
                <a:latin typeface="Aptos"/>
              </a:rPr>
              <a:t>• Category 2A: lower-level evidence but uniform consensus.</a:t>
            </a:r>
          </a:p>
          <a:p>
            <a:pPr>
              <a:lnSpc>
                <a:spcPct val="103000"/>
              </a:lnSpc>
              <a:spcBef>
                <a:spcPts val="200"/>
              </a:spcBef>
              <a:spcAft>
                <a:spcPts val="200"/>
              </a:spcAft>
            </a:pPr>
            <a:r>
              <a:rPr sz="1520">
                <a:solidFill>
                  <a:srgbClr val="232A32"/>
                </a:solidFill>
                <a:latin typeface="Aptos"/>
              </a:rPr>
              <a:t>• Category 2B: lower-level evidence with NCCN consensus, but less uniform.</a:t>
            </a:r>
          </a:p>
          <a:p>
            <a:pPr>
              <a:lnSpc>
                <a:spcPct val="103000"/>
              </a:lnSpc>
              <a:spcBef>
                <a:spcPts val="200"/>
              </a:spcBef>
              <a:spcAft>
                <a:spcPts val="200"/>
              </a:spcAft>
            </a:pPr>
            <a:r>
              <a:rPr sz="1520">
                <a:solidFill>
                  <a:srgbClr val="232A32"/>
                </a:solidFill>
                <a:latin typeface="Aptos"/>
              </a:rPr>
              <a:t>• Category 3: major disagreement; use only in defined circumstances.</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NCCN Breast Cancer v6.2026; Evidence Blocks definitions</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Initial work-up of newly diagnosed invasive breast cancer</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Clinical + imaging</a:t>
            </a:r>
          </a:p>
          <a:p>
            <a:pPr>
              <a:lnSpc>
                <a:spcPct val="103000"/>
              </a:lnSpc>
              <a:spcBef>
                <a:spcPts val="200"/>
              </a:spcBef>
              <a:spcAft>
                <a:spcPts val="200"/>
              </a:spcAft>
            </a:pPr>
            <a:r>
              <a:rPr sz="1520">
                <a:solidFill>
                  <a:srgbClr val="232A32"/>
                </a:solidFill>
                <a:latin typeface="Aptos"/>
              </a:rPr>
              <a:t>• History and physical examination; bilateral diagnostic mammography.</a:t>
            </a:r>
          </a:p>
          <a:p>
            <a:pPr>
              <a:lnSpc>
                <a:spcPct val="103000"/>
              </a:lnSpc>
              <a:spcBef>
                <a:spcPts val="200"/>
              </a:spcBef>
              <a:spcAft>
                <a:spcPts val="200"/>
              </a:spcAft>
            </a:pPr>
            <a:r>
              <a:rPr sz="1520">
                <a:solidFill>
                  <a:srgbClr val="232A32"/>
                </a:solidFill>
                <a:latin typeface="Aptos"/>
              </a:rPr>
              <a:t>• Targeted ultrasound as needed; axillary US when surgical nodal staging may be omitted or nodal disease is suspected.</a:t>
            </a:r>
          </a:p>
          <a:p>
            <a:pPr>
              <a:lnSpc>
                <a:spcPct val="103000"/>
              </a:lnSpc>
              <a:spcBef>
                <a:spcPts val="200"/>
              </a:spcBef>
              <a:spcAft>
                <a:spcPts val="200"/>
              </a:spcAft>
            </a:pPr>
            <a:r>
              <a:rPr sz="1520">
                <a:solidFill>
                  <a:srgbClr val="232A32"/>
                </a:solidFill>
                <a:latin typeface="Aptos"/>
              </a:rPr>
              <a:t>• Breast MRI is optional/selective, especially for mammographically occult disease or extent questions.</a:t>
            </a:r>
          </a:p>
          <a:p>
            <a:pPr>
              <a:lnSpc>
                <a:spcPct val="103000"/>
              </a:lnSpc>
              <a:spcBef>
                <a:spcPts val="200"/>
              </a:spcBef>
              <a:spcAft>
                <a:spcPts val="200"/>
              </a:spcAft>
            </a:pPr>
            <a:r>
              <a:rPr sz="1520">
                <a:solidFill>
                  <a:srgbClr val="232A32"/>
                </a:solidFill>
                <a:latin typeface="Aptos"/>
              </a:rPr>
              <a:t>• Do not order routine metastatic imaging in asymptomatic low-risk patients; target additional imaging to symptoms/high-risk presentations.</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Pathology + patient factors</a:t>
            </a:r>
          </a:p>
          <a:p>
            <a:pPr>
              <a:lnSpc>
                <a:spcPct val="103000"/>
              </a:lnSpc>
              <a:spcBef>
                <a:spcPts val="200"/>
              </a:spcBef>
              <a:spcAft>
                <a:spcPts val="200"/>
              </a:spcAft>
            </a:pPr>
            <a:r>
              <a:rPr sz="1520">
                <a:solidFill>
                  <a:srgbClr val="232A32"/>
                </a:solidFill>
                <a:latin typeface="Aptos"/>
              </a:rPr>
              <a:t>• Pathology review: histology, grade, ER/PR and HER2 using validated testing.</a:t>
            </a:r>
          </a:p>
          <a:p>
            <a:pPr>
              <a:lnSpc>
                <a:spcPct val="103000"/>
              </a:lnSpc>
              <a:spcBef>
                <a:spcPts val="200"/>
              </a:spcBef>
              <a:spcAft>
                <a:spcPts val="200"/>
              </a:spcAft>
            </a:pPr>
            <a:r>
              <a:rPr sz="1520">
                <a:solidFill>
                  <a:srgbClr val="232A32"/>
                </a:solidFill>
                <a:latin typeface="Aptos"/>
              </a:rPr>
              <a:t>• Genetic counseling/testing when hereditary risk is present, for TNBC at any age, or when an adjuvant PARP inhibitor may be relevant.</a:t>
            </a:r>
          </a:p>
          <a:p>
            <a:pPr>
              <a:lnSpc>
                <a:spcPct val="103000"/>
              </a:lnSpc>
              <a:spcBef>
                <a:spcPts val="200"/>
              </a:spcBef>
              <a:spcAft>
                <a:spcPts val="200"/>
              </a:spcAft>
            </a:pPr>
            <a:r>
              <a:rPr sz="1520">
                <a:solidFill>
                  <a:srgbClr val="232A32"/>
                </a:solidFill>
                <a:latin typeface="Aptos"/>
              </a:rPr>
              <a:t>• Address fertility, birth control and sexual health; pregnancy testing when pregnancy is possible.</a:t>
            </a:r>
          </a:p>
          <a:p>
            <a:pPr>
              <a:lnSpc>
                <a:spcPct val="103000"/>
              </a:lnSpc>
              <a:spcBef>
                <a:spcPts val="200"/>
              </a:spcBef>
              <a:spcAft>
                <a:spcPts val="200"/>
              </a:spcAft>
            </a:pPr>
            <a:r>
              <a:rPr sz="1520">
                <a:solidFill>
                  <a:srgbClr val="232A32"/>
                </a:solidFill>
                <a:latin typeface="Aptos"/>
              </a:rPr>
              <a:t>• Assess distress and consider baseline lymphedema assessment where relevant.</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BINV-1; BINV-A; BINV-C; BINV-D</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DCIS — 2026 NCCN primary treatment</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Breast-conserving route</a:t>
            </a:r>
          </a:p>
          <a:p>
            <a:pPr>
              <a:lnSpc>
                <a:spcPct val="103000"/>
              </a:lnSpc>
              <a:spcBef>
                <a:spcPts val="200"/>
              </a:spcBef>
              <a:spcAft>
                <a:spcPts val="200"/>
              </a:spcAft>
            </a:pPr>
            <a:r>
              <a:rPr sz="1520">
                <a:solidFill>
                  <a:srgbClr val="232A32"/>
                </a:solidFill>
                <a:latin typeface="Aptos"/>
              </a:rPr>
              <a:t>• BCS without routine axillary surgery for pure, biopsy-diagnosed DCIS.</a:t>
            </a:r>
          </a:p>
          <a:p>
            <a:pPr>
              <a:lnSpc>
                <a:spcPct val="103000"/>
              </a:lnSpc>
              <a:spcBef>
                <a:spcPts val="200"/>
              </a:spcBef>
              <a:spcAft>
                <a:spcPts val="200"/>
              </a:spcAft>
            </a:pPr>
            <a:r>
              <a:rPr sz="1520">
                <a:solidFill>
                  <a:srgbClr val="232A32"/>
                </a:solidFill>
                <a:latin typeface="Aptos"/>
              </a:rPr>
              <a:t>• Re-excision may be used to obtain acceptable margins; mastectomy if adequate excision cannot be achieved.</a:t>
            </a:r>
          </a:p>
          <a:p>
            <a:pPr>
              <a:lnSpc>
                <a:spcPct val="103000"/>
              </a:lnSpc>
              <a:spcBef>
                <a:spcPts val="200"/>
              </a:spcBef>
              <a:spcAft>
                <a:spcPts val="200"/>
              </a:spcAft>
            </a:pPr>
            <a:r>
              <a:rPr sz="1520">
                <a:solidFill>
                  <a:srgbClr val="232A32"/>
                </a:solidFill>
                <a:latin typeface="Aptos"/>
              </a:rPr>
              <a:t>• Whole-breast RT is Category 1 after BCS; APBI/PBI is an option in selected patients.</a:t>
            </a:r>
          </a:p>
          <a:p>
            <a:pPr>
              <a:lnSpc>
                <a:spcPct val="103000"/>
              </a:lnSpc>
              <a:spcBef>
                <a:spcPts val="200"/>
              </a:spcBef>
              <a:spcAft>
                <a:spcPts val="200"/>
              </a:spcAft>
            </a:pPr>
            <a:r>
              <a:rPr sz="1520">
                <a:solidFill>
                  <a:srgbClr val="232A32"/>
                </a:solidFill>
                <a:latin typeface="Aptos"/>
              </a:rPr>
              <a:t>• RT omission is Category 2B only for carefully selected favorable disease; do not generalize omission to all small DCIS.</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Mastectomy route</a:t>
            </a:r>
          </a:p>
          <a:p>
            <a:pPr>
              <a:lnSpc>
                <a:spcPct val="103000"/>
              </a:lnSpc>
              <a:spcBef>
                <a:spcPts val="200"/>
              </a:spcBef>
              <a:spcAft>
                <a:spcPts val="200"/>
              </a:spcAft>
            </a:pPr>
            <a:r>
              <a:rPr sz="1520">
                <a:solidFill>
                  <a:srgbClr val="232A32"/>
                </a:solidFill>
                <a:latin typeface="Aptos"/>
              </a:rPr>
              <a:t>• Total mastectomy is appropriate for extensive/multicentric disease or when BCS/RT is unsuitable.</a:t>
            </a:r>
          </a:p>
          <a:p>
            <a:pPr>
              <a:lnSpc>
                <a:spcPct val="103000"/>
              </a:lnSpc>
              <a:spcBef>
                <a:spcPts val="200"/>
              </a:spcBef>
              <a:spcAft>
                <a:spcPts val="200"/>
              </a:spcAft>
            </a:pPr>
            <a:r>
              <a:rPr sz="1520">
                <a:solidFill>
                  <a:srgbClr val="232A32"/>
                </a:solidFill>
                <a:latin typeface="Aptos"/>
              </a:rPr>
              <a:t>• SLNB is generally performed with mastectomy because subsequent mapping can be compromised.</a:t>
            </a:r>
          </a:p>
          <a:p>
            <a:pPr>
              <a:lnSpc>
                <a:spcPct val="103000"/>
              </a:lnSpc>
              <a:spcBef>
                <a:spcPts val="200"/>
              </a:spcBef>
              <a:spcAft>
                <a:spcPts val="200"/>
              </a:spcAft>
            </a:pPr>
            <a:r>
              <a:rPr sz="1520">
                <a:solidFill>
                  <a:srgbClr val="232A32"/>
                </a:solidFill>
                <a:latin typeface="Aptos"/>
              </a:rPr>
              <a:t>• NCCN permits selected SLNB omission in patients &gt;50 years with nonpalpable low-grade ER-positive DCIS, normal axilla, and patient-preference-driven mastectomy.</a:t>
            </a:r>
          </a:p>
          <a:p>
            <a:pPr>
              <a:lnSpc>
                <a:spcPct val="103000"/>
              </a:lnSpc>
              <a:spcBef>
                <a:spcPts val="200"/>
              </a:spcBef>
              <a:spcAft>
                <a:spcPts val="200"/>
              </a:spcAft>
            </a:pPr>
            <a:r>
              <a:rPr sz="1520">
                <a:solidFill>
                  <a:srgbClr val="232A32"/>
                </a:solidFill>
                <a:latin typeface="Aptos"/>
              </a:rPr>
              <a:t>• Any invasive cancer discovered on final pathology is then managed by invasive-cancer algorithms.</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DCIS-1; BINV-D; BINV-F</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DCIS — postsurgical treatment, endocrine therapy and surveillance</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Adjuvant / risk reduction</a:t>
            </a:r>
          </a:p>
          <a:p>
            <a:pPr>
              <a:lnSpc>
                <a:spcPct val="103000"/>
              </a:lnSpc>
              <a:spcBef>
                <a:spcPts val="200"/>
              </a:spcBef>
              <a:spcAft>
                <a:spcPts val="200"/>
              </a:spcAft>
            </a:pPr>
            <a:r>
              <a:rPr sz="1520">
                <a:solidFill>
                  <a:srgbClr val="232A32"/>
                </a:solidFill>
                <a:latin typeface="Aptos"/>
              </a:rPr>
              <a:t>• For ER-positive DCIS, consider 5 years of endocrine therapy after BCS + RT or after excision alone.</a:t>
            </a:r>
          </a:p>
          <a:p>
            <a:pPr>
              <a:lnSpc>
                <a:spcPct val="103000"/>
              </a:lnSpc>
              <a:spcBef>
                <a:spcPts val="200"/>
              </a:spcBef>
              <a:spcAft>
                <a:spcPts val="200"/>
              </a:spcAft>
            </a:pPr>
            <a:r>
              <a:rPr sz="1520">
                <a:solidFill>
                  <a:srgbClr val="232A32"/>
                </a:solidFill>
                <a:latin typeface="Aptos"/>
              </a:rPr>
              <a:t>• Premenopausal: tamoxifen; postmenopausal: tamoxifen or aromatase inhibitor.</a:t>
            </a:r>
          </a:p>
          <a:p>
            <a:pPr>
              <a:lnSpc>
                <a:spcPct val="103000"/>
              </a:lnSpc>
              <a:spcBef>
                <a:spcPts val="200"/>
              </a:spcBef>
              <a:spcAft>
                <a:spcPts val="200"/>
              </a:spcAft>
            </a:pPr>
            <a:r>
              <a:rPr sz="1520">
                <a:solidFill>
                  <a:srgbClr val="232A32"/>
                </a:solidFill>
                <a:latin typeface="Aptos"/>
              </a:rPr>
              <a:t>• Low-dose tamoxifen is an option for selected symptomatic/intolerant patients; evidence is less mature in premenopausal patients.</a:t>
            </a:r>
          </a:p>
          <a:p>
            <a:pPr>
              <a:lnSpc>
                <a:spcPct val="103000"/>
              </a:lnSpc>
              <a:spcBef>
                <a:spcPts val="200"/>
              </a:spcBef>
              <a:spcAft>
                <a:spcPts val="200"/>
              </a:spcAft>
            </a:pPr>
            <a:r>
              <a:rPr sz="1520">
                <a:solidFill>
                  <a:srgbClr val="232A32"/>
                </a:solidFill>
                <a:latin typeface="Aptos"/>
              </a:rPr>
              <a:t>• Endocrine therapy reduces subsequent breast events; a survival advantage has not been demonstrated.</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Follow-up</a:t>
            </a:r>
          </a:p>
          <a:p>
            <a:pPr>
              <a:lnSpc>
                <a:spcPct val="103000"/>
              </a:lnSpc>
              <a:spcBef>
                <a:spcPts val="200"/>
              </a:spcBef>
              <a:spcAft>
                <a:spcPts val="200"/>
              </a:spcAft>
            </a:pPr>
            <a:r>
              <a:rPr sz="1520">
                <a:solidFill>
                  <a:srgbClr val="232A32"/>
                </a:solidFill>
                <a:latin typeface="Aptos"/>
              </a:rPr>
              <a:t>• History and physical examination every 6–12 months for 5 years, then annually.</a:t>
            </a:r>
          </a:p>
          <a:p>
            <a:pPr>
              <a:lnSpc>
                <a:spcPct val="103000"/>
              </a:lnSpc>
              <a:spcBef>
                <a:spcPts val="200"/>
              </a:spcBef>
              <a:spcAft>
                <a:spcPts val="200"/>
              </a:spcAft>
            </a:pPr>
            <a:r>
              <a:rPr sz="1520">
                <a:solidFill>
                  <a:srgbClr val="232A32"/>
                </a:solidFill>
                <a:latin typeface="Aptos"/>
              </a:rPr>
              <a:t>• First mammogram 6–12 months after completion of RT, or after BCS if no RT, then annually.</a:t>
            </a:r>
          </a:p>
          <a:p>
            <a:pPr>
              <a:lnSpc>
                <a:spcPct val="103000"/>
              </a:lnSpc>
              <a:spcBef>
                <a:spcPts val="200"/>
              </a:spcBef>
              <a:spcAft>
                <a:spcPts val="200"/>
              </a:spcAft>
            </a:pPr>
            <a:r>
              <a:rPr sz="1520">
                <a:solidFill>
                  <a:srgbClr val="232A32"/>
                </a:solidFill>
                <a:latin typeface="Aptos"/>
              </a:rPr>
              <a:t>• Monitor bone health when aromatase inhibitors are used; calcium/vitamin D and antiresorptive therapy may be appropriate in selected patients.</a:t>
            </a:r>
          </a:p>
          <a:p>
            <a:pPr>
              <a:lnSpc>
                <a:spcPct val="103000"/>
              </a:lnSpc>
              <a:spcBef>
                <a:spcPts val="200"/>
              </a:spcBef>
              <a:spcAft>
                <a:spcPts val="200"/>
              </a:spcAft>
            </a:pPr>
            <a:r>
              <a:rPr sz="1520">
                <a:solidFill>
                  <a:srgbClr val="232A32"/>
                </a:solidFill>
                <a:latin typeface="Aptos"/>
              </a:rPr>
              <a:t>• CYP2D6 genotype testing is not recommended to select tamoxifen therapy.</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DCIS-2</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94360" y="1051560"/>
            <a:ext cx="9601200" cy="914400"/>
          </a:xfrm>
        </p:spPr>
        <p:txBody>
          <a:bodyPr/>
          <a:lstStyle/>
          <a:p>
            <a:r>
              <a:rPr sz="3400" b="1">
                <a:solidFill>
                  <a:srgbClr val="1F3756"/>
                </a:solidFill>
                <a:latin typeface="Aptos Display"/>
              </a:rPr>
              <a:t>Surgery, margins, axilla and radiation</a:t>
            </a:r>
          </a:p>
        </p:txBody>
      </p:sp>
      <p:sp>
        <p:nvSpPr>
          <p:cNvPr id="3" name="Text Placeholder 2"/>
          <p:cNvSpPr>
            <a:spLocks noGrp="1"/>
          </p:cNvSpPr>
          <p:nvPr>
            <p:ph type="body" idx="1"/>
          </p:nvPr>
        </p:nvSpPr>
        <p:spPr/>
        <p:txBody>
          <a:bodyPr/>
          <a:lstStyle/>
          <a:p/>
        </p:txBody>
      </p:sp>
      <p:sp>
        <p:nvSpPr>
          <p:cNvPr id="4" name="TextBox 3"/>
          <p:cNvSpPr txBox="1"/>
          <p:nvPr/>
        </p:nvSpPr>
        <p:spPr>
          <a:xfrm>
            <a:off x="640080" y="2057400"/>
            <a:ext cx="9418320" cy="1280160"/>
          </a:xfrm>
          <a:prstGeom prst="rect">
            <a:avLst/>
          </a:prstGeom>
          <a:noFill/>
        </p:spPr>
        <p:txBody>
          <a:bodyPr wrap="none">
            <a:spAutoFit/>
          </a:bodyPr>
          <a:lstStyle/>
          <a:p>
            <a:r>
              <a:rPr sz="1800">
                <a:solidFill>
                  <a:srgbClr val="5A6978"/>
                </a:solidFill>
                <a:latin typeface="Aptos"/>
              </a:rPr>
              <a:t>These slides update common textbook teaching with the current NCCN de-escalation and response-adapted framework.</a:t>
            </a:r>
          </a:p>
        </p:txBody>
      </p:sp>
      <p:sp>
        <p:nvSpPr>
          <p:cNvPr id="5" name="Rectangle 4"/>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7" name="TextBox 6"/>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8" name="TextBox 7"/>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BCS versus mastectomy — NCCN selection principles</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Breast conservation</a:t>
            </a:r>
          </a:p>
          <a:p>
            <a:pPr>
              <a:lnSpc>
                <a:spcPct val="103000"/>
              </a:lnSpc>
              <a:spcBef>
                <a:spcPts val="200"/>
              </a:spcBef>
              <a:spcAft>
                <a:spcPts val="200"/>
              </a:spcAft>
            </a:pPr>
            <a:r>
              <a:rPr sz="1520">
                <a:solidFill>
                  <a:srgbClr val="232A32"/>
                </a:solidFill>
                <a:latin typeface="Aptos"/>
              </a:rPr>
              <a:t>• BCS is appropriate when complete excision with acceptable cosmesis is feasible and adjuvant RT can be delivered.</a:t>
            </a:r>
          </a:p>
          <a:p>
            <a:pPr>
              <a:lnSpc>
                <a:spcPct val="103000"/>
              </a:lnSpc>
              <a:spcBef>
                <a:spcPts val="200"/>
              </a:spcBef>
              <a:spcAft>
                <a:spcPts val="200"/>
              </a:spcAft>
            </a:pPr>
            <a:r>
              <a:rPr sz="1520">
                <a:solidFill>
                  <a:srgbClr val="232A32"/>
                </a:solidFill>
                <a:latin typeface="Aptos"/>
              </a:rPr>
              <a:t>• Oncoplastic techniques can expand BCS by permitting larger resections while improving contour.</a:t>
            </a:r>
          </a:p>
          <a:p>
            <a:pPr>
              <a:lnSpc>
                <a:spcPct val="103000"/>
              </a:lnSpc>
              <a:spcBef>
                <a:spcPts val="200"/>
              </a:spcBef>
              <a:spcAft>
                <a:spcPts val="200"/>
              </a:spcAft>
            </a:pPr>
            <a:r>
              <a:rPr sz="1520">
                <a:solidFill>
                  <a:srgbClr val="232A32"/>
                </a:solidFill>
                <a:latin typeface="Aptos"/>
              </a:rPr>
              <a:t>• Mammographic/MRI extent must be reconciled with the ability to obtain a clear margin.</a:t>
            </a:r>
          </a:p>
          <a:p>
            <a:pPr>
              <a:lnSpc>
                <a:spcPct val="103000"/>
              </a:lnSpc>
              <a:spcBef>
                <a:spcPts val="200"/>
              </a:spcBef>
              <a:spcAft>
                <a:spcPts val="200"/>
              </a:spcAft>
            </a:pPr>
            <a:r>
              <a:rPr sz="1520">
                <a:solidFill>
                  <a:srgbClr val="232A32"/>
                </a:solidFill>
                <a:latin typeface="Aptos"/>
              </a:rPr>
              <a:t>• BRCA1/2 status does not automatically prohibit BCS; future contralateral/ipsilateral risk should be discussed separately.</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Mastectomy favored / required</a:t>
            </a:r>
          </a:p>
          <a:p>
            <a:pPr>
              <a:lnSpc>
                <a:spcPct val="103000"/>
              </a:lnSpc>
              <a:spcBef>
                <a:spcPts val="200"/>
              </a:spcBef>
              <a:spcAft>
                <a:spcPts val="200"/>
              </a:spcAft>
            </a:pPr>
            <a:r>
              <a:rPr sz="1520">
                <a:solidFill>
                  <a:srgbClr val="232A32"/>
                </a:solidFill>
                <a:latin typeface="Aptos"/>
              </a:rPr>
              <a:t>• Inflammatory breast cancer or extensive skin/dermal lymphatic involvement.</a:t>
            </a:r>
          </a:p>
          <a:p>
            <a:pPr>
              <a:lnSpc>
                <a:spcPct val="103000"/>
              </a:lnSpc>
              <a:spcBef>
                <a:spcPts val="200"/>
              </a:spcBef>
              <a:spcAft>
                <a:spcPts val="200"/>
              </a:spcAft>
            </a:pPr>
            <a:r>
              <a:rPr sz="1520">
                <a:solidFill>
                  <a:srgbClr val="232A32"/>
                </a:solidFill>
                <a:latin typeface="Aptos"/>
              </a:rPr>
              <a:t>• Diffuse suspicious or malignant microcalcifications.</a:t>
            </a:r>
          </a:p>
          <a:p>
            <a:pPr>
              <a:lnSpc>
                <a:spcPct val="103000"/>
              </a:lnSpc>
              <a:spcBef>
                <a:spcPts val="200"/>
              </a:spcBef>
              <a:spcAft>
                <a:spcPts val="200"/>
              </a:spcAft>
            </a:pPr>
            <a:r>
              <a:rPr sz="1520">
                <a:solidFill>
                  <a:srgbClr val="232A32"/>
                </a:solidFill>
                <a:latin typeface="Aptos"/>
              </a:rPr>
              <a:t>• Persistent positive margins despite feasible re-excision.</a:t>
            </a:r>
          </a:p>
          <a:p>
            <a:pPr>
              <a:lnSpc>
                <a:spcPct val="103000"/>
              </a:lnSpc>
              <a:spcBef>
                <a:spcPts val="200"/>
              </a:spcBef>
              <a:spcAft>
                <a:spcPts val="200"/>
              </a:spcAft>
            </a:pPr>
            <a:r>
              <a:rPr sz="1520">
                <a:solidFill>
                  <a:srgbClr val="232A32"/>
                </a:solidFill>
                <a:latin typeface="Aptos"/>
              </a:rPr>
              <a:t>• Inability to receive required breast RT.</a:t>
            </a:r>
          </a:p>
          <a:p>
            <a:pPr>
              <a:lnSpc>
                <a:spcPct val="103000"/>
              </a:lnSpc>
              <a:spcBef>
                <a:spcPts val="200"/>
              </a:spcBef>
              <a:spcAft>
                <a:spcPts val="200"/>
              </a:spcAft>
            </a:pPr>
            <a:r>
              <a:rPr sz="1520">
                <a:solidFill>
                  <a:srgbClr val="232A32"/>
                </a:solidFill>
                <a:latin typeface="Aptos"/>
              </a:rPr>
              <a:t>• Selected extensive multicentric disease or cN2–N3 disease; exact BCS eligibility is individualized.</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BINV-G; BINV-H; BINV-1</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Margins after BCS — what NCCN expects surgeons to know</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Invasive cancer</a:t>
            </a:r>
          </a:p>
          <a:p>
            <a:pPr>
              <a:lnSpc>
                <a:spcPct val="103000"/>
              </a:lnSpc>
              <a:spcBef>
                <a:spcPts val="200"/>
              </a:spcBef>
              <a:spcAft>
                <a:spcPts val="200"/>
              </a:spcAft>
            </a:pPr>
            <a:r>
              <a:rPr sz="1520">
                <a:solidFill>
                  <a:srgbClr val="232A32"/>
                </a:solidFill>
                <a:latin typeface="Aptos"/>
              </a:rPr>
              <a:t>• For stage I–II invasive cancer treated with BCS, a positive margin is “ink on tumor” (invasive cancer or DCIS).</a:t>
            </a:r>
          </a:p>
          <a:p>
            <a:pPr>
              <a:lnSpc>
                <a:spcPct val="103000"/>
              </a:lnSpc>
              <a:spcBef>
                <a:spcPts val="200"/>
              </a:spcBef>
              <a:spcAft>
                <a:spcPts val="200"/>
              </a:spcAft>
            </a:pPr>
            <a:r>
              <a:rPr sz="1520">
                <a:solidFill>
                  <a:srgbClr val="232A32"/>
                </a:solidFill>
                <a:latin typeface="Aptos"/>
              </a:rPr>
              <a:t>• Adequate negative margin = no tumor on ink; wider routine margins do not replace appropriate RT.</a:t>
            </a:r>
          </a:p>
          <a:p>
            <a:pPr>
              <a:lnSpc>
                <a:spcPct val="103000"/>
              </a:lnSpc>
              <a:spcBef>
                <a:spcPts val="200"/>
              </a:spcBef>
              <a:spcAft>
                <a:spcPts val="200"/>
              </a:spcAft>
            </a:pPr>
            <a:r>
              <a:rPr sz="1520">
                <a:solidFill>
                  <a:srgbClr val="232A32"/>
                </a:solidFill>
                <a:latin typeface="Aptos"/>
              </a:rPr>
              <a:t>• Positive margins generally require re-excision or mastectomy.</a:t>
            </a:r>
          </a:p>
          <a:p>
            <a:pPr>
              <a:lnSpc>
                <a:spcPct val="103000"/>
              </a:lnSpc>
              <a:spcBef>
                <a:spcPts val="200"/>
              </a:spcBef>
              <a:spcAft>
                <a:spcPts val="200"/>
              </a:spcAft>
            </a:pPr>
            <a:r>
              <a:rPr sz="1520">
                <a:solidFill>
                  <a:srgbClr val="232A32"/>
                </a:solidFill>
                <a:latin typeface="Aptos"/>
              </a:rPr>
              <a:t>• Specimen orientation and communication with pathology are essential, especially for re-excision and oncoplastic cases.</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DCIS</a:t>
            </a:r>
          </a:p>
          <a:p>
            <a:pPr>
              <a:lnSpc>
                <a:spcPct val="103000"/>
              </a:lnSpc>
              <a:spcBef>
                <a:spcPts val="200"/>
              </a:spcBef>
              <a:spcAft>
                <a:spcPts val="200"/>
              </a:spcAft>
            </a:pPr>
            <a:r>
              <a:rPr sz="1520">
                <a:solidFill>
                  <a:srgbClr val="232A32"/>
                </a:solidFill>
                <a:latin typeface="Aptos"/>
              </a:rPr>
              <a:t>• With BCS + whole-breast RT, the SSO/ASTRO/ASCO consensus incorporated by NCCN supports a 2-mm margin as the standard target.</a:t>
            </a:r>
          </a:p>
          <a:p>
            <a:pPr>
              <a:lnSpc>
                <a:spcPct val="103000"/>
              </a:lnSpc>
              <a:spcBef>
                <a:spcPts val="200"/>
              </a:spcBef>
              <a:spcAft>
                <a:spcPts val="200"/>
              </a:spcAft>
            </a:pPr>
            <a:r>
              <a:rPr sz="1520">
                <a:solidFill>
                  <a:srgbClr val="232A32"/>
                </a:solidFill>
                <a:latin typeface="Aptos"/>
              </a:rPr>
              <a:t>• Wider margins than 2 mm have not been shown to produce proportionate benefit when RT is given.</a:t>
            </a:r>
          </a:p>
          <a:p>
            <a:pPr>
              <a:lnSpc>
                <a:spcPct val="103000"/>
              </a:lnSpc>
              <a:spcBef>
                <a:spcPts val="200"/>
              </a:spcBef>
              <a:spcAft>
                <a:spcPts val="200"/>
              </a:spcAft>
            </a:pPr>
            <a:r>
              <a:rPr sz="1520">
                <a:solidFill>
                  <a:srgbClr val="232A32"/>
                </a:solidFill>
                <a:latin typeface="Aptos"/>
              </a:rPr>
              <a:t>• Residual calcifications, the anatomic location of a close margin, and overall recurrence risk still matter.</a:t>
            </a:r>
          </a:p>
          <a:p>
            <a:pPr>
              <a:lnSpc>
                <a:spcPct val="103000"/>
              </a:lnSpc>
              <a:spcBef>
                <a:spcPts val="200"/>
              </a:spcBef>
              <a:spcAft>
                <a:spcPts val="200"/>
              </a:spcAft>
            </a:pPr>
            <a:r>
              <a:rPr sz="1520">
                <a:solidFill>
                  <a:srgbClr val="232A32"/>
                </a:solidFill>
                <a:latin typeface="Aptos"/>
              </a:rPr>
              <a:t>• When DCIS is admixed with invasive cancer, use the invasive-cancer “no ink on tumor” standard.</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BINV-F; NCCN discussion MS-56; SSO/ASTRO/ASCO margin consensus</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Axillary staging — clinically node-negative patients</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When SLNB remains standard</a:t>
            </a:r>
          </a:p>
          <a:p>
            <a:pPr>
              <a:lnSpc>
                <a:spcPct val="103000"/>
              </a:lnSpc>
              <a:spcBef>
                <a:spcPts val="200"/>
              </a:spcBef>
              <a:spcAft>
                <a:spcPts val="200"/>
              </a:spcAft>
            </a:pPr>
            <a:r>
              <a:rPr sz="1520">
                <a:solidFill>
                  <a:srgbClr val="232A32"/>
                </a:solidFill>
                <a:latin typeface="Aptos"/>
              </a:rPr>
              <a:t>• SLNB remains the principal staging procedure for many clinically node-negative invasive cancers.</a:t>
            </a:r>
          </a:p>
          <a:p>
            <a:pPr>
              <a:lnSpc>
                <a:spcPct val="103000"/>
              </a:lnSpc>
              <a:spcBef>
                <a:spcPts val="200"/>
              </a:spcBef>
              <a:spcAft>
                <a:spcPts val="200"/>
              </a:spcAft>
            </a:pPr>
            <a:r>
              <a:rPr sz="1520">
                <a:solidFill>
                  <a:srgbClr val="232A32"/>
                </a:solidFill>
                <a:latin typeface="Aptos"/>
              </a:rPr>
              <a:t>• Use appropriate mapping technique; document whether the axilla was truly clinically/imaging negative.</a:t>
            </a:r>
          </a:p>
          <a:p>
            <a:pPr>
              <a:lnSpc>
                <a:spcPct val="103000"/>
              </a:lnSpc>
              <a:spcBef>
                <a:spcPts val="200"/>
              </a:spcBef>
              <a:spcAft>
                <a:spcPts val="200"/>
              </a:spcAft>
            </a:pPr>
            <a:r>
              <a:rPr sz="1520">
                <a:solidFill>
                  <a:srgbClr val="232A32"/>
                </a:solidFill>
                <a:latin typeface="Aptos"/>
              </a:rPr>
              <a:t>• If suspicious nodes are present, obtain US-guided FNA/core biopsy rather than assuming cN0.</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When omission is entering practice</a:t>
            </a:r>
          </a:p>
          <a:p>
            <a:pPr>
              <a:lnSpc>
                <a:spcPct val="103000"/>
              </a:lnSpc>
              <a:spcBef>
                <a:spcPts val="200"/>
              </a:spcBef>
              <a:spcAft>
                <a:spcPts val="200"/>
              </a:spcAft>
            </a:pPr>
            <a:r>
              <a:rPr sz="1520">
                <a:solidFill>
                  <a:srgbClr val="232A32"/>
                </a:solidFill>
                <a:latin typeface="Aptos"/>
              </a:rPr>
              <a:t>• NCCN incorporates selective omission pathways for very favorable cN0 patients when strict clinical, imaging and treatment criteria are satisfied.</a:t>
            </a:r>
          </a:p>
          <a:p>
            <a:pPr>
              <a:lnSpc>
                <a:spcPct val="103000"/>
              </a:lnSpc>
              <a:spcBef>
                <a:spcPts val="200"/>
              </a:spcBef>
              <a:spcAft>
                <a:spcPts val="200"/>
              </a:spcAft>
            </a:pPr>
            <a:r>
              <a:rPr sz="1520">
                <a:solidFill>
                  <a:srgbClr val="232A32"/>
                </a:solidFill>
                <a:latin typeface="Aptos"/>
              </a:rPr>
              <a:t>• Omission is not a universal recommendation for every cN0 tumor.</a:t>
            </a:r>
          </a:p>
          <a:p>
            <a:pPr>
              <a:lnSpc>
                <a:spcPct val="103000"/>
              </a:lnSpc>
              <a:spcBef>
                <a:spcPts val="200"/>
              </a:spcBef>
              <a:spcAft>
                <a:spcPts val="200"/>
              </a:spcAft>
            </a:pPr>
            <a:r>
              <a:rPr sz="1520">
                <a:solidFill>
                  <a:srgbClr val="232A32"/>
                </a:solidFill>
                <a:latin typeface="Aptos"/>
              </a:rPr>
              <a:t>• The decision must fit the planned breast surgery, radiation, age/biology and nodal-risk context.</a:t>
            </a:r>
          </a:p>
          <a:p>
            <a:pPr>
              <a:lnSpc>
                <a:spcPct val="103000"/>
              </a:lnSpc>
              <a:spcBef>
                <a:spcPts val="200"/>
              </a:spcBef>
              <a:spcAft>
                <a:spcPts val="200"/>
              </a:spcAft>
            </a:pPr>
            <a:r>
              <a:rPr sz="1520">
                <a:solidFill>
                  <a:srgbClr val="232A32"/>
                </a:solidFill>
                <a:latin typeface="Aptos"/>
              </a:rPr>
              <a:t>• Do not extrapolate data from low-risk populations to locally advanced, TNBC, HER2-positive or clearly node-positive disease.</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BINV-D; NCCN axillary staging algorithm; cited SOUND/INSEMA/Z0011/AMAROS/SENOMAC evidence</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Positive sentinel nodes — axillary de-escalation</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Selected BCS patients</a:t>
            </a:r>
          </a:p>
          <a:p>
            <a:pPr>
              <a:lnSpc>
                <a:spcPct val="103000"/>
              </a:lnSpc>
              <a:spcBef>
                <a:spcPts val="200"/>
              </a:spcBef>
              <a:spcAft>
                <a:spcPts val="200"/>
              </a:spcAft>
            </a:pPr>
            <a:r>
              <a:rPr sz="1520">
                <a:solidFill>
                  <a:srgbClr val="232A32"/>
                </a:solidFill>
                <a:latin typeface="Aptos"/>
              </a:rPr>
              <a:t>• For cT1–T2 (selected T3), cN0 disease treated with upfront surgery, 1–2 positive SLNs and planned breast RT, completion ALND can often be omitted.</a:t>
            </a:r>
          </a:p>
          <a:p>
            <a:pPr>
              <a:lnSpc>
                <a:spcPct val="103000"/>
              </a:lnSpc>
              <a:spcBef>
                <a:spcPts val="200"/>
              </a:spcBef>
              <a:spcAft>
                <a:spcPts val="200"/>
              </a:spcAft>
            </a:pPr>
            <a:r>
              <a:rPr sz="1520">
                <a:solidFill>
                  <a:srgbClr val="232A32"/>
                </a:solidFill>
                <a:latin typeface="Aptos"/>
              </a:rPr>
              <a:t>• This is the Z0011-era principle incorporated into NCCN; limited data exist for ≥3 positive SLNs.</a:t>
            </a:r>
          </a:p>
          <a:p>
            <a:pPr>
              <a:lnSpc>
                <a:spcPct val="103000"/>
              </a:lnSpc>
              <a:spcBef>
                <a:spcPts val="200"/>
              </a:spcBef>
              <a:spcAft>
                <a:spcPts val="200"/>
              </a:spcAft>
            </a:pPr>
            <a:r>
              <a:rPr sz="1520">
                <a:solidFill>
                  <a:srgbClr val="232A32"/>
                </a:solidFill>
                <a:latin typeface="Aptos"/>
              </a:rPr>
              <a:t>• Regional nodal irradiation/undissected axillary coverage may provide the needed local-regional treatment when ALND is omitted.</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When ALND remains relevant</a:t>
            </a:r>
          </a:p>
          <a:p>
            <a:pPr>
              <a:lnSpc>
                <a:spcPct val="103000"/>
              </a:lnSpc>
              <a:spcBef>
                <a:spcPts val="200"/>
              </a:spcBef>
              <a:spcAft>
                <a:spcPts val="200"/>
              </a:spcAft>
            </a:pPr>
            <a:r>
              <a:rPr sz="1520">
                <a:solidFill>
                  <a:srgbClr val="232A32"/>
                </a:solidFill>
                <a:latin typeface="Aptos"/>
              </a:rPr>
              <a:t>• More extensive nodal burden or failure of the patient to meet omission criteria.</a:t>
            </a:r>
          </a:p>
          <a:p>
            <a:pPr>
              <a:lnSpc>
                <a:spcPct val="103000"/>
              </a:lnSpc>
              <a:spcBef>
                <a:spcPts val="200"/>
              </a:spcBef>
              <a:spcAft>
                <a:spcPts val="200"/>
              </a:spcAft>
            </a:pPr>
            <a:r>
              <a:rPr sz="1520">
                <a:solidFill>
                  <a:srgbClr val="232A32"/>
                </a:solidFill>
                <a:latin typeface="Aptos"/>
              </a:rPr>
              <a:t>• Persistent clinically positive axilla after neoadjuvant therapy.</a:t>
            </a:r>
          </a:p>
          <a:p>
            <a:pPr>
              <a:lnSpc>
                <a:spcPct val="103000"/>
              </a:lnSpc>
              <a:spcBef>
                <a:spcPts val="200"/>
              </a:spcBef>
              <a:spcAft>
                <a:spcPts val="200"/>
              </a:spcAft>
            </a:pPr>
            <a:r>
              <a:rPr sz="1520">
                <a:solidFill>
                  <a:srgbClr val="232A32"/>
                </a:solidFill>
                <a:latin typeface="Aptos"/>
              </a:rPr>
              <a:t>• Failed sentinel mapping or other situations in which adequate staging/control cannot be achieved by less surgery.</a:t>
            </a:r>
          </a:p>
          <a:p>
            <a:pPr>
              <a:lnSpc>
                <a:spcPct val="103000"/>
              </a:lnSpc>
              <a:spcBef>
                <a:spcPts val="200"/>
              </a:spcBef>
              <a:spcAft>
                <a:spcPts val="200"/>
              </a:spcAft>
            </a:pPr>
            <a:r>
              <a:rPr sz="1520">
                <a:solidFill>
                  <a:srgbClr val="232A32"/>
                </a:solidFill>
                <a:latin typeface="Aptos"/>
              </a:rPr>
              <a:t>• Mastectomy pathways require separate consideration of chest-wall/axillary radiation and residual nodal burden.</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BINV-D; Z0011; AMAROS; SENOMAC and related evidence</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Initially node-positive → clinically node-negative after neoadjuvant therapy</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Before systemic therapy</a:t>
            </a:r>
          </a:p>
          <a:p>
            <a:pPr>
              <a:lnSpc>
                <a:spcPct val="103000"/>
              </a:lnSpc>
              <a:spcBef>
                <a:spcPts val="200"/>
              </a:spcBef>
              <a:spcAft>
                <a:spcPts val="200"/>
              </a:spcAft>
            </a:pPr>
            <a:r>
              <a:rPr sz="1520">
                <a:solidFill>
                  <a:srgbClr val="232A32"/>
                </a:solidFill>
                <a:latin typeface="Aptos"/>
              </a:rPr>
              <a:t>• Biopsy the most suspicious axillary node with US-guided FNA/core when feasible.</a:t>
            </a:r>
          </a:p>
          <a:p>
            <a:pPr>
              <a:lnSpc>
                <a:spcPct val="103000"/>
              </a:lnSpc>
              <a:spcBef>
                <a:spcPts val="200"/>
              </a:spcBef>
              <a:spcAft>
                <a:spcPts val="200"/>
              </a:spcAft>
            </a:pPr>
            <a:r>
              <a:rPr sz="1520">
                <a:solidFill>
                  <a:srgbClr val="232A32"/>
                </a:solidFill>
                <a:latin typeface="Aptos"/>
              </a:rPr>
              <a:t>• Place a marker/clip in the biopsied positive node so the original disease site can be identified later.</a:t>
            </a:r>
          </a:p>
          <a:p>
            <a:pPr>
              <a:lnSpc>
                <a:spcPct val="103000"/>
              </a:lnSpc>
              <a:spcBef>
                <a:spcPts val="200"/>
              </a:spcBef>
              <a:spcAft>
                <a:spcPts val="200"/>
              </a:spcAft>
            </a:pPr>
            <a:r>
              <a:rPr sz="1520">
                <a:solidFill>
                  <a:srgbClr val="232A32"/>
                </a:solidFill>
                <a:latin typeface="Aptos"/>
              </a:rPr>
              <a:t>• Document baseline nodal burden and imaging carefully.</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After neoadjuvant therapy</a:t>
            </a:r>
          </a:p>
          <a:p>
            <a:pPr>
              <a:lnSpc>
                <a:spcPct val="103000"/>
              </a:lnSpc>
              <a:spcBef>
                <a:spcPts val="200"/>
              </a:spcBef>
              <a:spcAft>
                <a:spcPts val="200"/>
              </a:spcAft>
            </a:pPr>
            <a:r>
              <a:rPr sz="1520">
                <a:solidFill>
                  <a:srgbClr val="232A32"/>
                </a:solidFill>
                <a:latin typeface="Aptos"/>
              </a:rPr>
              <a:t>• If the axilla clinically converts to node-negative, SLNB can be used with optimized technique.</a:t>
            </a:r>
          </a:p>
          <a:p>
            <a:pPr>
              <a:lnSpc>
                <a:spcPct val="103000"/>
              </a:lnSpc>
              <a:spcBef>
                <a:spcPts val="200"/>
              </a:spcBef>
              <a:spcAft>
                <a:spcPts val="200"/>
              </a:spcAft>
            </a:pPr>
            <a:r>
              <a:rPr sz="1520">
                <a:solidFill>
                  <a:srgbClr val="232A32"/>
                </a:solidFill>
                <a:latin typeface="Aptos"/>
              </a:rPr>
              <a:t>• NCCN emphasizes dual tracers, retrieval of an adequate number of SLNs and removal of the marked/clipped node — targeted axillary dissection (TAD).</a:t>
            </a:r>
          </a:p>
          <a:p>
            <a:pPr>
              <a:lnSpc>
                <a:spcPct val="103000"/>
              </a:lnSpc>
              <a:spcBef>
                <a:spcPts val="200"/>
              </a:spcBef>
              <a:spcAft>
                <a:spcPts val="200"/>
              </a:spcAft>
            </a:pPr>
            <a:r>
              <a:rPr sz="1520">
                <a:solidFill>
                  <a:srgbClr val="232A32"/>
                </a:solidFill>
                <a:latin typeface="Aptos"/>
              </a:rPr>
              <a:t>• Persistent clinically positive nodal disease generally leads to ALND or other definitive nodal treatment.</a:t>
            </a:r>
          </a:p>
          <a:p>
            <a:pPr>
              <a:lnSpc>
                <a:spcPct val="103000"/>
              </a:lnSpc>
              <a:spcBef>
                <a:spcPts val="200"/>
              </a:spcBef>
              <a:spcAft>
                <a:spcPts val="200"/>
              </a:spcAft>
            </a:pPr>
            <a:r>
              <a:rPr sz="1520">
                <a:solidFill>
                  <a:srgbClr val="232A32"/>
                </a:solidFill>
                <a:latin typeface="Aptos"/>
              </a:rPr>
              <a:t>• Residual nodal disease after neoadjuvant therapy must be integrated with PMRT/RNI and systemic escalation plans.</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BINV-D; NCCN discussion citing SENTINA, Z1071, SN-FNAC and TAD data</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Radiation after breast-conserving surgery</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Whole breast / partial breast</a:t>
            </a:r>
          </a:p>
          <a:p>
            <a:pPr>
              <a:lnSpc>
                <a:spcPct val="103000"/>
              </a:lnSpc>
              <a:spcBef>
                <a:spcPts val="200"/>
              </a:spcBef>
              <a:spcAft>
                <a:spcPts val="200"/>
              </a:spcAft>
            </a:pPr>
            <a:r>
              <a:rPr sz="1520">
                <a:solidFill>
                  <a:srgbClr val="232A32"/>
                </a:solidFill>
                <a:latin typeface="Aptos"/>
              </a:rPr>
              <a:t>• Adjuvant breast RT is a core component of breast conservation.</a:t>
            </a:r>
          </a:p>
          <a:p>
            <a:pPr>
              <a:lnSpc>
                <a:spcPct val="103000"/>
              </a:lnSpc>
              <a:spcBef>
                <a:spcPts val="200"/>
              </a:spcBef>
              <a:spcAft>
                <a:spcPts val="200"/>
              </a:spcAft>
            </a:pPr>
            <a:r>
              <a:rPr sz="1520">
                <a:solidFill>
                  <a:srgbClr val="232A32"/>
                </a:solidFill>
                <a:latin typeface="Aptos"/>
              </a:rPr>
              <a:t>• Hypofractionated whole-breast RT is standard for many patients.</a:t>
            </a:r>
          </a:p>
          <a:p>
            <a:pPr>
              <a:lnSpc>
                <a:spcPct val="103000"/>
              </a:lnSpc>
              <a:spcBef>
                <a:spcPts val="200"/>
              </a:spcBef>
              <a:spcAft>
                <a:spcPts val="200"/>
              </a:spcAft>
            </a:pPr>
            <a:r>
              <a:rPr sz="1520">
                <a:solidFill>
                  <a:srgbClr val="232A32"/>
                </a:solidFill>
                <a:latin typeface="Aptos"/>
              </a:rPr>
              <a:t>• Accelerated partial-breast irradiation is appropriate for selected favorable invasive cancers and DCIS when guideline criteria are met.</a:t>
            </a:r>
          </a:p>
          <a:p>
            <a:pPr>
              <a:lnSpc>
                <a:spcPct val="103000"/>
              </a:lnSpc>
              <a:spcBef>
                <a:spcPts val="200"/>
              </a:spcBef>
              <a:spcAft>
                <a:spcPts val="200"/>
              </a:spcAft>
            </a:pPr>
            <a:r>
              <a:rPr sz="1520">
                <a:solidFill>
                  <a:srgbClr val="232A32"/>
                </a:solidFill>
                <a:latin typeface="Aptos"/>
              </a:rPr>
              <a:t>• RT omission is reserved for selected biologically favorable/older patients or specific low-risk DCIS circumstances—not for routine BCS.</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Boost and coordination</a:t>
            </a:r>
          </a:p>
          <a:p>
            <a:pPr>
              <a:lnSpc>
                <a:spcPct val="103000"/>
              </a:lnSpc>
              <a:spcBef>
                <a:spcPts val="200"/>
              </a:spcBef>
              <a:spcAft>
                <a:spcPts val="200"/>
              </a:spcAft>
            </a:pPr>
            <a:r>
              <a:rPr sz="1520">
                <a:solidFill>
                  <a:srgbClr val="232A32"/>
                </a:solidFill>
                <a:latin typeface="Aptos"/>
              </a:rPr>
              <a:t>• Tumor-bed boost is individualized by age, grade, margins, recurrence risk and treatment setting.</a:t>
            </a:r>
          </a:p>
          <a:p>
            <a:pPr>
              <a:lnSpc>
                <a:spcPct val="103000"/>
              </a:lnSpc>
              <a:spcBef>
                <a:spcPts val="200"/>
              </a:spcBef>
              <a:spcAft>
                <a:spcPts val="200"/>
              </a:spcAft>
            </a:pPr>
            <a:r>
              <a:rPr sz="1520">
                <a:solidFill>
                  <a:srgbClr val="232A32"/>
                </a:solidFill>
                <a:latin typeface="Aptos"/>
              </a:rPr>
              <a:t>• Clip the cavity at BCS, particularly after oncoplastic tissue rearrangement.</a:t>
            </a:r>
          </a:p>
          <a:p>
            <a:pPr>
              <a:lnSpc>
                <a:spcPct val="103000"/>
              </a:lnSpc>
              <a:spcBef>
                <a:spcPts val="200"/>
              </a:spcBef>
              <a:spcAft>
                <a:spcPts val="200"/>
              </a:spcAft>
            </a:pPr>
            <a:r>
              <a:rPr sz="1520">
                <a:solidFill>
                  <a:srgbClr val="232A32"/>
                </a:solidFill>
                <a:latin typeface="Aptos"/>
              </a:rPr>
              <a:t>• Close communication between surgery, radiation oncology and pathology is essential for accurate boost/cavity localization.</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BINV-I; BINV-H; NCCN discussion on APBI and DCIS RT</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Postmastectomy radiation — modern decision-making</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Core indications</a:t>
            </a:r>
          </a:p>
          <a:p>
            <a:pPr>
              <a:lnSpc>
                <a:spcPct val="103000"/>
              </a:lnSpc>
              <a:spcBef>
                <a:spcPts val="200"/>
              </a:spcBef>
              <a:spcAft>
                <a:spcPts val="200"/>
              </a:spcAft>
            </a:pPr>
            <a:r>
              <a:rPr sz="1520">
                <a:solidFill>
                  <a:srgbClr val="232A32"/>
                </a:solidFill>
                <a:latin typeface="Aptos"/>
              </a:rPr>
              <a:t>• PMRT is determined by nodal burden, tumor extent, margins and overall locoregional risk.</a:t>
            </a:r>
          </a:p>
          <a:p>
            <a:pPr>
              <a:lnSpc>
                <a:spcPct val="103000"/>
              </a:lnSpc>
              <a:spcBef>
                <a:spcPts val="200"/>
              </a:spcBef>
              <a:spcAft>
                <a:spcPts val="200"/>
              </a:spcAft>
            </a:pPr>
            <a:r>
              <a:rPr sz="1520">
                <a:solidFill>
                  <a:srgbClr val="232A32"/>
                </a:solidFill>
                <a:latin typeface="Aptos"/>
              </a:rPr>
              <a:t>• Skin-sparing/nipple-sparing techniques do not change the oncologic criteria for PMRT.</a:t>
            </a:r>
          </a:p>
          <a:p>
            <a:pPr>
              <a:lnSpc>
                <a:spcPct val="103000"/>
              </a:lnSpc>
              <a:spcBef>
                <a:spcPts val="200"/>
              </a:spcBef>
              <a:spcAft>
                <a:spcPts val="200"/>
              </a:spcAft>
            </a:pPr>
            <a:r>
              <a:rPr sz="1520">
                <a:solidFill>
                  <a:srgbClr val="232A32"/>
                </a:solidFill>
                <a:latin typeface="Aptos"/>
              </a:rPr>
              <a:t>• Regional nodal irradiation may be required in addition to chest-wall treatment.</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After neoadjuvant therapy</a:t>
            </a:r>
          </a:p>
          <a:p>
            <a:pPr>
              <a:lnSpc>
                <a:spcPct val="103000"/>
              </a:lnSpc>
              <a:spcBef>
                <a:spcPts val="200"/>
              </a:spcBef>
              <a:spcAft>
                <a:spcPts val="200"/>
              </a:spcAft>
            </a:pPr>
            <a:r>
              <a:rPr sz="1520">
                <a:solidFill>
                  <a:srgbClr val="232A32"/>
                </a:solidFill>
                <a:latin typeface="Aptos"/>
              </a:rPr>
              <a:t>• Do not base PMRT solely on ypT/ypN; integrate pretreatment clinical stage with post-treatment response and biologic risk.</a:t>
            </a:r>
          </a:p>
          <a:p>
            <a:pPr>
              <a:lnSpc>
                <a:spcPct val="103000"/>
              </a:lnSpc>
              <a:spcBef>
                <a:spcPts val="200"/>
              </a:spcBef>
              <a:spcAft>
                <a:spcPts val="200"/>
              </a:spcAft>
            </a:pPr>
            <a:r>
              <a:rPr sz="1520">
                <a:solidFill>
                  <a:srgbClr val="232A32"/>
                </a:solidFill>
                <a:latin typeface="Aptos"/>
              </a:rPr>
              <a:t>• The current multidisciplinary approach explicitly considers residual disease and the clinical stage at presentation.</a:t>
            </a:r>
          </a:p>
          <a:p>
            <a:pPr>
              <a:lnSpc>
                <a:spcPct val="103000"/>
              </a:lnSpc>
              <a:spcBef>
                <a:spcPts val="200"/>
              </a:spcBef>
              <a:spcAft>
                <a:spcPts val="200"/>
              </a:spcAft>
            </a:pPr>
            <a:r>
              <a:rPr sz="1520">
                <a:solidFill>
                  <a:srgbClr val="232A32"/>
                </a:solidFill>
                <a:latin typeface="Aptos"/>
              </a:rPr>
              <a:t>• Reconstruction planning must anticipate PMRT whenever it is likely or uncertain.</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BINV-I; NCCN discussion; multidisciplinary PMRT framework</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94360" y="1051560"/>
            <a:ext cx="9601200" cy="914400"/>
          </a:xfrm>
        </p:spPr>
        <p:txBody>
          <a:bodyPr/>
          <a:lstStyle/>
          <a:p>
            <a:r>
              <a:rPr sz="3400" b="1">
                <a:solidFill>
                  <a:srgbClr val="1F3756"/>
                </a:solidFill>
                <a:latin typeface="Aptos Display"/>
              </a:rPr>
              <a:t>Subtype-specific early invasive disease</a:t>
            </a:r>
          </a:p>
        </p:txBody>
      </p:sp>
      <p:sp>
        <p:nvSpPr>
          <p:cNvPr id="3" name="Text Placeholder 2"/>
          <p:cNvSpPr>
            <a:spLocks noGrp="1"/>
          </p:cNvSpPr>
          <p:nvPr>
            <p:ph type="body" idx="1"/>
          </p:nvPr>
        </p:nvSpPr>
        <p:spPr/>
        <p:txBody>
          <a:bodyPr/>
          <a:lstStyle/>
          <a:p/>
        </p:txBody>
      </p:sp>
      <p:sp>
        <p:nvSpPr>
          <p:cNvPr id="4" name="TextBox 3"/>
          <p:cNvSpPr txBox="1"/>
          <p:nvPr/>
        </p:nvSpPr>
        <p:spPr>
          <a:xfrm>
            <a:off x="640080" y="2057400"/>
            <a:ext cx="9418320" cy="1280160"/>
          </a:xfrm>
          <a:prstGeom prst="rect">
            <a:avLst/>
          </a:prstGeom>
          <a:noFill/>
        </p:spPr>
        <p:txBody>
          <a:bodyPr wrap="none">
            <a:spAutoFit/>
          </a:bodyPr>
          <a:lstStyle/>
          <a:p>
            <a:r>
              <a:rPr sz="1800">
                <a:solidFill>
                  <a:srgbClr val="5A6978"/>
                </a:solidFill>
                <a:latin typeface="Aptos"/>
              </a:rPr>
              <a:t>Use biology and response to determine the sequence and intensity of systemic therapy.</a:t>
            </a:r>
          </a:p>
        </p:txBody>
      </p:sp>
      <p:sp>
        <p:nvSpPr>
          <p:cNvPr id="5" name="Rectangle 4"/>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7" name="TextBox 6"/>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8" name="TextBox 7"/>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HR-positive / HER2-negative early breast cancer — systemic framework</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Backbone</a:t>
            </a:r>
          </a:p>
          <a:p>
            <a:pPr>
              <a:lnSpc>
                <a:spcPct val="103000"/>
              </a:lnSpc>
              <a:spcBef>
                <a:spcPts val="200"/>
              </a:spcBef>
              <a:spcAft>
                <a:spcPts val="200"/>
              </a:spcAft>
            </a:pPr>
            <a:r>
              <a:rPr sz="1520">
                <a:solidFill>
                  <a:srgbClr val="232A32"/>
                </a:solidFill>
                <a:latin typeface="Aptos"/>
              </a:rPr>
              <a:t>• Endocrine therapy is the foundation of treatment.</a:t>
            </a:r>
          </a:p>
          <a:p>
            <a:pPr>
              <a:lnSpc>
                <a:spcPct val="103000"/>
              </a:lnSpc>
              <a:spcBef>
                <a:spcPts val="200"/>
              </a:spcBef>
              <a:spcAft>
                <a:spcPts val="200"/>
              </a:spcAft>
            </a:pPr>
            <a:r>
              <a:rPr sz="1520">
                <a:solidFill>
                  <a:srgbClr val="232A32"/>
                </a:solidFill>
                <a:latin typeface="Aptos"/>
              </a:rPr>
              <a:t>• Premenopausal: tamoxifen ± ovarian function suppression; higher-risk patients may use AI + ovarian suppression.</a:t>
            </a:r>
          </a:p>
          <a:p>
            <a:pPr>
              <a:lnSpc>
                <a:spcPct val="103000"/>
              </a:lnSpc>
              <a:spcBef>
                <a:spcPts val="200"/>
              </a:spcBef>
              <a:spcAft>
                <a:spcPts val="200"/>
              </a:spcAft>
            </a:pPr>
            <a:r>
              <a:rPr sz="1520">
                <a:solidFill>
                  <a:srgbClr val="232A32"/>
                </a:solidFill>
                <a:latin typeface="Aptos"/>
              </a:rPr>
              <a:t>• Postmenopausal: AI-based therapy is central; tamoxifen is an alternative when appropriate.</a:t>
            </a:r>
          </a:p>
          <a:p>
            <a:pPr>
              <a:lnSpc>
                <a:spcPct val="103000"/>
              </a:lnSpc>
              <a:spcBef>
                <a:spcPts val="200"/>
              </a:spcBef>
              <a:spcAft>
                <a:spcPts val="200"/>
              </a:spcAft>
            </a:pPr>
            <a:r>
              <a:rPr sz="1520">
                <a:solidFill>
                  <a:srgbClr val="232A32"/>
                </a:solidFill>
                <a:latin typeface="Aptos"/>
              </a:rPr>
              <a:t>• Treatment duration is commonly at least 5 years, with extension individualized by recurrence risk and tolerability.</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Who needs chemotherapy?</a:t>
            </a:r>
          </a:p>
          <a:p>
            <a:pPr>
              <a:lnSpc>
                <a:spcPct val="103000"/>
              </a:lnSpc>
              <a:spcBef>
                <a:spcPts val="200"/>
              </a:spcBef>
              <a:spcAft>
                <a:spcPts val="200"/>
              </a:spcAft>
            </a:pPr>
            <a:r>
              <a:rPr sz="1520">
                <a:solidFill>
                  <a:srgbClr val="232A32"/>
                </a:solidFill>
                <a:latin typeface="Aptos"/>
              </a:rPr>
              <a:t>• Integrate tumor size, grade, nodal status, age/menopausal status and genomic assay information where validated.</a:t>
            </a:r>
          </a:p>
          <a:p>
            <a:pPr>
              <a:lnSpc>
                <a:spcPct val="103000"/>
              </a:lnSpc>
              <a:spcBef>
                <a:spcPts val="200"/>
              </a:spcBef>
              <a:spcAft>
                <a:spcPts val="200"/>
              </a:spcAft>
            </a:pPr>
            <a:r>
              <a:rPr sz="1520">
                <a:solidFill>
                  <a:srgbClr val="232A32"/>
                </a:solidFill>
                <a:latin typeface="Aptos"/>
              </a:rPr>
              <a:t>• Multigene assays can identify groups with low distant-recurrence risk and limited chemotherapy benefit.</a:t>
            </a:r>
          </a:p>
          <a:p>
            <a:pPr>
              <a:lnSpc>
                <a:spcPct val="103000"/>
              </a:lnSpc>
              <a:spcBef>
                <a:spcPts val="200"/>
              </a:spcBef>
              <a:spcAft>
                <a:spcPts val="200"/>
              </a:spcAft>
            </a:pPr>
            <a:r>
              <a:rPr sz="1520">
                <a:solidFill>
                  <a:srgbClr val="232A32"/>
                </a:solidFill>
                <a:latin typeface="Aptos"/>
              </a:rPr>
              <a:t>• Do not use a genomic assay outside its validated clinical context or as a substitute for multidisciplinary judgment.</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BINV-K; BINV-M; NCCN discussion on multigene assays</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HR+/HER2− early disease — escalation beyond endocrine therapy</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CDK4/6 inhibition</a:t>
            </a:r>
          </a:p>
          <a:p>
            <a:pPr>
              <a:lnSpc>
                <a:spcPct val="103000"/>
              </a:lnSpc>
              <a:spcBef>
                <a:spcPts val="200"/>
              </a:spcBef>
              <a:spcAft>
                <a:spcPts val="200"/>
              </a:spcAft>
            </a:pPr>
            <a:r>
              <a:rPr sz="1520">
                <a:solidFill>
                  <a:srgbClr val="232A32"/>
                </a:solidFill>
                <a:latin typeface="Aptos"/>
              </a:rPr>
              <a:t>• Adjuvant abemaciclib: high-risk HR+/HER2− disease; NCCN discussion highlights ≥4 positive nodes or 1–3 nodes with grade 3 and/or tumor ≥5 cm.</a:t>
            </a:r>
          </a:p>
          <a:p>
            <a:pPr>
              <a:lnSpc>
                <a:spcPct val="103000"/>
              </a:lnSpc>
              <a:spcBef>
                <a:spcPts val="200"/>
              </a:spcBef>
              <a:spcAft>
                <a:spcPts val="200"/>
              </a:spcAft>
            </a:pPr>
            <a:r>
              <a:rPr sz="1520">
                <a:solidFill>
                  <a:srgbClr val="232A32"/>
                </a:solidFill>
                <a:latin typeface="Aptos"/>
              </a:rPr>
              <a:t>• Adjuvant ribociclib: NCCN incorporates stage II–III use with endocrine therapy based on NATALEE evidence and current labeling/eligibility.</a:t>
            </a:r>
          </a:p>
          <a:p>
            <a:pPr>
              <a:lnSpc>
                <a:spcPct val="103000"/>
              </a:lnSpc>
              <a:spcBef>
                <a:spcPts val="200"/>
              </a:spcBef>
              <a:spcAft>
                <a:spcPts val="200"/>
              </a:spcAft>
            </a:pPr>
            <a:r>
              <a:rPr sz="1520">
                <a:solidFill>
                  <a:srgbClr val="232A32"/>
                </a:solidFill>
                <a:latin typeface="Aptos"/>
              </a:rPr>
              <a:t>• Palbociclib is not an adjuvant standard based on negative adjuvant trial results.</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PARP / bone-modifying therapy</a:t>
            </a:r>
          </a:p>
          <a:p>
            <a:pPr>
              <a:lnSpc>
                <a:spcPct val="103000"/>
              </a:lnSpc>
              <a:spcBef>
                <a:spcPts val="200"/>
              </a:spcBef>
              <a:spcAft>
                <a:spcPts val="200"/>
              </a:spcAft>
            </a:pPr>
            <a:r>
              <a:rPr sz="1520">
                <a:solidFill>
                  <a:srgbClr val="232A32"/>
                </a:solidFill>
                <a:latin typeface="Aptos"/>
              </a:rPr>
              <a:t>• For selected high-risk HER2-negative germline BRCA1/2 carriers, 1 year of adjuvant olaparib is an NCCN-supported option after appropriate systemic therapy.</a:t>
            </a:r>
          </a:p>
          <a:p>
            <a:pPr>
              <a:lnSpc>
                <a:spcPct val="103000"/>
              </a:lnSpc>
              <a:spcBef>
                <a:spcPts val="200"/>
              </a:spcBef>
              <a:spcAft>
                <a:spcPts val="200"/>
              </a:spcAft>
            </a:pPr>
            <a:r>
              <a:rPr sz="1520">
                <a:solidFill>
                  <a:srgbClr val="232A32"/>
                </a:solidFill>
                <a:latin typeface="Aptos"/>
              </a:rPr>
              <a:t>• Olaparib may be used concurrently with endocrine therapy in relevant HR-positive disease.</a:t>
            </a:r>
          </a:p>
          <a:p>
            <a:pPr>
              <a:lnSpc>
                <a:spcPct val="103000"/>
              </a:lnSpc>
              <a:spcBef>
                <a:spcPts val="200"/>
              </a:spcBef>
              <a:spcAft>
                <a:spcPts val="200"/>
              </a:spcAft>
            </a:pPr>
            <a:r>
              <a:rPr sz="1520">
                <a:solidFill>
                  <a:srgbClr val="232A32"/>
                </a:solidFill>
                <a:latin typeface="Aptos"/>
              </a:rPr>
              <a:t>• Consider adjuvant bisphosphonate therapy in postmenopausal patients with higher-risk node-negative or node-positive disease for reduction of distant recurrence risk.</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BINV-K; BINV-M; NCCN MS-44 and related evidence</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HER2-positive early breast cancer — risk-adapted treatment</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Smaller / node-negative tumors</a:t>
            </a:r>
          </a:p>
          <a:p>
            <a:pPr>
              <a:lnSpc>
                <a:spcPct val="103000"/>
              </a:lnSpc>
              <a:spcBef>
                <a:spcPts val="200"/>
              </a:spcBef>
              <a:spcAft>
                <a:spcPts val="200"/>
              </a:spcAft>
            </a:pPr>
            <a:r>
              <a:rPr sz="1520">
                <a:solidFill>
                  <a:srgbClr val="232A32"/>
                </a:solidFill>
                <a:latin typeface="Aptos"/>
              </a:rPr>
              <a:t>• For pT1a–b, N0 HER2-positive disease, absolute benefit from HER2 therapy may be small and must be balanced against cardiotoxicity and other toxicity.</a:t>
            </a:r>
          </a:p>
          <a:p>
            <a:pPr>
              <a:lnSpc>
                <a:spcPct val="103000"/>
              </a:lnSpc>
              <a:spcBef>
                <a:spcPts val="200"/>
              </a:spcBef>
              <a:spcAft>
                <a:spcPts val="200"/>
              </a:spcAft>
            </a:pPr>
            <a:r>
              <a:rPr sz="1520">
                <a:solidFill>
                  <a:srgbClr val="232A32"/>
                </a:solidFill>
                <a:latin typeface="Aptos"/>
              </a:rPr>
              <a:t>• For larger node-negative tumors (especially &gt;1 cm), trastuzumab-based chemotherapy is a Category 1 cornerstone.</a:t>
            </a:r>
          </a:p>
          <a:p>
            <a:pPr>
              <a:lnSpc>
                <a:spcPct val="103000"/>
              </a:lnSpc>
              <a:spcBef>
                <a:spcPts val="200"/>
              </a:spcBef>
              <a:spcAft>
                <a:spcPts val="200"/>
              </a:spcAft>
            </a:pPr>
            <a:r>
              <a:rPr sz="1520">
                <a:solidFill>
                  <a:srgbClr val="232A32"/>
                </a:solidFill>
                <a:latin typeface="Aptos"/>
              </a:rPr>
              <a:t>• HR-positive tumors also receive endocrine therapy.</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Node-positive / larger tumors</a:t>
            </a:r>
          </a:p>
          <a:p>
            <a:pPr>
              <a:lnSpc>
                <a:spcPct val="103000"/>
              </a:lnSpc>
              <a:spcBef>
                <a:spcPts val="200"/>
              </a:spcBef>
              <a:spcAft>
                <a:spcPts val="200"/>
              </a:spcAft>
            </a:pPr>
            <a:r>
              <a:rPr sz="1520">
                <a:solidFill>
                  <a:srgbClr val="232A32"/>
                </a:solidFill>
                <a:latin typeface="Aptos"/>
              </a:rPr>
              <a:t>• For pT1c–T3 or node-positive disease, chemotherapy + trastuzumab is Category 1; pertuzumab is added in selected higher-risk settings.</a:t>
            </a:r>
          </a:p>
          <a:p>
            <a:pPr>
              <a:lnSpc>
                <a:spcPct val="103000"/>
              </a:lnSpc>
              <a:spcBef>
                <a:spcPts val="200"/>
              </a:spcBef>
              <a:spcAft>
                <a:spcPts val="200"/>
              </a:spcAft>
            </a:pPr>
            <a:r>
              <a:rPr sz="1520">
                <a:solidFill>
                  <a:srgbClr val="232A32"/>
                </a:solidFill>
                <a:latin typeface="Aptos"/>
              </a:rPr>
              <a:t>• Neoadjuvant therapy is important for stage II–III disease because response can guide postoperative escalation.</a:t>
            </a:r>
          </a:p>
          <a:p>
            <a:pPr>
              <a:lnSpc>
                <a:spcPct val="103000"/>
              </a:lnSpc>
              <a:spcBef>
                <a:spcPts val="200"/>
              </a:spcBef>
              <a:spcAft>
                <a:spcPts val="200"/>
              </a:spcAft>
            </a:pPr>
            <a:r>
              <a:rPr sz="1520">
                <a:solidFill>
                  <a:srgbClr val="232A32"/>
                </a:solidFill>
                <a:latin typeface="Aptos"/>
              </a:rPr>
              <a:t>• For residual invasive disease after neoadjuvant HER2-directed therapy, postoperative escalation is indicated; current NCCN discussion now incorporates contemporary T-DXd evidence.</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BINV-5; BINV-L/M; NCCN HER2 early-disease discussion</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Triple-negative early breast cancer — high-risk neoadjuvant pathway</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Before surgery</a:t>
            </a:r>
          </a:p>
          <a:p>
            <a:pPr>
              <a:lnSpc>
                <a:spcPct val="103000"/>
              </a:lnSpc>
              <a:spcBef>
                <a:spcPts val="200"/>
              </a:spcBef>
              <a:spcAft>
                <a:spcPts val="200"/>
              </a:spcAft>
            </a:pPr>
            <a:r>
              <a:rPr sz="1520">
                <a:solidFill>
                  <a:srgbClr val="232A32"/>
                </a:solidFill>
                <a:latin typeface="Aptos"/>
              </a:rPr>
              <a:t>• High-risk stage II–III TNBC is commonly approached with neoadjuvant chemotherapy plus pembrolizumab when eligible.</a:t>
            </a:r>
          </a:p>
          <a:p>
            <a:pPr>
              <a:lnSpc>
                <a:spcPct val="103000"/>
              </a:lnSpc>
              <a:spcBef>
                <a:spcPts val="200"/>
              </a:spcBef>
              <a:spcAft>
                <a:spcPts val="200"/>
              </a:spcAft>
            </a:pPr>
            <a:r>
              <a:rPr sz="1520">
                <a:solidFill>
                  <a:srgbClr val="232A32"/>
                </a:solidFill>
                <a:latin typeface="Aptos"/>
              </a:rPr>
              <a:t>• Carboplatin/taxane and anthracycline-containing strategies are used according to the specific regimen and patient factors.</a:t>
            </a:r>
          </a:p>
          <a:p>
            <a:pPr>
              <a:lnSpc>
                <a:spcPct val="103000"/>
              </a:lnSpc>
              <a:spcBef>
                <a:spcPts val="200"/>
              </a:spcBef>
              <a:spcAft>
                <a:spcPts val="200"/>
              </a:spcAft>
            </a:pPr>
            <a:r>
              <a:rPr sz="1520">
                <a:solidFill>
                  <a:srgbClr val="232A32"/>
                </a:solidFill>
                <a:latin typeface="Aptos"/>
              </a:rPr>
              <a:t>• Genetic testing is important; germline BRCA1/2 status can change postoperative therapy.</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After surgery</a:t>
            </a:r>
          </a:p>
          <a:p>
            <a:pPr>
              <a:lnSpc>
                <a:spcPct val="103000"/>
              </a:lnSpc>
              <a:spcBef>
                <a:spcPts val="200"/>
              </a:spcBef>
              <a:spcAft>
                <a:spcPts val="200"/>
              </a:spcAft>
            </a:pPr>
            <a:r>
              <a:rPr sz="1520">
                <a:solidFill>
                  <a:srgbClr val="232A32"/>
                </a:solidFill>
                <a:latin typeface="Aptos"/>
              </a:rPr>
              <a:t>• pCR is favorable but does not eliminate the need for planned local and systemic treatment completion.</a:t>
            </a:r>
          </a:p>
          <a:p>
            <a:pPr>
              <a:lnSpc>
                <a:spcPct val="103000"/>
              </a:lnSpc>
              <a:spcBef>
                <a:spcPts val="200"/>
              </a:spcBef>
              <a:spcAft>
                <a:spcPts val="200"/>
              </a:spcAft>
            </a:pPr>
            <a:r>
              <a:rPr sz="1520">
                <a:solidFill>
                  <a:srgbClr val="232A32"/>
                </a:solidFill>
                <a:latin typeface="Aptos"/>
              </a:rPr>
              <a:t>• Residual invasive disease is a major trigger for postoperative treatment escalation according to current NCCN pathways.</a:t>
            </a:r>
          </a:p>
          <a:p>
            <a:pPr>
              <a:lnSpc>
                <a:spcPct val="103000"/>
              </a:lnSpc>
              <a:spcBef>
                <a:spcPts val="200"/>
              </a:spcBef>
              <a:spcAft>
                <a:spcPts val="200"/>
              </a:spcAft>
            </a:pPr>
            <a:r>
              <a:rPr sz="1520">
                <a:solidFill>
                  <a:srgbClr val="232A32"/>
                </a:solidFill>
                <a:latin typeface="Aptos"/>
              </a:rPr>
              <a:t>• Selected germline BRCA1/2 carriers with high-risk HER2-negative disease may receive adjuvant olaparib.</a:t>
            </a:r>
          </a:p>
          <a:p>
            <a:pPr>
              <a:lnSpc>
                <a:spcPct val="103000"/>
              </a:lnSpc>
              <a:spcBef>
                <a:spcPts val="200"/>
              </a:spcBef>
              <a:spcAft>
                <a:spcPts val="200"/>
              </a:spcAft>
            </a:pPr>
            <a:r>
              <a:rPr sz="1520">
                <a:solidFill>
                  <a:srgbClr val="232A32"/>
                </a:solidFill>
                <a:latin typeface="Aptos"/>
              </a:rPr>
              <a:t>• The exact regimen and sequencing depend on what was delivered preoperatively and what residual disease remains.</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BINV-L/M; KEYNOTE-522 evidence; NCCN TNBC pathways</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Favorable histologies and very small tumors</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Favorable histologies</a:t>
            </a:r>
          </a:p>
          <a:p>
            <a:pPr>
              <a:lnSpc>
                <a:spcPct val="103000"/>
              </a:lnSpc>
              <a:spcBef>
                <a:spcPts val="200"/>
              </a:spcBef>
              <a:spcAft>
                <a:spcPts val="200"/>
              </a:spcAft>
            </a:pPr>
            <a:r>
              <a:rPr sz="1520">
                <a:solidFill>
                  <a:srgbClr val="232A32"/>
                </a:solidFill>
                <a:latin typeface="Aptos"/>
              </a:rPr>
              <a:t>• Pure tubular, mucinous and cribriform carcinomas generally have more favorable biology.</a:t>
            </a:r>
          </a:p>
          <a:p>
            <a:pPr>
              <a:lnSpc>
                <a:spcPct val="103000"/>
              </a:lnSpc>
              <a:spcBef>
                <a:spcPts val="200"/>
              </a:spcBef>
              <a:spcAft>
                <a:spcPts val="200"/>
              </a:spcAft>
            </a:pPr>
            <a:r>
              <a:rPr sz="1520">
                <a:solidFill>
                  <a:srgbClr val="232A32"/>
                </a:solidFill>
                <a:latin typeface="Aptos"/>
              </a:rPr>
              <a:t>• For ER-positive/HER2-negative, pN0/pN1mi favorable histologies, endocrine therapy may be the principal systemic therapy.</a:t>
            </a:r>
          </a:p>
          <a:p>
            <a:pPr>
              <a:lnSpc>
                <a:spcPct val="103000"/>
              </a:lnSpc>
              <a:spcBef>
                <a:spcPts val="200"/>
              </a:spcBef>
              <a:spcAft>
                <a:spcPts val="200"/>
              </a:spcAft>
            </a:pPr>
            <a:r>
              <a:rPr sz="1520">
                <a:solidFill>
                  <a:srgbClr val="232A32"/>
                </a:solidFill>
                <a:latin typeface="Aptos"/>
              </a:rPr>
              <a:t>• Very small tumors may require only risk-reduction endocrine therapy depending on size, grade and pathology.</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Clinical caution</a:t>
            </a:r>
          </a:p>
          <a:p>
            <a:pPr>
              <a:lnSpc>
                <a:spcPct val="103000"/>
              </a:lnSpc>
              <a:spcBef>
                <a:spcPts val="200"/>
              </a:spcBef>
              <a:spcAft>
                <a:spcPts val="200"/>
              </a:spcAft>
            </a:pPr>
            <a:r>
              <a:rPr sz="1520">
                <a:solidFill>
                  <a:srgbClr val="232A32"/>
                </a:solidFill>
                <a:latin typeface="Aptos"/>
              </a:rPr>
              <a:t>• Do not let a favorable histologic label override HER2 positivity, nodal burden or other high-risk features.</a:t>
            </a:r>
          </a:p>
          <a:p>
            <a:pPr>
              <a:lnSpc>
                <a:spcPct val="103000"/>
              </a:lnSpc>
              <a:spcBef>
                <a:spcPts val="200"/>
              </a:spcBef>
              <a:spcAft>
                <a:spcPts val="200"/>
              </a:spcAft>
            </a:pPr>
            <a:r>
              <a:rPr sz="1520">
                <a:solidFill>
                  <a:srgbClr val="232A32"/>
                </a:solidFill>
                <a:latin typeface="Aptos"/>
              </a:rPr>
              <a:t>• Metaplastic carcinoma is often treatment-resistant, but NCCN recognizes rare low-grade subtypes with favorable behavior.</a:t>
            </a:r>
          </a:p>
          <a:p>
            <a:pPr>
              <a:lnSpc>
                <a:spcPct val="103000"/>
              </a:lnSpc>
              <a:spcBef>
                <a:spcPts val="200"/>
              </a:spcBef>
              <a:spcAft>
                <a:spcPts val="200"/>
              </a:spcAft>
            </a:pPr>
            <a:r>
              <a:rPr sz="1520">
                <a:solidFill>
                  <a:srgbClr val="232A32"/>
                </a:solidFill>
                <a:latin typeface="Aptos"/>
              </a:rPr>
              <a:t>• Every small tumor still requires integration of histology, biomarkers and patient factors.</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BINV-11; NCCN systemic adjuvant treatment tables</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94360" y="1051560"/>
            <a:ext cx="9601200" cy="914400"/>
          </a:xfrm>
        </p:spPr>
        <p:txBody>
          <a:bodyPr/>
          <a:lstStyle/>
          <a:p>
            <a:r>
              <a:rPr sz="3400" b="1">
                <a:solidFill>
                  <a:srgbClr val="1F3756"/>
                </a:solidFill>
                <a:latin typeface="Aptos Display"/>
              </a:rPr>
              <a:t>Locally advanced, inflammatory and special breast cancers</a:t>
            </a:r>
          </a:p>
        </p:txBody>
      </p:sp>
      <p:sp>
        <p:nvSpPr>
          <p:cNvPr id="3" name="Text Placeholder 2"/>
          <p:cNvSpPr>
            <a:spLocks noGrp="1"/>
          </p:cNvSpPr>
          <p:nvPr>
            <p:ph type="body" idx="1"/>
          </p:nvPr>
        </p:nvSpPr>
        <p:spPr/>
        <p:txBody>
          <a:bodyPr/>
          <a:lstStyle/>
          <a:p/>
        </p:txBody>
      </p:sp>
      <p:sp>
        <p:nvSpPr>
          <p:cNvPr id="4" name="TextBox 3"/>
          <p:cNvSpPr txBox="1"/>
          <p:nvPr/>
        </p:nvSpPr>
        <p:spPr>
          <a:xfrm>
            <a:off x="640080" y="2057400"/>
            <a:ext cx="9418320" cy="1280160"/>
          </a:xfrm>
          <a:prstGeom prst="rect">
            <a:avLst/>
          </a:prstGeom>
          <a:noFill/>
        </p:spPr>
        <p:txBody>
          <a:bodyPr wrap="none">
            <a:spAutoFit/>
          </a:bodyPr>
          <a:lstStyle/>
          <a:p>
            <a:r>
              <a:rPr sz="1800">
                <a:solidFill>
                  <a:srgbClr val="5A6978"/>
                </a:solidFill>
                <a:latin typeface="Aptos"/>
              </a:rPr>
              <a:t>The sequence of therapy is often as important as the individual treatment modality.</a:t>
            </a:r>
          </a:p>
        </p:txBody>
      </p:sp>
      <p:sp>
        <p:nvSpPr>
          <p:cNvPr id="5" name="Rectangle 4"/>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7" name="TextBox 6"/>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8" name="TextBox 7"/>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Stage III / inoperable or locally advanced breast cancer</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General sequence</a:t>
            </a:r>
          </a:p>
          <a:p>
            <a:pPr>
              <a:lnSpc>
                <a:spcPct val="103000"/>
              </a:lnSpc>
              <a:spcBef>
                <a:spcPts val="200"/>
              </a:spcBef>
              <a:spcAft>
                <a:spcPts val="200"/>
              </a:spcAft>
            </a:pPr>
            <a:r>
              <a:rPr sz="1520">
                <a:solidFill>
                  <a:srgbClr val="232A32"/>
                </a:solidFill>
                <a:latin typeface="Aptos"/>
              </a:rPr>
              <a:t>• Most stage III disease requires multimodality curative-intent treatment.</a:t>
            </a:r>
          </a:p>
          <a:p>
            <a:pPr>
              <a:lnSpc>
                <a:spcPct val="103000"/>
              </a:lnSpc>
              <a:spcBef>
                <a:spcPts val="200"/>
              </a:spcBef>
              <a:spcAft>
                <a:spcPts val="200"/>
              </a:spcAft>
            </a:pPr>
            <a:r>
              <a:rPr sz="1520">
                <a:solidFill>
                  <a:srgbClr val="232A32"/>
                </a:solidFill>
                <a:latin typeface="Aptos"/>
              </a:rPr>
              <a:t>• Typical sequence: neoadjuvant systemic therapy → definitive breast/axillary surgery → radiation → completion of systemic therapy as indicated.</a:t>
            </a:r>
          </a:p>
          <a:p>
            <a:pPr>
              <a:lnSpc>
                <a:spcPct val="103000"/>
              </a:lnSpc>
              <a:spcBef>
                <a:spcPts val="200"/>
              </a:spcBef>
              <a:spcAft>
                <a:spcPts val="200"/>
              </a:spcAft>
            </a:pPr>
            <a:r>
              <a:rPr sz="1520">
                <a:solidFill>
                  <a:srgbClr val="232A32"/>
                </a:solidFill>
                <a:latin typeface="Aptos"/>
              </a:rPr>
              <a:t>• Choose neoadjuvant regimen by subtype: HER2-directed therapy for HER2-positive disease; TNBC chemo-immunotherapy when eligible; endocrine-sensitive disease may use endocrine-based neoadjuvant treatment in selected circumstances.</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Why sequence matters</a:t>
            </a:r>
          </a:p>
          <a:p>
            <a:pPr>
              <a:lnSpc>
                <a:spcPct val="103000"/>
              </a:lnSpc>
              <a:spcBef>
                <a:spcPts val="200"/>
              </a:spcBef>
              <a:spcAft>
                <a:spcPts val="200"/>
              </a:spcAft>
            </a:pPr>
            <a:r>
              <a:rPr sz="1520">
                <a:solidFill>
                  <a:srgbClr val="232A32"/>
                </a:solidFill>
                <a:latin typeface="Aptos"/>
              </a:rPr>
              <a:t>• Neoadjuvant therapy may downstage the breast and axilla.</a:t>
            </a:r>
          </a:p>
          <a:p>
            <a:pPr>
              <a:lnSpc>
                <a:spcPct val="103000"/>
              </a:lnSpc>
              <a:spcBef>
                <a:spcPts val="200"/>
              </a:spcBef>
              <a:spcAft>
                <a:spcPts val="200"/>
              </a:spcAft>
            </a:pPr>
            <a:r>
              <a:rPr sz="1520">
                <a:solidFill>
                  <a:srgbClr val="232A32"/>
                </a:solidFill>
                <a:latin typeface="Aptos"/>
              </a:rPr>
              <a:t>• Response identifies residual-risk biology and enables postoperative escalation/de-escalation.</a:t>
            </a:r>
          </a:p>
          <a:p>
            <a:pPr>
              <a:lnSpc>
                <a:spcPct val="103000"/>
              </a:lnSpc>
              <a:spcBef>
                <a:spcPts val="200"/>
              </a:spcBef>
              <a:spcAft>
                <a:spcPts val="200"/>
              </a:spcAft>
            </a:pPr>
            <a:r>
              <a:rPr sz="1520">
                <a:solidFill>
                  <a:srgbClr val="232A32"/>
                </a:solidFill>
                <a:latin typeface="Aptos"/>
              </a:rPr>
              <a:t>• Surgery should not be delayed indefinitely in a nonresponder; reassess for additional systemic therapy, alternate therapy or preoperative RT in selected cases.</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BINV-L; BINV-M; BINV-I; NCCN locally advanced disease pathways</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Inflammatory breast cancer — NCCN diagnostic essentials</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Clinical diagnosis</a:t>
            </a:r>
          </a:p>
          <a:p>
            <a:pPr>
              <a:lnSpc>
                <a:spcPct val="103000"/>
              </a:lnSpc>
              <a:spcBef>
                <a:spcPts val="200"/>
              </a:spcBef>
              <a:spcAft>
                <a:spcPts val="200"/>
              </a:spcAft>
            </a:pPr>
            <a:r>
              <a:rPr sz="1520">
                <a:solidFill>
                  <a:srgbClr val="232A32"/>
                </a:solidFill>
                <a:latin typeface="Aptos"/>
              </a:rPr>
              <a:t>• Rapid onset (≤6 months) of erythema, edema/peau d’orange involving ≥1/3 of the breast, with or without a mass.</a:t>
            </a:r>
          </a:p>
          <a:p>
            <a:pPr>
              <a:lnSpc>
                <a:spcPct val="103000"/>
              </a:lnSpc>
              <a:spcBef>
                <a:spcPts val="200"/>
              </a:spcBef>
              <a:spcAft>
                <a:spcPts val="200"/>
              </a:spcAft>
            </a:pPr>
            <a:r>
              <a:rPr sz="1520">
                <a:solidFill>
                  <a:srgbClr val="232A32"/>
                </a:solidFill>
                <a:latin typeface="Aptos"/>
              </a:rPr>
              <a:t>• Pathologic confirmation of invasive breast cancer is required.</a:t>
            </a:r>
          </a:p>
          <a:p>
            <a:pPr>
              <a:lnSpc>
                <a:spcPct val="103000"/>
              </a:lnSpc>
              <a:spcBef>
                <a:spcPts val="200"/>
              </a:spcBef>
              <a:spcAft>
                <a:spcPts val="200"/>
              </a:spcAft>
            </a:pPr>
            <a:r>
              <a:rPr sz="1520">
                <a:solidFill>
                  <a:srgbClr val="232A32"/>
                </a:solidFill>
                <a:latin typeface="Aptos"/>
              </a:rPr>
              <a:t>• Dermal lymphatic invasion may be present but is not required; a negative skin biopsy does not exclude IBC.</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Work-up</a:t>
            </a:r>
          </a:p>
          <a:p>
            <a:pPr>
              <a:lnSpc>
                <a:spcPct val="103000"/>
              </a:lnSpc>
              <a:spcBef>
                <a:spcPts val="200"/>
              </a:spcBef>
              <a:spcAft>
                <a:spcPts val="200"/>
              </a:spcAft>
            </a:pPr>
            <a:r>
              <a:rPr sz="1520">
                <a:solidFill>
                  <a:srgbClr val="232A32"/>
                </a:solidFill>
                <a:latin typeface="Aptos"/>
              </a:rPr>
              <a:t>• Multidisciplinary history/exam with clinical photography.</a:t>
            </a:r>
          </a:p>
          <a:p>
            <a:pPr>
              <a:lnSpc>
                <a:spcPct val="103000"/>
              </a:lnSpc>
              <a:spcBef>
                <a:spcPts val="200"/>
              </a:spcBef>
              <a:spcAft>
                <a:spcPts val="200"/>
              </a:spcAft>
            </a:pPr>
            <a:r>
              <a:rPr sz="1520">
                <a:solidFill>
                  <a:srgbClr val="232A32"/>
                </a:solidFill>
                <a:latin typeface="Aptos"/>
              </a:rPr>
              <a:t>• CBC/CMP, ER/PR/HER2, fertility/genetic/distress assessment as applicable.</a:t>
            </a:r>
          </a:p>
          <a:p>
            <a:pPr>
              <a:lnSpc>
                <a:spcPct val="103000"/>
              </a:lnSpc>
              <a:spcBef>
                <a:spcPts val="200"/>
              </a:spcBef>
              <a:spcAft>
                <a:spcPts val="200"/>
              </a:spcAft>
            </a:pPr>
            <a:r>
              <a:rPr sz="1520">
                <a:solidFill>
                  <a:srgbClr val="232A32"/>
                </a:solidFill>
                <a:latin typeface="Aptos"/>
              </a:rPr>
              <a:t>• Bilateral diagnostic mammography ± US, CT chest, CT/MRI abdomen/pelvis, bone scan or FDG-PET/CT; breast MRI optional.</a:t>
            </a:r>
          </a:p>
          <a:p>
            <a:pPr>
              <a:lnSpc>
                <a:spcPct val="103000"/>
              </a:lnSpc>
              <a:spcBef>
                <a:spcPts val="200"/>
              </a:spcBef>
              <a:spcAft>
                <a:spcPts val="200"/>
              </a:spcAft>
            </a:pPr>
            <a:r>
              <a:rPr sz="1520">
                <a:solidFill>
                  <a:srgbClr val="232A32"/>
                </a:solidFill>
                <a:latin typeface="Aptos"/>
              </a:rPr>
              <a:t>• Biopsy suspicious distant lesions whenever feasible to confirm stage IV disease.</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IBC-1</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Inflammatory breast cancer — treatment sequence</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Systemic therapy first</a:t>
            </a:r>
          </a:p>
          <a:p>
            <a:pPr>
              <a:lnSpc>
                <a:spcPct val="103000"/>
              </a:lnSpc>
              <a:spcBef>
                <a:spcPts val="200"/>
              </a:spcBef>
              <a:spcAft>
                <a:spcPts val="200"/>
              </a:spcAft>
            </a:pPr>
            <a:r>
              <a:rPr sz="1520">
                <a:solidFill>
                  <a:srgbClr val="232A32"/>
                </a:solidFill>
                <a:latin typeface="Aptos"/>
              </a:rPr>
              <a:t>• All clinical/pathologic IBC should receive preoperative systemic therapy before surgery.</a:t>
            </a:r>
          </a:p>
          <a:p>
            <a:pPr>
              <a:lnSpc>
                <a:spcPct val="103000"/>
              </a:lnSpc>
              <a:spcBef>
                <a:spcPts val="200"/>
              </a:spcBef>
              <a:spcAft>
                <a:spcPts val="200"/>
              </a:spcAft>
            </a:pPr>
            <a:r>
              <a:rPr sz="1520">
                <a:solidFill>
                  <a:srgbClr val="232A32"/>
                </a:solidFill>
                <a:latin typeface="Aptos"/>
              </a:rPr>
              <a:t>• HER2-positive IBC: include HER2-directed therapy; pertuzumab-containing preoperative therapy may be used.</a:t>
            </a:r>
          </a:p>
          <a:p>
            <a:pPr>
              <a:lnSpc>
                <a:spcPct val="103000"/>
              </a:lnSpc>
              <a:spcBef>
                <a:spcPts val="200"/>
              </a:spcBef>
              <a:spcAft>
                <a:spcPts val="200"/>
              </a:spcAft>
            </a:pPr>
            <a:r>
              <a:rPr sz="1520">
                <a:solidFill>
                  <a:srgbClr val="232A32"/>
                </a:solidFill>
                <a:latin typeface="Aptos"/>
              </a:rPr>
              <a:t>• Complete the planned chemotherapy course if feasible before mastectomy; finish any remaining therapy postoperatively.</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Definitive local therapy</a:t>
            </a:r>
          </a:p>
          <a:p>
            <a:pPr>
              <a:lnSpc>
                <a:spcPct val="103000"/>
              </a:lnSpc>
              <a:spcBef>
                <a:spcPts val="200"/>
              </a:spcBef>
              <a:spcAft>
                <a:spcPts val="200"/>
              </a:spcAft>
            </a:pPr>
            <a:r>
              <a:rPr sz="1520">
                <a:solidFill>
                  <a:srgbClr val="232A32"/>
                </a:solidFill>
                <a:latin typeface="Aptos"/>
              </a:rPr>
              <a:t>• Responders: total mastectomy + level I/II ALND.</a:t>
            </a:r>
          </a:p>
          <a:p>
            <a:pPr>
              <a:lnSpc>
                <a:spcPct val="103000"/>
              </a:lnSpc>
              <a:spcBef>
                <a:spcPts val="200"/>
              </a:spcBef>
              <a:spcAft>
                <a:spcPts val="200"/>
              </a:spcAft>
            </a:pPr>
            <a:r>
              <a:rPr sz="1520">
                <a:solidFill>
                  <a:srgbClr val="232A32"/>
                </a:solidFill>
                <a:latin typeface="Aptos"/>
              </a:rPr>
              <a:t>• Skin-sparing and nipple-sparing mastectomy are contraindicated.</a:t>
            </a:r>
          </a:p>
          <a:p>
            <a:pPr>
              <a:lnSpc>
                <a:spcPct val="103000"/>
              </a:lnSpc>
              <a:spcBef>
                <a:spcPts val="200"/>
              </a:spcBef>
              <a:spcAft>
                <a:spcPts val="200"/>
              </a:spcAft>
            </a:pPr>
            <a:r>
              <a:rPr sz="1520">
                <a:solidFill>
                  <a:srgbClr val="232A32"/>
                </a:solidFill>
                <a:latin typeface="Aptos"/>
              </a:rPr>
              <a:t>• Breast conservation is not recommended for true IBC.</a:t>
            </a:r>
          </a:p>
          <a:p>
            <a:pPr>
              <a:lnSpc>
                <a:spcPct val="103000"/>
              </a:lnSpc>
              <a:spcBef>
                <a:spcPts val="200"/>
              </a:spcBef>
              <a:spcAft>
                <a:spcPts val="200"/>
              </a:spcAft>
            </a:pPr>
            <a:r>
              <a:rPr sz="1520">
                <a:solidFill>
                  <a:srgbClr val="232A32"/>
                </a:solidFill>
                <a:latin typeface="Aptos"/>
              </a:rPr>
              <a:t>• Postmastectomy RT to chest wall + comprehensive regional nodes; include IMNs when clinically/pathologically involved.</a:t>
            </a:r>
          </a:p>
          <a:p>
            <a:pPr>
              <a:lnSpc>
                <a:spcPct val="103000"/>
              </a:lnSpc>
              <a:spcBef>
                <a:spcPts val="200"/>
              </a:spcBef>
              <a:spcAft>
                <a:spcPts val="200"/>
              </a:spcAft>
            </a:pPr>
            <a:r>
              <a:rPr sz="1520">
                <a:solidFill>
                  <a:srgbClr val="232A32"/>
                </a:solidFill>
                <a:latin typeface="Aptos"/>
              </a:rPr>
              <a:t>• Delayed reconstruction is generally preferred when PMRT is anticipated.</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IBC-2; NCCN MS-94–96</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Paget disease — modern local management</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Diagnosis</a:t>
            </a:r>
          </a:p>
          <a:p>
            <a:pPr>
              <a:lnSpc>
                <a:spcPct val="103000"/>
              </a:lnSpc>
              <a:spcBef>
                <a:spcPts val="200"/>
              </a:spcBef>
              <a:spcAft>
                <a:spcPts val="200"/>
              </a:spcAft>
            </a:pPr>
            <a:r>
              <a:rPr sz="1520">
                <a:solidFill>
                  <a:srgbClr val="232A32"/>
                </a:solidFill>
                <a:latin typeface="Aptos"/>
              </a:rPr>
              <a:t>• Persistent eczematous/bleeding/ulcerated nipple-areolar lesion warrants full-thickness NAC biopsy.</a:t>
            </a:r>
          </a:p>
          <a:p>
            <a:pPr>
              <a:lnSpc>
                <a:spcPct val="103000"/>
              </a:lnSpc>
              <a:spcBef>
                <a:spcPts val="200"/>
              </a:spcBef>
              <a:spcAft>
                <a:spcPts val="200"/>
              </a:spcAft>
            </a:pPr>
            <a:r>
              <a:rPr sz="1520">
                <a:solidFill>
                  <a:srgbClr val="232A32"/>
                </a:solidFill>
                <a:latin typeface="Aptos"/>
              </a:rPr>
              <a:t>• Diagnostic breast imaging for an associated lesion; MRI is recommended after positive Paget diagnosis to define extent.</a:t>
            </a:r>
          </a:p>
          <a:p>
            <a:pPr>
              <a:lnSpc>
                <a:spcPct val="103000"/>
              </a:lnSpc>
              <a:spcBef>
                <a:spcPts val="200"/>
              </a:spcBef>
              <a:spcAft>
                <a:spcPts val="200"/>
              </a:spcAft>
            </a:pPr>
            <a:r>
              <a:rPr sz="1520">
                <a:solidFill>
                  <a:srgbClr val="232A32"/>
                </a:solidFill>
                <a:latin typeface="Aptos"/>
              </a:rPr>
              <a:t>• Underlying disease can be DCIS or invasive cancer and may be remote from the nipple.</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Surgery</a:t>
            </a:r>
          </a:p>
          <a:p>
            <a:pPr>
              <a:lnSpc>
                <a:spcPct val="103000"/>
              </a:lnSpc>
              <a:spcBef>
                <a:spcPts val="200"/>
              </a:spcBef>
              <a:spcAft>
                <a:spcPts val="200"/>
              </a:spcAft>
            </a:pPr>
            <a:r>
              <a:rPr sz="1520">
                <a:solidFill>
                  <a:srgbClr val="232A32"/>
                </a:solidFill>
                <a:latin typeface="Aptos"/>
              </a:rPr>
              <a:t>• Mastectomy remains appropriate.</a:t>
            </a:r>
          </a:p>
          <a:p>
            <a:pPr>
              <a:lnSpc>
                <a:spcPct val="103000"/>
              </a:lnSpc>
              <a:spcBef>
                <a:spcPts val="200"/>
              </a:spcBef>
              <a:spcAft>
                <a:spcPts val="200"/>
              </a:spcAft>
            </a:pPr>
            <a:r>
              <a:rPr sz="1520">
                <a:solidFill>
                  <a:srgbClr val="232A32"/>
                </a:solidFill>
                <a:latin typeface="Aptos"/>
              </a:rPr>
              <a:t>• Selected patients can undergo BCS with complete NAC excision + negative margins and treatment of any underlying lesion, followed by WBRT.</a:t>
            </a:r>
          </a:p>
          <a:p>
            <a:pPr>
              <a:lnSpc>
                <a:spcPct val="103000"/>
              </a:lnSpc>
              <a:spcBef>
                <a:spcPts val="200"/>
              </a:spcBef>
              <a:spcAft>
                <a:spcPts val="200"/>
              </a:spcAft>
            </a:pPr>
            <a:r>
              <a:rPr sz="1520">
                <a:solidFill>
                  <a:srgbClr val="232A32"/>
                </a:solidFill>
                <a:latin typeface="Aptos"/>
              </a:rPr>
              <a:t>• No axillary staging for Paget + pure DCIS treated with BCS when invasion is excluded; stage the axilla for invasive disease as usual.</a:t>
            </a:r>
          </a:p>
          <a:p>
            <a:pPr>
              <a:lnSpc>
                <a:spcPct val="103000"/>
              </a:lnSpc>
              <a:spcBef>
                <a:spcPts val="200"/>
              </a:spcBef>
              <a:spcAft>
                <a:spcPts val="200"/>
              </a:spcAft>
            </a:pPr>
            <a:r>
              <a:rPr sz="1520">
                <a:solidFill>
                  <a:srgbClr val="232A32"/>
                </a:solidFill>
                <a:latin typeface="Aptos"/>
              </a:rPr>
              <a:t>• At mastectomy, axillary staging should generally be considered because later SLNB may not be feasible.</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PAGET-1; NCCN MS-88</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Male breast cancer — NCCN 6.2026</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What is the same</a:t>
            </a:r>
          </a:p>
          <a:p>
            <a:pPr>
              <a:lnSpc>
                <a:spcPct val="103000"/>
              </a:lnSpc>
              <a:spcBef>
                <a:spcPts val="200"/>
              </a:spcBef>
              <a:spcAft>
                <a:spcPts val="200"/>
              </a:spcAft>
            </a:pPr>
            <a:r>
              <a:rPr sz="1520">
                <a:solidFill>
                  <a:srgbClr val="232A32"/>
                </a:solidFill>
                <a:latin typeface="Aptos"/>
              </a:rPr>
              <a:t>• Staging and most oncologic principles are extrapolated from female breast cancer because male trial enrollment is limited.</a:t>
            </a:r>
          </a:p>
          <a:p>
            <a:pPr>
              <a:lnSpc>
                <a:spcPct val="103000"/>
              </a:lnSpc>
              <a:spcBef>
                <a:spcPts val="200"/>
              </a:spcBef>
              <a:spcAft>
                <a:spcPts val="200"/>
              </a:spcAft>
            </a:pPr>
            <a:r>
              <a:rPr sz="1520">
                <a:solidFill>
                  <a:srgbClr val="232A32"/>
                </a:solidFill>
                <a:latin typeface="Aptos"/>
              </a:rPr>
              <a:t>• Clinically node-negative invasive disease: SLNB.</a:t>
            </a:r>
          </a:p>
          <a:p>
            <a:pPr>
              <a:lnSpc>
                <a:spcPct val="103000"/>
              </a:lnSpc>
              <a:spcBef>
                <a:spcPts val="200"/>
              </a:spcBef>
              <a:spcAft>
                <a:spcPts val="200"/>
              </a:spcAft>
            </a:pPr>
            <a:r>
              <a:rPr sz="1520">
                <a:solidFill>
                  <a:srgbClr val="232A32"/>
                </a:solidFill>
                <a:latin typeface="Aptos"/>
              </a:rPr>
              <a:t>• BCS can be considered using the same oncologic criteria when anatomy permits.</a:t>
            </a:r>
          </a:p>
          <a:p>
            <a:pPr>
              <a:lnSpc>
                <a:spcPct val="103000"/>
              </a:lnSpc>
              <a:spcBef>
                <a:spcPts val="200"/>
              </a:spcBef>
              <a:spcAft>
                <a:spcPts val="200"/>
              </a:spcAft>
            </a:pPr>
            <a:r>
              <a:rPr sz="1520">
                <a:solidFill>
                  <a:srgbClr val="232A32"/>
                </a:solidFill>
                <a:latin typeface="Aptos"/>
              </a:rPr>
              <a:t>• Chemotherapy/HER2-targeted therapy indications follow female-breast-cancer principles.</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What is different</a:t>
            </a:r>
          </a:p>
          <a:p>
            <a:pPr>
              <a:lnSpc>
                <a:spcPct val="103000"/>
              </a:lnSpc>
              <a:spcBef>
                <a:spcPts val="200"/>
              </a:spcBef>
              <a:spcAft>
                <a:spcPts val="200"/>
              </a:spcAft>
            </a:pPr>
            <a:r>
              <a:rPr sz="1520">
                <a:solidFill>
                  <a:srgbClr val="232A32"/>
                </a:solidFill>
                <a:latin typeface="Aptos"/>
              </a:rPr>
              <a:t>• Consider germline genetic testing in all males with breast cancer.</a:t>
            </a:r>
          </a:p>
          <a:p>
            <a:pPr>
              <a:lnSpc>
                <a:spcPct val="103000"/>
              </a:lnSpc>
              <a:spcBef>
                <a:spcPts val="200"/>
              </a:spcBef>
              <a:spcAft>
                <a:spcPts val="200"/>
              </a:spcAft>
            </a:pPr>
            <a:r>
              <a:rPr sz="1520">
                <a:solidFill>
                  <a:srgbClr val="232A32"/>
                </a:solidFill>
                <a:latin typeface="Aptos"/>
              </a:rPr>
              <a:t>• Most tumors are HR-positive; tamoxifen is the usual endocrine backbone.</a:t>
            </a:r>
          </a:p>
          <a:p>
            <a:pPr>
              <a:lnSpc>
                <a:spcPct val="103000"/>
              </a:lnSpc>
              <a:spcBef>
                <a:spcPts val="200"/>
              </a:spcBef>
              <a:spcAft>
                <a:spcPts val="200"/>
              </a:spcAft>
            </a:pPr>
            <a:r>
              <a:rPr sz="1520">
                <a:solidFill>
                  <a:srgbClr val="232A32"/>
                </a:solidFill>
                <a:latin typeface="Aptos"/>
              </a:rPr>
              <a:t>• If an AI is used, add GnRH suppression/ablation; AI monotherapy is inadequate.</a:t>
            </a:r>
          </a:p>
          <a:p>
            <a:pPr>
              <a:lnSpc>
                <a:spcPct val="103000"/>
              </a:lnSpc>
              <a:spcBef>
                <a:spcPts val="200"/>
              </a:spcBef>
              <a:spcAft>
                <a:spcPts val="200"/>
              </a:spcAft>
            </a:pPr>
            <a:r>
              <a:rPr sz="1520">
                <a:solidFill>
                  <a:srgbClr val="232A32"/>
                </a:solidFill>
                <a:latin typeface="Aptos"/>
              </a:rPr>
              <a:t>• Data for molecular assays are limited but 21-gene recurrence score has prognostic evidence in men.</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BINV-J</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Breast cancer during pregnancy — NCCN practical points</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Diagnosis / staging</a:t>
            </a:r>
          </a:p>
          <a:p>
            <a:pPr>
              <a:lnSpc>
                <a:spcPct val="103000"/>
              </a:lnSpc>
              <a:spcBef>
                <a:spcPts val="200"/>
              </a:spcBef>
              <a:spcAft>
                <a:spcPts val="200"/>
              </a:spcAft>
            </a:pPr>
            <a:r>
              <a:rPr sz="1520">
                <a:solidFill>
                  <a:srgbClr val="232A32"/>
                </a:solidFill>
                <a:latin typeface="Aptos"/>
              </a:rPr>
              <a:t>• Do not delay tissue diagnosis because of pregnancy.</a:t>
            </a:r>
          </a:p>
          <a:p>
            <a:pPr>
              <a:lnSpc>
                <a:spcPct val="103000"/>
              </a:lnSpc>
              <a:spcBef>
                <a:spcPts val="200"/>
              </a:spcBef>
              <a:spcAft>
                <a:spcPts val="200"/>
              </a:spcAft>
            </a:pPr>
            <a:r>
              <a:rPr sz="1520">
                <a:solidFill>
                  <a:srgbClr val="232A32"/>
                </a:solidFill>
                <a:latin typeface="Aptos"/>
              </a:rPr>
              <a:t>• Ultrasound and core biopsy are central; use mammography/other ionizing imaging when needed with appropriate shielding/protection.</a:t>
            </a:r>
          </a:p>
          <a:p>
            <a:pPr>
              <a:lnSpc>
                <a:spcPct val="103000"/>
              </a:lnSpc>
              <a:spcBef>
                <a:spcPts val="200"/>
              </a:spcBef>
              <a:spcAft>
                <a:spcPts val="200"/>
              </a:spcAft>
            </a:pPr>
            <a:r>
              <a:rPr sz="1520">
                <a:solidFill>
                  <a:srgbClr val="232A32"/>
                </a:solidFill>
                <a:latin typeface="Aptos"/>
              </a:rPr>
              <a:t>• MRI without gadolinium may be considered; gadolinium is generally avoided unless it will change management.</a:t>
            </a:r>
          </a:p>
          <a:p>
            <a:pPr>
              <a:lnSpc>
                <a:spcPct val="103000"/>
              </a:lnSpc>
              <a:spcBef>
                <a:spcPts val="200"/>
              </a:spcBef>
              <a:spcAft>
                <a:spcPts val="200"/>
              </a:spcAft>
            </a:pPr>
            <a:r>
              <a:rPr sz="1520">
                <a:solidFill>
                  <a:srgbClr val="232A32"/>
                </a:solidFill>
                <a:latin typeface="Aptos"/>
              </a:rPr>
              <a:t>• Coordinate surgery, oncology and maternal-fetal medicine.</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Therapy</a:t>
            </a:r>
          </a:p>
          <a:p>
            <a:pPr>
              <a:lnSpc>
                <a:spcPct val="103000"/>
              </a:lnSpc>
              <a:spcBef>
                <a:spcPts val="200"/>
              </a:spcBef>
              <a:spcAft>
                <a:spcPts val="200"/>
              </a:spcAft>
            </a:pPr>
            <a:r>
              <a:rPr sz="1520">
                <a:solidFill>
                  <a:srgbClr val="232A32"/>
                </a:solidFill>
                <a:latin typeface="Aptos"/>
              </a:rPr>
              <a:t>• Surgery is feasible during pregnancy when indicated.</a:t>
            </a:r>
          </a:p>
          <a:p>
            <a:pPr>
              <a:lnSpc>
                <a:spcPct val="103000"/>
              </a:lnSpc>
              <a:spcBef>
                <a:spcPts val="200"/>
              </a:spcBef>
              <a:spcAft>
                <a:spcPts val="200"/>
              </a:spcAft>
            </a:pPr>
            <a:r>
              <a:rPr sz="1520">
                <a:solidFill>
                  <a:srgbClr val="232A32"/>
                </a:solidFill>
                <a:latin typeface="Aptos"/>
              </a:rPr>
              <a:t>• Chemotherapy is generally deferred until after the first trimester and selected regimens are used.</a:t>
            </a:r>
          </a:p>
          <a:p>
            <a:pPr>
              <a:lnSpc>
                <a:spcPct val="103000"/>
              </a:lnSpc>
              <a:spcBef>
                <a:spcPts val="200"/>
              </a:spcBef>
              <a:spcAft>
                <a:spcPts val="200"/>
              </a:spcAft>
            </a:pPr>
            <a:r>
              <a:rPr sz="1520">
                <a:solidFill>
                  <a:srgbClr val="232A32"/>
                </a:solidFill>
                <a:latin typeface="Aptos"/>
              </a:rPr>
              <a:t>• Endocrine therapy, anti-HER2 therapy, ADCs, PARP inhibitors and immune-checkpoint inhibitors are deferred/avoided during pregnancy.</a:t>
            </a:r>
          </a:p>
          <a:p>
            <a:pPr>
              <a:lnSpc>
                <a:spcPct val="103000"/>
              </a:lnSpc>
              <a:spcBef>
                <a:spcPts val="200"/>
              </a:spcBef>
              <a:spcAft>
                <a:spcPts val="200"/>
              </a:spcAft>
            </a:pPr>
            <a:r>
              <a:rPr sz="1520">
                <a:solidFill>
                  <a:srgbClr val="232A32"/>
                </a:solidFill>
                <a:latin typeface="Aptos"/>
              </a:rPr>
              <a:t>• Radiation is generally postponed until after delivery.</a:t>
            </a:r>
          </a:p>
          <a:p>
            <a:pPr>
              <a:lnSpc>
                <a:spcPct val="103000"/>
              </a:lnSpc>
              <a:spcBef>
                <a:spcPts val="200"/>
              </a:spcBef>
              <a:spcAft>
                <a:spcPts val="200"/>
              </a:spcAft>
            </a:pPr>
            <a:r>
              <a:rPr sz="1520">
                <a:solidFill>
                  <a:srgbClr val="232A32"/>
                </a:solidFill>
                <a:latin typeface="Aptos"/>
              </a:rPr>
              <a:t>• Supportive care: use pregnancy-compatible antiemetics/steroids; avoid dexamethasone/betamethasone when possible; G-CSF may be used cautiously.</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PREG-1/PREG-2</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94360" y="1051560"/>
            <a:ext cx="9601200" cy="914400"/>
          </a:xfrm>
        </p:spPr>
        <p:txBody>
          <a:bodyPr/>
          <a:lstStyle/>
          <a:p>
            <a:r>
              <a:rPr sz="3400" b="1">
                <a:solidFill>
                  <a:srgbClr val="1F3756"/>
                </a:solidFill>
                <a:latin typeface="Aptos Display"/>
              </a:rPr>
              <a:t>Recurrent and metastatic breast cancer</a:t>
            </a:r>
          </a:p>
        </p:txBody>
      </p:sp>
      <p:sp>
        <p:nvSpPr>
          <p:cNvPr id="3" name="Text Placeholder 2"/>
          <p:cNvSpPr>
            <a:spLocks noGrp="1"/>
          </p:cNvSpPr>
          <p:nvPr>
            <p:ph type="body" idx="1"/>
          </p:nvPr>
        </p:nvSpPr>
        <p:spPr/>
        <p:txBody>
          <a:bodyPr/>
          <a:lstStyle/>
          <a:p/>
        </p:txBody>
      </p:sp>
      <p:sp>
        <p:nvSpPr>
          <p:cNvPr id="4" name="TextBox 3"/>
          <p:cNvSpPr txBox="1"/>
          <p:nvPr/>
        </p:nvSpPr>
        <p:spPr>
          <a:xfrm>
            <a:off x="640080" y="2057400"/>
            <a:ext cx="9418320" cy="1280160"/>
          </a:xfrm>
          <a:prstGeom prst="rect">
            <a:avLst/>
          </a:prstGeom>
          <a:noFill/>
        </p:spPr>
        <p:txBody>
          <a:bodyPr wrap="none">
            <a:spAutoFit/>
          </a:bodyPr>
          <a:lstStyle/>
          <a:p>
            <a:r>
              <a:rPr sz="1800">
                <a:solidFill>
                  <a:srgbClr val="5A6978"/>
                </a:solidFill>
                <a:latin typeface="Aptos"/>
              </a:rPr>
              <a:t>Treat stage IV disease as a biologically dynamic, longitudinal condition with repeated biomarker-informed decisions.</a:t>
            </a:r>
          </a:p>
        </p:txBody>
      </p:sp>
      <p:sp>
        <p:nvSpPr>
          <p:cNvPr id="5" name="Rectangle 4"/>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7" name="TextBox 6"/>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8" name="TextBox 7"/>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Stage IV — universal NCCN principles</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Re-characterize disease</a:t>
            </a:r>
          </a:p>
          <a:p>
            <a:pPr>
              <a:lnSpc>
                <a:spcPct val="103000"/>
              </a:lnSpc>
              <a:spcBef>
                <a:spcPts val="200"/>
              </a:spcBef>
              <a:spcAft>
                <a:spcPts val="200"/>
              </a:spcAft>
            </a:pPr>
            <a:r>
              <a:rPr sz="1520">
                <a:solidFill>
                  <a:srgbClr val="232A32"/>
                </a:solidFill>
                <a:latin typeface="Aptos"/>
              </a:rPr>
              <a:t>• When feasible, biopsy a metastatic site to confirm malignancy and reassess ER/PR/HER2 because phenotype can differ from the primary tumor.</a:t>
            </a:r>
          </a:p>
          <a:p>
            <a:pPr>
              <a:lnSpc>
                <a:spcPct val="103000"/>
              </a:lnSpc>
              <a:spcBef>
                <a:spcPts val="200"/>
              </a:spcBef>
              <a:spcAft>
                <a:spcPts val="200"/>
              </a:spcAft>
            </a:pPr>
            <a:r>
              <a:rPr sz="1520">
                <a:solidFill>
                  <a:srgbClr val="232A32"/>
                </a:solidFill>
                <a:latin typeface="Aptos"/>
              </a:rPr>
              <a:t>• Obtain germline BRCA1/2 assessment in recurrent/metastatic disease when results could identify PARP-inhibitor candidates.</a:t>
            </a:r>
          </a:p>
          <a:p>
            <a:pPr>
              <a:lnSpc>
                <a:spcPct val="103000"/>
              </a:lnSpc>
              <a:spcBef>
                <a:spcPts val="200"/>
              </a:spcBef>
              <a:spcAft>
                <a:spcPts val="200"/>
              </a:spcAft>
            </a:pPr>
            <a:r>
              <a:rPr sz="1520">
                <a:solidFill>
                  <a:srgbClr val="232A32"/>
                </a:solidFill>
                <a:latin typeface="Aptos"/>
              </a:rPr>
              <a:t>• Use molecular profiling selectively to identify actionable alterations.</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Treatment intent</a:t>
            </a:r>
          </a:p>
          <a:p>
            <a:pPr>
              <a:lnSpc>
                <a:spcPct val="103000"/>
              </a:lnSpc>
              <a:spcBef>
                <a:spcPts val="200"/>
              </a:spcBef>
              <a:spcAft>
                <a:spcPts val="200"/>
              </a:spcAft>
            </a:pPr>
            <a:r>
              <a:rPr sz="1520">
                <a:solidFill>
                  <a:srgbClr val="232A32"/>
                </a:solidFill>
                <a:latin typeface="Aptos"/>
              </a:rPr>
              <a:t>• Primary goals: prolong survival, control symptoms, preserve function and quality of life.</a:t>
            </a:r>
          </a:p>
          <a:p>
            <a:pPr>
              <a:lnSpc>
                <a:spcPct val="103000"/>
              </a:lnSpc>
              <a:spcBef>
                <a:spcPts val="200"/>
              </a:spcBef>
              <a:spcAft>
                <a:spcPts val="200"/>
              </a:spcAft>
            </a:pPr>
            <a:r>
              <a:rPr sz="1520">
                <a:solidFill>
                  <a:srgbClr val="232A32"/>
                </a:solidFill>
                <a:latin typeface="Aptos"/>
              </a:rPr>
              <a:t>• Most patients are candidates for multiple lines of therapy; reassess benefit, toxicity, performance status and preferences at every progression.</a:t>
            </a:r>
          </a:p>
          <a:p>
            <a:pPr>
              <a:lnSpc>
                <a:spcPct val="103000"/>
              </a:lnSpc>
              <a:spcBef>
                <a:spcPts val="200"/>
              </a:spcBef>
              <a:spcAft>
                <a:spcPts val="200"/>
              </a:spcAft>
            </a:pPr>
            <a:r>
              <a:rPr sz="1520">
                <a:solidFill>
                  <a:srgbClr val="232A32"/>
                </a:solidFill>
                <a:latin typeface="Aptos"/>
              </a:rPr>
              <a:t>• Sequential single-agent chemotherapy is generally preferred over routine combination chemotherapy; combinations are reserved for high burden, rapid progression or visceral crisis contexts.</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BINV-21–28; BINV-Q; BINV-R</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HR+/HER2− metastatic breast cancer — NCCN sequence</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No visceral crisis</a:t>
            </a:r>
          </a:p>
          <a:p>
            <a:pPr>
              <a:lnSpc>
                <a:spcPct val="103000"/>
              </a:lnSpc>
              <a:spcBef>
                <a:spcPts val="200"/>
              </a:spcBef>
              <a:spcAft>
                <a:spcPts val="200"/>
              </a:spcAft>
            </a:pPr>
            <a:r>
              <a:rPr sz="1520">
                <a:solidFill>
                  <a:srgbClr val="232A32"/>
                </a:solidFill>
                <a:latin typeface="Aptos"/>
              </a:rPr>
              <a:t>• First-line endocrine therapy + CDK4/6 inhibitor is a core preferred strategy.</a:t>
            </a:r>
          </a:p>
          <a:p>
            <a:pPr>
              <a:lnSpc>
                <a:spcPct val="103000"/>
              </a:lnSpc>
              <a:spcBef>
                <a:spcPts val="200"/>
              </a:spcBef>
              <a:spcAft>
                <a:spcPts val="200"/>
              </a:spcAft>
            </a:pPr>
            <a:r>
              <a:rPr sz="1520">
                <a:solidFill>
                  <a:srgbClr val="232A32"/>
                </a:solidFill>
                <a:latin typeface="Aptos"/>
              </a:rPr>
              <a:t>• Premenopausal/perimenopausal patients should receive ovarian suppression/ablation with endocrine therapy.</a:t>
            </a:r>
          </a:p>
          <a:p>
            <a:pPr>
              <a:lnSpc>
                <a:spcPct val="103000"/>
              </a:lnSpc>
              <a:spcBef>
                <a:spcPts val="200"/>
              </a:spcBef>
              <a:spcAft>
                <a:spcPts val="200"/>
              </a:spcAft>
            </a:pPr>
            <a:r>
              <a:rPr sz="1520">
                <a:solidFill>
                  <a:srgbClr val="232A32"/>
                </a:solidFill>
                <a:latin typeface="Aptos"/>
              </a:rPr>
              <a:t>• Choice of endocrine partner depends on prior endocrine therapy and disease-free interval.</a:t>
            </a:r>
          </a:p>
          <a:p>
            <a:pPr>
              <a:lnSpc>
                <a:spcPct val="103000"/>
              </a:lnSpc>
              <a:spcBef>
                <a:spcPts val="200"/>
              </a:spcBef>
              <a:spcAft>
                <a:spcPts val="200"/>
              </a:spcAft>
            </a:pPr>
            <a:r>
              <a:rPr sz="1520">
                <a:solidFill>
                  <a:srgbClr val="232A32"/>
                </a:solidFill>
                <a:latin typeface="Aptos"/>
              </a:rPr>
              <a:t>• Continue systemic therapy until progression or unacceptable toxicity.</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Molecularly selected progression</a:t>
            </a:r>
          </a:p>
          <a:p>
            <a:pPr>
              <a:lnSpc>
                <a:spcPct val="103000"/>
              </a:lnSpc>
              <a:spcBef>
                <a:spcPts val="200"/>
              </a:spcBef>
              <a:spcAft>
                <a:spcPts val="200"/>
              </a:spcAft>
            </a:pPr>
            <a:r>
              <a:rPr sz="1520">
                <a:solidFill>
                  <a:srgbClr val="232A32"/>
                </a:solidFill>
                <a:latin typeface="Aptos"/>
              </a:rPr>
              <a:t>• After endocrine resistance, use biomarker-directed therapy when appropriate.</a:t>
            </a:r>
          </a:p>
          <a:p>
            <a:pPr>
              <a:lnSpc>
                <a:spcPct val="103000"/>
              </a:lnSpc>
              <a:spcBef>
                <a:spcPts val="200"/>
              </a:spcBef>
              <a:spcAft>
                <a:spcPts val="200"/>
              </a:spcAft>
            </a:pPr>
            <a:r>
              <a:rPr sz="1520">
                <a:solidFill>
                  <a:srgbClr val="232A32"/>
                </a:solidFill>
                <a:latin typeface="Aptos"/>
              </a:rPr>
              <a:t>• PIK3CA-activating mutation: fulvestrant + inavolisib + palbociclib is an NCCN Category 1 option in the defined early-relapse setting.</a:t>
            </a:r>
          </a:p>
          <a:p>
            <a:pPr>
              <a:lnSpc>
                <a:spcPct val="103000"/>
              </a:lnSpc>
              <a:spcBef>
                <a:spcPts val="200"/>
              </a:spcBef>
              <a:spcAft>
                <a:spcPts val="200"/>
              </a:spcAft>
            </a:pPr>
            <a:r>
              <a:rPr sz="1520">
                <a:solidFill>
                  <a:srgbClr val="232A32"/>
                </a:solidFill>
                <a:latin typeface="Aptos"/>
              </a:rPr>
              <a:t>• ESR1 mutation: use an ESR1-directed endocrine strategy when eligible.</a:t>
            </a:r>
          </a:p>
          <a:p>
            <a:pPr>
              <a:lnSpc>
                <a:spcPct val="103000"/>
              </a:lnSpc>
              <a:spcBef>
                <a:spcPts val="200"/>
              </a:spcBef>
              <a:spcAft>
                <a:spcPts val="200"/>
              </a:spcAft>
            </a:pPr>
            <a:r>
              <a:rPr sz="1520">
                <a:solidFill>
                  <a:srgbClr val="232A32"/>
                </a:solidFill>
                <a:latin typeface="Aptos"/>
              </a:rPr>
              <a:t>• If endocrine therapy has produced durable control, alternate endocrine combinations remain appropriate before cytotoxic therapy in many patients.</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BINV-22/23; BINV-P</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Visceral crisis — do not confuse it with visceral metastasis</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Definition</a:t>
            </a:r>
          </a:p>
          <a:p>
            <a:pPr>
              <a:lnSpc>
                <a:spcPct val="103000"/>
              </a:lnSpc>
              <a:spcBef>
                <a:spcPts val="200"/>
              </a:spcBef>
              <a:spcAft>
                <a:spcPts val="200"/>
              </a:spcAft>
            </a:pPr>
            <a:r>
              <a:rPr sz="1520">
                <a:solidFill>
                  <a:srgbClr val="232A32"/>
                </a:solidFill>
                <a:latin typeface="Aptos"/>
              </a:rPr>
              <a:t>• Visceral crisis = severe organ dysfunction caused by rapidly progressive disease requiring the most rapidly effective systemic control.</a:t>
            </a:r>
          </a:p>
          <a:p>
            <a:pPr>
              <a:lnSpc>
                <a:spcPct val="103000"/>
              </a:lnSpc>
              <a:spcBef>
                <a:spcPts val="200"/>
              </a:spcBef>
              <a:spcAft>
                <a:spcPts val="200"/>
              </a:spcAft>
            </a:pPr>
            <a:r>
              <a:rPr sz="1520">
                <a:solidFill>
                  <a:srgbClr val="232A32"/>
                </a:solidFill>
                <a:latin typeface="Aptos"/>
              </a:rPr>
              <a:t>• It is NOT simply the presence of liver/lung/other visceral metastases.</a:t>
            </a:r>
          </a:p>
          <a:p>
            <a:pPr>
              <a:lnSpc>
                <a:spcPct val="103000"/>
              </a:lnSpc>
              <a:spcBef>
                <a:spcPts val="200"/>
              </a:spcBef>
              <a:spcAft>
                <a:spcPts val="200"/>
              </a:spcAft>
            </a:pPr>
            <a:r>
              <a:rPr sz="1520">
                <a:solidFill>
                  <a:srgbClr val="232A32"/>
                </a:solidFill>
                <a:latin typeface="Aptos"/>
              </a:rPr>
              <a:t>• Signs, symptoms, laboratory abnormalities and rapid progression determine the urgency.</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Management implication</a:t>
            </a:r>
          </a:p>
          <a:p>
            <a:pPr>
              <a:lnSpc>
                <a:spcPct val="103000"/>
              </a:lnSpc>
              <a:spcBef>
                <a:spcPts val="200"/>
              </a:spcBef>
              <a:spcAft>
                <a:spcPts val="200"/>
              </a:spcAft>
            </a:pPr>
            <a:r>
              <a:rPr sz="1520">
                <a:solidFill>
                  <a:srgbClr val="232A32"/>
                </a:solidFill>
                <a:latin typeface="Aptos"/>
              </a:rPr>
              <a:t>• Cytotoxic therapy is generally favored when rapid response is essential.</a:t>
            </a:r>
          </a:p>
          <a:p>
            <a:pPr>
              <a:lnSpc>
                <a:spcPct val="103000"/>
              </a:lnSpc>
              <a:spcBef>
                <a:spcPts val="200"/>
              </a:spcBef>
              <a:spcAft>
                <a:spcPts val="200"/>
              </a:spcAft>
            </a:pPr>
            <a:r>
              <a:rPr sz="1520">
                <a:solidFill>
                  <a:srgbClr val="232A32"/>
                </a:solidFill>
                <a:latin typeface="Aptos"/>
              </a:rPr>
              <a:t>• Selected endocrine + targeted combinations may still be considered in specific circumstances, but treatment must prioritize speed and clinical stability.</a:t>
            </a:r>
          </a:p>
          <a:p>
            <a:pPr>
              <a:lnSpc>
                <a:spcPct val="103000"/>
              </a:lnSpc>
              <a:spcBef>
                <a:spcPts val="200"/>
              </a:spcBef>
              <a:spcAft>
                <a:spcPts val="200"/>
              </a:spcAft>
            </a:pPr>
            <a:r>
              <a:rPr sz="1520">
                <a:solidFill>
                  <a:srgbClr val="232A32"/>
                </a:solidFill>
                <a:latin typeface="Aptos"/>
              </a:rPr>
              <a:t>• Reassess early; if rapid response occurs or disease stabilizes, an endocrine-based maintenance strategy may again be appropriate.</a:t>
            </a:r>
          </a:p>
          <a:p>
            <a:pPr>
              <a:lnSpc>
                <a:spcPct val="103000"/>
              </a:lnSpc>
              <a:spcBef>
                <a:spcPts val="200"/>
              </a:spcBef>
              <a:spcAft>
                <a:spcPts val="200"/>
              </a:spcAft>
            </a:pPr>
            <a:r>
              <a:rPr sz="1520">
                <a:solidFill>
                  <a:srgbClr val="232A32"/>
                </a:solidFill>
                <a:latin typeface="Aptos"/>
              </a:rPr>
              <a:t>• Supportive/palliative care remains integrated throughout.</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BINV-22; NCCN definition based on ESO-ESMO consensus</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HER2-positive metastatic breast cancer — current NCCN pathway</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First line</a:t>
            </a:r>
          </a:p>
          <a:p>
            <a:pPr>
              <a:lnSpc>
                <a:spcPct val="103000"/>
              </a:lnSpc>
              <a:spcBef>
                <a:spcPts val="200"/>
              </a:spcBef>
              <a:spcAft>
                <a:spcPts val="200"/>
              </a:spcAft>
            </a:pPr>
            <a:r>
              <a:rPr sz="1520">
                <a:solidFill>
                  <a:srgbClr val="232A32"/>
                </a:solidFill>
                <a:latin typeface="Aptos"/>
              </a:rPr>
              <a:t>• Preferred paradigm: a taxane + trastuzumab + pertuzumab, followed by maintenance HER2 blockade.</a:t>
            </a:r>
          </a:p>
          <a:p>
            <a:pPr>
              <a:lnSpc>
                <a:spcPct val="103000"/>
              </a:lnSpc>
              <a:spcBef>
                <a:spcPts val="200"/>
              </a:spcBef>
              <a:spcAft>
                <a:spcPts val="200"/>
              </a:spcAft>
            </a:pPr>
            <a:r>
              <a:rPr sz="1520">
                <a:solidFill>
                  <a:srgbClr val="232A32"/>
                </a:solidFill>
                <a:latin typeface="Aptos"/>
              </a:rPr>
              <a:t>• Paclitaxel or docetaxel may be used according to patient factors and regimen selection.</a:t>
            </a:r>
          </a:p>
          <a:p>
            <a:pPr>
              <a:lnSpc>
                <a:spcPct val="103000"/>
              </a:lnSpc>
              <a:spcBef>
                <a:spcPts val="200"/>
              </a:spcBef>
              <a:spcAft>
                <a:spcPts val="200"/>
              </a:spcAft>
            </a:pPr>
            <a:r>
              <a:rPr sz="1520">
                <a:solidFill>
                  <a:srgbClr val="232A32"/>
                </a:solidFill>
                <a:latin typeface="Aptos"/>
              </a:rPr>
              <a:t>• HR-positive tumors may also receive endocrine therapy; selected 2026 pathways incorporate CDK4/6 inhibition.</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Later lines / CNS disease</a:t>
            </a:r>
          </a:p>
          <a:p>
            <a:pPr>
              <a:lnSpc>
                <a:spcPct val="103000"/>
              </a:lnSpc>
              <a:spcBef>
                <a:spcPts val="200"/>
              </a:spcBef>
              <a:spcAft>
                <a:spcPts val="200"/>
              </a:spcAft>
            </a:pPr>
            <a:r>
              <a:rPr sz="1520">
                <a:solidFill>
                  <a:srgbClr val="232A32"/>
                </a:solidFill>
                <a:latin typeface="Aptos"/>
              </a:rPr>
              <a:t>• Trastuzumab deruxtecan is a major subsequent-line option; sequencing depends on prior exposure and CNS status.</a:t>
            </a:r>
          </a:p>
          <a:p>
            <a:pPr>
              <a:lnSpc>
                <a:spcPct val="103000"/>
              </a:lnSpc>
              <a:spcBef>
                <a:spcPts val="200"/>
              </a:spcBef>
              <a:spcAft>
                <a:spcPts val="200"/>
              </a:spcAft>
            </a:pPr>
            <a:r>
              <a:rPr sz="1520">
                <a:solidFill>
                  <a:srgbClr val="232A32"/>
                </a:solidFill>
                <a:latin typeface="Aptos"/>
              </a:rPr>
              <a:t>• Tucatinib + capecitabine + trastuzumab is particularly important when brain/CNS disease is present or progresses systemically.</a:t>
            </a:r>
          </a:p>
          <a:p>
            <a:pPr>
              <a:lnSpc>
                <a:spcPct val="103000"/>
              </a:lnSpc>
              <a:spcBef>
                <a:spcPts val="200"/>
              </a:spcBef>
              <a:spcAft>
                <a:spcPts val="200"/>
              </a:spcAft>
            </a:pPr>
            <a:r>
              <a:rPr sz="1520">
                <a:solidFill>
                  <a:srgbClr val="232A32"/>
                </a:solidFill>
                <a:latin typeface="Aptos"/>
              </a:rPr>
              <a:t>• Continue HER2-targeted therapy beyond progression when clinically appropriate; the exact optimal sequence remains unsettled.</a:t>
            </a:r>
          </a:p>
          <a:p>
            <a:pPr>
              <a:lnSpc>
                <a:spcPct val="103000"/>
              </a:lnSpc>
              <a:spcBef>
                <a:spcPts val="200"/>
              </a:spcBef>
              <a:spcAft>
                <a:spcPts val="200"/>
              </a:spcAft>
            </a:pPr>
            <a:r>
              <a:rPr sz="1520">
                <a:solidFill>
                  <a:srgbClr val="232A32"/>
                </a:solidFill>
                <a:latin typeface="Aptos"/>
              </a:rPr>
              <a:t>• Monitor for T-DXd-associated interstitial lung disease/pneumonitis and for cardiac toxicity with HER2-directed therapy.</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BINV-24/26; BINV-Q-4; NCCN HER2 metastatic pathways</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Metastatic TNBC / HER2 non-amplified disease — biomarker-driven treatment</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Key biomarkers</a:t>
            </a:r>
          </a:p>
          <a:p>
            <a:pPr>
              <a:lnSpc>
                <a:spcPct val="103000"/>
              </a:lnSpc>
              <a:spcBef>
                <a:spcPts val="200"/>
              </a:spcBef>
              <a:spcAft>
                <a:spcPts val="200"/>
              </a:spcAft>
            </a:pPr>
            <a:r>
              <a:rPr sz="1520">
                <a:solidFill>
                  <a:srgbClr val="232A32"/>
                </a:solidFill>
                <a:latin typeface="Aptos"/>
              </a:rPr>
              <a:t>• PD-L1 testing uses the 22C3 assay with CPS thresholding in NCCN pathways.</a:t>
            </a:r>
          </a:p>
          <a:p>
            <a:pPr>
              <a:lnSpc>
                <a:spcPct val="103000"/>
              </a:lnSpc>
              <a:spcBef>
                <a:spcPts val="200"/>
              </a:spcBef>
              <a:spcAft>
                <a:spcPts val="200"/>
              </a:spcAft>
            </a:pPr>
            <a:r>
              <a:rPr sz="1520">
                <a:solidFill>
                  <a:srgbClr val="232A32"/>
                </a:solidFill>
                <a:latin typeface="Aptos"/>
              </a:rPr>
              <a:t>• Assess germline BRCA1/2 in recurrent/metastatic disease.</a:t>
            </a:r>
          </a:p>
          <a:p>
            <a:pPr>
              <a:lnSpc>
                <a:spcPct val="103000"/>
              </a:lnSpc>
              <a:spcBef>
                <a:spcPts val="200"/>
              </a:spcBef>
              <a:spcAft>
                <a:spcPts val="200"/>
              </a:spcAft>
            </a:pPr>
            <a:r>
              <a:rPr sz="1520">
                <a:solidFill>
                  <a:srgbClr val="232A32"/>
                </a:solidFill>
                <a:latin typeface="Aptos"/>
              </a:rPr>
              <a:t>• Record HER2 IHC precisely: IHC 0/0+, 1+, or 2+/ISH-negative can affect later ADC eligibility.</a:t>
            </a:r>
          </a:p>
          <a:p>
            <a:pPr>
              <a:lnSpc>
                <a:spcPct val="103000"/>
              </a:lnSpc>
              <a:spcBef>
                <a:spcPts val="200"/>
              </a:spcBef>
              <a:spcAft>
                <a:spcPts val="200"/>
              </a:spcAft>
            </a:pPr>
            <a:r>
              <a:rPr sz="1520">
                <a:solidFill>
                  <a:srgbClr val="232A32"/>
                </a:solidFill>
                <a:latin typeface="Aptos"/>
              </a:rPr>
              <a:t>• Consider actionable genomic biomarkers such as MSI-H, TMB-H and NTRK/RET fusions where clinically relevant.</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Treatment themes</a:t>
            </a:r>
          </a:p>
          <a:p>
            <a:pPr>
              <a:lnSpc>
                <a:spcPct val="103000"/>
              </a:lnSpc>
              <a:spcBef>
                <a:spcPts val="200"/>
              </a:spcBef>
              <a:spcAft>
                <a:spcPts val="200"/>
              </a:spcAft>
            </a:pPr>
            <a:r>
              <a:rPr sz="1520">
                <a:solidFill>
                  <a:srgbClr val="232A32"/>
                </a:solidFill>
                <a:latin typeface="Aptos"/>
              </a:rPr>
              <a:t>• Immunotherapy is used in biomarker-selected TNBC.</a:t>
            </a:r>
          </a:p>
          <a:p>
            <a:pPr>
              <a:lnSpc>
                <a:spcPct val="103000"/>
              </a:lnSpc>
              <a:spcBef>
                <a:spcPts val="200"/>
              </a:spcBef>
              <a:spcAft>
                <a:spcPts val="200"/>
              </a:spcAft>
            </a:pPr>
            <a:r>
              <a:rPr sz="1520">
                <a:solidFill>
                  <a:srgbClr val="232A32"/>
                </a:solidFill>
                <a:latin typeface="Aptos"/>
              </a:rPr>
              <a:t>• PARP inhibitors are preferred targeted options for eligible germline BRCA disease.</a:t>
            </a:r>
          </a:p>
          <a:p>
            <a:pPr>
              <a:lnSpc>
                <a:spcPct val="103000"/>
              </a:lnSpc>
              <a:spcBef>
                <a:spcPts val="200"/>
              </a:spcBef>
              <a:spcAft>
                <a:spcPts val="200"/>
              </a:spcAft>
            </a:pPr>
            <a:r>
              <a:rPr sz="1520">
                <a:solidFill>
                  <a:srgbClr val="232A32"/>
                </a:solidFill>
                <a:latin typeface="Aptos"/>
              </a:rPr>
              <a:t>• ADCs such as sacituzumab govitecan and datopotamab deruxtecan are important current options, with line placement depending on prior treatment.</a:t>
            </a:r>
          </a:p>
          <a:p>
            <a:pPr>
              <a:lnSpc>
                <a:spcPct val="103000"/>
              </a:lnSpc>
              <a:spcBef>
                <a:spcPts val="200"/>
              </a:spcBef>
              <a:spcAft>
                <a:spcPts val="200"/>
              </a:spcAft>
            </a:pPr>
            <a:r>
              <a:rPr sz="1520">
                <a:solidFill>
                  <a:srgbClr val="232A32"/>
                </a:solidFill>
                <a:latin typeface="Aptos"/>
              </a:rPr>
              <a:t>• For HER2 IHC 1+ or 2+/ISH-negative metastatic disease, fam-trastuzumab deruxtecan is an NCCN-supported option in defined settings.</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BINV-Q 3–8; BINV-A HER2 testing</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Bone, brain and other metastatic complications</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Bone disease</a:t>
            </a:r>
          </a:p>
          <a:p>
            <a:pPr>
              <a:lnSpc>
                <a:spcPct val="103000"/>
              </a:lnSpc>
              <a:spcBef>
                <a:spcPts val="200"/>
              </a:spcBef>
              <a:spcAft>
                <a:spcPts val="200"/>
              </a:spcAft>
            </a:pPr>
            <a:r>
              <a:rPr sz="1520">
                <a:solidFill>
                  <a:srgbClr val="232A32"/>
                </a:solidFill>
                <a:latin typeface="Aptos"/>
              </a:rPr>
              <a:t>• For bone metastasis with expected survival ≥3 months and adequate renal function, denosumab, zoledronic acid or pamidronate should accompany systemic/endocrine therapy (Category 1).</a:t>
            </a:r>
          </a:p>
          <a:p>
            <a:pPr>
              <a:lnSpc>
                <a:spcPct val="103000"/>
              </a:lnSpc>
              <a:spcBef>
                <a:spcPts val="200"/>
              </a:spcBef>
              <a:spcAft>
                <a:spcPts val="200"/>
              </a:spcAft>
            </a:pPr>
            <a:r>
              <a:rPr sz="1520">
                <a:solidFill>
                  <a:srgbClr val="232A32"/>
                </a:solidFill>
                <a:latin typeface="Aptos"/>
              </a:rPr>
              <a:t>• Calcium/vitamin D and preventive dental assessment are required; monitor for osteonecrosis risk.</a:t>
            </a:r>
          </a:p>
          <a:p>
            <a:pPr>
              <a:lnSpc>
                <a:spcPct val="103000"/>
              </a:lnSpc>
              <a:spcBef>
                <a:spcPts val="200"/>
              </a:spcBef>
              <a:spcAft>
                <a:spcPts val="200"/>
              </a:spcAft>
            </a:pPr>
            <a:r>
              <a:rPr sz="1520">
                <a:solidFill>
                  <a:srgbClr val="232A32"/>
                </a:solidFill>
                <a:latin typeface="Aptos"/>
              </a:rPr>
              <a:t>• RT is used for painful or threatening lesions; surgery is used for instability/pathologic fracture or selected impending fracture.</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CNS / structural complications</a:t>
            </a:r>
          </a:p>
          <a:p>
            <a:pPr>
              <a:lnSpc>
                <a:spcPct val="103000"/>
              </a:lnSpc>
              <a:spcBef>
                <a:spcPts val="200"/>
              </a:spcBef>
              <a:spcAft>
                <a:spcPts val="200"/>
              </a:spcAft>
            </a:pPr>
            <a:r>
              <a:rPr sz="1520">
                <a:solidFill>
                  <a:srgbClr val="232A32"/>
                </a:solidFill>
                <a:latin typeface="Aptos"/>
              </a:rPr>
              <a:t>• Brain metastases require CNS-specific assessment and local therapy when indicated (SRS, WBRT, surgery depending on disease pattern).</a:t>
            </a:r>
          </a:p>
          <a:p>
            <a:pPr>
              <a:lnSpc>
                <a:spcPct val="103000"/>
              </a:lnSpc>
              <a:spcBef>
                <a:spcPts val="200"/>
              </a:spcBef>
              <a:spcAft>
                <a:spcPts val="200"/>
              </a:spcAft>
            </a:pPr>
            <a:r>
              <a:rPr sz="1520">
                <a:solidFill>
                  <a:srgbClr val="232A32"/>
                </a:solidFill>
                <a:latin typeface="Aptos"/>
              </a:rPr>
              <a:t>• Spinal cord compression: urgent MRI + corticosteroids + surgery and/or RT.</a:t>
            </a:r>
          </a:p>
          <a:p>
            <a:pPr>
              <a:lnSpc>
                <a:spcPct val="103000"/>
              </a:lnSpc>
              <a:spcBef>
                <a:spcPts val="200"/>
              </a:spcBef>
              <a:spcAft>
                <a:spcPts val="200"/>
              </a:spcAft>
            </a:pPr>
            <a:r>
              <a:rPr sz="1520">
                <a:solidFill>
                  <a:srgbClr val="232A32"/>
                </a:solidFill>
                <a:latin typeface="Aptos"/>
              </a:rPr>
              <a:t>• Pleural/pericardial effusions, biliary obstruction, ureteric obstruction and other mechanical complications require symptom-directed procedures plus systemic control.</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BINV-21; BINV-Q; NCCN CNS/Palliative/Supportive Care guidance</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Oligometastatic stage IV — what NCCN actually says</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Evidence limits</a:t>
            </a:r>
          </a:p>
          <a:p>
            <a:pPr>
              <a:lnSpc>
                <a:spcPct val="103000"/>
              </a:lnSpc>
              <a:spcBef>
                <a:spcPts val="200"/>
              </a:spcBef>
              <a:spcAft>
                <a:spcPts val="200"/>
              </a:spcAft>
            </a:pPr>
            <a:r>
              <a:rPr sz="1520">
                <a:solidFill>
                  <a:srgbClr val="232A32"/>
                </a:solidFill>
                <a:latin typeface="Aptos"/>
              </a:rPr>
              <a:t>• Routine resection of the primary tumor or ablation of all metastatic sites has not been shown to improve survival in prospective trials.</a:t>
            </a:r>
          </a:p>
          <a:p>
            <a:pPr>
              <a:lnSpc>
                <a:spcPct val="103000"/>
              </a:lnSpc>
              <a:spcBef>
                <a:spcPts val="200"/>
              </a:spcBef>
              <a:spcAft>
                <a:spcPts val="200"/>
              </a:spcAft>
            </a:pPr>
            <a:r>
              <a:rPr sz="1520">
                <a:solidFill>
                  <a:srgbClr val="232A32"/>
                </a:solidFill>
                <a:latin typeface="Aptos"/>
              </a:rPr>
              <a:t>• Local therapy may reduce local progression and palliate symptoms.</a:t>
            </a:r>
          </a:p>
          <a:p>
            <a:pPr>
              <a:lnSpc>
                <a:spcPct val="103000"/>
              </a:lnSpc>
              <a:spcBef>
                <a:spcPts val="200"/>
              </a:spcBef>
              <a:spcAft>
                <a:spcPts val="200"/>
              </a:spcAft>
            </a:pPr>
            <a:r>
              <a:rPr sz="1520">
                <a:solidFill>
                  <a:srgbClr val="232A32"/>
                </a:solidFill>
                <a:latin typeface="Aptos"/>
              </a:rPr>
              <a:t>• De novo oligometastatic disease may have a more favorable biology than recurrent oligometastatic disease.</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Selected individualized escalation</a:t>
            </a:r>
          </a:p>
          <a:p>
            <a:pPr>
              <a:lnSpc>
                <a:spcPct val="103000"/>
              </a:lnSpc>
              <a:spcBef>
                <a:spcPts val="200"/>
              </a:spcBef>
              <a:spcAft>
                <a:spcPts val="200"/>
              </a:spcAft>
            </a:pPr>
            <a:r>
              <a:rPr sz="1520">
                <a:solidFill>
                  <a:srgbClr val="232A32"/>
                </a:solidFill>
                <a:latin typeface="Aptos"/>
              </a:rPr>
              <a:t>• An aggressive multimodality approach may be considered for highly selected patients with favorable biology and limited disease burden.</a:t>
            </a:r>
          </a:p>
          <a:p>
            <a:pPr>
              <a:lnSpc>
                <a:spcPct val="103000"/>
              </a:lnSpc>
              <a:spcBef>
                <a:spcPts val="200"/>
              </a:spcBef>
              <a:spcAft>
                <a:spcPts val="200"/>
              </a:spcAft>
            </a:pPr>
            <a:r>
              <a:rPr sz="1520">
                <a:solidFill>
                  <a:srgbClr val="232A32"/>
                </a:solidFill>
                <a:latin typeface="Aptos"/>
              </a:rPr>
              <a:t>• Favorable features include HER2-positive or ER-positive disease, bone-only disease, limited metastatic sites, young age/long expected survival, and conversion to NED after optimal systemic therapy.</a:t>
            </a:r>
          </a:p>
          <a:p>
            <a:pPr>
              <a:lnSpc>
                <a:spcPct val="103000"/>
              </a:lnSpc>
              <a:spcBef>
                <a:spcPts val="200"/>
              </a:spcBef>
              <a:spcAft>
                <a:spcPts val="200"/>
              </a:spcAft>
            </a:pPr>
            <a:r>
              <a:rPr sz="1520">
                <a:solidFill>
                  <a:srgbClr val="232A32"/>
                </a:solidFill>
                <a:latin typeface="Aptos"/>
              </a:rPr>
              <a:t>• Decisions should be multidisciplinary and should not be presented as a routine survival-prolonging standard.</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BINV-21, oligometastatic disease footnote</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Locoregional recurrence — reassess, resect when appropriate, then re-stage biology</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After prior mastectomy</a:t>
            </a:r>
          </a:p>
          <a:p>
            <a:pPr>
              <a:lnSpc>
                <a:spcPct val="103000"/>
              </a:lnSpc>
              <a:spcBef>
                <a:spcPts val="200"/>
              </a:spcBef>
              <a:spcAft>
                <a:spcPts val="200"/>
              </a:spcAft>
            </a:pPr>
            <a:r>
              <a:rPr sz="1520">
                <a:solidFill>
                  <a:srgbClr val="232A32"/>
                </a:solidFill>
                <a:latin typeface="Aptos"/>
              </a:rPr>
              <a:t>• Resect isolated chest-wall recurrence when feasible with limited morbidity and aim for clear margins.</a:t>
            </a:r>
          </a:p>
          <a:p>
            <a:pPr>
              <a:lnSpc>
                <a:spcPct val="103000"/>
              </a:lnSpc>
              <a:spcBef>
                <a:spcPts val="200"/>
              </a:spcBef>
              <a:spcAft>
                <a:spcPts val="200"/>
              </a:spcAft>
            </a:pPr>
            <a:r>
              <a:rPr sz="1520">
                <a:solidFill>
                  <a:srgbClr val="232A32"/>
                </a:solidFill>
                <a:latin typeface="Aptos"/>
              </a:rPr>
              <a:t>• Use involved-field RT when the area has not been adequately irradiated or when safe additional RT is possible.</a:t>
            </a:r>
          </a:p>
          <a:p>
            <a:pPr>
              <a:lnSpc>
                <a:spcPct val="103000"/>
              </a:lnSpc>
              <a:spcBef>
                <a:spcPts val="200"/>
              </a:spcBef>
              <a:spcAft>
                <a:spcPts val="200"/>
              </a:spcAft>
            </a:pPr>
            <a:r>
              <a:rPr sz="1520">
                <a:solidFill>
                  <a:srgbClr val="232A32"/>
                </a:solidFill>
                <a:latin typeface="Aptos"/>
              </a:rPr>
              <a:t>• Unresectable recurrence without prior RT can be treated with RT for local control.</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After prior BCS + RT</a:t>
            </a:r>
          </a:p>
          <a:p>
            <a:pPr>
              <a:lnSpc>
                <a:spcPct val="103000"/>
              </a:lnSpc>
              <a:spcBef>
                <a:spcPts val="200"/>
              </a:spcBef>
              <a:spcAft>
                <a:spcPts val="200"/>
              </a:spcAft>
            </a:pPr>
            <a:r>
              <a:rPr sz="1520">
                <a:solidFill>
                  <a:srgbClr val="232A32"/>
                </a:solidFill>
                <a:latin typeface="Aptos"/>
              </a:rPr>
              <a:t>• For most isolated local recurrences after breast conservation, mastectomy is the consensus NCCN local therapy approach.</a:t>
            </a:r>
          </a:p>
          <a:p>
            <a:pPr>
              <a:lnSpc>
                <a:spcPct val="103000"/>
              </a:lnSpc>
              <a:spcBef>
                <a:spcPts val="200"/>
              </a:spcBef>
              <a:spcAft>
                <a:spcPts val="200"/>
              </a:spcAft>
            </a:pPr>
            <a:r>
              <a:rPr sz="1520">
                <a:solidFill>
                  <a:srgbClr val="232A32"/>
                </a:solidFill>
                <a:latin typeface="Aptos"/>
              </a:rPr>
              <a:t>• Repeat SLNB can be considered in selected situations, but its accuracy/prognostic meaning is limited after prior surgery.</a:t>
            </a:r>
          </a:p>
          <a:p>
            <a:pPr>
              <a:lnSpc>
                <a:spcPct val="103000"/>
              </a:lnSpc>
              <a:spcBef>
                <a:spcPts val="200"/>
              </a:spcBef>
              <a:spcAft>
                <a:spcPts val="200"/>
              </a:spcAft>
            </a:pPr>
            <a:r>
              <a:rPr sz="1520">
                <a:solidFill>
                  <a:srgbClr val="232A32"/>
                </a:solidFill>
                <a:latin typeface="Aptos"/>
              </a:rPr>
              <a:t>• Systemic therapy is chosen according to current tumor biology; CALOR supports chemotherapy benefit particularly for ER-negative isolated locoregional recurrence.</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BINV-18; NCCN MS-56; CALOR evidence</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Monitoring metastatic disease — what NOT to do routinely</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Assessment</a:t>
            </a:r>
          </a:p>
          <a:p>
            <a:pPr>
              <a:lnSpc>
                <a:spcPct val="103000"/>
              </a:lnSpc>
              <a:spcBef>
                <a:spcPts val="200"/>
              </a:spcBef>
              <a:spcAft>
                <a:spcPts val="200"/>
              </a:spcAft>
            </a:pPr>
            <a:r>
              <a:rPr sz="1520">
                <a:solidFill>
                  <a:srgbClr val="232A32"/>
                </a:solidFill>
                <a:latin typeface="Aptos"/>
              </a:rPr>
              <a:t>• Monitor symptoms, examination, appropriate imaging and disease-specific laboratory parameters according to the treatment and clinical scenario.</a:t>
            </a:r>
          </a:p>
          <a:p>
            <a:pPr>
              <a:lnSpc>
                <a:spcPct val="103000"/>
              </a:lnSpc>
              <a:spcBef>
                <a:spcPts val="200"/>
              </a:spcBef>
              <a:spcAft>
                <a:spcPts val="200"/>
              </a:spcAft>
            </a:pPr>
            <a:r>
              <a:rPr sz="1520">
                <a:solidFill>
                  <a:srgbClr val="232A32"/>
                </a:solidFill>
                <a:latin typeface="Aptos"/>
              </a:rPr>
              <a:t>• Do not use serial tumor markers, CTCs or ctDNA as standalone triggers to switch therapy when they are not validated for that purpose.</a:t>
            </a:r>
          </a:p>
          <a:p>
            <a:pPr>
              <a:lnSpc>
                <a:spcPct val="103000"/>
              </a:lnSpc>
              <a:spcBef>
                <a:spcPts val="200"/>
              </a:spcBef>
              <a:spcAft>
                <a:spcPts val="200"/>
              </a:spcAft>
            </a:pPr>
            <a:r>
              <a:rPr sz="1520">
                <a:solidFill>
                  <a:srgbClr val="232A32"/>
                </a:solidFill>
                <a:latin typeface="Aptos"/>
              </a:rPr>
              <a:t>• NCCN 6.2026 does not incorporate routine ctDNA/CTC monitoring for metastatic disease assessment or treatment switching.</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Treatment continuation</a:t>
            </a:r>
          </a:p>
          <a:p>
            <a:pPr>
              <a:lnSpc>
                <a:spcPct val="103000"/>
              </a:lnSpc>
              <a:spcBef>
                <a:spcPts val="200"/>
              </a:spcBef>
              <a:spcAft>
                <a:spcPts val="200"/>
              </a:spcAft>
            </a:pPr>
            <a:r>
              <a:rPr sz="1520">
                <a:solidFill>
                  <a:srgbClr val="232A32"/>
                </a:solidFill>
                <a:latin typeface="Aptos"/>
              </a:rPr>
              <a:t>• Continue a regimen while clinical/radiographic benefit persists and toxicity remains acceptable.</a:t>
            </a:r>
          </a:p>
          <a:p>
            <a:pPr>
              <a:lnSpc>
                <a:spcPct val="103000"/>
              </a:lnSpc>
              <a:spcBef>
                <a:spcPts val="200"/>
              </a:spcBef>
              <a:spcAft>
                <a:spcPts val="200"/>
              </a:spcAft>
            </a:pPr>
            <a:r>
              <a:rPr sz="1520">
                <a:solidFill>
                  <a:srgbClr val="232A32"/>
                </a:solidFill>
                <a:latin typeface="Aptos"/>
              </a:rPr>
              <a:t>• At each progression, weigh expected benefit against cumulative toxicity and performance status.</a:t>
            </a:r>
          </a:p>
          <a:p>
            <a:pPr>
              <a:lnSpc>
                <a:spcPct val="103000"/>
              </a:lnSpc>
              <a:spcBef>
                <a:spcPts val="200"/>
              </a:spcBef>
              <a:spcAft>
                <a:spcPts val="200"/>
              </a:spcAft>
            </a:pPr>
            <a:r>
              <a:rPr sz="1520">
                <a:solidFill>
                  <a:srgbClr val="232A32"/>
                </a:solidFill>
                <a:latin typeface="Aptos"/>
              </a:rPr>
              <a:t>• When disease is stable for a prolonged period, reassessment intervals may be individualized.</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BINV-R; NCCN discussion MS-88</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94360" y="1051560"/>
            <a:ext cx="9601200" cy="914400"/>
          </a:xfrm>
        </p:spPr>
        <p:txBody>
          <a:bodyPr/>
          <a:lstStyle/>
          <a:p>
            <a:r>
              <a:rPr sz="3400" b="1">
                <a:solidFill>
                  <a:srgbClr val="1F3756"/>
                </a:solidFill>
                <a:latin typeface="Aptos Display"/>
              </a:rPr>
              <a:t>Survivorship and risk reduction</a:t>
            </a:r>
          </a:p>
        </p:txBody>
      </p:sp>
      <p:sp>
        <p:nvSpPr>
          <p:cNvPr id="3" name="Text Placeholder 2"/>
          <p:cNvSpPr>
            <a:spLocks noGrp="1"/>
          </p:cNvSpPr>
          <p:nvPr>
            <p:ph type="body" idx="1"/>
          </p:nvPr>
        </p:nvSpPr>
        <p:spPr/>
        <p:txBody>
          <a:bodyPr/>
          <a:lstStyle/>
          <a:p/>
        </p:txBody>
      </p:sp>
      <p:sp>
        <p:nvSpPr>
          <p:cNvPr id="4" name="TextBox 3"/>
          <p:cNvSpPr txBox="1"/>
          <p:nvPr/>
        </p:nvSpPr>
        <p:spPr>
          <a:xfrm>
            <a:off x="640080" y="2057400"/>
            <a:ext cx="9418320" cy="1280160"/>
          </a:xfrm>
          <a:prstGeom prst="rect">
            <a:avLst/>
          </a:prstGeom>
          <a:noFill/>
        </p:spPr>
        <p:txBody>
          <a:bodyPr wrap="none">
            <a:spAutoFit/>
          </a:bodyPr>
          <a:lstStyle/>
          <a:p>
            <a:r>
              <a:rPr sz="1800">
                <a:solidFill>
                  <a:srgbClr val="5A6978"/>
                </a:solidFill>
                <a:latin typeface="Aptos"/>
              </a:rPr>
              <a:t>The NCCN 2026 documents treat prevention, survivorship and quality of life as part of breast-cancer management—not separate afterthoughts.</a:t>
            </a:r>
          </a:p>
        </p:txBody>
      </p:sp>
      <p:sp>
        <p:nvSpPr>
          <p:cNvPr id="5" name="Rectangle 4"/>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7" name="TextBox 6"/>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8" name="TextBox 7"/>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Post-treatment surveillance — NCCN 6.2026</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Follow-up</a:t>
            </a:r>
          </a:p>
          <a:p>
            <a:pPr>
              <a:lnSpc>
                <a:spcPct val="103000"/>
              </a:lnSpc>
              <a:spcBef>
                <a:spcPts val="200"/>
              </a:spcBef>
              <a:spcAft>
                <a:spcPts val="200"/>
              </a:spcAft>
            </a:pPr>
            <a:r>
              <a:rPr sz="1520">
                <a:solidFill>
                  <a:srgbClr val="232A32"/>
                </a:solidFill>
                <a:latin typeface="Aptos"/>
              </a:rPr>
              <a:t>• History and physical examination 1–4 times/year as clinically appropriate for 5 years, then annually.</a:t>
            </a:r>
          </a:p>
          <a:p>
            <a:pPr>
              <a:lnSpc>
                <a:spcPct val="103000"/>
              </a:lnSpc>
              <a:spcBef>
                <a:spcPts val="200"/>
              </a:spcBef>
              <a:spcAft>
                <a:spcPts val="200"/>
              </a:spcAft>
            </a:pPr>
            <a:r>
              <a:rPr sz="1520">
                <a:solidFill>
                  <a:srgbClr val="232A32"/>
                </a:solidFill>
                <a:latin typeface="Aptos"/>
              </a:rPr>
              <a:t>• Annual mammography: begin about 6 months or more after completion of BCS + RT; continue every 12 months.</a:t>
            </a:r>
          </a:p>
          <a:p>
            <a:pPr>
              <a:lnSpc>
                <a:spcPct val="103000"/>
              </a:lnSpc>
              <a:spcBef>
                <a:spcPts val="200"/>
              </a:spcBef>
              <a:spcAft>
                <a:spcPts val="200"/>
              </a:spcAft>
            </a:pPr>
            <a:r>
              <a:rPr sz="1520">
                <a:solidFill>
                  <a:srgbClr val="232A32"/>
                </a:solidFill>
                <a:latin typeface="Aptos"/>
              </a:rPr>
              <a:t>• Routine imaging of a reconstructed breast after mastectomy is not indicated unless symptoms/findings warrant it.</a:t>
            </a:r>
          </a:p>
          <a:p>
            <a:pPr>
              <a:lnSpc>
                <a:spcPct val="103000"/>
              </a:lnSpc>
              <a:spcBef>
                <a:spcPts val="200"/>
              </a:spcBef>
              <a:spcAft>
                <a:spcPts val="200"/>
              </a:spcAft>
            </a:pPr>
            <a:r>
              <a:rPr sz="1520">
                <a:solidFill>
                  <a:srgbClr val="232A32"/>
                </a:solidFill>
                <a:latin typeface="Aptos"/>
              </a:rPr>
              <a:t>• Asymptomatic survivors do not need routine laboratory tests or metastatic imaging solely for surveillance.</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Long-term care</a:t>
            </a:r>
          </a:p>
          <a:p>
            <a:pPr>
              <a:lnSpc>
                <a:spcPct val="103000"/>
              </a:lnSpc>
              <a:spcBef>
                <a:spcPts val="200"/>
              </a:spcBef>
              <a:spcAft>
                <a:spcPts val="200"/>
              </a:spcAft>
            </a:pPr>
            <a:r>
              <a:rPr sz="1520">
                <a:solidFill>
                  <a:srgbClr val="232A32"/>
                </a:solidFill>
                <a:latin typeface="Aptos"/>
              </a:rPr>
              <a:t>• Monitor adherence to endocrine therapy and manage toxicity.</a:t>
            </a:r>
          </a:p>
          <a:p>
            <a:pPr>
              <a:lnSpc>
                <a:spcPct val="103000"/>
              </a:lnSpc>
              <a:spcBef>
                <a:spcPts val="200"/>
              </a:spcBef>
              <a:spcAft>
                <a:spcPts val="200"/>
              </a:spcAft>
            </a:pPr>
            <a:r>
              <a:rPr sz="1520">
                <a:solidFill>
                  <a:srgbClr val="232A32"/>
                </a:solidFill>
                <a:latin typeface="Aptos"/>
              </a:rPr>
              <a:t>• Baseline and periodic bone mineral density for patients at risk who receive AI therapy or treatment-induced ovarian failure.</a:t>
            </a:r>
          </a:p>
          <a:p>
            <a:pPr>
              <a:lnSpc>
                <a:spcPct val="103000"/>
              </a:lnSpc>
              <a:spcBef>
                <a:spcPts val="200"/>
              </a:spcBef>
              <a:spcAft>
                <a:spcPts val="200"/>
              </a:spcAft>
            </a:pPr>
            <a:r>
              <a:rPr sz="1520">
                <a:solidFill>
                  <a:srgbClr val="232A32"/>
                </a:solidFill>
                <a:latin typeface="Aptos"/>
              </a:rPr>
              <a:t>• Assess cardiotoxicity risk after anthracyclines, HER2-targeted therapy or left-sided RT as appropriate.</a:t>
            </a:r>
          </a:p>
          <a:p>
            <a:pPr>
              <a:lnSpc>
                <a:spcPct val="103000"/>
              </a:lnSpc>
              <a:spcBef>
                <a:spcPts val="200"/>
              </a:spcBef>
              <a:spcAft>
                <a:spcPts val="200"/>
              </a:spcAft>
            </a:pPr>
            <a:r>
              <a:rPr sz="1520">
                <a:solidFill>
                  <a:srgbClr val="232A32"/>
                </a:solidFill>
                <a:latin typeface="Aptos"/>
              </a:rPr>
              <a:t>• Address lymphedema, fertility, sexual health, psychosocial distress, lifestyle and comorbidity management.</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BINV-17; Survivorship principles</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NCCN breast-cancer risk reduction — who should be considered for RRM?</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Risk-reducing mastectomy</a:t>
            </a:r>
          </a:p>
          <a:p>
            <a:pPr>
              <a:lnSpc>
                <a:spcPct val="103000"/>
              </a:lnSpc>
              <a:spcBef>
                <a:spcPts val="200"/>
              </a:spcBef>
              <a:spcAft>
                <a:spcPts val="200"/>
              </a:spcAft>
            </a:pPr>
            <a:r>
              <a:rPr sz="1520">
                <a:solidFill>
                  <a:srgbClr val="232A32"/>
                </a:solidFill>
                <a:latin typeface="Aptos"/>
              </a:rPr>
              <a:t>• Generally considered for pathogenic/likely pathogenic variants in high-penetrance breast-cancer susceptibility genes.</a:t>
            </a:r>
          </a:p>
          <a:p>
            <a:pPr>
              <a:lnSpc>
                <a:spcPct val="103000"/>
              </a:lnSpc>
              <a:spcBef>
                <a:spcPts val="200"/>
              </a:spcBef>
              <a:spcAft>
                <a:spcPts val="200"/>
              </a:spcAft>
            </a:pPr>
            <a:r>
              <a:rPr sz="1520">
                <a:solidFill>
                  <a:srgbClr val="232A32"/>
                </a:solidFill>
                <a:latin typeface="Aptos"/>
              </a:rPr>
              <a:t>• Also considered for a compelling family history or chest-wall RT received before age 30.</a:t>
            </a:r>
          </a:p>
          <a:p>
            <a:pPr>
              <a:lnSpc>
                <a:spcPct val="103000"/>
              </a:lnSpc>
              <a:spcBef>
                <a:spcPts val="200"/>
              </a:spcBef>
              <a:spcAft>
                <a:spcPts val="200"/>
              </a:spcAft>
            </a:pPr>
            <a:r>
              <a:rPr sz="1520">
                <a:solidFill>
                  <a:srgbClr val="232A32"/>
                </a:solidFill>
                <a:latin typeface="Aptos"/>
              </a:rPr>
              <a:t>• NCCN does not recommend a single numerical risk cutoff for RRM; risk estimation is individualized.</a:t>
            </a:r>
          </a:p>
          <a:p>
            <a:pPr>
              <a:lnSpc>
                <a:spcPct val="103000"/>
              </a:lnSpc>
              <a:spcBef>
                <a:spcPts val="200"/>
              </a:spcBef>
              <a:spcAft>
                <a:spcPts val="200"/>
              </a:spcAft>
            </a:pPr>
            <a:r>
              <a:rPr sz="1520">
                <a:solidFill>
                  <a:srgbClr val="232A32"/>
                </a:solidFill>
                <a:latin typeface="Aptos"/>
              </a:rPr>
              <a:t>• For moderate-/low-penetrance variants without compelling family history, established benefit from RRM is generally lacking.</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LCIS / shared decision-making</a:t>
            </a:r>
          </a:p>
          <a:p>
            <a:pPr>
              <a:lnSpc>
                <a:spcPct val="103000"/>
              </a:lnSpc>
              <a:spcBef>
                <a:spcPts val="200"/>
              </a:spcBef>
              <a:spcAft>
                <a:spcPts val="200"/>
              </a:spcAft>
            </a:pPr>
            <a:r>
              <a:rPr sz="1520">
                <a:solidFill>
                  <a:srgbClr val="232A32"/>
                </a:solidFill>
                <a:latin typeface="Aptos"/>
              </a:rPr>
              <a:t>• Risk-reducing mastectomy is not the default strategy for classic LCIS; endocrine risk reduction and surveillance are preferred.</a:t>
            </a:r>
          </a:p>
          <a:p>
            <a:pPr>
              <a:lnSpc>
                <a:spcPct val="103000"/>
              </a:lnSpc>
              <a:spcBef>
                <a:spcPts val="200"/>
              </a:spcBef>
              <a:spcAft>
                <a:spcPts val="200"/>
              </a:spcAft>
            </a:pPr>
            <a:r>
              <a:rPr sz="1520">
                <a:solidFill>
                  <a:srgbClr val="232A32"/>
                </a:solidFill>
                <a:latin typeface="Aptos"/>
              </a:rPr>
              <a:t>• Discuss genetics, absolute risk, reconstructive choices, body image and sexual health before risk-reducing surgery.</a:t>
            </a:r>
          </a:p>
          <a:p>
            <a:pPr>
              <a:lnSpc>
                <a:spcPct val="103000"/>
              </a:lnSpc>
              <a:spcBef>
                <a:spcPts val="200"/>
              </a:spcBef>
              <a:spcAft>
                <a:spcPts val="200"/>
              </a:spcAft>
            </a:pPr>
            <a:r>
              <a:rPr sz="1520">
                <a:solidFill>
                  <a:srgbClr val="232A32"/>
                </a:solidFill>
                <a:latin typeface="Aptos"/>
              </a:rPr>
              <a:t>• Polygenic risk scores are not recommended as standard-of-care risk tools by NCCN 2026.</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NCCN Breast Cancer Risk Reduction v1.2026; BRISK sections</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NCCN risk-reducing endocrine therapy</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Tamoxifen</a:t>
            </a:r>
          </a:p>
          <a:p>
            <a:pPr>
              <a:lnSpc>
                <a:spcPct val="103000"/>
              </a:lnSpc>
              <a:spcBef>
                <a:spcPts val="200"/>
              </a:spcBef>
              <a:spcAft>
                <a:spcPts val="200"/>
              </a:spcAft>
            </a:pPr>
            <a:r>
              <a:rPr sz="1520">
                <a:solidFill>
                  <a:srgbClr val="232A32"/>
                </a:solidFill>
                <a:latin typeface="Aptos"/>
              </a:rPr>
              <a:t>• NCCN supports tamoxifen 20 mg/day for healthy patients ≥35 years with sufficient life expectancy and elevated risk (including ≥1.7% 5-year Gail risk) or LCIS.</a:t>
            </a:r>
          </a:p>
          <a:p>
            <a:pPr>
              <a:lnSpc>
                <a:spcPct val="103000"/>
              </a:lnSpc>
              <a:spcBef>
                <a:spcPts val="200"/>
              </a:spcBef>
              <a:spcAft>
                <a:spcPts val="200"/>
              </a:spcAft>
            </a:pPr>
            <a:r>
              <a:rPr sz="1520">
                <a:solidFill>
                  <a:srgbClr val="232A32"/>
                </a:solidFill>
                <a:latin typeface="Aptos"/>
              </a:rPr>
              <a:t>• Option for premenopausal and postmenopausal patients; risk/benefit changes with age, uterus and comorbidity.</a:t>
            </a:r>
          </a:p>
          <a:p>
            <a:pPr>
              <a:lnSpc>
                <a:spcPct val="103000"/>
              </a:lnSpc>
              <a:spcBef>
                <a:spcPts val="200"/>
              </a:spcBef>
              <a:spcAft>
                <a:spcPts val="200"/>
              </a:spcAft>
            </a:pPr>
            <a:r>
              <a:rPr sz="1520">
                <a:solidFill>
                  <a:srgbClr val="232A32"/>
                </a:solidFill>
                <a:latin typeface="Aptos"/>
              </a:rPr>
              <a:t>• Low-dose tamoxifen is an option in selected patients who cannot tolerate standard dosing.</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Postmenopausal options</a:t>
            </a:r>
          </a:p>
          <a:p>
            <a:pPr>
              <a:lnSpc>
                <a:spcPct val="103000"/>
              </a:lnSpc>
              <a:spcBef>
                <a:spcPts val="200"/>
              </a:spcBef>
              <a:spcAft>
                <a:spcPts val="200"/>
              </a:spcAft>
            </a:pPr>
            <a:r>
              <a:rPr sz="1520">
                <a:solidFill>
                  <a:srgbClr val="232A32"/>
                </a:solidFill>
                <a:latin typeface="Aptos"/>
              </a:rPr>
              <a:t>• Raloxifene is an alternative SERM for postmenopausal risk reduction; toxicity and long-term comparative efficacy influence selection.</a:t>
            </a:r>
          </a:p>
          <a:p>
            <a:pPr>
              <a:lnSpc>
                <a:spcPct val="103000"/>
              </a:lnSpc>
              <a:spcBef>
                <a:spcPts val="200"/>
              </a:spcBef>
              <a:spcAft>
                <a:spcPts val="200"/>
              </a:spcAft>
            </a:pPr>
            <a:r>
              <a:rPr sz="1520">
                <a:solidFill>
                  <a:srgbClr val="232A32"/>
                </a:solidFill>
                <a:latin typeface="Aptos"/>
              </a:rPr>
              <a:t>• Anastrozole or exemestane can reduce risk in selected postmenopausal patients, but bone health must be assessed and monitored.</a:t>
            </a:r>
          </a:p>
          <a:p>
            <a:pPr>
              <a:lnSpc>
                <a:spcPct val="103000"/>
              </a:lnSpc>
              <a:spcBef>
                <a:spcPts val="200"/>
              </a:spcBef>
              <a:spcAft>
                <a:spcPts val="200"/>
              </a:spcAft>
            </a:pPr>
            <a:r>
              <a:rPr sz="1520">
                <a:solidFill>
                  <a:srgbClr val="232A32"/>
                </a:solidFill>
                <a:latin typeface="Aptos"/>
              </a:rPr>
              <a:t>• CYP2D6 genotype testing is not recommended to select tamoxifen; avoid or substitute strong CYP2D6-inhibiting medications when possible.</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NCCN Breast Cancer Risk Reduction v1.2026; BRISK-6</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Risk reduction — lifestyle, surveillance and genetic assessment</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Lifestyle / survivorship</a:t>
            </a:r>
          </a:p>
          <a:p>
            <a:pPr>
              <a:lnSpc>
                <a:spcPct val="103000"/>
              </a:lnSpc>
              <a:spcBef>
                <a:spcPts val="200"/>
              </a:spcBef>
              <a:spcAft>
                <a:spcPts val="200"/>
              </a:spcAft>
            </a:pPr>
            <a:r>
              <a:rPr sz="1520">
                <a:solidFill>
                  <a:srgbClr val="232A32"/>
                </a:solidFill>
                <a:latin typeface="Aptos"/>
              </a:rPr>
              <a:t>• Weight management, physical activity and limiting alcohol are part of risk-reduction counseling.</a:t>
            </a:r>
          </a:p>
          <a:p>
            <a:pPr>
              <a:lnSpc>
                <a:spcPct val="103000"/>
              </a:lnSpc>
              <a:spcBef>
                <a:spcPts val="200"/>
              </a:spcBef>
              <a:spcAft>
                <a:spcPts val="200"/>
              </a:spcAft>
            </a:pPr>
            <a:r>
              <a:rPr sz="1520">
                <a:solidFill>
                  <a:srgbClr val="232A32"/>
                </a:solidFill>
                <a:latin typeface="Aptos"/>
              </a:rPr>
              <a:t>• Avoid smoking and address modifiable cardiometabolic risk factors.</a:t>
            </a:r>
          </a:p>
          <a:p>
            <a:pPr>
              <a:lnSpc>
                <a:spcPct val="103000"/>
              </a:lnSpc>
              <a:spcBef>
                <a:spcPts val="200"/>
              </a:spcBef>
              <a:spcAft>
                <a:spcPts val="200"/>
              </a:spcAft>
            </a:pPr>
            <a:r>
              <a:rPr sz="1520">
                <a:solidFill>
                  <a:srgbClr val="232A32"/>
                </a:solidFill>
                <a:latin typeface="Aptos"/>
              </a:rPr>
              <a:t>• Discuss reproductive history, breastfeeding where applicable, and hormone-therapy risks in context.</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Genetic / screening pathway</a:t>
            </a:r>
          </a:p>
          <a:p>
            <a:pPr>
              <a:lnSpc>
                <a:spcPct val="103000"/>
              </a:lnSpc>
              <a:spcBef>
                <a:spcPts val="200"/>
              </a:spcBef>
              <a:spcAft>
                <a:spcPts val="200"/>
              </a:spcAft>
            </a:pPr>
            <a:r>
              <a:rPr sz="1520">
                <a:solidFill>
                  <a:srgbClr val="232A32"/>
                </a:solidFill>
                <a:latin typeface="Aptos"/>
              </a:rPr>
              <a:t>• Reassess family history over time; changes can trigger new genetic evaluation.</a:t>
            </a:r>
          </a:p>
          <a:p>
            <a:pPr>
              <a:lnSpc>
                <a:spcPct val="103000"/>
              </a:lnSpc>
              <a:spcBef>
                <a:spcPts val="200"/>
              </a:spcBef>
              <a:spcAft>
                <a:spcPts val="200"/>
              </a:spcAft>
            </a:pPr>
            <a:r>
              <a:rPr sz="1520">
                <a:solidFill>
                  <a:srgbClr val="232A32"/>
                </a:solidFill>
                <a:latin typeface="Aptos"/>
              </a:rPr>
              <a:t>• Use validated risk models for screening decisions; no model replaces genetics expertise and clinical judgment.</a:t>
            </a:r>
          </a:p>
          <a:p>
            <a:pPr>
              <a:lnSpc>
                <a:spcPct val="103000"/>
              </a:lnSpc>
              <a:spcBef>
                <a:spcPts val="200"/>
              </a:spcBef>
              <a:spcAft>
                <a:spcPts val="200"/>
              </a:spcAft>
            </a:pPr>
            <a:r>
              <a:rPr sz="1520">
                <a:solidFill>
                  <a:srgbClr val="232A32"/>
                </a:solidFill>
                <a:latin typeface="Aptos"/>
              </a:rPr>
              <a:t>• High-risk patients need the dedicated NCCN screening/genetic-familial pathways rather than average-risk screening alone.</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NCCN Breast Cancer Risk Reduction v1.2026; BRISK-1–7</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High-yield NCCN 6.2026 pitfalls for surgeons</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TextBox 3"/>
          <p:cNvSpPr txBox="1"/>
          <p:nvPr/>
        </p:nvSpPr>
        <p:spPr>
          <a:xfrm>
            <a:off x="566928" y="1024128"/>
            <a:ext cx="9646920" cy="4572000"/>
          </a:xfrm>
          <a:prstGeom prst="rect">
            <a:avLst/>
          </a:prstGeom>
          <a:noFill/>
        </p:spPr>
        <p:txBody>
          <a:bodyPr wrap="square" lIns="45720" rIns="45720">
            <a:spAutoFit/>
          </a:bodyPr>
          <a:lstStyle/>
          <a:p>
            <a:pPr>
              <a:lnSpc>
                <a:spcPct val="102000"/>
              </a:lnSpc>
              <a:spcBef>
                <a:spcPts val="150"/>
              </a:spcBef>
              <a:spcAft>
                <a:spcPts val="250"/>
              </a:spcAft>
            </a:pPr>
            <a:r>
              <a:rPr sz="1600">
                <a:solidFill>
                  <a:srgbClr val="232A32"/>
                </a:solidFill>
                <a:latin typeface="Aptos"/>
              </a:rPr>
              <a:t>• Do not equate “mastectomy” with better survival when BCS + RT is oncologically appropriate.</a:t>
            </a:r>
          </a:p>
          <a:p>
            <a:pPr>
              <a:lnSpc>
                <a:spcPct val="102000"/>
              </a:lnSpc>
              <a:spcBef>
                <a:spcPts val="150"/>
              </a:spcBef>
              <a:spcAft>
                <a:spcPts val="250"/>
              </a:spcAft>
            </a:pPr>
            <a:r>
              <a:rPr sz="1600">
                <a:solidFill>
                  <a:srgbClr val="232A32"/>
                </a:solidFill>
                <a:latin typeface="Aptos"/>
              </a:rPr>
              <a:t>• Do not use “ink on tumor” and “2-mm margin” interchangeably: the first is for invasive BCS, the second is the established DCIS target with WBRT.</a:t>
            </a:r>
          </a:p>
          <a:p>
            <a:pPr>
              <a:lnSpc>
                <a:spcPct val="102000"/>
              </a:lnSpc>
              <a:spcBef>
                <a:spcPts val="150"/>
              </a:spcBef>
              <a:spcAft>
                <a:spcPts val="250"/>
              </a:spcAft>
            </a:pPr>
            <a:r>
              <a:rPr sz="1600">
                <a:solidFill>
                  <a:srgbClr val="232A32"/>
                </a:solidFill>
                <a:latin typeface="Aptos"/>
              </a:rPr>
              <a:t>• Do not perform routine axillary surgery for pure DCIS treated by BCS.</a:t>
            </a:r>
          </a:p>
          <a:p>
            <a:pPr>
              <a:lnSpc>
                <a:spcPct val="102000"/>
              </a:lnSpc>
              <a:spcBef>
                <a:spcPts val="150"/>
              </a:spcBef>
              <a:spcAft>
                <a:spcPts val="250"/>
              </a:spcAft>
            </a:pPr>
            <a:r>
              <a:rPr sz="1600">
                <a:solidFill>
                  <a:srgbClr val="232A32"/>
                </a:solidFill>
                <a:latin typeface="Aptos"/>
              </a:rPr>
              <a:t>• Do not perform ALND for every positive SLN; apply the Z0011/AMAROS/SENOMAC-era criteria and the patient’s radiation plan.</a:t>
            </a:r>
          </a:p>
          <a:p>
            <a:pPr>
              <a:lnSpc>
                <a:spcPct val="102000"/>
              </a:lnSpc>
              <a:spcBef>
                <a:spcPts val="150"/>
              </a:spcBef>
              <a:spcAft>
                <a:spcPts val="250"/>
              </a:spcAft>
            </a:pPr>
            <a:r>
              <a:rPr sz="1600">
                <a:solidFill>
                  <a:srgbClr val="232A32"/>
                </a:solidFill>
                <a:latin typeface="Aptos"/>
              </a:rPr>
              <a:t>• Do not omit the clipped node or optimized mapping after neoadjuvant therapy in an initially node-positive axilla.</a:t>
            </a:r>
          </a:p>
          <a:p>
            <a:pPr>
              <a:lnSpc>
                <a:spcPct val="102000"/>
              </a:lnSpc>
              <a:spcBef>
                <a:spcPts val="150"/>
              </a:spcBef>
              <a:spcAft>
                <a:spcPts val="250"/>
              </a:spcAft>
            </a:pPr>
            <a:r>
              <a:rPr sz="1600">
                <a:solidFill>
                  <a:srgbClr val="232A32"/>
                </a:solidFill>
                <a:latin typeface="Aptos"/>
              </a:rPr>
              <a:t>• Do not treat IBC with upfront surgery; systemic therapy comes first and definitive surgery is mastectomy + axillary treatment.</a:t>
            </a:r>
          </a:p>
          <a:p>
            <a:pPr>
              <a:lnSpc>
                <a:spcPct val="102000"/>
              </a:lnSpc>
              <a:spcBef>
                <a:spcPts val="150"/>
              </a:spcBef>
              <a:spcAft>
                <a:spcPts val="250"/>
              </a:spcAft>
            </a:pPr>
            <a:r>
              <a:rPr sz="1600">
                <a:solidFill>
                  <a:srgbClr val="232A32"/>
                </a:solidFill>
                <a:latin typeface="Aptos"/>
              </a:rPr>
              <a:t>• Do not interpret visceral metastasis as visceral crisis; reserve urgent cytotoxic strategies for true rapid organ-threatening disease.</a:t>
            </a:r>
          </a:p>
          <a:p>
            <a:pPr>
              <a:lnSpc>
                <a:spcPct val="102000"/>
              </a:lnSpc>
              <a:spcBef>
                <a:spcPts val="150"/>
              </a:spcBef>
              <a:spcAft>
                <a:spcPts val="250"/>
              </a:spcAft>
            </a:pPr>
            <a:r>
              <a:rPr sz="1600">
                <a:solidFill>
                  <a:srgbClr val="232A32"/>
                </a:solidFill>
                <a:latin typeface="Aptos"/>
              </a:rPr>
              <a:t>• Do not monitor asymptomatic survivors with routine CT/PET/tumor markers; surveillance is primarily clinical + annual breast imaging.</a:t>
            </a:r>
          </a:p>
          <a:p>
            <a:pPr>
              <a:lnSpc>
                <a:spcPct val="102000"/>
              </a:lnSpc>
              <a:spcBef>
                <a:spcPts val="150"/>
              </a:spcBef>
              <a:spcAft>
                <a:spcPts val="250"/>
              </a:spcAft>
            </a:pPr>
            <a:r>
              <a:rPr sz="1600">
                <a:solidFill>
                  <a:srgbClr val="232A32"/>
                </a:solidFill>
                <a:latin typeface="Aptos"/>
              </a:rPr>
              <a:t>• Do not make contralateral prophylactic mastectomy routine in average-risk unilateral breast cancer.</a:t>
            </a:r>
          </a:p>
          <a:p>
            <a:pPr>
              <a:lnSpc>
                <a:spcPct val="102000"/>
              </a:lnSpc>
              <a:spcBef>
                <a:spcPts val="150"/>
              </a:spcBef>
              <a:spcAft>
                <a:spcPts val="250"/>
              </a:spcAft>
            </a:pPr>
            <a:r>
              <a:rPr sz="1600">
                <a:solidFill>
                  <a:srgbClr val="232A32"/>
                </a:solidFill>
                <a:latin typeface="Aptos"/>
              </a:rPr>
              <a:t>• Do not label HER2-low as a formal pathology category; record the actual HER2 IHC/ISH result.</a:t>
            </a:r>
          </a:p>
        </p:txBody>
      </p:sp>
      <p:sp>
        <p:nvSpPr>
          <p:cNvPr id="5" name="TextBox 4"/>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NCCN v6.2026 BINV-A, D, F, I, 17, 21–28; Risk Reduction v1.2026</a:t>
            </a:r>
          </a:p>
        </p:txBody>
      </p:sp>
      <p:sp>
        <p:nvSpPr>
          <p:cNvPr id="6" name="Rectangle 5"/>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8" name="TextBox 7"/>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9" name="TextBox 8"/>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NCCN 6.2026 — master management algorithm</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2180844"/>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1. Define the cancer</a:t>
            </a:r>
          </a:p>
          <a:p>
            <a:pPr>
              <a:lnSpc>
                <a:spcPct val="103000"/>
              </a:lnSpc>
              <a:spcBef>
                <a:spcPts val="200"/>
              </a:spcBef>
              <a:spcAft>
                <a:spcPts val="200"/>
              </a:spcAft>
            </a:pPr>
            <a:r>
              <a:rPr sz="1520">
                <a:solidFill>
                  <a:srgbClr val="232A32"/>
                </a:solidFill>
                <a:latin typeface="Aptos"/>
              </a:rPr>
              <a:t>• Histology + grade</a:t>
            </a:r>
          </a:p>
          <a:p>
            <a:pPr>
              <a:lnSpc>
                <a:spcPct val="103000"/>
              </a:lnSpc>
              <a:spcBef>
                <a:spcPts val="200"/>
              </a:spcBef>
              <a:spcAft>
                <a:spcPts val="200"/>
              </a:spcAft>
            </a:pPr>
            <a:r>
              <a:rPr sz="1520">
                <a:solidFill>
                  <a:srgbClr val="232A32"/>
                </a:solidFill>
                <a:latin typeface="Aptos"/>
              </a:rPr>
              <a:t>• ER / PR / HER2</a:t>
            </a:r>
          </a:p>
          <a:p>
            <a:pPr>
              <a:lnSpc>
                <a:spcPct val="103000"/>
              </a:lnSpc>
              <a:spcBef>
                <a:spcPts val="200"/>
              </a:spcBef>
              <a:spcAft>
                <a:spcPts val="200"/>
              </a:spcAft>
            </a:pPr>
            <a:r>
              <a:rPr sz="1520">
                <a:solidFill>
                  <a:srgbClr val="232A32"/>
                </a:solidFill>
                <a:latin typeface="Aptos"/>
              </a:rPr>
              <a:t>• Genetic risk / germline testing when indicated</a:t>
            </a:r>
          </a:p>
          <a:p>
            <a:pPr>
              <a:lnSpc>
                <a:spcPct val="103000"/>
              </a:lnSpc>
              <a:spcBef>
                <a:spcPts val="200"/>
              </a:spcBef>
              <a:spcAft>
                <a:spcPts val="200"/>
              </a:spcAft>
            </a:pPr>
            <a:r>
              <a:rPr sz="1520">
                <a:solidFill>
                  <a:srgbClr val="232A32"/>
                </a:solidFill>
                <a:latin typeface="Aptos"/>
              </a:rPr>
              <a:t>• Clinical stage and resectability</a:t>
            </a:r>
          </a:p>
        </p:txBody>
      </p:sp>
      <p:sp>
        <p:nvSpPr>
          <p:cNvPr id="5" name="Rounded Rectangle 4"/>
          <p:cNvSpPr/>
          <p:nvPr/>
        </p:nvSpPr>
        <p:spPr>
          <a:xfrm>
            <a:off x="5527548" y="960120"/>
            <a:ext cx="4832604" cy="2180844"/>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2. Decide sequence</a:t>
            </a:r>
          </a:p>
          <a:p>
            <a:pPr>
              <a:lnSpc>
                <a:spcPct val="103000"/>
              </a:lnSpc>
              <a:spcBef>
                <a:spcPts val="200"/>
              </a:spcBef>
              <a:spcAft>
                <a:spcPts val="200"/>
              </a:spcAft>
            </a:pPr>
            <a:r>
              <a:rPr sz="1520">
                <a:solidFill>
                  <a:srgbClr val="232A32"/>
                </a:solidFill>
                <a:latin typeface="Aptos"/>
              </a:rPr>
              <a:t>• Upfront surgery for selected operable disease</a:t>
            </a:r>
          </a:p>
          <a:p>
            <a:pPr>
              <a:lnSpc>
                <a:spcPct val="103000"/>
              </a:lnSpc>
              <a:spcBef>
                <a:spcPts val="200"/>
              </a:spcBef>
              <a:spcAft>
                <a:spcPts val="200"/>
              </a:spcAft>
            </a:pPr>
            <a:r>
              <a:rPr sz="1520">
                <a:solidFill>
                  <a:srgbClr val="232A32"/>
                </a:solidFill>
                <a:latin typeface="Aptos"/>
              </a:rPr>
              <a:t>• Neoadjuvant therapy when downstaging or response can change treatment</a:t>
            </a:r>
          </a:p>
          <a:p>
            <a:pPr>
              <a:lnSpc>
                <a:spcPct val="103000"/>
              </a:lnSpc>
              <a:spcBef>
                <a:spcPts val="200"/>
              </a:spcBef>
              <a:spcAft>
                <a:spcPts val="200"/>
              </a:spcAft>
            </a:pPr>
            <a:r>
              <a:rPr sz="1520">
                <a:solidFill>
                  <a:srgbClr val="232A32"/>
                </a:solidFill>
                <a:latin typeface="Aptos"/>
              </a:rPr>
              <a:t>• Stage III/IBC usually systemic therapy first</a:t>
            </a:r>
          </a:p>
          <a:p>
            <a:pPr>
              <a:lnSpc>
                <a:spcPct val="103000"/>
              </a:lnSpc>
              <a:spcBef>
                <a:spcPts val="200"/>
              </a:spcBef>
              <a:spcAft>
                <a:spcPts val="200"/>
              </a:spcAft>
            </a:pPr>
            <a:r>
              <a:rPr sz="1520">
                <a:solidFill>
                  <a:srgbClr val="232A32"/>
                </a:solidFill>
                <a:latin typeface="Aptos"/>
              </a:rPr>
              <a:t>• Stage IV: systemic therapy based on current biology</a:t>
            </a:r>
          </a:p>
        </p:txBody>
      </p:sp>
      <p:sp>
        <p:nvSpPr>
          <p:cNvPr id="6" name="Rounded Rectangle 5"/>
          <p:cNvSpPr/>
          <p:nvPr/>
        </p:nvSpPr>
        <p:spPr>
          <a:xfrm>
            <a:off x="530352" y="3287268"/>
            <a:ext cx="4832604" cy="2180844"/>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3. Integrate local therapy</a:t>
            </a:r>
          </a:p>
          <a:p>
            <a:pPr>
              <a:lnSpc>
                <a:spcPct val="103000"/>
              </a:lnSpc>
              <a:spcBef>
                <a:spcPts val="200"/>
              </a:spcBef>
              <a:spcAft>
                <a:spcPts val="200"/>
              </a:spcAft>
            </a:pPr>
            <a:r>
              <a:rPr sz="1520">
                <a:solidFill>
                  <a:srgbClr val="232A32"/>
                </a:solidFill>
                <a:latin typeface="Aptos"/>
              </a:rPr>
              <a:t>• BCS + RT or mastectomy</a:t>
            </a:r>
          </a:p>
          <a:p>
            <a:pPr>
              <a:lnSpc>
                <a:spcPct val="103000"/>
              </a:lnSpc>
              <a:spcBef>
                <a:spcPts val="200"/>
              </a:spcBef>
              <a:spcAft>
                <a:spcPts val="200"/>
              </a:spcAft>
            </a:pPr>
            <a:r>
              <a:rPr sz="1520">
                <a:solidFill>
                  <a:srgbClr val="232A32"/>
                </a:solidFill>
                <a:latin typeface="Aptos"/>
              </a:rPr>
              <a:t>• SLNB / selective omission / TAD / ALND</a:t>
            </a:r>
          </a:p>
          <a:p>
            <a:pPr>
              <a:lnSpc>
                <a:spcPct val="103000"/>
              </a:lnSpc>
              <a:spcBef>
                <a:spcPts val="200"/>
              </a:spcBef>
              <a:spcAft>
                <a:spcPts val="200"/>
              </a:spcAft>
            </a:pPr>
            <a:r>
              <a:rPr sz="1520">
                <a:solidFill>
                  <a:srgbClr val="232A32"/>
                </a:solidFill>
                <a:latin typeface="Aptos"/>
              </a:rPr>
              <a:t>• PMRT/RNI based on clinical + pathologic risk</a:t>
            </a:r>
          </a:p>
          <a:p>
            <a:pPr>
              <a:lnSpc>
                <a:spcPct val="103000"/>
              </a:lnSpc>
              <a:spcBef>
                <a:spcPts val="200"/>
              </a:spcBef>
              <a:spcAft>
                <a:spcPts val="200"/>
              </a:spcAft>
            </a:pPr>
            <a:r>
              <a:rPr sz="1520">
                <a:solidFill>
                  <a:srgbClr val="232A32"/>
                </a:solidFill>
                <a:latin typeface="Aptos"/>
              </a:rPr>
              <a:t>• Reconstruction coordinated with RT plan</a:t>
            </a:r>
          </a:p>
        </p:txBody>
      </p:sp>
      <p:sp>
        <p:nvSpPr>
          <p:cNvPr id="7" name="Rounded Rectangle 6"/>
          <p:cNvSpPr/>
          <p:nvPr/>
        </p:nvSpPr>
        <p:spPr>
          <a:xfrm>
            <a:off x="5527548" y="3287268"/>
            <a:ext cx="4832604" cy="2180844"/>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4. Reassess and adapt</a:t>
            </a:r>
          </a:p>
          <a:p>
            <a:pPr>
              <a:lnSpc>
                <a:spcPct val="103000"/>
              </a:lnSpc>
              <a:spcBef>
                <a:spcPts val="200"/>
              </a:spcBef>
              <a:spcAft>
                <a:spcPts val="200"/>
              </a:spcAft>
            </a:pPr>
            <a:r>
              <a:rPr sz="1520">
                <a:solidFill>
                  <a:srgbClr val="232A32"/>
                </a:solidFill>
                <a:latin typeface="Aptos"/>
              </a:rPr>
              <a:t>• pCR vs residual invasive disease</a:t>
            </a:r>
          </a:p>
          <a:p>
            <a:pPr>
              <a:lnSpc>
                <a:spcPct val="103000"/>
              </a:lnSpc>
              <a:spcBef>
                <a:spcPts val="200"/>
              </a:spcBef>
              <a:spcAft>
                <a:spcPts val="200"/>
              </a:spcAft>
            </a:pPr>
            <a:r>
              <a:rPr sz="1520">
                <a:solidFill>
                  <a:srgbClr val="232A32"/>
                </a:solidFill>
                <a:latin typeface="Aptos"/>
              </a:rPr>
              <a:t>• Escalate/de-escalate postoperative therapy as indicated</a:t>
            </a:r>
          </a:p>
          <a:p>
            <a:pPr>
              <a:lnSpc>
                <a:spcPct val="103000"/>
              </a:lnSpc>
              <a:spcBef>
                <a:spcPts val="200"/>
              </a:spcBef>
              <a:spcAft>
                <a:spcPts val="200"/>
              </a:spcAft>
            </a:pPr>
            <a:r>
              <a:rPr sz="1520">
                <a:solidFill>
                  <a:srgbClr val="232A32"/>
                </a:solidFill>
                <a:latin typeface="Aptos"/>
              </a:rPr>
              <a:t>• At recurrence: biopsy when feasible, re-stage, re-check biomarkers</a:t>
            </a:r>
          </a:p>
          <a:p>
            <a:pPr>
              <a:lnSpc>
                <a:spcPct val="103000"/>
              </a:lnSpc>
              <a:spcBef>
                <a:spcPts val="200"/>
              </a:spcBef>
              <a:spcAft>
                <a:spcPts val="200"/>
              </a:spcAft>
            </a:pPr>
            <a:r>
              <a:rPr sz="1520">
                <a:solidFill>
                  <a:srgbClr val="232A32"/>
                </a:solidFill>
                <a:latin typeface="Aptos"/>
              </a:rPr>
              <a:t>• Survivorship and supportive care throughout</a:t>
            </a:r>
          </a:p>
        </p:txBody>
      </p:sp>
      <p:sp>
        <p:nvSpPr>
          <p:cNvPr id="8" name="TextBox 7"/>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NCCN Breast Cancer v6.2026 — integrated interpretation of BINV-1 through BINV-28</a:t>
            </a:r>
          </a:p>
        </p:txBody>
      </p:sp>
      <p:sp>
        <p:nvSpPr>
          <p:cNvPr id="9" name="Rectangle 8"/>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11" name="TextBox 10"/>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2" name="TextBox 11"/>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64592"/>
            <a:ext cx="8595360" cy="457200"/>
          </a:xfrm>
        </p:spPr>
        <p:txBody>
          <a:bodyPr/>
          <a:lstStyle/>
          <a:p>
            <a:r>
              <a:rPr sz="2600" b="1">
                <a:solidFill>
                  <a:srgbClr val="1F3756"/>
                </a:solidFill>
                <a:latin typeface="Aptos"/>
              </a:rPr>
              <a:t>NCCN source map for presentation preparation</a:t>
            </a:r>
          </a:p>
        </p:txBody>
      </p:sp>
      <p:sp>
        <p:nvSpPr>
          <p:cNvPr id="3" name="TextBox 2"/>
          <p:cNvSpPr txBox="1"/>
          <p:nvPr/>
        </p:nvSpPr>
        <p:spPr>
          <a:xfrm>
            <a:off x="8732520" y="210312"/>
            <a:ext cx="1554480" cy="274320"/>
          </a:xfrm>
          <a:prstGeom prst="rect">
            <a:avLst/>
          </a:prstGeom>
          <a:noFill/>
        </p:spPr>
        <p:txBody>
          <a:bodyPr wrap="none">
            <a:spAutoFit/>
          </a:bodyPr>
          <a:lstStyle/>
          <a:p>
            <a:pPr algn="r"/>
            <a:r>
              <a:rPr sz="900" b="1">
                <a:solidFill>
                  <a:srgbClr val="3465A4"/>
                </a:solidFill>
                <a:latin typeface="Aptos"/>
              </a:rPr>
              <a:t>NCCN 6.2026</a:t>
            </a:r>
          </a:p>
        </p:txBody>
      </p:sp>
      <p:sp>
        <p:nvSpPr>
          <p:cNvPr id="4" name="Rounded Rectangle 3"/>
          <p:cNvSpPr/>
          <p:nvPr/>
        </p:nvSpPr>
        <p:spPr>
          <a:xfrm>
            <a:off x="530352"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Local disease</a:t>
            </a:r>
          </a:p>
          <a:p>
            <a:pPr>
              <a:lnSpc>
                <a:spcPct val="103000"/>
              </a:lnSpc>
              <a:spcBef>
                <a:spcPts val="200"/>
              </a:spcBef>
              <a:spcAft>
                <a:spcPts val="200"/>
              </a:spcAft>
            </a:pPr>
            <a:r>
              <a:rPr sz="1520">
                <a:solidFill>
                  <a:srgbClr val="232A32"/>
                </a:solidFill>
                <a:latin typeface="Aptos"/>
              </a:rPr>
              <a:t>• DCIS-1/2 — DCIS diagnosis, surgery, RT, endocrine therapy, follow-up</a:t>
            </a:r>
          </a:p>
          <a:p>
            <a:pPr>
              <a:lnSpc>
                <a:spcPct val="103000"/>
              </a:lnSpc>
              <a:spcBef>
                <a:spcPts val="200"/>
              </a:spcBef>
              <a:spcAft>
                <a:spcPts val="200"/>
              </a:spcAft>
            </a:pPr>
            <a:r>
              <a:rPr sz="1520">
                <a:solidFill>
                  <a:srgbClr val="232A32"/>
                </a:solidFill>
                <a:latin typeface="Aptos"/>
              </a:rPr>
              <a:t>• BINV-1–17 — invasive staging, local therapy, systemic therapy, RT, surveillance</a:t>
            </a:r>
          </a:p>
          <a:p>
            <a:pPr>
              <a:lnSpc>
                <a:spcPct val="103000"/>
              </a:lnSpc>
              <a:spcBef>
                <a:spcPts val="200"/>
              </a:spcBef>
              <a:spcAft>
                <a:spcPts val="200"/>
              </a:spcAft>
            </a:pPr>
            <a:r>
              <a:rPr sz="1520">
                <a:solidFill>
                  <a:srgbClr val="232A32"/>
                </a:solidFill>
                <a:latin typeface="Aptos"/>
              </a:rPr>
              <a:t>• BINV-D — axillary staging and omission criteria</a:t>
            </a:r>
          </a:p>
          <a:p>
            <a:pPr>
              <a:lnSpc>
                <a:spcPct val="103000"/>
              </a:lnSpc>
              <a:spcBef>
                <a:spcPts val="200"/>
              </a:spcBef>
              <a:spcAft>
                <a:spcPts val="200"/>
              </a:spcAft>
            </a:pPr>
            <a:r>
              <a:rPr sz="1520">
                <a:solidFill>
                  <a:srgbClr val="232A32"/>
                </a:solidFill>
                <a:latin typeface="Aptos"/>
              </a:rPr>
              <a:t>• BINV-F — BCS margin standards</a:t>
            </a:r>
          </a:p>
          <a:p>
            <a:pPr>
              <a:lnSpc>
                <a:spcPct val="103000"/>
              </a:lnSpc>
              <a:spcBef>
                <a:spcPts val="200"/>
              </a:spcBef>
              <a:spcAft>
                <a:spcPts val="200"/>
              </a:spcAft>
            </a:pPr>
            <a:r>
              <a:rPr sz="1520">
                <a:solidFill>
                  <a:srgbClr val="232A32"/>
                </a:solidFill>
                <a:latin typeface="Aptos"/>
              </a:rPr>
              <a:t>• BINV-G/H/I — BCS contraindications, reconstruction, radiation</a:t>
            </a:r>
          </a:p>
        </p:txBody>
      </p:sp>
      <p:sp>
        <p:nvSpPr>
          <p:cNvPr id="5" name="Rounded Rectangle 4"/>
          <p:cNvSpPr/>
          <p:nvPr/>
        </p:nvSpPr>
        <p:spPr>
          <a:xfrm>
            <a:off x="5527548" y="960120"/>
            <a:ext cx="4832604" cy="4507992"/>
          </a:xfrm>
          <a:prstGeom prst="roundRect">
            <a:avLst/>
          </a:prstGeom>
          <a:solidFill>
            <a:srgbClr val="F2F6FA"/>
          </a:solidFill>
          <a:ln w="8890">
            <a:solidFill>
              <a:srgbClr val="D6DCE3"/>
            </a:solidFill>
          </a:ln>
        </p:spPr>
        <p:style>
          <a:lnRef idx="1">
            <a:schemeClr val="accent1"/>
          </a:lnRef>
          <a:fillRef idx="3">
            <a:schemeClr val="accent1"/>
          </a:fillRef>
          <a:effectRef idx="2">
            <a:schemeClr val="accent1"/>
          </a:effectRef>
          <a:fontRef idx="minor">
            <a:schemeClr val="lt1"/>
          </a:fontRef>
        </p:style>
        <p:txBody>
          <a:bodyPr rtlCol="0" anchor="ctr" lIns="137160" rIns="109728" tIns="91440" bIns="73152"/>
          <a:lstStyle/>
          <a:p>
            <a:pPr algn="ctr"/>
            <a:r>
              <a:rPr sz="1700" b="1">
                <a:solidFill>
                  <a:srgbClr val="1F3756"/>
                </a:solidFill>
                <a:latin typeface="Aptos Display"/>
              </a:rPr>
              <a:t>Advanced / special situations</a:t>
            </a:r>
          </a:p>
          <a:p>
            <a:pPr>
              <a:lnSpc>
                <a:spcPct val="103000"/>
              </a:lnSpc>
              <a:spcBef>
                <a:spcPts val="200"/>
              </a:spcBef>
              <a:spcAft>
                <a:spcPts val="200"/>
              </a:spcAft>
            </a:pPr>
            <a:r>
              <a:rPr sz="1520">
                <a:solidFill>
                  <a:srgbClr val="232A32"/>
                </a:solidFill>
                <a:latin typeface="Aptos"/>
              </a:rPr>
              <a:t>• BINV-21–28 — recurrent/stage IV systemic treatment</a:t>
            </a:r>
          </a:p>
          <a:p>
            <a:pPr>
              <a:lnSpc>
                <a:spcPct val="103000"/>
              </a:lnSpc>
              <a:spcBef>
                <a:spcPts val="200"/>
              </a:spcBef>
              <a:spcAft>
                <a:spcPts val="200"/>
              </a:spcAft>
            </a:pPr>
            <a:r>
              <a:rPr sz="1520">
                <a:solidFill>
                  <a:srgbClr val="232A32"/>
                </a:solidFill>
                <a:latin typeface="Aptos"/>
              </a:rPr>
              <a:t>• BINV-P/Q/R — endocrine/targeted therapy, cytotoxic regimens, monitoring</a:t>
            </a:r>
          </a:p>
          <a:p>
            <a:pPr>
              <a:lnSpc>
                <a:spcPct val="103000"/>
              </a:lnSpc>
              <a:spcBef>
                <a:spcPts val="200"/>
              </a:spcBef>
              <a:spcAft>
                <a:spcPts val="200"/>
              </a:spcAft>
            </a:pPr>
            <a:r>
              <a:rPr sz="1520">
                <a:solidFill>
                  <a:srgbClr val="232A32"/>
                </a:solidFill>
                <a:latin typeface="Aptos"/>
              </a:rPr>
              <a:t>• BINV-J — male breast cancer</a:t>
            </a:r>
          </a:p>
          <a:p>
            <a:pPr>
              <a:lnSpc>
                <a:spcPct val="103000"/>
              </a:lnSpc>
              <a:spcBef>
                <a:spcPts val="200"/>
              </a:spcBef>
              <a:spcAft>
                <a:spcPts val="200"/>
              </a:spcAft>
            </a:pPr>
            <a:r>
              <a:rPr sz="1520">
                <a:solidFill>
                  <a:srgbClr val="232A32"/>
                </a:solidFill>
                <a:latin typeface="Aptos"/>
              </a:rPr>
              <a:t>• PREG-1/2 — pregnancy-associated breast cancer</a:t>
            </a:r>
          </a:p>
          <a:p>
            <a:pPr>
              <a:lnSpc>
                <a:spcPct val="103000"/>
              </a:lnSpc>
              <a:spcBef>
                <a:spcPts val="200"/>
              </a:spcBef>
              <a:spcAft>
                <a:spcPts val="200"/>
              </a:spcAft>
            </a:pPr>
            <a:r>
              <a:rPr sz="1520">
                <a:solidFill>
                  <a:srgbClr val="232A32"/>
                </a:solidFill>
                <a:latin typeface="Aptos"/>
              </a:rPr>
              <a:t>• IBC-1/2 — inflammatory breast cancer</a:t>
            </a:r>
          </a:p>
          <a:p>
            <a:pPr>
              <a:lnSpc>
                <a:spcPct val="103000"/>
              </a:lnSpc>
              <a:spcBef>
                <a:spcPts val="200"/>
              </a:spcBef>
              <a:spcAft>
                <a:spcPts val="200"/>
              </a:spcAft>
            </a:pPr>
            <a:r>
              <a:rPr sz="1520">
                <a:solidFill>
                  <a:srgbClr val="232A32"/>
                </a:solidFill>
                <a:latin typeface="Aptos"/>
              </a:rPr>
              <a:t>• PAGET-1 — Paget disease</a:t>
            </a:r>
          </a:p>
          <a:p>
            <a:pPr>
              <a:lnSpc>
                <a:spcPct val="103000"/>
              </a:lnSpc>
              <a:spcBef>
                <a:spcPts val="200"/>
              </a:spcBef>
              <a:spcAft>
                <a:spcPts val="200"/>
              </a:spcAft>
            </a:pPr>
            <a:r>
              <a:rPr sz="1520">
                <a:solidFill>
                  <a:srgbClr val="232A32"/>
                </a:solidFill>
                <a:latin typeface="Aptos"/>
              </a:rPr>
              <a:t>• BRISK — risk reduction, genetics, endocrine prevention and risk-reducing surgery</a:t>
            </a:r>
          </a:p>
        </p:txBody>
      </p:sp>
      <p:sp>
        <p:nvSpPr>
          <p:cNvPr id="6" name="TextBox 5"/>
          <p:cNvSpPr txBox="1"/>
          <p:nvPr/>
        </p:nvSpPr>
        <p:spPr>
          <a:xfrm>
            <a:off x="566928" y="5504688"/>
            <a:ext cx="9646920" cy="228600"/>
          </a:xfrm>
          <a:prstGeom prst="rect">
            <a:avLst/>
          </a:prstGeom>
          <a:noFill/>
        </p:spPr>
        <p:txBody>
          <a:bodyPr wrap="none">
            <a:spAutoFit/>
          </a:bodyPr>
          <a:lstStyle/>
          <a:p>
            <a:r>
              <a:rPr sz="800" i="1">
                <a:solidFill>
                  <a:srgbClr val="5A6978"/>
                </a:solidFill>
                <a:latin typeface="Aptos"/>
              </a:rPr>
              <a:t>NCCN source: Supplied NCCN Breast Cancer v6.2026 and Breast Cancer Risk Reduction v1.2026</a:t>
            </a:r>
          </a:p>
        </p:txBody>
      </p:sp>
      <p:sp>
        <p:nvSpPr>
          <p:cNvPr id="7" name="Rectangle 6"/>
          <p:cNvSpPr/>
          <p:nvPr/>
        </p:nvSpPr>
        <p:spPr>
          <a:xfrm>
            <a:off x="411480" y="6409944"/>
            <a:ext cx="10058400" cy="7315"/>
          </a:xfrm>
          <a:prstGeom prst="rect">
            <a:avLst/>
          </a:prstGeom>
          <a:solidFill>
            <a:srgbClr val="D6D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37376"/>
            <a:ext cx="2011680" cy="219456"/>
          </a:xfrm>
          <a:prstGeom prst="rect">
            <a:avLst/>
          </a:prstGeom>
          <a:noFill/>
        </p:spPr>
        <p:txBody>
          <a:bodyPr wrap="none">
            <a:spAutoFit/>
          </a:bodyPr>
          <a:lstStyle/>
          <a:p>
            <a:pPr algn="l"/>
            <a:r>
              <a:rPr sz="800">
                <a:solidFill>
                  <a:srgbClr val="5A6978"/>
                </a:solidFill>
                <a:latin typeface="Aptos"/>
              </a:rPr>
              <a:t>September 22, 2026</a:t>
            </a:r>
          </a:p>
        </p:txBody>
      </p:sp>
      <p:sp>
        <p:nvSpPr>
          <p:cNvPr id="9" name="TextBox 8"/>
          <p:cNvSpPr txBox="1"/>
          <p:nvPr/>
        </p:nvSpPr>
        <p:spPr>
          <a:xfrm>
            <a:off x="3429000" y="6437376"/>
            <a:ext cx="4023360" cy="219456"/>
          </a:xfrm>
          <a:prstGeom prst="rect">
            <a:avLst/>
          </a:prstGeom>
          <a:noFill/>
        </p:spPr>
        <p:txBody>
          <a:bodyPr wrap="none">
            <a:spAutoFit/>
          </a:bodyPr>
          <a:lstStyle/>
          <a:p>
            <a:pPr algn="ctr"/>
            <a:r>
              <a:rPr sz="800">
                <a:solidFill>
                  <a:srgbClr val="5A6978"/>
                </a:solidFill>
                <a:latin typeface="Aptos"/>
              </a:rPr>
              <a:t>Management of breast cancer</a:t>
            </a:r>
          </a:p>
        </p:txBody>
      </p:sp>
      <p:sp>
        <p:nvSpPr>
          <p:cNvPr id="10" name="TextBox 9"/>
          <p:cNvSpPr txBox="1"/>
          <p:nvPr/>
        </p:nvSpPr>
        <p:spPr>
          <a:xfrm>
            <a:off x="9372600" y="6437376"/>
            <a:ext cx="914400" cy="219456"/>
          </a:xfrm>
          <a:prstGeom prst="rect">
            <a:avLst/>
          </a:prstGeom>
          <a:noFill/>
        </p:spPr>
        <p:txBody>
          <a:bodyPr wrap="none">
            <a:spAutoFit/>
          </a:bodyPr>
          <a:lstStyle/>
          <a:p>
            <a:pPr algn="r"/>
            <a:r>
              <a:rPr sz="800">
                <a:solidFill>
                  <a:srgbClr val="5A6978"/>
                </a:solidFill>
                <a:latin typeface="Aptos"/>
              </a:rPr>
              <a:t>104</a:t>
            </a:r>
          </a:p>
        </p:txBody>
      </p:sp>
    </p:spTree>
  </p:cSld>
  <p:clrMapOvr>
    <a:masterClrMapping/>
  </p:clrMapOvr>
</p:sld>
</file>

<file path=ppt/theme/theme1.xml><?xml version="1.0" encoding="utf-8"?>
<a:theme xmlns:a="http://schemas.openxmlformats.org/drawingml/2006/main" name="Office Theme">
  <a:themeElements>
    <a:clrScheme name="Office Theme">
      <a:dk1>
        <a:srgbClr val="242021"/>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mbria"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1635</TotalTime>
  <Words>6054</Words>
  <Application>Microsoft Office PowerPoint</Application>
  <PresentationFormat>Custom</PresentationFormat>
  <Paragraphs>855</Paragraphs>
  <Slides>104</Slides>
  <Notes>2</Notes>
  <HiddenSlides>0</HiddenSlides>
  <MMClips>0</MMClips>
  <ScaleCrop>false</ScaleCrop>
  <HeadingPairs>
    <vt:vector size="4" baseType="variant">
      <vt:variant>
        <vt:lpstr>Theme</vt:lpstr>
      </vt:variant>
      <vt:variant>
        <vt:i4>1</vt:i4>
      </vt:variant>
      <vt:variant>
        <vt:lpstr>Slide Titles</vt:lpstr>
      </vt:variant>
      <vt:variant>
        <vt:i4>104</vt:i4>
      </vt:variant>
    </vt:vector>
  </HeadingPairs>
  <TitlesOfParts>
    <vt:vector size="10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NCCN Breast Cancer v6.2026 — Clinical Update Addendum</vt:lpstr>
      <vt:lpstr>How to read the NCCN 6.2026 framework</vt:lpstr>
      <vt:lpstr>Initial work-up of newly diagnosed invasive breast cancer</vt:lpstr>
      <vt:lpstr>DCIS — 2026 NCCN primary treatment</vt:lpstr>
      <vt:lpstr>DCIS — postsurgical treatment, endocrine therapy and surveillance</vt:lpstr>
      <vt:lpstr>Surgery, margins, axilla and radiation</vt:lpstr>
      <vt:lpstr>BCS versus mastectomy — NCCN selection principles</vt:lpstr>
      <vt:lpstr>Margins after BCS — what NCCN expects surgeons to know</vt:lpstr>
      <vt:lpstr>Axillary staging — clinically node-negative patients</vt:lpstr>
      <vt:lpstr>Positive sentinel nodes — axillary de-escalation</vt:lpstr>
      <vt:lpstr>Initially node-positive → clinically node-negative after neoadjuvant therapy</vt:lpstr>
      <vt:lpstr>Radiation after breast-conserving surgery</vt:lpstr>
      <vt:lpstr>Postmastectomy radiation — modern decision-making</vt:lpstr>
      <vt:lpstr>Subtype-specific early invasive disease</vt:lpstr>
      <vt:lpstr>HR-positive / HER2-negative early breast cancer — systemic framework</vt:lpstr>
      <vt:lpstr>HR+/HER2− early disease — escalation beyond endocrine therapy</vt:lpstr>
      <vt:lpstr>HER2-positive early breast cancer — risk-adapted treatment</vt:lpstr>
      <vt:lpstr>Triple-negative early breast cancer — high-risk neoadjuvant pathway</vt:lpstr>
      <vt:lpstr>Favorable histologies and very small tumors</vt:lpstr>
      <vt:lpstr>Locally advanced, inflammatory and special breast cancers</vt:lpstr>
      <vt:lpstr>Stage III / inoperable or locally advanced breast cancer</vt:lpstr>
      <vt:lpstr>Inflammatory breast cancer — NCCN diagnostic essentials</vt:lpstr>
      <vt:lpstr>Inflammatory breast cancer — treatment sequence</vt:lpstr>
      <vt:lpstr>Paget disease — modern local management</vt:lpstr>
      <vt:lpstr>Male breast cancer — NCCN 6.2026</vt:lpstr>
      <vt:lpstr>Breast cancer during pregnancy — NCCN practical points</vt:lpstr>
      <vt:lpstr>Recurrent and metastatic breast cancer</vt:lpstr>
      <vt:lpstr>Stage IV — universal NCCN principles</vt:lpstr>
      <vt:lpstr>HR+/HER2− metastatic breast cancer — NCCN sequence</vt:lpstr>
      <vt:lpstr>Visceral crisis — do not confuse it with visceral metastasis</vt:lpstr>
      <vt:lpstr>HER2-positive metastatic breast cancer — current NCCN pathway</vt:lpstr>
      <vt:lpstr>Metastatic TNBC / HER2 non-amplified disease — biomarker-driven treatment</vt:lpstr>
      <vt:lpstr>Bone, brain and other metastatic complications</vt:lpstr>
      <vt:lpstr>Oligometastatic stage IV — what NCCN actually says</vt:lpstr>
      <vt:lpstr>Locoregional recurrence — reassess, resect when appropriate, then re-stage biology</vt:lpstr>
      <vt:lpstr>Monitoring metastatic disease — what NOT to do routinely</vt:lpstr>
      <vt:lpstr>Survivorship and risk reduction</vt:lpstr>
      <vt:lpstr>Post-treatment surveillance — NCCN 6.2026</vt:lpstr>
      <vt:lpstr>NCCN breast-cancer risk reduction — who should be considered for RRM?</vt:lpstr>
      <vt:lpstr>NCCN risk-reducing endocrine therapy</vt:lpstr>
      <vt:lpstr>Risk reduction — lifestyle, surveillance and genetic assessment</vt:lpstr>
      <vt:lpstr>High-yield NCCN 6.2026 pitfalls for surgeons</vt:lpstr>
      <vt:lpstr>NCCN 6.2026 — master management algorithm</vt:lpstr>
      <vt:lpstr>NCCN source map for presentation preparation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Breast Cancer Management</dc:title>
  <dc:creator>Dr. Muluamlak</dc:creator>
  <cp:lastModifiedBy>Administrator</cp:lastModifiedBy>
  <cp:revision>66</cp:revision>
  <dcterms:created xsi:type="dcterms:W3CDTF">2025-08-08T00:17:09Z</dcterms:created>
  <dcterms:modified xsi:type="dcterms:W3CDTF">2026-09-22T12:45:37Z</dcterms:modified>
  <cp:contentStatus/>
</cp:coreProperties>
</file>