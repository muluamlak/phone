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harts/chart8.xml" ContentType="application/vnd.openxmlformats-officedocument.drawingml.chart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charts/chart9.xml" ContentType="application/vnd.openxmlformats-officedocument.drawingml.chart+xml"/>
  <Override PartName="/ppt/slides/slide40.xml" ContentType="application/vnd.openxmlformats-officedocument.presentationml.slide+xml"/>
  <Override PartName="/ppt/charts/chart10.xml" ContentType="application/vnd.openxmlformats-officedocument.drawingml.chart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charts/chart11.xml" ContentType="application/vnd.openxmlformats-officedocument.drawingml.chart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67" Type="http://schemas.openxmlformats.org/officeDocument/2006/relationships/notesMaster" Target="notesMasters/notesMaster1.xml"/><Relationship Id="rId68" Type="http://schemas.openxmlformats.org/officeDocument/2006/relationships/presProps" Target="presProps.xml"/><Relationship Id="rId69" Type="http://schemas.openxmlformats.org/officeDocument/2006/relationships/viewProps" Target="viewProps.xml"/><Relationship Id="rId70" Type="http://schemas.openxmlformats.org/officeDocument/2006/relationships/theme" Target="theme/theme1.xml"/><Relationship Id="rId71" Type="http://schemas.openxmlformats.org/officeDocument/2006/relationships/tableStyles" Target="tableStyles.xml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Share of invasive cancers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%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NST</c:v>
                  </c:pt>
                  <c:pt idx="1">
                    <c:v>Lobular</c:v>
                  </c:pt>
                  <c:pt idx="2">
                    <c:v>Medullary</c:v>
                  </c:pt>
                  <c:pt idx="3">
                    <c:v>Mucinous</c:v>
                  </c:pt>
                  <c:pt idx="4">
                    <c:v>Papillary</c:v>
                  </c:pt>
                  <c:pt idx="5">
                    <c:v>Tubular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10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DCIS trial event rates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ECOG 5194 low/int (excision)</c:v>
                  </c:pt>
                  <c:pt idx="1">
                    <c:v>ECOG 5194 high grade</c:v>
                  </c:pt>
                  <c:pt idx="2">
                    <c:v>B-24 RT + tamoxifen</c:v>
                  </c:pt>
                  <c:pt idx="3">
                    <c:v>B-24 RT alone</c:v>
                  </c:pt>
                  <c:pt idx="4">
                    <c:v>RTOG 9804 + RT (5 y)</c:v>
                  </c:pt>
                  <c:pt idx="5">
                    <c:v>RTOG 9804 no RT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6.1</c:v>
                </c:pt>
                <c:pt idx="1">
                  <c:v>15.3</c:v>
                </c:pt>
                <c:pt idx="2">
                  <c:v>8.2</c:v>
                </c:pt>
                <c:pt idx="3">
                  <c:v>13.4</c:v>
                </c:pt>
                <c:pt idx="4">
                  <c:v>0.4</c:v>
                </c:pt>
                <c:pt idx="5">
                  <c:v>3.2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In-breast recurrence with vs without RT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B-06 lumpectomy + RT (20 y)</c:v>
                  </c:pt>
                  <c:pt idx="1">
                    <c:v>B-06 lumpectomy alone</c:v>
                  </c:pt>
                  <c:pt idx="2">
                    <c:v>CALGB ≥70 y + RT (10 y)</c:v>
                  </c:pt>
                  <c:pt idx="3">
                    <c:v>CALGB no RT</c:v>
                  </c:pt>
                  <c:pt idx="4">
                    <c:v>Canadian ≥50 y + RT</c:v>
                  </c:pt>
                  <c:pt idx="5">
                    <c:v>Canadian no RT</c:v>
                  </c:pt>
                  <c:pt idx="6">
                    <c:v>PRIME-2 ≥65 y + RT</c:v>
                  </c:pt>
                  <c:pt idx="7">
                    <c:v>PRIME-2 no RT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14.3</c:v>
                </c:pt>
                <c:pt idx="1">
                  <c:v>39.2</c:v>
                </c:pt>
                <c:pt idx="2">
                  <c:v>2</c:v>
                </c:pt>
                <c:pt idx="3">
                  <c:v>10</c:v>
                </c:pt>
                <c:pt idx="4">
                  <c:v>0.6</c:v>
                </c:pt>
                <c:pt idx="5">
                  <c:v>7.7</c:v>
                </c:pt>
                <c:pt idx="6">
                  <c:v>1.3</c:v>
                </c:pt>
                <c:pt idx="7">
                  <c:v>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sz="900" b="0" i="0" u="none" strike="noStrike">
                <a:solidFill>
                  <a:srgbClr val="1B3A6B"/>
                </a:solidFill>
                <a:latin typeface="Calibri"/>
              </a:rPr>
              <a:t>False-negative rate of SLN surgery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FNR %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A252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1 SLN removed (B-32)</c:v>
                  </c:pt>
                  <c:pt idx="1">
                    <c:v>2 SLNs</c:v>
                  </c:pt>
                  <c:pt idx="2">
                    <c:v>3 SLNs</c:v>
                  </c:pt>
                  <c:pt idx="3">
                    <c:v>Z1071 SLN after NAC (cN1)</c:v>
                  </c:pt>
                  <c:pt idx="4">
                    <c:v>Clipped node in SLN, ≥2 SLNs</c:v>
                  </c:pt>
                  <c:pt idx="5">
                    <c:v>SLN alone (MD Anderson)</c:v>
                  </c:pt>
                  <c:pt idx="6">
                    <c:v>TAD: SLN + clipped node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17.7</c:v>
                </c:pt>
                <c:pt idx="1">
                  <c:v>10</c:v>
                </c:pt>
                <c:pt idx="2">
                  <c:v>6.9</c:v>
                </c:pt>
                <c:pt idx="3">
                  <c:v>12.6</c:v>
                </c:pt>
                <c:pt idx="4">
                  <c:v>6.8</c:v>
                </c:pt>
                <c:pt idx="5">
                  <c:v>10.1</c:v>
                </c:pt>
                <c:pt idx="6">
                  <c:v>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750" u="none">
                  <a:solidFill>
                    <a:srgbClr val="1A252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1A252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Carcinoma In Situ — LCIS vs DCIS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943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age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44–47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54–58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biopsies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signs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incidental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Mass, pain, discharge, microcalcification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Premenopausal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Synchronous invasion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2–46%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Multicentric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60–90%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Axillary metastasis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 invasive cancer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25–35%,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breast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15–20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25–70%, </a:t>
                      </a: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breast/quadrant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5–10 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that follows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65% ductal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marker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female only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Precursor</a:t>
                      </a: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of IDC (RR ≈5×); ~5% of male BC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355080" y="694944"/>
            <a:ext cx="2560320" cy="13716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749808"/>
            <a:ext cx="23774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</a:t>
            </a:r>
            <a:endParaRPr lang="en-US" sz="1060" dirty="0"/>
          </a:p>
        </p:txBody>
      </p:sp>
      <p:sp>
        <p:nvSpPr>
          <p:cNvPr id="10" name="Text 7"/>
          <p:cNvSpPr/>
          <p:nvPr/>
        </p:nvSpPr>
        <p:spPr>
          <a:xfrm>
            <a:off x="6428232" y="972668"/>
            <a:ext cx="2432304" cy="1066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situ = within basement membrane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Multicentric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other quadrant (≥4 cm away)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Multifocal</a:t>
            </a: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same quadrant / &lt;4 cm</a:t>
            </a:r>
            <a:endParaRPr lang="en-US" sz="910" dirty="0"/>
          </a:p>
        </p:txBody>
      </p:sp>
      <p:sp>
        <p:nvSpPr>
          <p:cNvPr id="11" name="Shape 8"/>
          <p:cNvSpPr/>
          <p:nvPr/>
        </p:nvSpPr>
        <p:spPr>
          <a:xfrm>
            <a:off x="6355080" y="2139696"/>
            <a:ext cx="2560320" cy="123444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194560"/>
            <a:ext cx="23774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histology</a:t>
            </a:r>
            <a:endParaRPr lang="en-US" sz="1060" dirty="0"/>
          </a:p>
        </p:txBody>
      </p:sp>
      <p:sp>
        <p:nvSpPr>
          <p:cNvPr id="13" name="Text 10"/>
          <p:cNvSpPr/>
          <p:nvPr/>
        </p:nvSpPr>
        <p:spPr>
          <a:xfrm>
            <a:off x="6428232" y="2417420"/>
            <a:ext cx="2432304" cy="9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TDLUs distended by uniform cells; mucoid globules; E-cadherin lost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LCIS: calcifies, mimics high-grade DCIS</a:t>
            </a:r>
            <a:endParaRPr lang="en-US" sz="910" dirty="0"/>
          </a:p>
        </p:txBody>
      </p:sp>
      <p:sp>
        <p:nvSpPr>
          <p:cNvPr id="14" name="Shape 11"/>
          <p:cNvSpPr/>
          <p:nvPr/>
        </p:nvSpPr>
        <p:spPr>
          <a:xfrm>
            <a:off x="6355080" y="3447288"/>
            <a:ext cx="2560320" cy="119786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502152"/>
            <a:ext cx="2377440" cy="195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effect</a:t>
            </a:r>
            <a:endParaRPr lang="en-US" sz="1060" dirty="0"/>
          </a:p>
        </p:txBody>
      </p:sp>
      <p:sp>
        <p:nvSpPr>
          <p:cNvPr id="16" name="Text 13"/>
          <p:cNvSpPr/>
          <p:nvPr/>
        </p:nvSpPr>
        <p:spPr>
          <a:xfrm>
            <a:off x="6428232" y="3725012"/>
            <a:ext cx="2432304" cy="89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situ: &lt;6% → 45% of cancers</a:t>
            </a:r>
            <a:endParaRPr lang="en-US" sz="91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1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flipped: LCIS&gt;DCIS 2:1 → DCIS&gt;LCIS 2:1</a:t>
            </a:r>
            <a:endParaRPr lang="en-US" sz="91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DCIS — Growth Patterns, Grade &amp; Progression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5836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nuclear grade and necrosis  →  higher risk of recurrence / progression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502920" y="896112"/>
            <a:ext cx="4846320" cy="0"/>
          </a:xfrm>
          <a:prstGeom prst="line">
            <a:avLst/>
          </a:prstGeom>
          <a:noFill/>
          <a:ln w="25400">
            <a:solidFill>
              <a:srgbClr val="21618C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6517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finger-like growths into the lumen</a:t>
            </a:r>
            <a:endParaRPr lang="en-US" sz="730" dirty="0"/>
          </a:p>
        </p:txBody>
      </p:sp>
      <p:sp>
        <p:nvSpPr>
          <p:cNvPr id="10" name="Shape 8"/>
          <p:cNvSpPr/>
          <p:nvPr/>
        </p:nvSpPr>
        <p:spPr>
          <a:xfrm rot="5400000">
            <a:off x="1131753" y="1552103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8100000">
            <a:off x="1055370" y="1736507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870966" y="1812889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3500000">
            <a:off x="686562" y="1736507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6200000">
            <a:off x="610179" y="1552103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18900000">
            <a:off x="686562" y="1367698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0966" y="1291316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1055370" y="1367698"/>
            <a:ext cx="64008" cy="260787"/>
          </a:xfrm>
          <a:prstGeom prst="roundRect">
            <a:avLst>
              <a:gd name="adj" fmla="val 42857"/>
            </a:avLst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77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Papillary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517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Non-comedo → LOW grade (no necrosis)</a:t>
            </a:r>
            <a:endParaRPr lang="en-US" sz="730" dirty="0"/>
          </a:p>
        </p:txBody>
      </p:sp>
      <p:sp>
        <p:nvSpPr>
          <p:cNvPr id="21" name="Text 19"/>
          <p:cNvSpPr/>
          <p:nvPr/>
        </p:nvSpPr>
        <p:spPr>
          <a:xfrm>
            <a:off x="161391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lumen filled; punched-out round spaces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1831086" y="1261872"/>
            <a:ext cx="841248" cy="841248"/>
          </a:xfrm>
          <a:prstGeom prst="ellipse">
            <a:avLst/>
          </a:prstGeom>
          <a:solidFill>
            <a:srgbClr val="AFC3DE"/>
          </a:solidFill>
          <a:ln/>
        </p:spPr>
      </p:sp>
      <p:sp>
        <p:nvSpPr>
          <p:cNvPr id="23" name="Shape 21"/>
          <p:cNvSpPr/>
          <p:nvPr/>
        </p:nvSpPr>
        <p:spPr>
          <a:xfrm>
            <a:off x="2183130" y="1427304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60412" y="1548602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95097" y="1763206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71163" y="1763206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5848" y="1548602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83130" y="1632577"/>
            <a:ext cx="137160" cy="13716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9451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7734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Cribriform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1391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Non-comedo → LOW grade (no necrosis)</a:t>
            </a:r>
            <a:endParaRPr lang="en-US" sz="730" dirty="0"/>
          </a:p>
        </p:txBody>
      </p:sp>
      <p:sp>
        <p:nvSpPr>
          <p:cNvPr id="32" name="Text 30"/>
          <p:cNvSpPr/>
          <p:nvPr/>
        </p:nvSpPr>
        <p:spPr>
          <a:xfrm>
            <a:off x="296265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cells obliterate the lumen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3179826" y="1261872"/>
            <a:ext cx="841248" cy="841248"/>
          </a:xfrm>
          <a:prstGeom prst="ellipse">
            <a:avLst/>
          </a:prstGeom>
          <a:solidFill>
            <a:srgbClr val="2E5C8A"/>
          </a:solidFill>
          <a:ln/>
        </p:spPr>
      </p:sp>
      <p:sp>
        <p:nvSpPr>
          <p:cNvPr id="34" name="Shape 32"/>
          <p:cNvSpPr/>
          <p:nvPr/>
        </p:nvSpPr>
        <p:spPr>
          <a:xfrm>
            <a:off x="3615741" y="164820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02894" y="170627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75640" y="1537747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46274" y="1752078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19593" y="1622862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4480" y="155927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0750" y="1821108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476507" y="147839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58716" y="1716850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67116" y="173239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660474" y="144149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39724" y="1874320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50249" y="152639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17067" y="1589742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15560" y="186867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6733" y="137498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786749" y="1828378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273326" y="166512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776213" y="1431799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557520" y="195771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358096" y="1408421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889189" y="1685034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97232" y="1843905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33399" y="131501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745628" y="1945266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26341" y="1548743"/>
            <a:ext cx="68580" cy="68580"/>
          </a:xfrm>
          <a:prstGeom prst="ellipse">
            <a:avLst/>
          </a:prstGeom>
          <a:solidFill>
            <a:srgbClr val="6F8FC0"/>
          </a:solidFill>
          <a:ln w="6350">
            <a:solidFill>
              <a:srgbClr val="1B3A6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14325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92608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296265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grade (focal / no necrosis)</a:t>
            </a:r>
            <a:endParaRPr lang="en-US" sz="730" dirty="0"/>
          </a:p>
        </p:txBody>
      </p:sp>
      <p:sp>
        <p:nvSpPr>
          <p:cNvPr id="63" name="Text 61"/>
          <p:cNvSpPr/>
          <p:nvPr/>
        </p:nvSpPr>
        <p:spPr>
          <a:xfrm>
            <a:off x="4311396" y="932688"/>
            <a:ext cx="12755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necrosis + calcification</a:t>
            </a:r>
            <a:endParaRPr lang="en-US" sz="730" dirty="0"/>
          </a:p>
        </p:txBody>
      </p:sp>
      <p:sp>
        <p:nvSpPr>
          <p:cNvPr id="64" name="Shape 62"/>
          <p:cNvSpPr/>
          <p:nvPr/>
        </p:nvSpPr>
        <p:spPr>
          <a:xfrm>
            <a:off x="4528566" y="1261872"/>
            <a:ext cx="841248" cy="84124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65" name="Shape 63"/>
          <p:cNvSpPr/>
          <p:nvPr/>
        </p:nvSpPr>
        <p:spPr>
          <a:xfrm>
            <a:off x="4728362" y="1461668"/>
            <a:ext cx="441655" cy="441655"/>
          </a:xfrm>
          <a:prstGeom prst="ellipse">
            <a:avLst/>
          </a:prstGeom>
          <a:solidFill>
            <a:srgbClr val="E8DDB5"/>
          </a:solidFill>
          <a:ln w="12700">
            <a:solidFill>
              <a:srgbClr val="8A7A4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17770" y="1568196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67" name="Shape 65"/>
          <p:cNvSpPr/>
          <p:nvPr/>
        </p:nvSpPr>
        <p:spPr>
          <a:xfrm>
            <a:off x="4816602" y="1677924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68" name="Shape 66"/>
          <p:cNvSpPr/>
          <p:nvPr/>
        </p:nvSpPr>
        <p:spPr>
          <a:xfrm>
            <a:off x="4972050" y="1769364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69" name="Shape 67"/>
          <p:cNvSpPr/>
          <p:nvPr/>
        </p:nvSpPr>
        <p:spPr>
          <a:xfrm>
            <a:off x="4898898" y="1531620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70" name="Shape 68"/>
          <p:cNvSpPr/>
          <p:nvPr/>
        </p:nvSpPr>
        <p:spPr>
          <a:xfrm>
            <a:off x="5054346" y="1714500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71" name="Shape 69"/>
          <p:cNvSpPr/>
          <p:nvPr/>
        </p:nvSpPr>
        <p:spPr>
          <a:xfrm>
            <a:off x="4853178" y="1778508"/>
            <a:ext cx="45720" cy="45720"/>
          </a:xfrm>
          <a:prstGeom prst="ellipse">
            <a:avLst/>
          </a:prstGeom>
          <a:solidFill>
            <a:srgbClr val="222222"/>
          </a:solidFill>
          <a:ln/>
        </p:spPr>
      </p:sp>
      <p:sp>
        <p:nvSpPr>
          <p:cNvPr id="72" name="Shape 70"/>
          <p:cNvSpPr/>
          <p:nvPr/>
        </p:nvSpPr>
        <p:spPr>
          <a:xfrm>
            <a:off x="4491990" y="1225296"/>
            <a:ext cx="914400" cy="914400"/>
          </a:xfrm>
          <a:prstGeom prst="ellipse">
            <a:avLst/>
          </a:prstGeom>
          <a:ln w="28575">
            <a:solidFill>
              <a:srgbClr val="8A8A8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274820" y="2176272"/>
            <a:ext cx="13487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4311396" y="2395728"/>
            <a:ext cx="12755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30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 → HIGH grade (extensive necrosis)</a:t>
            </a:r>
            <a:endParaRPr lang="en-US" sz="73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3017520"/>
          <a:ext cx="5394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Nuclear 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Necrosis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Comedo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Extensive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 (mixed)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/ absent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Intermediate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Non-comedo (solid, cribriform, papillary, micropapillary)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" name="Shape 73"/>
          <p:cNvSpPr/>
          <p:nvPr/>
        </p:nvSpPr>
        <p:spPr>
          <a:xfrm>
            <a:off x="5806440" y="694944"/>
            <a:ext cx="3108960" cy="224942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897880" y="749808"/>
            <a:ext cx="292608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070" dirty="0"/>
          </a:p>
        </p:txBody>
      </p:sp>
      <p:sp>
        <p:nvSpPr>
          <p:cNvPr id="78" name="Text 75"/>
          <p:cNvSpPr/>
          <p:nvPr/>
        </p:nvSpPr>
        <p:spPr>
          <a:xfrm>
            <a:off x="5879592" y="974166"/>
            <a:ext cx="2980944" cy="1942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Proliferation lines minor ducts (papillary)</a:t>
            </a:r>
            <a:endParaRPr lang="en-US" sz="920" dirty="0"/>
          </a:p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Coalescence leaves round spaces; atypia, loss of polarity (cribriform)</a:t>
            </a:r>
            <a:endParaRPr lang="en-US" sz="920" dirty="0"/>
          </a:p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Pleomorphic cells with mitoses fill lumen (solid)</a:t>
            </a:r>
            <a:endParaRPr lang="en-US" sz="920" dirty="0"/>
          </a:p>
          <a:p>
            <a:pPr marL="342900" indent="-342900">
              <a:lnSpc>
                <a:spcPct val="100000"/>
              </a:lnSpc>
              <a:spcAft>
                <a:spcPts val="250"/>
              </a:spcAft>
              <a:buSzPct val="100000"/>
              <a:buFont typeface="+mj-lt"/>
              <a:buAutoNum type="arabicPeriod" startAt="1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outstrips blood supply → necrosis + calcification seen on mammogram (comedo)</a:t>
            </a:r>
            <a:endParaRPr lang="en-US" sz="920" dirty="0"/>
          </a:p>
        </p:txBody>
      </p:sp>
      <p:sp>
        <p:nvSpPr>
          <p:cNvPr id="79" name="Shape 76"/>
          <p:cNvSpPr/>
          <p:nvPr/>
        </p:nvSpPr>
        <p:spPr>
          <a:xfrm>
            <a:off x="5806440" y="3017520"/>
            <a:ext cx="3108960" cy="162763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5897880" y="3072384"/>
            <a:ext cx="2926080" cy="196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70" dirty="0"/>
          </a:p>
        </p:txBody>
      </p:sp>
      <p:sp>
        <p:nvSpPr>
          <p:cNvPr id="81" name="Text 78"/>
          <p:cNvSpPr/>
          <p:nvPr/>
        </p:nvSpPr>
        <p:spPr>
          <a:xfrm>
            <a:off x="5879592" y="3296742"/>
            <a:ext cx="2980944" cy="1320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grade + necrosis → more recurrence/progression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DCIS lacks atypia — hard to separate from hyperplasia</a:t>
            </a:r>
            <a:endParaRPr lang="en-US" sz="92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 invasion is easily missed → examine multiple sections</a:t>
            </a:r>
            <a:endParaRPr lang="en-US" sz="920" dirty="0"/>
          </a:p>
        </p:txBody>
      </p:sp>
      <p:sp>
        <p:nvSpPr>
          <p:cNvPr id="82" name="Text 79"/>
          <p:cNvSpPr/>
          <p:nvPr/>
        </p:nvSpPr>
        <p:spPr>
          <a:xfrm>
            <a:off x="228600" y="42245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drives local therapy: high-grade DCIS is not suitable for excision alone.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Invasive Breast Cancer — Histologic Types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Genetics &amp; Pathology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6400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02920"/>
                <a:gridCol w="46634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(share)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Ductal NST (80%)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stellate mass, chalky streaks; nodes + in ≤25% screen-detected, ≤60% symptomatic; worse than special types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Lobular (10%)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Single-file cells, signet-ring; multifocal, multicentric, bilateral; subtle on mammogram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Medullary (4%)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Soft, bulky, haemorrhagic; lymphoplasmacytic infiltrate; BRCA1 phenotype; reactive nodes mislead; better 5-y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Mucinous (2%)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&gt;90%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Older women; gelatinous; nodes 33%; 5/10-y survival 73/59%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Papillary (2%)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7th decade; &lt;3 cm; low nodal rate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Tubular (2%)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20% of screen-detected; nodes ~10%; survival ≈100%; cribriform related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Paget's of nipple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Eczema → ulcerated nipple; Paget cells; with DCIS ± invasion; nipple biopsy; CEA+ (melanoma S-100+)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0" descr=""/>
          <p:cNvGraphicFramePr/>
          <p:nvPr/>
        </p:nvGraphicFramePr>
        <p:xfrm>
          <a:off x="6766560" y="685800"/>
          <a:ext cx="21488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5"/>
          <p:cNvSpPr/>
          <p:nvPr/>
        </p:nvSpPr>
        <p:spPr>
          <a:xfrm>
            <a:off x="228600" y="4297680"/>
            <a:ext cx="8686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types (~10%) need ≥90% of tumour showing the defining feature. Rare types: adenoid cystic, squamous, apocrine (see Section VI).</a:t>
            </a:r>
            <a:endParaRPr lang="en-US" sz="8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Diagnosis &amp; Staging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assessment • clinical exam • imaging • tissue diagnosis • discharge &amp; occult primary • TNM • work-up • biomarkers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Triple Assessment — The Diagnostic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76656"/>
            <a:ext cx="8686800" cy="329184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694944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 / abnormal imaging / nipple or skin change → TRIPLE ASSESSMENT (image before any needle) • Ethiopia: refer any woman &gt;30 y with a sign — full diagnosis within 60 days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18488" y="1078992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18488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25512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52144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70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CLINICAL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1426464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444752"/>
            <a:ext cx="2697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lump (~30%), nipple change/discharge, skin change, axillary mass, risk factors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seated in 4 positions; palpate supine, all 3 axillary levels + supraclavicular + parasternal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site, size, consistency, shape, mobility, fixation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182112" y="1152144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1170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IMAGING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82112" y="1426464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444752"/>
            <a:ext cx="2697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mammogram (CC + MLO ± spot/magnification) + ultrasound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US: cyst vs solid; guides biopsy; axillary node look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≤45 + palpable mass + equivocal mammogram → US + biopsy (avoid delay)</a:t>
            </a:r>
            <a:endParaRPr lang="en-US" sz="930" dirty="0"/>
          </a:p>
          <a:p>
            <a:pPr algn="l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MRI: selected problems only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6135624" y="1152144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1344" y="1170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PATHOLOGY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35624" y="1426464"/>
            <a:ext cx="2788920" cy="1371600"/>
          </a:xfrm>
          <a:prstGeom prst="roundRect">
            <a:avLst>
              <a:gd name="adj" fmla="val 4000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1344" y="1444752"/>
            <a:ext cx="2697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Core-needle biopsy PREFERRED (14-G; architecture, invasion, ER/PR/HER2); Ethiopia: US-guided CNB where available, else incisional biopsy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 (22-G) if clinically + radiologically suspicious; false-negative 4–27% → negative FNAC never excludes cancer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 core (8–10 G) for calcifications; ALWAYS leave a clip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1618488" y="279806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279806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25512" y="279806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18488" y="2862072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286207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377440" y="2926080"/>
            <a:ext cx="4389120" cy="292608"/>
          </a:xfrm>
          <a:prstGeom prst="roundRect">
            <a:avLst>
              <a:gd name="adj" fmla="val 1875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294436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CONCORDANCE?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 clinical, imaging and pathology findings agree?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572000" y="321868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18488" y="3282696"/>
            <a:ext cx="5907024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618488" y="32826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572000" y="32826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525512" y="32826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28600" y="3346704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336499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 BENIGN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/ treat benign condition (cyst: aspirate; FA: observe or excise)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182112" y="3346704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27832" y="336499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Concordant MALIGNANT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(clinical + imaging) + ER/PR/HER2 → MDT → one definitive operation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135624" y="3346704"/>
            <a:ext cx="2788920" cy="658368"/>
          </a:xfrm>
          <a:prstGeom prst="roundRect">
            <a:avLst>
              <a:gd name="adj" fmla="val 8333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81344" y="3364992"/>
            <a:ext cx="2697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/ atypia / radial scar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MDT review → vacuum-assisted or open (excisional) biopsy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28600" y="4078224"/>
            <a:ext cx="8686800" cy="585216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4096512"/>
            <a:ext cx="85404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benign core does NOT exclude cancer (sampling error) • needling before imaging creates artefact • clinical axillary exam is only ~33% accurate • up to 50% with breast complaints have no physical sign and pain usually means benign disease — yet missed cancer (often young women) is the commonest diagnostic malpractice claim.</a:t>
            </a:r>
            <a:endParaRPr lang="en-US" sz="9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Assessment — History &amp; Examination Sequence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31520"/>
            <a:ext cx="2743200" cy="12435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8046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804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8328" y="12070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Lump, asymmetry, nipple retraction/discharge, skin ulcer/erythema, axillary mass, pain; risk factors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71800" y="13533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54680" y="731520"/>
            <a:ext cx="2743200" cy="12435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8046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2783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0" y="804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(seated)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64408" y="12070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at sides • arms raised • hands on hips ± pectoral contraction • leaning forward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5897880" y="13533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080760" y="731520"/>
            <a:ext cx="2743200" cy="12435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8046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53912" y="804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8046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90488" y="12070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Symmetry, size, shape, peau d'orange, nipple or skin retraction, erythema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28600" y="2103120"/>
            <a:ext cx="2743200" cy="124358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1752" y="21762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1520" y="2176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Palpation (supine)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8328" y="25786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Palmar surface of fingers, no pinching; sternum → latissimus, clavicle → rectus sheath; mould breast to show retraction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2971800" y="27249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3154680" y="2103120"/>
            <a:ext cx="2743200" cy="124358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27832" y="21762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2783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57600" y="2176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Nodal basins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264408" y="25786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levels I–III (support the arm), supraclavicular, parasternal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897880" y="2724912"/>
            <a:ext cx="182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080760" y="2103120"/>
            <a:ext cx="2743200" cy="1243584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53912" y="2176272"/>
            <a:ext cx="347472" cy="34747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53912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583680" y="21762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90488" y="2578608"/>
            <a:ext cx="25420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Diagram: site, size, consistency, shape, mobility, fixation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228600" y="3529584"/>
            <a:ext cx="4251960" cy="111556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584448"/>
            <a:ext cx="4069080" cy="1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facts</a:t>
            </a:r>
            <a:endParaRPr lang="en-US" sz="1090" dirty="0"/>
          </a:p>
        </p:txBody>
      </p:sp>
      <p:sp>
        <p:nvSpPr>
          <p:cNvPr id="43" name="Text 41"/>
          <p:cNvSpPr/>
          <p:nvPr/>
        </p:nvSpPr>
        <p:spPr>
          <a:xfrm>
            <a:off x="301752" y="3811803"/>
            <a:ext cx="4123944" cy="805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of women find a lump themselves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50% with breast complaints have no physical sign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usually means benign disease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4663440" y="3529584"/>
            <a:ext cx="4251960" cy="1115568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584448"/>
            <a:ext cx="4069080" cy="19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9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1090" dirty="0"/>
          </a:p>
        </p:txBody>
      </p:sp>
      <p:sp>
        <p:nvSpPr>
          <p:cNvPr id="46" name="Text 44"/>
          <p:cNvSpPr/>
          <p:nvPr/>
        </p:nvSpPr>
        <p:spPr>
          <a:xfrm>
            <a:off x="4736592" y="3811803"/>
            <a:ext cx="4123944" cy="8059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cancer = commonest diagnostic malpractice claim (young women)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≤45 + palpable mass + equivocal mammogram → US + biopsy</a:t>
            </a:r>
            <a:endParaRPr lang="en-US" sz="94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axillary assessment only ~33% accurate</a:t>
            </a:r>
            <a:endParaRPr lang="en-US" sz="94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 Modalities — What Each Adds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480560"/>
                <a:gridCol w="301752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use / limits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Mammography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 cGy/study; no measurable risk. Screening CC + MLO (MLO: most tissue incl. UOQ &amp; tail). Diagnostic adds 90° lateral, spot ± magnification. Signs: spiculated mass, asymmetric thickening, clustered fine microcalcifications (≤50% of non-palpable cancers)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True-positive 90%; node mets in 20% non-palpable vs 50% palpable cancers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/ DBT / CEDM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= film overall, better &lt;50 y, dense, pre/perimenopausal (DMIST). Tomosynthesis: 0.5-mm slices, ↑ detection ↓ recall; synthetic 2D-3D = less dose. Contrast mammography ≈ MRI detection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CEDM usable with pacemakers/expanders; cheaper, faster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Ultrasound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Cyst: echo-free, smooth. Benign solid: round/oval, weak echoes. Cancer: irregular walls. Abnormal node: cortical thickening, round, &gt;10 mm, lost fatty hilum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Resolves equivocal mammograms, guides biopsy; misses ≤1 cm; axilla sens 35–82%, spec 73–97%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MRI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coils + BI-RADS; MRI-only lesion → focused US → MRI-guided biopsy. Finds contralateral cancer in 5.7%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Occult primary, neoadjuvant response, APBI selection, recurrence in treated breast, high-risk screening. COMICE: no fewer re-operations; more mastectomies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Ductography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Cannulate 1 duct, 0.1–0.2 mL contrast, no compression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Papilloma = small filling defect; cancer = irregular mass / multiple defects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Tissue Diagnosis — Non-palpable &amp; Palpable Lesions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84632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Non-palpable abnormality (mass, microcalcification, distortion)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005840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078992"/>
            <a:ext cx="32918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65176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52144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17043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on US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US-guided core biopsy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74520" y="1152144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0240" y="117043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Calcification / distortion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stereotactic vacuum core; X-ray the cores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520440" y="1152144"/>
            <a:ext cx="1554480" cy="713232"/>
          </a:xfrm>
          <a:prstGeom prst="roundRect">
            <a:avLst>
              <a:gd name="adj" fmla="val 769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170432"/>
            <a:ext cx="1463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radiopaque clip at biopsy site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05840" y="1865376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1865376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0" y="1865376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" y="1938528"/>
            <a:ext cx="32918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651760" y="1938528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600200" y="20116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20299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+ concordance</a:t>
            </a:r>
            <a:endParaRPr lang="en-US" sz="1010" dirty="0"/>
          </a:p>
        </p:txBody>
      </p:sp>
      <p:sp>
        <p:nvSpPr>
          <p:cNvPr id="27" name="Shape 25"/>
          <p:cNvSpPr/>
          <p:nvPr/>
        </p:nvSpPr>
        <p:spPr>
          <a:xfrm>
            <a:off x="2651760" y="2286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5840" y="2350008"/>
            <a:ext cx="32918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5840" y="235000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2651760" y="235000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297680" y="235000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228600" y="2414016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2432304"/>
            <a:ext cx="146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Cancer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stage + biomarkers → plan ONE operation (wire/seed localisation, specimen X-ray)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1874520" y="2414016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920240" y="2432304"/>
            <a:ext cx="146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&amp; concordant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imaging follow-up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3520440" y="2414016"/>
            <a:ext cx="1554480" cy="896112"/>
          </a:xfrm>
          <a:prstGeom prst="roundRect">
            <a:avLst>
              <a:gd name="adj" fmla="val 612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6160" y="2432304"/>
            <a:ext cx="14630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Discordant / atypia / radial scar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larger sample or excision</a:t>
            </a:r>
            <a:endParaRPr lang="en-US" sz="94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694944"/>
          <a:ext cx="3657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FNA (palpable)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22-G, 10-mL syringe; suction while moving; air-dried + 95% ethanol smears; no architecture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(14-G)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Tru-Cut/automated; shows invasion + receptors; preferred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Vacuum-assisted (8–10 G)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 cores; calcifications; clip if lesion removed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Excisional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for discordant needle results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39" name="Shape 36"/>
          <p:cNvSpPr/>
          <p:nvPr/>
        </p:nvSpPr>
        <p:spPr>
          <a:xfrm>
            <a:off x="228600" y="3401568"/>
            <a:ext cx="4846320" cy="1243584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320040" y="3456432"/>
            <a:ext cx="466344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core beats open biopsy</a:t>
            </a:r>
            <a:endParaRPr lang="en-US" sz="1080" dirty="0"/>
          </a:p>
        </p:txBody>
      </p:sp>
      <p:sp>
        <p:nvSpPr>
          <p:cNvPr id="41" name="Text 38"/>
          <p:cNvSpPr/>
          <p:nvPr/>
        </p:nvSpPr>
        <p:spPr>
          <a:xfrm>
            <a:off x="301752" y="3682289"/>
            <a:ext cx="4718304" cy="93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complications, minimal scar, cheaper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definitive cancer operation can be planned from the result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mammogram + US/stereotactic sampling ≈ 100% accurate</a:t>
            </a:r>
            <a:endParaRPr lang="en-US" sz="930" dirty="0"/>
          </a:p>
        </p:txBody>
      </p:sp>
      <p:sp>
        <p:nvSpPr>
          <p:cNvPr id="42" name="Shape 39"/>
          <p:cNvSpPr/>
          <p:nvPr/>
        </p:nvSpPr>
        <p:spPr>
          <a:xfrm>
            <a:off x="5257800" y="3401568"/>
            <a:ext cx="3657600" cy="1243584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349240" y="3456432"/>
            <a:ext cx="347472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</a:t>
            </a:r>
            <a:endParaRPr lang="en-US" sz="1080" dirty="0"/>
          </a:p>
        </p:txBody>
      </p:sp>
      <p:sp>
        <p:nvSpPr>
          <p:cNvPr id="44" name="Text 41"/>
          <p:cNvSpPr/>
          <p:nvPr/>
        </p:nvSpPr>
        <p:spPr>
          <a:xfrm>
            <a:off x="5330952" y="3682289"/>
            <a:ext cx="3529584" cy="935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core ≠ no cancer (sampling error)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Discordance → MDT → image-guided or open biopsy</a:t>
            </a:r>
            <a:endParaRPr lang="en-US" sz="93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"One-step" consent for mastectomy is obsolete</a:t>
            </a:r>
            <a:endParaRPr lang="en-US" sz="93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 Algorithms — Nipple Discharge &amp; Occult Axillary Primary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658368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Nipple discharge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06240" cy="274320"/>
          </a:xfrm>
          <a:prstGeom prst="roundRect">
            <a:avLst>
              <a:gd name="adj" fmla="val 20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3268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 the discharge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331720" y="118872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4440" y="1252728"/>
            <a:ext cx="219456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34440" y="125272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429000" y="125272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31673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35024"/>
            <a:ext cx="192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Spontaneous, unilateral, single duct, age ≥40, bloody, or with mass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2423160" y="1316736"/>
            <a:ext cx="2011680" cy="868680"/>
          </a:xfrm>
          <a:prstGeom prst="roundRect">
            <a:avLst>
              <a:gd name="adj" fmla="val 6316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1335024"/>
            <a:ext cx="192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BENIGN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Bilateral, multiductal, age ≤39, milky or blue-green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1234440" y="218541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29000" y="218541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8600" y="2313432"/>
            <a:ext cx="2011680" cy="1417320"/>
          </a:xfrm>
          <a:prstGeom prst="roundRect">
            <a:avLst>
              <a:gd name="adj" fmla="val 387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331720"/>
            <a:ext cx="1920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Mammogram + US ± ductogram (papilloma = filling defect)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 the offending duct ± mass (lacrimal probe or methylene blue; wire/seed if mass &gt;2–3 cm from nipple)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423160" y="2313432"/>
            <a:ext cx="2011680" cy="1417320"/>
          </a:xfrm>
          <a:prstGeom prst="roundRect">
            <a:avLst>
              <a:gd name="adj" fmla="val 3871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331720"/>
            <a:ext cx="192024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prolactin — pituitary adenoma &lt;2% (large: optic compression, field loss, infertility); if raised → sella imaging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drugs; reassure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228600" y="37947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Haemoglobin testing helps but is also positive with papilloma/ectasia; definitive diagnosis = excision.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4709160" y="6583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metastasis, unknown primary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09160" y="914400"/>
            <a:ext cx="4206240" cy="45720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3268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harbour an occult breast cancer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(yet only 1% of breast cancers present this way)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812280" y="1371600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709160" y="1499616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151790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FNA / core of node; IHC: epithelial vs melanocytic vs lymphoid. ER/PR+ suggests (not proves) breast origin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812280" y="2066544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09160" y="2194560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212848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Search: thyroid, breast, pelvis + rectum; diagnostic mammogram, US and </a:t>
            </a: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MRI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chest X-ray, LFTs (± chest/abdomen/bone imaging if stage III extent)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12280" y="290779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709160" y="3035808"/>
            <a:ext cx="4206240" cy="713232"/>
          </a:xfrm>
          <a:prstGeom prst="roundRect">
            <a:avLst>
              <a:gd name="adj" fmla="val 769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4114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lesion found → biopsy → ALND + mastectomy, or BCS + whole-breast RT; consider chemotherapy + endocrine therapy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4206240"/>
            <a:ext cx="8686800" cy="43891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4224528"/>
            <a:ext cx="8540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not dismiss a single-duct, spontaneous or bloody discharge in a woman ≥40 as benign; do not treat an occult-primary axilla as lymphoma/unknown primary before breast MRI.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AJCC 8th Edition TNM — T, N and 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20493" y="1472184"/>
            <a:ext cx="27432" cy="27432"/>
          </a:xfrm>
          <a:prstGeom prst="ellipse">
            <a:avLst/>
          </a:prstGeom>
          <a:solidFill>
            <a:srgbClr val="C8D6EA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169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T1mi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8449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≤1 mm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198994" y="1455741"/>
            <a:ext cx="60317" cy="60317"/>
          </a:xfrm>
          <a:prstGeom prst="ellipse">
            <a:avLst/>
          </a:prstGeom>
          <a:solidFill>
            <a:srgbClr val="AFC3DE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9113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3393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&gt;1–5 mm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863780" y="1425583"/>
            <a:ext cx="120634" cy="120634"/>
          </a:xfrm>
          <a:prstGeom prst="ellipse">
            <a:avLst/>
          </a:prstGeom>
          <a:solidFill>
            <a:srgbClr val="8FA9CC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4057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T1b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58337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&gt;5–10 mm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498407" y="1365266"/>
            <a:ext cx="241269" cy="241269"/>
          </a:xfrm>
          <a:prstGeom prst="ellipse">
            <a:avLst/>
          </a:prstGeom>
          <a:solidFill>
            <a:srgbClr val="6F8FC0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99001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253281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&gt;10–20 mm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012399" y="1184314"/>
            <a:ext cx="603172" cy="603172"/>
          </a:xfrm>
          <a:prstGeom prst="ellipse">
            <a:avLst/>
          </a:prstGeom>
          <a:solidFill>
            <a:srgbClr val="3F6699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93945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948225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&gt;20–50 mm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707177" y="1123997"/>
            <a:ext cx="723806" cy="72380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1031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03320" y="22768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 mm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28600" y="67665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Diameters drawn to scale • T4 = any size with chest-wall / skin extension</a:t>
            </a:r>
            <a:endParaRPr lang="en-US" sz="75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542032"/>
          <a:ext cx="4206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3337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DCIS; Paget without underlying tumour (LCIS removed — benign)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≤20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 ≤1 • a &gt;1–5 • b &gt;5–10 • c &gt;10–20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/ T3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&gt;20–50 mm / &gt;50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wall (pectoralis adherence alone ≠ T4)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Ulceration, satellite skin nodules, peau d'orange (not inflammatory)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T4c / T4d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 / inflammatory carcinoma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694944"/>
          <a:ext cx="429768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783080"/>
                <a:gridCol w="214884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(c)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Pathological (p)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on exam/imaging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ITC ≤0.2 mm = pN0(i+); PCR-only = pN0(mol+)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ipsilateral level I–II; N1mi &gt;0.2–2 mm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pN1a 1–3 axillary (≥1 &gt;2 mm); pN1b IMN sentinel; pN1c = a + 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N2a fixed/matted I–II; N2b IMN only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pN2a 4–9 axillary; pN2b clinical IMN, axilla neg.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N3a infraclavicular; N3b IMN + axillary; N3c supraclavicular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pN3a ≥10 axillary or infraclavicular; pN3b IMN + axillary; pN3c supraclavicular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8" name="Shape 24"/>
          <p:cNvSpPr/>
          <p:nvPr/>
        </p:nvSpPr>
        <p:spPr>
          <a:xfrm>
            <a:off x="4617720" y="3401568"/>
            <a:ext cx="4297680" cy="1243584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09160" y="3456432"/>
            <a:ext cx="411480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and rules</a:t>
            </a:r>
            <a:endParaRPr lang="en-US" sz="1040" dirty="0"/>
          </a:p>
        </p:txBody>
      </p:sp>
      <p:sp>
        <p:nvSpPr>
          <p:cNvPr id="30" name="Text 26"/>
          <p:cNvSpPr/>
          <p:nvPr/>
        </p:nvSpPr>
        <p:spPr>
          <a:xfrm>
            <a:off x="4690872" y="3676294"/>
            <a:ext cx="4169664" cy="94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incl. cM0(i+) ≤0.2 mm deposits; cM1 clinical/radiologic; pM1 proven &gt;0.2 mm; "pM0" invalid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Pathological size takes precedence; (sn)/(f) = SLN or FNA/core confirmed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Supraclavicular = N3c (no longer M1); ≥10 level I–II nodes needed for accurate staging</a:t>
            </a:r>
            <a:endParaRPr lang="en-US" sz="89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Groups &amp; Staging Work-up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4343400" cy="914400"/>
        </p:xfrm>
        <a:graphic>
          <a:graphicData uri="http://schemas.openxmlformats.org/drawingml/2006/table">
            <a:tbl>
              <a:tblPr/>
              <a:tblGrid>
                <a:gridCol w="599090"/>
                <a:gridCol w="748862"/>
                <a:gridCol w="748862"/>
                <a:gridCol w="748862"/>
                <a:gridCol w="748862"/>
                <a:gridCol w="74886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2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D0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B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9C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9C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9C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IIIB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C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450592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M0. Any T / any N with M1 = stage IV (stays IV whatever the neoadjuvant response). N1mi in T2–T4 is staged as N1.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28600" y="2834640"/>
            <a:ext cx="4343400" cy="1810512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889504"/>
            <a:ext cx="416052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notes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01752" y="3110865"/>
            <a:ext cx="4215384" cy="1506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T0–T1 + N1mi = IB; in T2–T4, N1mi staged as N1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before neoadjuvant therapy stays stage IV whatever the response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Post-neoadjuvant: yc / yp prefix; ypT0 ypN0 cM0 (pCR) has no stage group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Metastases on imaging within 4 months of diagnosis (no progression, no neoadjuvant) can change the stage</a:t>
            </a:r>
            <a:endParaRPr lang="en-US" sz="900" dirty="0"/>
          </a:p>
        </p:txBody>
      </p:sp>
      <p:graphicFrame>
        <p:nvGraphicFramePr>
          <p:cNvPr id="6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694944"/>
          <a:ext cx="416052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402336"/>
                <a:gridCol w="402336"/>
                <a:gridCol w="402336"/>
                <a:gridCol w="402336"/>
                <a:gridCol w="4023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&amp; physical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Bilateral diagnostic mammogram (US as indicated)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Hormone receptor status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HER2/neu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CBC, platelets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LFTs + alkaline phosphatase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Chest radiograph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Bone scan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Abdominal CT / US / MRI (± pelvis)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B3A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4754880" y="3794760"/>
            <a:ext cx="4160520" cy="8503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28032" y="3813048"/>
            <a:ext cx="401421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Bone scan and abdominal imaging are indicated at ANY stage for symptoms or abnormal labs; routine scalene/supraclavicular biopsy is not indicated.</a:t>
            </a:r>
            <a:endParaRPr lang="en-US" sz="9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Biomarkers &amp; Prognostic / Predictive Factors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55321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4572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 / PR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every invasive cancer (core/FNA, IHC). HR+ → endocrine response; HR+ metastatic live 2–3× longer. ER &amp; PR negative → no endocrine therapy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HER2/neu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all invasive (IHC protein or FISH amplification; not RT-PCR). Overexpression → high grade, node+, poor outcome. Positive → anti-HER2: −40–50% recurrence, ~⅓ lower mortality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Ki-67 / PCNA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Proliferation; high grade, inverse to ER. IHC4 ≈ Recurrence Score but Ki-67 poorly reproducible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EGFR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Correlates with ER-negativity and p53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VEGF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recurrence node-negative; bevacizumab (E2100) PFS 5.8 → 11.3 mo, not reproduced — indication revoked 2011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bcl-2 / bax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 bcl-2, ↓ bax:bcl-2 → high grade, nodes, poor survival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694944"/>
          <a:ext cx="2971800" cy="914400"/>
        </p:xfrm>
        <a:graphic>
          <a:graphicData uri="http://schemas.openxmlformats.org/drawingml/2006/table">
            <a:tbl>
              <a:tblPr/>
              <a:tblGrid>
                <a:gridCol w="1485900"/>
                <a:gridCol w="14859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Tumour 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 factors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Nodal status, size, grade, LVI, stage, HR status, ploidy/S-phase, EIC, HER2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menopause, family history, prior BC, immunosuppression, nutrition, prior chemo/RT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943600" y="2240280"/>
            <a:ext cx="2971800" cy="1700784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35040" y="2295144"/>
            <a:ext cx="2788920" cy="192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types</a:t>
            </a:r>
            <a:endParaRPr lang="en-US" sz="1040" dirty="0"/>
          </a:p>
        </p:txBody>
      </p:sp>
      <p:sp>
        <p:nvSpPr>
          <p:cNvPr id="11" name="Text 7"/>
          <p:cNvSpPr/>
          <p:nvPr/>
        </p:nvSpPr>
        <p:spPr>
          <a:xfrm>
            <a:off x="6016752" y="2515006"/>
            <a:ext cx="2843784" cy="1398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(germline, atypia, density) • </a:t>
            </a: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</a:t>
            </a: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Prognostic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outcome regardless of therapy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response to a therapy</a:t>
            </a:r>
            <a:endParaRPr lang="en-US" sz="89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9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Therapy-deciding trio: </a:t>
            </a:r>
            <a:r>
              <a:rPr lang="en-US" sz="89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PR, HER2</a:t>
            </a:r>
            <a:endParaRPr lang="en-US" sz="890" dirty="0"/>
          </a:p>
        </p:txBody>
      </p:sp>
      <p:sp>
        <p:nvSpPr>
          <p:cNvPr id="12" name="Shape 8"/>
          <p:cNvSpPr/>
          <p:nvPr/>
        </p:nvSpPr>
        <p:spPr>
          <a:xfrm>
            <a:off x="228600" y="4023360"/>
            <a:ext cx="8686800" cy="6217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1752" y="4041648"/>
            <a:ext cx="85404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combined clinicopathologic factors alone, up to 70% of early-cancer patients get unnecessary or ineffective chemotherapy; single markers do not beat combined risk. Tools: Adjuvant! Online, Nottingham Prognostic Index, PREDICT.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Multigene Assays — Who Really Needs Chemotherapy?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&amp; Staging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694944"/>
          <a:ext cx="86868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377440"/>
                <a:gridCol w="5166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/ for whom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use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Oncotype DX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21-gene RT-PCR; node-negative, ER+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score → chemo benefit; low → endocrine alone. TAILORx: RS 0–10 → 98% 5-y OS on endocrine alone; RS 11–25 randomised. Predicts chemo benefit in postmenopausal ER+ with 1–3 nodes; changes decisions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MammaPrint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70-gene; FDA-approved; stage I–II, N0, ER+ or ER−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RASTER low-risk: 97% 5-y distant-recurrence-free. MINDACT (N0–1–3 nodes): clinical-high/genomic-low → 94.7% 5-y DMFS without chemo (non-inferior), DFS/OS higher with chemo in ITT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DCIS Score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Multigene (ECOG 5194 samples)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/ intermediate / high risk of in-breast DCIS or invasive event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28600" y="278892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Oncotype DX recurrence score — reading the result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28600" y="3072384"/>
            <a:ext cx="2377440" cy="822960"/>
          </a:xfrm>
          <a:prstGeom prst="rect">
            <a:avLst/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1752" y="3072384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0–10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therapy alone (98% 5-y OS)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51760" y="3072384"/>
            <a:ext cx="3291840" cy="822960"/>
          </a:xfrm>
          <a:prstGeom prst="rect">
            <a:avLst/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24912" y="307238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11–25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— randomised endocrine ± chemo (TAILORx)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89320" y="3072384"/>
            <a:ext cx="2834640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62472" y="3072384"/>
            <a:ext cx="2688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RS
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benefit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28600" y="4005072"/>
            <a:ext cx="8686800" cy="64008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1752" y="4023360"/>
            <a:ext cx="85404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Size and nodal status remain strong predictors of LATE recurrence (better than IHC4, Recurrence Score or PAM50). Assays add to — never replace — stage, grade and receptor status.</a:t>
            </a:r>
            <a:endParaRPr lang="en-US" sz="98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29400" y="91440"/>
            <a:ext cx="82296" cy="4663440"/>
          </a:xfrm>
          <a:prstGeom prst="rect">
            <a:avLst/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11696" y="91440"/>
            <a:ext cx="2432304" cy="4663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C T I O 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320040" y="2514600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by Stage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39319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algorithms with pitfalls: LCIS • DCIS • stage I–II • axilla • stage III • inflammatory • stage IV • recurrence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11696" y="1828800"/>
            <a:ext cx="24323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Management Map by Stage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breast cancer → define clinical STAGE + HISTOLOGY + ER/PR/HER2 + general health → multidisciplinary plan shared with the patient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0" y="1152144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52728" y="1234440"/>
            <a:ext cx="662940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2728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456432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66928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82128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8600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196F3D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/ DCIS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257300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28600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LCIS: observe / chemoprevent / bilateral mastectomy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DCIS: lumpectomy (≥2 mm) + RT, or mastectomy ± SLNB; ER+ → tamoxifen 5 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36876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21618C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82596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I–IIB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invasive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65576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436876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82596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 (lumpectomy + WBI) or mastectomy ± reconstruction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Axilla: SLNB (cN0) / ALND or neoadjuvant (cN+)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systemic therapy by subtype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45152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7D6608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90872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IIIA–IIIB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 advanced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73852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45152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staging → neoadjuvant systemic therapy → response → MRM or BCS + ALND → RT (chest wall/breast + nodes) → complete systemic/endocrine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853428" y="1316736"/>
            <a:ext cx="2057400" cy="502920"/>
          </a:xfrm>
          <a:prstGeom prst="roundRect">
            <a:avLst>
              <a:gd name="adj" fmla="val 10909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99148" y="1335024"/>
            <a:ext cx="19659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Metastatic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82128" y="181965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853428" y="1947672"/>
            <a:ext cx="2057400" cy="1600200"/>
          </a:xfrm>
          <a:prstGeom prst="roundRect">
            <a:avLst>
              <a:gd name="adj" fmla="val 3429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1965960"/>
            <a:ext cx="196596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is primary: endocrine first if HR+ and no visceral crisis; chemo if HR−/crisis/refractory; anti-HER2 if HER2+; local surgery/RT for complications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8600" y="3639312"/>
            <a:ext cx="8686800" cy="47548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3657600"/>
            <a:ext cx="85404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5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 roadmap: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5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60:60:80 by 2030</a:t>
            </a:r>
            <a:r>
              <a:rPr lang="en-US" sz="865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≥60% diagnosed at stage I–II • diagnosis + treatment start ≤60 days (tertiary work-up ≤45 d, pathology report ≤2 wk) • ≥80% complete multimodality treatment. MDT at general &amp; tertiary hospitals; MRM for stage I–II at general hospital; small early cancers &gt;90% curable.</a:t>
            </a:r>
            <a:endParaRPr lang="en-US" sz="865" dirty="0"/>
          </a:p>
        </p:txBody>
      </p:sp>
      <p:sp>
        <p:nvSpPr>
          <p:cNvPr id="37" name="Shape 35"/>
          <p:cNvSpPr/>
          <p:nvPr/>
        </p:nvSpPr>
        <p:spPr>
          <a:xfrm>
            <a:off x="228600" y="4187952"/>
            <a:ext cx="8686800" cy="45720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1752" y="4206240"/>
            <a:ext cx="8540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Never plan local therapy before stage, histology and receptors are known; systemic therapy follows biology, not stage alone; stage IV is not curable — aims are survival and quality of life.</a:t>
            </a:r>
            <a:endParaRPr lang="en-US" sz="96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 — LCIS Management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8686800" cy="457200"/>
          </a:xfrm>
          <a:prstGeom prst="roundRect">
            <a:avLst>
              <a:gd name="adj" fmla="val 12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8595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LCIS — a MARKER of risk (25–35% later invasive cancer in EITHER breast, up to 65% ductal), not an obligate precursor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First: expert pathology review (vs ADH / early invasion) + bilateral mammography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0" y="1152144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00200" y="1234440"/>
            <a:ext cx="594360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43800" y="1234440"/>
            <a:ext cx="0" cy="8229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316736"/>
            <a:ext cx="2788920" cy="100584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35024"/>
            <a:ext cx="2697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mammography + clinical exam + risk counselling; MRI in selected high-risk women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182112" y="1316736"/>
            <a:ext cx="2788920" cy="1005840"/>
          </a:xfrm>
          <a:prstGeom prst="roundRect">
            <a:avLst>
              <a:gd name="adj" fmla="val 545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335024"/>
            <a:ext cx="2697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CHEMOPREVENTION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Tamoxifen (raloxifene / AI after menopause) — consider in ALL women with LCIS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135624" y="1316736"/>
            <a:ext cx="2788920" cy="1005840"/>
          </a:xfrm>
          <a:prstGeom prst="roundRect">
            <a:avLst>
              <a:gd name="adj" fmla="val 5455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81344" y="1335024"/>
            <a:ext cx="269748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BILATERAL TOTAL MASTECTOMY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Risk-reducing option for the very high-risk / personal choice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228600" y="2450592"/>
            <a:ext cx="4251960" cy="13716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505456"/>
            <a:ext cx="4069080" cy="20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excise?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" y="2734310"/>
            <a:ext cx="4123944" cy="1060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is diffuse, multicentric (60–90%) and bilateral (50–70%)</a:t>
            </a:r>
            <a:endParaRPr lang="en-US" sz="95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is equal in both breasts → local excision adds nothing</a:t>
            </a:r>
            <a:endParaRPr lang="en-US" sz="95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removed from TNM (considered benign)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450592"/>
            <a:ext cx="4251960" cy="1371600"/>
          </a:xfrm>
          <a:prstGeom prst="rect">
            <a:avLst/>
          </a:prstGeom>
          <a:solidFill>
            <a:srgbClr val="F5EEF8"/>
          </a:solidFill>
          <a:ln w="9525">
            <a:solidFill>
              <a:srgbClr val="6C348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505456"/>
            <a:ext cx="4069080" cy="201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C34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variant — pleomorphic / florid LCIS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2734310"/>
            <a:ext cx="4123944" cy="1060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Calcifies and resembles high-grade DCIS</a:t>
            </a:r>
            <a:endParaRPr lang="en-US" sz="95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manage it like DCIS: attention to margins, consider RT with conservation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3913632"/>
            <a:ext cx="8686800" cy="73152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" y="3931920"/>
            <a:ext cx="85404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Treating classic LCIS like DCIS (re-excision for margins, RT) • unilateral mastectomy (risk is bilateral) • missing ADH or early invasion without expert review • forgetting E-cadherin: lost in lobular, retained in ductal lesions • using Gail in LCIS (not validated).</a:t>
            </a:r>
            <a:endParaRPr lang="en-US" sz="97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0 — DCIS Management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76072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DCIS — expert pathology review + bilateral mammography: grade, size, extent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1078992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152144"/>
            <a:ext cx="393192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1152144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08960" y="1152144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74920" y="1152144"/>
            <a:ext cx="0" cy="7315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225296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43584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(&gt;4 cm or &gt;1 quadrant)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Mastectomy ± SLNB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143000" y="213969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194560" y="1225296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1243584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Lumpectomy (margin ≥2 mm) + whole-breast RT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108960" y="213969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60520" y="1225296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243584"/>
            <a:ext cx="17373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LOW 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Low/int. grade ≤2.5 cm, margin ≥3 mm → excision alone may be acceptable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74920" y="2139696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" y="2267712"/>
            <a:ext cx="1828800" cy="1024128"/>
          </a:xfrm>
          <a:prstGeom prst="roundRect">
            <a:avLst>
              <a:gd name="adj" fmla="val 5357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standard: local recurrence &amp; mortality &lt;2%; SLNB because ~20% upstage to invasive and SLNB impossible later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2194560" y="2267712"/>
            <a:ext cx="1828800" cy="1024128"/>
          </a:xfrm>
          <a:prstGeom prst="roundRect">
            <a:avLst>
              <a:gd name="adj" fmla="val 5357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4028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halves recurrence in all subgroups (B-17, EORTC, UK/ANZ, Swedish); ER+ → tamoxifen 5 y (B-24)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4160520" y="2267712"/>
            <a:ext cx="1828800" cy="1024128"/>
          </a:xfrm>
          <a:prstGeom prst="roundRect">
            <a:avLst>
              <a:gd name="adj" fmla="val 5357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2286000"/>
            <a:ext cx="1737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 5194: 6.1% recurrence low/int. vs 15.3% high grade → high grade needs RT</a:t>
            </a:r>
            <a:endParaRPr lang="en-US" sz="93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6172200" y="658368"/>
          <a:ext cx="27432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228600" y="3383280"/>
            <a:ext cx="4251960" cy="914400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20040" y="3438144"/>
            <a:ext cx="406908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301752" y="3659505"/>
            <a:ext cx="4123944" cy="61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mm adequate with WBI (SSO-ASTRO-ASCO 2016); &gt;10 mm: no added RT benefit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recurrence: 1.49 (1–10 mm) vs 2.54 (&lt;1 mm) — Silverstein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63440" y="3383280"/>
            <a:ext cx="4251960" cy="914400"/>
          </a:xfrm>
          <a:prstGeom prst="rect">
            <a:avLst/>
          </a:prstGeom>
          <a:solidFill>
            <a:srgbClr val="EAFAF1"/>
          </a:solidFill>
          <a:ln w="9525">
            <a:solidFill>
              <a:srgbClr val="196F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54880" y="3438144"/>
            <a:ext cx="4069080" cy="193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96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736592" y="3659505"/>
            <a:ext cx="4123944" cy="610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Non-palpable: needle/seed localisation + specimen mammography</a:t>
            </a:r>
            <a:endParaRPr lang="en-US" sz="90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9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RT ~45% of recurrences are invasive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228600" y="4352544"/>
            <a:ext cx="8686800" cy="310896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1752" y="4370832"/>
            <a:ext cx="8540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SLNB with lumpectomy for DCIS • no tamoxifen after bilateral mastectomy • no RCT compares mastectomy vs BCS • B-24: 15% had +ve margins.</a:t>
            </a:r>
            <a:endParaRPr lang="en-US" sz="8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I–IIB — Early Invasive Cancer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806440" cy="365760"/>
          </a:xfrm>
          <a:prstGeom prst="roundRect">
            <a:avLst>
              <a:gd name="adj" fmla="val 15000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715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I–IIB: define stage, histology, ER/PR/HER2 BEFORE local therapy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27248" y="10607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1124712"/>
            <a:ext cx="3977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112471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127248" y="112471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12471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" y="1188720"/>
            <a:ext cx="1847088" cy="896112"/>
          </a:xfrm>
          <a:prstGeom prst="roundRect">
            <a:avLst>
              <a:gd name="adj" fmla="val 612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20700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Lumpectomy (no tumour on ink) + whole-breast RT ± boost — equal survival to mastectomy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1143000" y="208483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12848" y="1188720"/>
            <a:ext cx="1847088" cy="896112"/>
          </a:xfrm>
          <a:prstGeom prst="roundRect">
            <a:avLst>
              <a:gd name="adj" fmla="val 6122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58568" y="120700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Skin-/nipple-sparing; immediate reconstruction when appropriate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3127248" y="208483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197096" y="1188720"/>
            <a:ext cx="1847088" cy="896112"/>
          </a:xfrm>
          <a:prstGeom prst="roundRect">
            <a:avLst>
              <a:gd name="adj" fmla="val 6122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42816" y="120700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 → SLNB; FNA/core-proven node → ALND or neoadjuvant therapy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5120640" y="2084832"/>
            <a:ext cx="0" cy="128016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8600" y="2212848"/>
            <a:ext cx="1847088" cy="932688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231136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contraindications: prior chest RT, persistently +ve margins, multicentric disease, lupus/scleroderma; BRCA carriers not advised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2212848" y="2212848"/>
            <a:ext cx="1847088" cy="932688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58568" y="2231136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when: extensive calcifications, large central/subareolar cancer, multicentric disease, patient choice (avoids RT)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4197096" y="2212848"/>
            <a:ext cx="1847088" cy="932688"/>
          </a:xfrm>
          <a:prstGeom prst="roundRect">
            <a:avLst>
              <a:gd name="adj" fmla="val 5882"/>
            </a:avLst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42816" y="2231136"/>
            <a:ext cx="17556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therapy by biology, not stage alone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1143000" y="3145536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27248" y="3145536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120640" y="3145536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43000" y="3200400"/>
            <a:ext cx="397764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127248" y="3200400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3255264"/>
            <a:ext cx="5806440" cy="420624"/>
          </a:xfrm>
          <a:prstGeom prst="roundRect">
            <a:avLst>
              <a:gd name="adj" fmla="val 13043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27355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systemic therapy</a:t>
            </a: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ER+: endocrine • HER2+: trastuzumab-based • ER−: chemotherapy — chosen by MDT</a:t>
            </a:r>
            <a:endParaRPr lang="en-US" sz="980" dirty="0"/>
          </a:p>
        </p:txBody>
      </p:sp>
      <p:graphicFrame>
        <p:nvGraphicFramePr>
          <p:cNvPr id="36" name="Chart 0" descr=""/>
          <p:cNvGraphicFramePr/>
          <p:nvPr/>
        </p:nvGraphicFramePr>
        <p:xfrm>
          <a:off x="6172200" y="658368"/>
          <a:ext cx="2743200" cy="303580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7" name="Shape 34"/>
          <p:cNvSpPr/>
          <p:nvPr/>
        </p:nvSpPr>
        <p:spPr>
          <a:xfrm>
            <a:off x="228600" y="3749040"/>
            <a:ext cx="8686800" cy="89611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1752" y="3767328"/>
            <a:ext cx="854049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RT after lumpectomy improves SURVIVAL, not just local control (EBCTCG 15 y: −5.1% N0, −7.1% N+ mortality) • RT omission only for selected older women with small ER+ N0 tumours on endocrine therapy • nipple-sparing mastectomy is a poor choice if PMRT is planned • BCT size limits in trials: 2–2.5 cm (most), 4 cm (B-06), 5 cm (NCI).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Axilla in cN0 Disease — SLNB &amp; the Z0011 Decision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66344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Invasive cancer, clinically N0 (exam + ultrasound)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005840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115568"/>
            <a:ext cx="4663440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33856"/>
            <a:ext cx="4572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dual tracer (Tc-99m + blue dye); remove all blue nodes + all nodes &gt;10% of hottest ex-vivo count (≤4 nodes find 98% of positive SLNs)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60320" y="1682496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1746504"/>
            <a:ext cx="320040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17465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560320" y="17465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60520" y="1746504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28600" y="1810512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1828800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 −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ALND (B-32: same DFS/OS, less morbidity)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828800" y="1810512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74520" y="1828800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SLN + with BCS + WBI + systemic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omit ALND (Z0011)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3429000" y="1810512"/>
            <a:ext cx="1463040" cy="1005840"/>
          </a:xfrm>
          <a:prstGeom prst="roundRect">
            <a:avLst>
              <a:gd name="adj" fmla="val 5455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828800"/>
            <a:ext cx="13716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Z0011</a:t>
            </a: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(mastectomy, APBI, neoadjuvant, ≥3 nodes)</a:t>
            </a:r>
            <a:endParaRPr lang="en-US" sz="930" dirty="0"/>
          </a:p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completion ALND — MDT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228600" y="2907792"/>
            <a:ext cx="4663440" cy="502920"/>
          </a:xfrm>
          <a:prstGeom prst="roundRect">
            <a:avLst>
              <a:gd name="adj" fmla="val 10909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926080"/>
            <a:ext cx="45720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for SLNB:</a:t>
            </a: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inflammatory cancer • biopsy-proven nodes (→ ALND or neoadjuvant) • DCIS without mastectomy • prior axillary surgery</a:t>
            </a:r>
            <a:endParaRPr lang="en-US" sz="94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694944"/>
          <a:ext cx="38404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ALMANAC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SLNB: ↓ lymphedema, sensory loss, drain use, stay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NSABP B-32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 97%, FNR 9.7%; 26% SLN+ (&gt;60% no other +ve node); same DFS/OS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Z0010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10.5% occult IHC mets → not prognostic → no routine IHC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Z0011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91.9 vs 92.5%, DFS 82.2 vs 83.8%; lymphedema 13% vs 2%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IBCSG 23-01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Micromets: no benefit from ALND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Shape 23"/>
          <p:cNvSpPr/>
          <p:nvPr/>
        </p:nvSpPr>
        <p:spPr>
          <a:xfrm>
            <a:off x="5074920" y="2907792"/>
            <a:ext cx="3840480" cy="502920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48072" y="2962656"/>
            <a:ext cx="37124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SLNB safe in pregnancy with isotope alone; acceptable for T3 (~75% node +) and after neoadjuvant chemo (ASCO)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228600" y="3502152"/>
            <a:ext cx="8686800" cy="1143000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1752" y="3520440"/>
            <a:ext cx="854049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SLN not found → ALND • never inject blue dye subdermally (tattoo / skin necrosis); isosulfan allergy ~1:10,000; warn of blue urine • false-negatives rise with lateral tumours, prior excisional biopsy and fewer nodes removed • Z0011 limits: half the planned accrual, non-standardised tangent coverage • with Z0011, intra-operative node assessment is often skipped; nomograms estimate non-SLN risk.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Axilla Around Neoadjuvant Chemotherapy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Biopsy-proven node-positive (cN1) → CLIP the node → neoadjuvant chemotherapy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1078992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1143000"/>
            <a:ext cx="2468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86200" y="114300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" y="1207008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225296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to clinically N0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1207008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1225296"/>
            <a:ext cx="22860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nodes / progression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1618488"/>
            <a:ext cx="0" cy="11887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886200" y="1618488"/>
            <a:ext cx="0" cy="118872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173736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755648"/>
            <a:ext cx="2286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SLN surgery: dual tracer, ≥3 SLNs, retrieve the clipped node (targeted axillary dissection) → FNR 1.4–6.8% (target ≤10%)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97480" y="1737360"/>
            <a:ext cx="2377440" cy="1097280"/>
          </a:xfrm>
          <a:prstGeom prst="roundRect">
            <a:avLst>
              <a:gd name="adj" fmla="val 5000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0" y="1755648"/>
            <a:ext cx="22860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Axillary lymph node dissection (levels I–III)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417320" y="28346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86200" y="2834640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417320" y="2898648"/>
            <a:ext cx="246888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2898648"/>
            <a:ext cx="0" cy="6400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228600" y="2962656"/>
            <a:ext cx="4846320" cy="502920"/>
          </a:xfrm>
          <a:prstGeom prst="roundRect">
            <a:avLst>
              <a:gd name="adj" fmla="val 10909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980944"/>
            <a:ext cx="4754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cN0 at presentation: SLNB after chemo accepted (14 studies, 818 pts: FNR 11%, accuracy 94%) — or SLNB before chemo</a:t>
            </a:r>
            <a:endParaRPr lang="en-US" sz="95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5303520" y="658368"/>
          <a:ext cx="36118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228600" y="3566160"/>
            <a:ext cx="8686800" cy="107899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01752" y="3584448"/>
            <a:ext cx="85404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randomised trial and no long-term data yet on omitting ALND after cN1 → cN0 • if SLN not found → ALND • single-tracer mapping or &lt;3 SLNs raises FNR (Z1071 12.6% &gt; 10% target; SENTINA and SN-FNAC agree) • biopsy-proven nodes should not go straight to SLNB — use ALND or neoadjuvant therapy first.</a:t>
            </a:r>
            <a:endParaRPr lang="en-US" sz="96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IIIA / IIIB — Locally Advanced Algorithm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5120640" cy="310896"/>
          </a:xfrm>
          <a:prstGeom prst="roundRect">
            <a:avLst>
              <a:gd name="adj" fmla="val 1764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IIIA/IIIB — high risk of occult distant disease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88920" y="1005840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097280"/>
            <a:ext cx="5120640" cy="329184"/>
          </a:xfrm>
          <a:prstGeom prst="roundRect">
            <a:avLst>
              <a:gd name="adj" fmla="val 1666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1556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systemically (PET/CT or CT + bone scan) • core biopsy: ER/PR/HER2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2788920" y="142646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" y="1517904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5EEF8"/>
          </a:solidFill>
          <a:ln w="12700">
            <a:solidFill>
              <a:srgbClr val="6C34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3619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CHEMO</a:t>
            </a:r>
            <a:r>
              <a:rPr lang="en-US" sz="8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anthracycline ± taxane (HER2+: + trastuzumab ± pertuzumab)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Indolent ER+ with comorbidity → neoadjuvant / primary endocrine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88920" y="197510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" y="2066544"/>
            <a:ext cx="5120640" cy="274320"/>
          </a:xfrm>
          <a:prstGeom prst="roundRect">
            <a:avLst>
              <a:gd name="adj" fmla="val 20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0848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RESPONSE — review with the oncologist at intervals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2788920" y="2340864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63040" y="2395728"/>
            <a:ext cx="2651760" cy="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63040" y="239572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114800" y="2395728"/>
            <a:ext cx="0" cy="54864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8600" y="2450592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468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/ partial response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2880360" y="2450592"/>
            <a:ext cx="2468880" cy="274320"/>
          </a:xfrm>
          <a:prstGeom prst="roundRect">
            <a:avLst>
              <a:gd name="adj" fmla="val 20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0" y="246888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response / progression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1463040" y="2724912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114800" y="2724912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28600" y="2816352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283464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MRM, or BCS + ALND in selected IIIA responders (5-y ipsilateral control ≈95%)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2880360" y="2816352"/>
            <a:ext cx="2468880" cy="713232"/>
          </a:xfrm>
          <a:prstGeom prst="roundRect">
            <a:avLst>
              <a:gd name="adj" fmla="val 7692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283464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ALTERNATIVE systemic therapy (different class)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1463040" y="352958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114800" y="3529584"/>
            <a:ext cx="0" cy="91440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28600" y="3621024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6393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RT (breast/chest wall + supraclavicular) → complete systemic/endocrine → follow-up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2880360" y="3621024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63931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Individualise local therapy; minimal response → MRM, always followed by RT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5532120" y="694944"/>
            <a:ext cx="3383280" cy="1847088"/>
          </a:xfrm>
          <a:prstGeom prst="rect">
            <a:avLst/>
          </a:prstGeom>
          <a:solidFill>
            <a:srgbClr val="E8F4FD"/>
          </a:solidFill>
          <a:ln w="9525">
            <a:solidFill>
              <a:srgbClr val="21618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23560" y="749808"/>
            <a:ext cx="320040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216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fields after neoadjuvant chemo</a:t>
            </a:r>
            <a:endParaRPr lang="en-US" sz="1030" dirty="0"/>
          </a:p>
        </p:txBody>
      </p:sp>
      <p:sp>
        <p:nvSpPr>
          <p:cNvPr id="40" name="Text 38"/>
          <p:cNvSpPr/>
          <p:nvPr/>
        </p:nvSpPr>
        <p:spPr>
          <a:xfrm>
            <a:off x="5605272" y="968172"/>
            <a:ext cx="3255264" cy="15464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Segmental mastectomy ± ALND → breast + supraclavicular RT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Mastectomy ± ALND → chest wall + supraclavicular RT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Surgery + ALND then adjuvant chemo → chest wall + supraclavicular RT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Grossly involved IMNs → chemo + RT; no consensus for clinically negative IMNs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5532120" y="2615184"/>
            <a:ext cx="3383280" cy="1572768"/>
          </a:xfrm>
          <a:prstGeom prst="rect">
            <a:avLst/>
          </a:prstGeom>
          <a:solidFill>
            <a:srgbClr val="FDFCF0"/>
          </a:solidFill>
          <a:ln w="9525">
            <a:solidFill>
              <a:srgbClr val="7D660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2670048"/>
            <a:ext cx="3200400" cy="190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b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30" dirty="0"/>
          </a:p>
        </p:txBody>
      </p:sp>
      <p:sp>
        <p:nvSpPr>
          <p:cNvPr id="43" name="Text 41"/>
          <p:cNvSpPr/>
          <p:nvPr/>
        </p:nvSpPr>
        <p:spPr>
          <a:xfrm>
            <a:off x="5605272" y="2888412"/>
            <a:ext cx="3255264" cy="1272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 maximises distant control; RT maximises local control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 endocrine (Z1031; PEPI score guides chemo): series 5-y OS 76%</a:t>
            </a:r>
            <a:endParaRPr lang="en-US" sz="880" dirty="0"/>
          </a:p>
          <a:p>
            <a:pPr marL="114300" indent="-114300">
              <a:lnSpc>
                <a:spcPct val="100000"/>
              </a:lnSpc>
              <a:spcAft>
                <a:spcPts val="250"/>
              </a:spcAft>
              <a:buSzPct val="100000"/>
              <a:buChar char="•"/>
            </a:pPr>
            <a:r>
              <a:rPr lang="en-US" sz="88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local recurrence after BCS: cN2–N3, residual &gt;2 cm, multifocal residual, LVI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228600" y="4261104"/>
            <a:ext cx="8686800" cy="402336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01752" y="4279392"/>
            <a:ext cx="8540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3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"cure by local therapy" • RT alone without resection → more local failure (HR 1.3–1.5) • do not wait passively — some progress on chemo.</a:t>
            </a:r>
            <a:endParaRPr lang="en-US" sz="93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Inflammatory Breast Carcinoma (T4d, Stage IIIB)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754880"/>
            <a:ext cx="50292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by Stage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669280" y="4754880"/>
            <a:ext cx="20116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694944"/>
            <a:ext cx="4846320" cy="329184"/>
          </a:xfrm>
          <a:prstGeom prst="roundRect">
            <a:avLst>
              <a:gd name="adj" fmla="val 16667"/>
            </a:avLst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132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carcinoma</a:t>
            </a:r>
            <a:r>
              <a:rPr lang="en-US" sz="8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&lt;3% of breast cancers; clinical stage IIIB (T4d)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2651760" y="1024128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28600" y="1133856"/>
            <a:ext cx="4846320" cy="566928"/>
          </a:xfrm>
          <a:prstGeom prst="roundRect">
            <a:avLst>
              <a:gd name="adj" fmla="val 9677"/>
            </a:avLst>
          </a:prstGeom>
          <a:solidFill>
            <a:srgbClr val="E8F4FD"/>
          </a:solidFill>
          <a:ln w="12700">
            <a:solidFill>
              <a:srgbClr val="2161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15214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erythema with raised edge, brawny induration, peau d'orange; mimics infection. Skin biopsy → dermal lymphatic invasion. ER/HER2 status; PET-CT (25% M1 at diagnosis)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651760" y="1700784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28600" y="181051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DFCF0"/>
          </a:solidFill>
          <a:ln w="12700">
            <a:solidFill>
              <a:srgbClr val="7D66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8288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NEOADJUVANT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anthracycline-based chemotherapy (dramatic regression in up to 75%); HER2/ER-directed therapy as indicated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651760" y="2267712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28600" y="2377440"/>
            <a:ext cx="4846320" cy="329184"/>
          </a:xfrm>
          <a:prstGeom prst="roundRect">
            <a:avLst>
              <a:gd name="adj" fmla="val 16667"/>
            </a:avLst>
          </a:prstGeom>
          <a:solidFill>
            <a:srgbClr val="EAFAF1"/>
          </a:solidFill>
          <a:ln w="12700">
            <a:solidFill>
              <a:srgbClr val="196F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3957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RADICAL MASTECTOMY</a:t>
            </a: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documented response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2651760" y="2706624"/>
            <a:ext cx="0" cy="109728"/>
          </a:xfrm>
          <a:prstGeom prst="line">
            <a:avLst/>
          </a:prstGeom>
          <a:noFill/>
          <a:ln w="15875">
            <a:solidFill>
              <a:srgbClr val="1B3A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28600" y="2816352"/>
            <a:ext cx="4846320" cy="457200"/>
          </a:xfrm>
          <a:prstGeom prst="roundRect">
            <a:avLst>
              <a:gd name="adj" fmla="val 12000"/>
            </a:avLst>
          </a:prstGeom>
          <a:solidFill>
            <a:srgbClr val="FDEDE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346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Adjuvant therapy + RT to chest wall, supraclavicular, internal mammary and axillary basins → 5-y survival ≈30%; offer trials</a:t>
            </a:r>
            <a:endParaRPr lang="en-US" sz="96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57800" y="694944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Inflammatory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Neglected LABC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Dermal lymphatic invasion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Delineation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Erythema / oedema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&gt;⅓ of skin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Confined to lesion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involvement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&gt;75%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 at presentation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common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Onset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neglected</a:t>
                      </a:r>
                      <a:endParaRPr lang="en-US" sz="1200" dirty="0"/>
                    </a:p>
                  </a:txBody>
                  <a:tcPr marL="38100" marR="38100" marT="19050" marB="19050" anchor="ctr">
                    <a:lnL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C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257800" y="3017520"/>
            <a:ext cx="3657600" cy="1627632"/>
          </a:xfrm>
          <a:prstGeom prst="rect">
            <a:avLst/>
          </a:prstGeom>
          <a:solidFill>
            <a:srgbClr val="FDEDEC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30952" y="3035808"/>
            <a:ext cx="3511296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Pitfalls:</a:t>
            </a: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Treating it as mastitis/abscess delays diagnosis — biopsy any "infection" that fails antibiotics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SLNB (unreliable) • no breast conservation or skin-/nipple-sparing mastectomy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operate first: surgery alone or with RT is disappointing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A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systemically before treatment (25% already metastatic)</a:t>
            </a:r>
            <a:endParaRPr lang="en-US" sz="9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65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Management — Visual Study Deck</dc:title>
  <dc:subject>PptxGenJS Presentation</dc:subject>
  <dc:creator>Dr. Muluamlak — GSR-3</dc:creator>
  <cp:lastModifiedBy>Dr. Muluamlak — GSR-3</cp:lastModifiedBy>
  <cp:revision>1</cp:revision>
  <dcterms:created xsi:type="dcterms:W3CDTF">2026-09-28T05:24:36Z</dcterms:created>
  <dcterms:modified xsi:type="dcterms:W3CDTF">2026-09-28T05:24:36Z</dcterms:modified>
</cp:coreProperties>
</file>