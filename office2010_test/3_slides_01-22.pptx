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950" b="0" i="0" u="none" strike="noStrike">
                <a:solidFill>
                  <a:srgbClr val="1B3A6B"/>
                </a:solidFill>
                <a:latin typeface="Arial"/>
              </a:rPr>
              <a:t>Lymph flow: &gt;75% to axilla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Drainage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bubble3D val="0"/>
            <c:spPr>
              <a:solidFill>
                <a:srgbClr val="AFC3D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Axillary nodes</c:v>
                </c:pt>
                <c:pt idx="1">
                  <c:v>Internal mammary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Relative risk of later breast cancer (×)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risk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Nonproliferative</c:v>
                  </c:pt>
                  <c:pt idx="1">
                    <c:v>Sclerosing adenosis</c:v>
                  </c:pt>
                  <c:pt idx="2">
                    <c:v>Papilloma (no atypia)</c:v>
                  </c:pt>
                  <c:pt idx="3">
                    <c:v>Florid hyperplasia</c:v>
                  </c:pt>
                  <c:pt idx="4">
                    <c:v>ALH</c:v>
                  </c:pt>
                  <c:pt idx="5">
                    <c:v>ADH</c:v>
                  </c:pt>
                  <c:pt idx="6">
                    <c:v>Ductal involvement by ADH</c:v>
                  </c:pt>
                  <c:pt idx="7">
                    <c:v>LCIS</c:v>
                  </c:pt>
                  <c:pt idx="8">
                    <c:v>DCIS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1.75</c:v>
                </c:pt>
                <c:pt idx="4">
                  <c:v>4</c:v>
                </c:pt>
                <c:pt idx="5">
                  <c:v>4</c:v>
                </c:pt>
                <c:pt idx="6">
                  <c:v>7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US lifetime risk over time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risk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1970s (1/13)</c:v>
                  </c:pt>
                  <c:pt idx="1">
                    <c:v>1980 (1/11)</c:v>
                  </c:pt>
                  <c:pt idx="2">
                    <c:v>2004 (1/8)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</c:v>
                </c:pt>
                <c:pt idx="1">
                  <c:v>9.1</c:v>
                </c:pt>
                <c:pt idx="2">
                  <c:v>12.5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Remaining lifetime risk by 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risk %</c:v>
                </c:pt>
              </c:strCache>
            </c:strRef>
          </c:tx>
          <c:spPr>
            <a:solidFill>
              <a:srgbClr val="8FA9C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Newborn</c:v>
                  </c:pt>
                  <c:pt idx="1">
                    <c:v>Age 50</c:v>
                  </c:pt>
                  <c:pt idx="2">
                    <c:v>Age 70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Reduction in invasive cancer vs placebo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reduction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Tamoxifen — NSABP P-1</c:v>
                  </c:pt>
                  <c:pt idx="1">
                    <c:v>Anastrozole — IBIS-II</c:v>
                  </c:pt>
                  <c:pt idx="2">
                    <c:v>Exemestane — MAP.3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50</c:v>
                </c:pt>
                <c:pt idx="2">
                  <c:v>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Ethiopia 2020 — incidence vs mortality per 100,000: breast leads both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Incidence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Breast</c:v>
                  </c:pt>
                  <c:pt idx="1">
                    <c:v>Cervix</c:v>
                  </c:pt>
                  <c:pt idx="2">
                    <c:v>Prostate</c:v>
                  </c:pt>
                  <c:pt idx="3">
                    <c:v>Colorectum</c:v>
                  </c:pt>
                  <c:pt idx="4">
                    <c:v>Ovary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41.5</c:v>
                </c:pt>
                <c:pt idx="1">
                  <c:v>21.5</c:v>
                </c:pt>
                <c:pt idx="2">
                  <c:v>10</c:v>
                </c:pt>
                <c:pt idx="3">
                  <c:v>8.9</c:v>
                </c:pt>
                <c:pt idx="4">
                  <c:v>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Mortality</c:v>
                </c:pt>
              </c:strCache>
            </c:strRef>
          </c:tx>
          <c:spPr>
            <a:solidFill>
              <a:srgbClr val="8FA9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Breast</c:v>
                  </c:pt>
                  <c:pt idx="1">
                    <c:v>Cervix</c:v>
                  </c:pt>
                  <c:pt idx="2">
                    <c:v>Prostate</c:v>
                  </c:pt>
                  <c:pt idx="3">
                    <c:v>Colorectum</c:v>
                  </c:pt>
                  <c:pt idx="4">
                    <c:v>Ovary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24.1</c:v>
                </c:pt>
                <c:pt idx="1">
                  <c:v>16</c:v>
                </c:pt>
                <c:pt idx="2">
                  <c:v>5.9</c:v>
                </c:pt>
                <c:pt idx="3">
                  <c:v>6.8</c:v>
                </c:pt>
                <c:pt idx="4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Pattern of recurrence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recurrences %</c:v>
                </c:pt>
              </c:strCache>
            </c:strRef>
          </c:tx>
          <c:spPr>
            <a:solidFill>
              <a:srgbClr val="6C8E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Distant only</c:v>
                  </c:pt>
                  <c:pt idx="1">
                    <c:v>Local-regional only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68680"/>
            <a:ext cx="91440" cy="26517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61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Study Deck — Triple Assessment, Stage-wise Algorithms, Adjuvant Therapy &amp; Recurrence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Schwartz's Principles of Surgery • DeVita, Hellman &amp; Rosenberg's Cancer • NCCN Breast Cancer Guidelines (JNCCN) • Ethiopian National Breast Cancer Guideline 2024–2028 (MoH)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Dr. Muluamlak — GSR-3  |  EBS Unit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31520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3152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Benign Disease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anatomy • axilla • physiology • gynecomastia • infections • ANDI • benign lesions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731520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731520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73152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Genetics &amp; Pathology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models • screening • chemoprevention • BRCA • global &amp; Ethiopian epidemiology • early detection • in situ &amp; invasive 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029968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29968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2996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2121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Staging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432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• Ethiopian 60-day pathway • imaging • biopsy • nipple discharge • TNM • work-up • biomarkers • gene assays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29968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29968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02996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32120" y="2121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432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map &amp; MoH 60:60:80 roadmap • LCIS • DCIS • stage I–II • axilla • stage III • inflammatory • stage IV • recurrence •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328416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328416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2841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43000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&amp; Adjuvant Therapy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730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per operation • techniques • reconstruction • radiotherapy • chemotherapy • endocrine • anti-HER2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328416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328416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32841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532120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3730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• male • phyllodes • rare cancers • prognosis • pitfalls &amp; rapid recall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 Key Points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686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74980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cancer (16,133 cases, 2020);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 at stage III–IV → MoH 60:60:80 targets: early stage • 60-day diagnosis • treatment completion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713232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686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68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74980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drainage: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axillary nodes; remainder (mainly medial breast) → internal mammary (parasternal) nodes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499616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5506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153619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hormones: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(ducts), progesterone (lobules), prolactin (lactogenesis) are essential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499616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65506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53619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disease: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spectrum: normal → disorder → disease, tracking reproductive life and involution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4144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3225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Gail: 5-y + lifetime risk vs population — NOT for BRCA carriers or LCIS/DCIS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286000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44144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23225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≥50 y →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mortality; MRI for BRCA carriers / lifetime risk &gt;20–25%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072384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22783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31089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Core-needle biopsy is preferred — palpable or non-palpable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072384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22783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31089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local therapy: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clinical stage + histology + biomarkers (ER, PR, HER2)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858768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0142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38953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for cN0; ALND avoidable with 1–2 +SLNs + BCS + whole-breast RT + systemic therapy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3858768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142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12080" y="38953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decides local-regional and systemic therapy; sequence by patient, tumour and subtype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Benign Disease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anatomy &amp; axilla • physiology • gynecomastia • infections • ANDI • benign lesions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Therapy — From Halsted to Biology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59052"/>
            <a:ext cx="4160520" cy="0"/>
          </a:xfrm>
          <a:prstGeom prst="line">
            <a:avLst/>
          </a:prstGeom>
          <a:noFill/>
          <a:ln w="317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498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&amp; Meyer: radical mastectomy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126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155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789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Keynes: breast conservation + radium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2417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447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871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2081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Haagensen &amp; Stout: "grave signs"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8709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738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162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8372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Patey &amp; Dyson: modified radical mastectomy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5000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030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454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4664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B-04: radical vs total mastectomy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1292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6321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745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0955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Giuliano: blue-dye SLN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7583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2613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037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7247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WHI: HRT raises breast cancer risk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3875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8904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328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538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approved (adjuvant)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0166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9830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Tomosynthesis (3D) approved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63440" y="676656"/>
            <a:ext cx="4251960" cy="176479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731520"/>
            <a:ext cx="4069080" cy="19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Evolution</a:t>
            </a:r>
            <a:endParaRPr lang="en-US" sz="1025" dirty="0"/>
          </a:p>
        </p:txBody>
      </p:sp>
      <p:sp>
        <p:nvSpPr>
          <p:cNvPr id="46" name="Text 44"/>
          <p:cNvSpPr/>
          <p:nvPr/>
        </p:nvSpPr>
        <p:spPr>
          <a:xfrm>
            <a:off x="4736592" y="949135"/>
            <a:ext cx="4123944" cy="1464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&amp; Meyer (1894):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radical mastectomy + ALND I–III → superior local control, became standard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signs (1943):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 oedema, ulceration, chest-wall fixation, node &gt;2.5 cm, fixed nodes → ≥2 signs = 42% local recurrence, 2% 5-y DFS → beyond cure by surgery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Patey &amp; Dyson (1948):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MRM keeps pectoralis major; replaced Halsted in 1970s (no gain from removing it in stage I–II; stage III needed RT)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cancer is systemic at diagnosis — nodes are a marker, not a barrier</a:t>
            </a:r>
            <a:endParaRPr lang="en-US" sz="875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/ evidence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B-04 (n = 1,665)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cN0: Halsted vs total mastectomy ± RT; cN+: Halsted vs total mastectomy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survival difference in any arm — still equal at 25 years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B-06 (n = 1,851)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mastectomy vs lumpectomy vs lumpectomy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DFS, distant DFS, OS; lumpectomy alone → far more in-breast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EBCTCG overviews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Meta-analyses of local and systemic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4 local recurrences → prevent ~1 breast-cancer death (15 y). Anthracycline &gt; CMF; taxane ↓ mortality by ⅓; tamoxifen ↓ mortality up to 30% (ER+ only)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Biology era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IHC (1980s) → gene arrays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intrinsic subtypes; proportional benefit constant → treat by absolute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228600" y="4224528"/>
            <a:ext cx="8686800" cy="42062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1752" y="42428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2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B-06 caveats — palpable axillary nodes excluded; positive frozen-section margins converted to mastectomy yet analysed as BCS; in-breast recurrences were non-events for DFS. Perspective: 50% of women see a surgeon for breast disease, 25% are biopsied, 12% develop cancer.</a:t>
            </a:r>
            <a:endParaRPr lang="en-US" sz="9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Embryology &amp; Gross Anatomy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pic>
        <p:nvPicPr>
          <p:cNvPr id="7" name="Image 0" descr="/tmp/claude-0/-home-user-Phone/c7f42cbc-61a1-5785-9117-fab275c9b64e/scratchpad/rebuild65/pics/anatomy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52" y="658368"/>
            <a:ext cx="4872736" cy="19933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676656"/>
            <a:ext cx="3703320" cy="197510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731520"/>
            <a:ext cx="35204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Anatomy &amp; Nipple–Areola Complex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5285232" y="955878"/>
            <a:ext cx="3575304" cy="166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lobes; Cooper's ligaments insert perpendicularly into dermis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 2nd/3rd rib → IMF (6th/7th rib); sternal edge → anterior axillary line; base 10–12 cm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on pectoralis major, serratus, ext. oblique, rectus sheath; retromammary bursa behind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tail of Spence; </a:t>
            </a: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UOQ has most tissue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 2–4 mm (orifice 0.4–0.7 mm) → lactiferous sinus (squamous); Montgomery tubercles; smooth muscle → erection</a:t>
            </a:r>
            <a:endParaRPr lang="en-US" sz="9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24912"/>
          <a:ext cx="8686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3383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note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Mammary pit fails to elevate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of infants; congenital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breast — ridge arrest in 6th fetal week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Poland's syndrome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Hypoplasia/absence of breast + costal cartilage/rib defects + chest-wall subcutaneous hypoplasia + brachysyndactyly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Hypoplasia can also be iatrogenic (trauma, infection, RT before puberty)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Webbing across the midline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Polythelia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Accessory nipple on the milk 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 of infants; may accompany urinary/cardiovascular anomalies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Supernumerary breast on the milk 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Commonest nipple → pubis; Turner/Fleischer syndromes; axillary tissue usually bilateral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28600" y="4416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lines appear at 5–6 weeks (axilla → groin) and mostly regress; breasts identical at birth ("witch's milk"); female breast completes only in pregnancy.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Supply, Nerves &amp; Lymphatic Drainage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1323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9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 perforators (2nd–4th = medial mammary arteries); lateral branches of posterior intercostals; axillary branches — highest thoracic,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thoracic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(lateral mammary branches), pectoral branch of thoracoacromial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arteries toward axilla: internal thoracic perforators, posterior intercostals, axillary tributaries.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Batson's vertebral plexus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vertebrae, skull, pelvis, CNS metastases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Sensory nerves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cutaneous branches of intercostals 3–6; supraclavicular nerve (upper skin).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Intercostobrachial n.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(T2) cut in ALND → medial upper-arm numbness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Lymphatics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Interlobular + ductal plexus → subareolar plexus → round lateral pectoralis major, through clavipectoral fascia → external mammary nodes (some direct to subscapular/apical)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9067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state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Histology / function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Sparse, mostly ductal epithelium in loose stroma; dense tissue around TDLUs; alveolar height rises at ovulation then regresses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ducts branch, alveoli develop; lymphocytes, plasma cells, eosinophils gather in stroma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Alveolar cells rich in ER, mitochondria, Golgi: protein by merocrine, lipid by apocrine secretion; colostrum (low fat, antibody-rich) → lipid-rich milk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6172200" y="685800"/>
          <a:ext cx="2743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5"/>
          <p:cNvSpPr/>
          <p:nvPr/>
        </p:nvSpPr>
        <p:spPr>
          <a:xfrm>
            <a:off x="6172200" y="2907792"/>
            <a:ext cx="2743200" cy="173736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263640" y="2962656"/>
            <a:ext cx="25603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80" dirty="0"/>
          </a:p>
        </p:txBody>
      </p:sp>
      <p:sp>
        <p:nvSpPr>
          <p:cNvPr id="12" name="Text 7"/>
          <p:cNvSpPr/>
          <p:nvPr/>
        </p:nvSpPr>
        <p:spPr>
          <a:xfrm>
            <a:off x="6245352" y="3188513"/>
            <a:ext cx="261518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tumours may drain to internal mammary nodes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usually sequential: level I → II → III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 explain lung (axillary/intercostal) and spine (Batson) metastases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Axillary Lymph Node Groups → Surgical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pic>
        <p:nvPicPr>
          <p:cNvPr id="7" name="Image 0" descr="/tmp/claude-0/-home-user-Phone/c7f42cbc-61a1-5785-9117-fab275c9b64e/scratchpad/rebuild65/pics/axlevels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3749040" cy="28346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713232"/>
          <a:ext cx="4800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325880"/>
                <a:gridCol w="320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vein (4–6)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Medial/posterior to vein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of upper limb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mammary (5–6)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border pec. minor, with lateral thoracic vessels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breast (most)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Scapular (5–7)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wall, lateral scapular border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neck, trunk, shoulder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(3–4)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fat behind pec.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groups above + breast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Interpectoral / Rotter's (1–4)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pec. major &amp;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direct → central, subclavicular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Subclavicular / apical (6–12)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upper border of pec.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groups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228600" y="3767328"/>
            <a:ext cx="8686800" cy="86868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3785616"/>
            <a:ext cx="8540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 I = lateral/below the lower border of pectoralis minor; Level II = deep to it; Level III = medial/above its upper border. Metastasis is usually sequential I → II → III. Clinical examination of the axilla is only ~33% accurate — stage the axilla surgically or by imaging-guided biopsy.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Physiology of the Breast &amp; Gynecomastia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16052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→ GnRH (and other releasing factors)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08860" y="10058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" y="1069848"/>
            <a:ext cx="2834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54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0886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2618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+ FSH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9154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Ovary → estrogen (ductal development) + progesterone (lobular development, differentiation)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64592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0886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64592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Lactogenesis (late pregnancy, postpartum); epithelial development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06324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Oxytocin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72618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let-down: myoepithelial contraction expels milk into sinuses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28600" y="25054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E/P feed back on hypothalamus–pituitary; suckling → nipple nerves → prolactin + oxytocin release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16352"/>
          <a:ext cx="4160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+ lobular proliferation; T1–2 ducts branch; T3 colostrum; prolactin drives milk synthesis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E/P fall at delivery → prolactin acts; nipple reflex; oxytocin expels milk; weaning → atrophy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Menopause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 of ducts/alveoli; fibrous stroma → fat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0" y="676656"/>
            <a:ext cx="4343400" cy="118872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731520"/>
            <a:ext cx="4160520" cy="1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Gynecomastia — Physiological Peaks</a:t>
            </a:r>
            <a:endParaRPr lang="en-US" sz="1045" dirty="0"/>
          </a:p>
        </p:txBody>
      </p:sp>
      <p:sp>
        <p:nvSpPr>
          <p:cNvPr id="33" name="Text 30"/>
          <p:cNvSpPr/>
          <p:nvPr/>
        </p:nvSpPr>
        <p:spPr>
          <a:xfrm>
            <a:off x="4645152" y="952132"/>
            <a:ext cx="4215384" cy="885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(placental estrogen) • </a:t>
            </a: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12–15 y, often unilateral • </a:t>
            </a: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50–70 y, often bilateral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≥2 cm tissue in non-obese man; mammography/US separate it from cancer — dominant, irregular or asymmetric mass → suspect cancer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itself a cancer risk — but Klinefelter (XXY) is</a:t>
            </a:r>
            <a:endParaRPr lang="en-US" sz="895" dirty="0"/>
          </a:p>
        </p:txBody>
      </p:sp>
      <p:graphicFrame>
        <p:nvGraphicFramePr>
          <p:cNvPr id="4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920240"/>
          <a:ext cx="4343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skin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Mild, no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Moderate, no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+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+ redundancy + ptosis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487168"/>
          <a:ext cx="4343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Estrogen excess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Testicular (Leydig, Sertoli, germ-cell), adrenal, lung, HCC; thyroid; cirrhosis; re-feeding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Androgen deficiency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Senescence; Klinefelter, Kallmann, Reifenstein; orchitis, trauma, RT; renal failure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Digitalis, estrogens, steroids, marijuana, hCG; cimetidine, ketoconazole, phenytoin, spironolactone, chemo; tricyclics, verapamil…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1"/>
          <p:cNvSpPr/>
          <p:nvPr/>
        </p:nvSpPr>
        <p:spPr>
          <a:xfrm>
            <a:off x="4572000" y="3959352"/>
            <a:ext cx="4343400" cy="6858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663440" y="4014216"/>
            <a:ext cx="4160520" cy="1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5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5" dirty="0"/>
          </a:p>
        </p:txBody>
      </p:sp>
      <p:sp>
        <p:nvSpPr>
          <p:cNvPr id="38" name="Text 33"/>
          <p:cNvSpPr/>
          <p:nvPr/>
        </p:nvSpPr>
        <p:spPr>
          <a:xfrm>
            <a:off x="4645152" y="4221340"/>
            <a:ext cx="4215384" cy="39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cause (testosterone, stop drug) → progressive/unresponsive: excision, liposuction or subcutaneous mastectomy; danazol works but androgenic</a:t>
            </a:r>
            <a:endParaRPr lang="en-US" sz="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Infectious &amp; Inflammatory Disorders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Staphylococcal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aureus; point tenderness, erythema, heat; lactational in first weeks; may be deep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repeated US-guided aspiration; drain if fails / thin necrotic skin; biopsy wall if non-resolving; chronic → culture AFB, anaerobes, fungi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Streptococcal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Diffuse, superficial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compresses, IV penicillin/cephalosporin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Puerperal — epidemic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MRSA spread by suckling neonate; purulent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breastfeeding, antibiotics, surgery as needed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Puerperal — sporadic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 fissure + milk stasis → retrograde infection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breast (pump) + antibiotics → &gt;95% success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Zuska's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retro-areolar abscess; smoking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drainage; terminal duct resection can cure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Blastomycosis, sporotrichosis near NAC; Candida in folds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Antifungals; Candida: remove maceration + nystatin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Hidradenitis suppurativa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Montgomery/axillary sebaceous glands; mimics Paget's/cancer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I&amp;D; excision ± flaps/grafts if 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Mondor's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Thrombophlebitis of lateral thoracic / thoracoepigastric vein: tender cord; benign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NSAIDs + warm compresses (4–6 wk); biopsy if doubt; excise if refractory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4224528"/>
            <a:ext cx="8686800" cy="42062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42428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non-resolving or recurrent "abscess" may be cancer — biopsy the wall. Postpartum remains the commonest time for breast infection; non-lactational infection is intrinsic (periductal mastitis) or extrinsic (infected sebaceous cyst).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ANDI — Aberrations of Normal Development &amp; Involution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reproductive (15–25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&amp; stromal development; nipple eversion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Fibroadenoma; adolescent hypertrophy; nipple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Giant fibroadenoma; gigantomastia; subareolar abscess; duct fistula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reproductive (25–40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change; pregnancy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mastalgia; nodularity; bloody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Incapacitating mastalgia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 (35–55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&amp; duct involution; epithelial turnover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Macrocysts; sclerosing lesions; duct ectasia; nipple retraction;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Periductal mastitis; epithelial hyperplasia with atypia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3317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Fibroadenoma — size defines the category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2615184"/>
            <a:ext cx="2834640" cy="566928"/>
          </a:xfrm>
          <a:prstGeom prst="chevron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cm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36392" y="2615184"/>
            <a:ext cx="2834640" cy="566928"/>
          </a:xfrm>
          <a:prstGeom prst="chevron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4" name="Text 9"/>
          <p:cNvSpPr/>
          <p:nvPr/>
        </p:nvSpPr>
        <p:spPr>
          <a:xfrm>
            <a:off x="3410712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cm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44184" y="2615184"/>
            <a:ext cx="2834640" cy="566928"/>
          </a:xfrm>
          <a:prstGeom prst="chevron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cm (giant) or &gt;5 lesions/breast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" y="3310128"/>
            <a:ext cx="2834640" cy="134416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364992"/>
            <a:ext cx="265176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301752" y="3589350"/>
            <a:ext cx="2706624" cy="10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conditions follow reproductive life &amp; involution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Spectrum: normal → disorder → disease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pathogenesis + degree of abnormality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3154680" y="3310128"/>
            <a:ext cx="2834640" cy="13441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3364992"/>
            <a:ext cx="2651760" cy="1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Mastalgia &amp; Discharge</a:t>
            </a:r>
            <a:endParaRPr lang="en-US" sz="1045" dirty="0"/>
          </a:p>
        </p:txBody>
      </p:sp>
      <p:sp>
        <p:nvSpPr>
          <p:cNvPr id="20" name="Text 17"/>
          <p:cNvSpPr/>
          <p:nvPr/>
        </p:nvSpPr>
        <p:spPr>
          <a:xfrm>
            <a:off x="3227832" y="3585604"/>
            <a:ext cx="2706624" cy="1041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Premenstrual pain/nodularity = normal; &gt;1 week of cycle = disorder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bloody discharge may come from pregnancy epithelium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Fibroadenoma age 15–25; screening now finds them in older women</a:t>
            </a:r>
            <a:endParaRPr lang="en-US" sz="895" dirty="0"/>
          </a:p>
        </p:txBody>
      </p:sp>
      <p:sp>
        <p:nvSpPr>
          <p:cNvPr id="21" name="Shape 18"/>
          <p:cNvSpPr/>
          <p:nvPr/>
        </p:nvSpPr>
        <p:spPr>
          <a:xfrm>
            <a:off x="6080760" y="3310128"/>
            <a:ext cx="2834640" cy="1344168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3364992"/>
            <a:ext cx="265176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6153912" y="3589350"/>
            <a:ext cx="2706624" cy="10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 involutes too fast → micro → macrocysts (common, no treatment)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Periductal fibrosis → nipple retraction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women ≥70 y show some hyperplasia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Breast Disease — Histology Decides Cancer Risk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classification of benign lesions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197864"/>
            <a:ext cx="2834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NONPROLIFERATIVE (70%)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Cysts, apocrine metaplasia, duct ectasia, mild hyperplasia, calcifications, fibroadenoma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9154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increased risk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164592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PROLIFERATIVE, NO ATYPIA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Sclerosing adenosis, radial scar/CSL, florid ductal hyperplasia, intraductal papilloma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30886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64592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 hyperplasia 1.5–2×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306324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PROLIFERATIVE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ADH, ALH (low-grade DCIS / LCIS look-alikes)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72618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≈4× → counsel on risk reduction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22860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vs DCIS: ≤2–3 mm = ADH; &gt;3 mm = DCIS. E-cadherin is lost in lobular neoplasia, kept in most ductal lesions.</a:t>
            </a:r>
            <a:endParaRPr lang="en-US" sz="82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617720" y="685800"/>
          <a:ext cx="4297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Lesions — Features &amp; What To 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8404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Involutional, often multiple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rarely concerning; complex may hide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ectasia / periductal mastitis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Dilated subareolar ducts, thick discharge; stasis → irritant leakage → inflammation → fibrosis → retraction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Spectrum: discharge, retraction, mass,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Calcifications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benign (secretions, debris, trauma)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Suspicious: &lt;0.5 mm, varied shape/density, fine linear branching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 / adenoma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FA: abundant stroma, hormone-dependent; adenoma: sparse stroma (tubular, lactating); hamartoma 2–4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Benign; see treatment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Sclerosing adenosis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Distorted lobules ± mass; mimics cancer on exam, imaging, gross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only if imaging–pathology concordant; else excise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scar / complex sclerosing lesion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cm vs &gt;1 cm; spiculated, cancer-like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"Benign" core = discordant → vacuum-assisted or open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3–4 layers; moderate ≥5; florid fills ≥70% of lumen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Florid: risk 1.5–2×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Intraductal papilloma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ducts, usually &lt;0.5 cm; serous/bloody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added risk unless atypia; multiple papillomas can transform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Resembles low-grade DCIS; ≤2–3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excise after core; risk 4× → risk-reduction counselling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 / LCIS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units distended by monomorphic cells; E-cadherin lost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 — see LCIS algorithm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44348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"Fibrocystic disease" is a non-specific label — name the actual histology.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Treating Common Benign Problems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3949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21-G needle + 10 mL syringe (image first; most US-guided). Non-bloody → aspirate to dryness, discard, re-palpate.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Bloody → cytology.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Residual mass / mass on US → core biopsy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+ core biopsy (may skip biopsy &lt;25 y). Excision, cryoablation, vacuum excision (&lt;3 cm) or observe; &gt;2 cm often stay palpable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Sclerosing lesions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 or large-volume (stereotactic/vacuum) sampling to exclude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Periductal mastitis / subareolar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Aspirate (21-G), culture incl. anaerobes, polymicrobial antibiotics, repeat US aspiration; young → simple drainage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ducts → complete duct division; warn: altered sensation, necrosis, re-retraction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694944"/>
          <a:ext cx="3154680" cy="914400"/>
        </p:xfrm>
        <a:graphic>
          <a:graphicData uri="http://schemas.openxmlformats.org/drawingml/2006/table">
            <a:tbl>
              <a:tblPr/>
              <a:tblGrid>
                <a:gridCol w="1577340"/>
                <a:gridCol w="15773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Fistulectomy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duct excision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abscess, one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Abscess &gt;50% of areola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same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different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Mild/no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inversion / wants correction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Younger; no other discharge; no prior fistulectomy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Older; purulent discharge other ducts; recurrence after fistulectomy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3200400"/>
            <a:ext cx="3154680" cy="14447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3255264"/>
            <a:ext cx="297180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70" dirty="0"/>
          </a:p>
        </p:txBody>
      </p:sp>
      <p:sp>
        <p:nvSpPr>
          <p:cNvPr id="11" name="Text 7"/>
          <p:cNvSpPr/>
          <p:nvPr/>
        </p:nvSpPr>
        <p:spPr>
          <a:xfrm>
            <a:off x="5833872" y="3479622"/>
            <a:ext cx="3026664" cy="11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sepsis → fistulectomy at any age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sepsis or &gt;1 fistula → total duct excision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2–4 weeks of antibiotics before total duct excision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Genetics &amp; Pathology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models • screening • chemoprevention • BRCA • epidemiology • natural history • histopathology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&amp; Hormone Replacement 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↑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menarche, nulliparity, late menopause, late first birth, obesity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cycles = more estrogen; term pregnancy differentiates; post-menopause fat aromatises androstenedione → estrone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exercise, longer 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cycles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 RT for Hodgkin (75×), atomic-bomb survivors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during adolescence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(dose-related), long-term high-fat diet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estradiol / serum estrogen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WHI: 3–4× after &gt;4 y combined; E + P ↑ 26% vs placebo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in current users, rises with duration, not past users; falling HRT use → falling incidence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749040"/>
            <a:ext cx="5394960" cy="89611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3767328"/>
            <a:ext cx="5248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US lifetime risk: 12% at birth, 11% at 50 y, 7% at 70 y — the longer you live cancer-free, the lower the remaining risk. HRT gave no significant coronary or cerebrovascular protection; estrogen + progesterone is worse than other regimens.</a:t>
            </a:r>
            <a:endParaRPr lang="en-US" sz="98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806440" y="685800"/>
          <a:ext cx="3108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5806440" y="2697480"/>
          <a:ext cx="3108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440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240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(BCDDP)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menarche, age at 1st birth, biopsies, atypia, 1st-degree relatives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 &amp; lifetime risk; adapted for African American, Asian/Pacific;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excludes BRCA; not for LCIS/DCIS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1st/2nd-degree relatives + ages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by decade; ignores other factors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BRCAPRO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breast/ovarian family history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probability → age-specific risk; laborious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Tyrer–Cuzick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 + menarche, parity, menopause, atypia/LCIS, height, BMI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probability adjusted for personal factors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Manchester, BOADICEA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probability → genetic referral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694944"/>
          <a:ext cx="3063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relative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Menarche ≥14 / 12–13 / &lt;12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1.10 / 1.21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Biopsies &lt;50 y: 0 / 1 / ≥2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1.70 / 2.88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Biopsies ≥50 y: 0 / 1 / ≥2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/ 1.27 / 1.62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&lt;20 y (0/1/≥2 rel.)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2.61 / 6.80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20–24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/ 2.68 / 5.78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25–29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 / 2.76 / 4.91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≥30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 / 2.83 / 4.17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794760"/>
            <a:ext cx="8686800" cy="8503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849624"/>
            <a:ext cx="85039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depend on estimated risk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301752" y="4075481"/>
            <a:ext cx="8558784" cy="54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 use • age to start mammography / add MRI • tamoxifen chemoprevention • prophylactic mastectomy — communicate risk against competing risks and comorbidity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— Who, When &amp; With What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86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Average-risk recommendation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Biennial mammography 50–74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 (2015)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45–54 (option 40–44); ≥55 biennial or annual while life expectancy ≥10 y; no routine CBE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NCCN (as cited)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mammography ≥40 y + annual CBE + breast awareness; CBE ≥3-yearly from 20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 "high risk"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breast cancer, chest RT at young age, known/suspected pathogenic mutation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 MoH (no population mammography)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awareness + monthly BSE &gt;20 y • annual CBE by trained provider ≥30 y • diagnostic US/mammography &gt;40 y every 2 y • high risk: imaging earlier, annually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743200"/>
            <a:ext cx="2514600" cy="190195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798064"/>
            <a:ext cx="233172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harm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301752" y="3022422"/>
            <a:ext cx="2386584" cy="15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y: </a:t>
            </a: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mortality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(HIP/BCDDP 33%)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Overdiagnosis ~11% vs ~20% mortality reduction → screening continues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834640" y="2743200"/>
            <a:ext cx="2514600" cy="19019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798064"/>
            <a:ext cx="233172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&lt;50 y is debated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2907792" y="3022422"/>
            <a:ext cx="2386584" cy="15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breasts → ↓ sensitivity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positives; lower incidence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→ abnormal mammogram 3× likelier cancer at 40–49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486400" y="694944"/>
            <a:ext cx="3429000" cy="2395728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749808"/>
            <a:ext cx="32461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screening (ACS)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559552" y="975665"/>
            <a:ext cx="3300984" cy="208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≥20–25% (family-history models)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carrier or untested 1st-degree relative of carrier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RT between ages 10–30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Li-Fraumeni, Cowden, Bannayan-Riley-Ruvalcaba (or 1st-degree relative)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sensitive, density-independent; moderate specificity → more biopsies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486400" y="3163824"/>
            <a:ext cx="3429000" cy="1481328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218688"/>
            <a:ext cx="32461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5559552" y="3444545"/>
            <a:ext cx="3300984" cy="117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independently predicts risk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can supplement dense breasts — no proven mortality benefit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Chemoprevention &amp; Risk-Reducing Surgery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685800"/>
          <a:ext cx="39319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297680" y="694944"/>
            <a:ext cx="4617720" cy="177393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749808"/>
            <a:ext cx="44348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(SERM) — first proven preventive drug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4370832" y="972668"/>
            <a:ext cx="4489704" cy="14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(&gt;13,000; Gail ≥1.66% or LCIS): −49% invasive cancer — ER+ only; no mortality effect shown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Gail 5-y risk ≥1.66% age 35–59 (and older), or LCIS / ADH / ALH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Harms: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DVT ×1.6, PE ×3.0, endometrial cancer ×2.5, cataract ~2×, hot flashes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228600" y="2560320"/>
            <a:ext cx="3931920" cy="208483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615184"/>
            <a:ext cx="37490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after menopause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301752" y="2839542"/>
            <a:ext cx="3803904" cy="17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 (STAR, n = 19,747):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76% of tamoxifen efficacy, fewer adverse events, less endometrial cancer; does NOT reduce LCIS/DCIS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MAP.3 −65%; IBIS-II ~−50%; arthralgia, hot flashes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 pre/post-menopause; raloxifene or exemestane post-menopause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297680" y="2560320"/>
            <a:ext cx="4617720" cy="208483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615184"/>
            <a:ext cx="44348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surgery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4370832" y="2839542"/>
            <a:ext cx="4489704" cy="17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 mastectomy: &gt;90% risk reduction (retrospective); poor QoL data; some regret cosmetic results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carriers: ~3 years of life gained; highly effective in BRCA1 and 2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Salpingo-oophorectomy ↓ ovarian + breast cancer and breast/ovarian/all-cause mortality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benefit unproven in non-carriers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Cancer — BRCA1 vs BRCA2 &amp; Other Genes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77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17q; 22 exons; &gt;500 variants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13q; 26 exons; &gt;250 mutations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hereditary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(≥80% of hereditary ovarian)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breast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85%; average 60–70%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85%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ovarian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type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Poorly differentiated, mostly triple-negative/basal, medullary; ~66% of DCIS ER−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differentiated, HR+ more often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cancers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Ovary; possibly colon, prostate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Ovary, colon, prostate, pancreas, biliary, stomach, melanoma;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BC 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mutations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185delAG, 5382insC (Ashkenazi)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6174delT (Ashkenazi); 999del5 (Iceland)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694944"/>
          <a:ext cx="2971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33–58% by 70 y (≈BRCA2); mammogram + MRI from 30; consider RRM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PTEN (Cowden)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Thyroid, GI cancers, skin nodules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 (Li-Fraumeni)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Sarcoma, lymphoma, adrenocortical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CDH1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gastric + lobular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STK11, MLH1/MSH2, ATM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testing — use a genetic counsellor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4069080"/>
            <a:ext cx="8686800" cy="57607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4087368"/>
            <a:ext cx="8540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to 5% of breast cancers are BRCA-driven: autosomal dominant, variable penetrance, tumour-suppressor genes needing loss of both alleles (DNA repair, transcription, cell-cycle control). Sporadic 65–75%, familial 20–30%, hereditary 5–10%.</a:t>
            </a:r>
            <a:endParaRPr lang="en-US" sz="9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Testing Pathway &amp; Managing BRCA Carriers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hereditary risk: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Ashkenazi ancestry • 1st-degree relative &lt;50 y • ovarian cancer (any age) • breast + ovarian in one person • ≥2 affected relatives • bilateral BC • male BC in family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304288" y="1581912"/>
            <a:ext cx="0" cy="13716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71907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→ test an </a:t>
            </a:r>
            <a:r>
              <a:rPr lang="en-US" sz="94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r>
              <a:rPr lang="en-US" sz="94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first (Ashkenazi: 3 founder mutations first) → relatives tested for that mutation only</a:t>
            </a:r>
            <a:endParaRPr lang="en-US" sz="945" dirty="0"/>
          </a:p>
        </p:txBody>
      </p:sp>
      <p:sp>
        <p:nvSpPr>
          <p:cNvPr id="12" name="Shape 10"/>
          <p:cNvSpPr/>
          <p:nvPr/>
        </p:nvSpPr>
        <p:spPr>
          <a:xfrm>
            <a:off x="2304288" y="22219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336292"/>
            <a:ext cx="284378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04288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30752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strategies 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&lt;5%; phenocopy if affected ≥60 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(missense variants)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" y="3383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testing threshold in high-prevalence ethnic groups. US HIPAA (1996) bars treating genetic information as a pre-existing condition.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69494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risk-management strategies for carriers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343400" cy="85953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149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Surveillance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5152" y="12288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every 6 mo + mammogram yearly from 25 y; annual MRI (young dense breasts)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4572000" y="1874520"/>
            <a:ext cx="4343400" cy="859536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9293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Chemoprevention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5152" y="21432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−62% in BRCA2; no benefit in BRCA1 started ≥35 y — not uniformly advised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4572000" y="2788920"/>
            <a:ext cx="4343400" cy="859536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437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Risk-reducing mastectomy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30576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reduction; some tissue + the germline defect remain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572000" y="3703320"/>
            <a:ext cx="4343400" cy="859536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7581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Salpingo-oophorectomy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5152" y="39720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35–40 y after childbearing (ovarian risk 20–40%); ↓ ovarian + breast cancer &amp; mortality. Deferred → yearly TVUS + CA-125 from 25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228600" y="3886200"/>
            <a:ext cx="4160520" cy="75895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3904488"/>
            <a:ext cx="4014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use Gail in carriers • avoid HRT if breasts retained (no data) • a negative test in an unaffected person is uninformative unless the family mutation is known.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&amp; Natural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685800"/>
          <a:ext cx="2926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246120" y="694944"/>
            <a:ext cx="5669280" cy="195681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749808"/>
            <a:ext cx="5486400" cy="18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— global &amp; Ethiopia</a:t>
            </a:r>
            <a:endParaRPr lang="en-US" sz="1015" dirty="0"/>
          </a:p>
        </p:txBody>
      </p:sp>
      <p:sp>
        <p:nvSpPr>
          <p:cNvPr id="10" name="Text 7"/>
          <p:cNvSpPr/>
          <p:nvPr/>
        </p:nvSpPr>
        <p:spPr>
          <a:xfrm>
            <a:off x="3319272" y="965924"/>
            <a:ext cx="5541264" cy="16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2020: &gt;2.2 million cases — commonest cancer; 11.7% of new cancers and 15% of cancer deaths in women, mostly in low/middle-income countries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leading cancer — 16,133 cases (20.9% of all; ⅓ of cancers in women); mortality/incidence ratio ≈0.6 (late stage)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 present at stage III–IV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(high-income: &gt;70% at stage I–II) — low awareness, traditional medicine, misdiagnosis, distance, cost, waiting times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women: younger, more ER-negative, higher mortality; male cancer up to 6% (0.5–1% elsewhere)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lifetime risk 1 in 8; 5-y survival 63→92% (White), 46→78% (African American) with screening + adjuvant therapy</a:t>
            </a:r>
            <a:endParaRPr lang="en-US" sz="865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228600" y="2724912"/>
          <a:ext cx="29260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46120" y="2724912"/>
            <a:ext cx="5669280" cy="192024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2779776"/>
            <a:ext cx="548640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</a:t>
            </a:r>
            <a:endParaRPr lang="en-US" sz="1060" dirty="0"/>
          </a:p>
        </p:txBody>
      </p:sp>
      <p:sp>
        <p:nvSpPr>
          <p:cNvPr id="14" name="Text 10"/>
          <p:cNvSpPr/>
          <p:nvPr/>
        </p:nvSpPr>
        <p:spPr>
          <a:xfrm>
            <a:off x="3319272" y="3002636"/>
            <a:ext cx="5541264" cy="16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Untreated: median survival 2.7 y; 5-y 18%, 10-y 3.6%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Desmoplasia shortens Cooper's ligaments → dimpling; lymphatic block → peau d'orange → ulceration, satellites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Node-negative &lt;30% vs node-positive up to 75% recurrence; ~95% of deaths have distant disease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Angiogenesis at 20th doubling; implantation &gt;0.5 cm (27th); 60% of metastases within 5 y, some at 20–30 y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Sites: bone &gt; lung &gt; pleura &gt; soft tissue &gt; liver; brain more in TNBC/HER2+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Visual Study Deck</dc:title>
  <dc:subject>PptxGenJS Presentation</dc:subject>
  <dc:creator>Dr. Muluamlak — GSR-3</dc:creator>
  <cp:lastModifiedBy>Dr. Muluamlak — GSR-3</cp:lastModifiedBy>
  <cp:revision>1</cp:revision>
  <dcterms:created xsi:type="dcterms:W3CDTF">2026-09-28T05:24:36Z</dcterms:created>
  <dcterms:modified xsi:type="dcterms:W3CDTF">2026-09-28T05:24:36Z</dcterms:modified>
</cp:coreProperties>
</file>