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charts/chart12.xml" ContentType="application/vnd.openxmlformats-officedocument.drawingml.chart+xml"/>
  <Override PartName="/ppt/slides/slide60.xml" ContentType="application/vnd.openxmlformats-officedocument.presentationml.slide+xml"/>
  <Override PartName="/ppt/charts/chart13.xml" ContentType="application/vnd.openxmlformats-officedocument.drawingml.chart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charts/chart14.xml" ContentType="application/vnd.openxmlformats-officedocument.drawingml.chart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Median PFS in metastatic trials (months)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Combination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PALOMA-1</c:v>
                  </c:pt>
                  <c:pt idx="1">
                    <c:v>PALOMA-2</c:v>
                  </c:pt>
                  <c:pt idx="2">
                    <c:v>PALOMA-3</c:v>
                  </c:pt>
                  <c:pt idx="3">
                    <c:v>BOLERO-2</c:v>
                  </c:pt>
                  <c:pt idx="4">
                    <c:v>E2100 (bevacizumab)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20.2</c:v>
                </c:pt>
                <c:pt idx="1">
                  <c:v>24.8</c:v>
                </c:pt>
                <c:pt idx="2">
                  <c:v>9.2</c:v>
                </c:pt>
                <c:pt idx="3">
                  <c:v>11</c:v>
                </c:pt>
                <c:pt idx="4">
                  <c:v>11.3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8FA9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PALOMA-1</c:v>
                  </c:pt>
                  <c:pt idx="1">
                    <c:v>PALOMA-2</c:v>
                  </c:pt>
                  <c:pt idx="2">
                    <c:v>PALOMA-3</c:v>
                  </c:pt>
                  <c:pt idx="3">
                    <c:v>BOLERO-2</c:v>
                  </c:pt>
                  <c:pt idx="4">
                    <c:v>E2100 (bevacizumab)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10.2</c:v>
                </c:pt>
                <c:pt idx="1">
                  <c:v>14.5</c:v>
                </c:pt>
                <c:pt idx="2">
                  <c:v>3.8</c:v>
                </c:pt>
                <c:pt idx="3">
                  <c:v>4.1</c:v>
                </c:pt>
                <c:pt idx="4">
                  <c:v>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Effect of anti-HER2 therapy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Adjuvant 3-y DFS</c:v>
                  </c:pt>
                  <c:pt idx="1">
                    <c:v>Neoadjuvant pCR</c:v>
                  </c:pt>
                  <c:pt idx="2">
                    <c:v>ExteNET 2-y iDFS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25</c:v>
                </c:pt>
                <c:pt idx="2">
                  <c:v>91.9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anti-HER2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Adjuvant 3-y DFS</c:v>
                  </c:pt>
                  <c:pt idx="1">
                    <c:v>Neoadjuvant pCR</c:v>
                  </c:pt>
                  <c:pt idx="2">
                    <c:v>ExteNET 2-y iDFS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</c:v>
                </c:pt>
                <c:pt idx="1">
                  <c:v>66.7</c:v>
                </c:pt>
                <c:pt idx="2">
                  <c:v>94.2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SEER 5-year relative survival by stage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5-y survival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Localized (61%)</c:v>
                  </c:pt>
                  <c:pt idx="1">
                    <c:v>Regional (32%)</c:v>
                  </c:pt>
                  <c:pt idx="2">
                    <c:v>Distant (5%)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98.6</c:v>
                </c:pt>
                <c:pt idx="1">
                  <c:v>84.4</c:v>
                </c:pt>
                <c:pt idx="2">
                  <c:v>24.3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IV — Metastatic Disease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 — not curable: prolong survival, palliate, protect quality of life. RE-BIOPSY the metastasis (ER/PR/HER2 can change)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143000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25512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HR+, NO visceral crisis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(bone, soft tissue, limited visceral)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618488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82112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HR−, visceral crisis, or hormone-refractory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72000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35624" y="1207008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22529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Anatomically localised problem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525512" y="173736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FIRST (± CDK4/6 inhibitor). Symptoms alone ≠ chemo: drain a pleural effusion first → relief → endocrine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(HER2+: with anti-HER2 agents); lymphangitic spread → chemo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1847088"/>
            <a:ext cx="2788920" cy="868680"/>
          </a:xfrm>
          <a:prstGeom prst="roundRect">
            <a:avLst>
              <a:gd name="adj" fmla="val 6316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865376"/>
            <a:ext cx="2697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Individualised surgery / RT: brain mets, effusions, biliary/ureteric obstruction, (impending) fracture, cord compression, painful mets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618488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25512" y="2715768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18488" y="2775204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775204"/>
            <a:ext cx="0" cy="5943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2834640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5292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metastases: add bisphosphonate or denosumab (anti-RANKL) • Resection of primary: retrospective benefit (selection bias), ECOG E2108 randomised — decide in MDT with patient goals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28600" y="3383280"/>
            <a:ext cx="8686800" cy="126187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401568"/>
            <a:ext cx="85404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Visceral metastasis ≠ visceral crisis (crisis = immediately life-threatening organ dysfunction) • do not start chemotherapy just for symptoms — find the cause (effusion vs lymphangitic spread; same logic for pain) • do not assume receptor status of the primary — re-biopsy • clinical benefit on endocrine therapy → another endocrine line; primary progression → &lt;20% benefit from the next endocrine agent, weigh chemo • ESR1 mutations (20–30% after AI) → AI resistance.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 — Types &amp; Management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89788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recurrence after BCT or mastectomy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097280"/>
            <a:ext cx="5897880" cy="384048"/>
          </a:xfrm>
          <a:prstGeom prst="roundRect">
            <a:avLst>
              <a:gd name="adj" fmla="val 1428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5806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biopsy + re-test ER/PR/HER2 (may change) • RESTAGE (systemic imaging; MRI for the treated breast)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72968" y="14813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536192"/>
            <a:ext cx="301752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1536192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1536192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159105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09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LOCAL-REGIONAL only</a:t>
            </a:r>
            <a:r>
              <a:rPr lang="en-US" sz="9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(up to 20%)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3246120" y="1591056"/>
            <a:ext cx="2880360" cy="384048"/>
          </a:xfrm>
          <a:prstGeom prst="roundRect">
            <a:avLst>
              <a:gd name="adj" fmla="val 1428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0934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± local</a:t>
            </a:r>
            <a:r>
              <a:rPr lang="en-US" sz="9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(&gt;60% distant; ~20% both)</a:t>
            </a:r>
            <a:endParaRPr lang="en-US" sz="990" dirty="0"/>
          </a:p>
        </p:txBody>
      </p:sp>
      <p:sp>
        <p:nvSpPr>
          <p:cNvPr id="20" name="Shape 18"/>
          <p:cNvSpPr/>
          <p:nvPr/>
        </p:nvSpPr>
        <p:spPr>
          <a:xfrm>
            <a:off x="1645920" y="1975104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029968"/>
            <a:ext cx="14630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02996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77440" y="202996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8600" y="208483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mastectomy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91640" y="2084832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lumpectomy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2395728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377440" y="2395728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" y="2487168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505456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Resect the recurrence + reconstruction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if chest wall not irradiated (palliative if scope remains)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/ endocrine by receptors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1691640" y="2487168"/>
            <a:ext cx="1371600" cy="123444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2505456"/>
            <a:ext cx="1280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+ reconstruction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and antiestrogen therapy by ER/PR and HER2 status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4663440" y="197510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46120" y="2084832"/>
            <a:ext cx="2880360" cy="1636776"/>
          </a:xfrm>
          <a:prstGeom prst="roundRect">
            <a:avLst>
              <a:gd name="adj" fmla="val 335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103120"/>
            <a:ext cx="2788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Treat as </a:t>
            </a: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HR+, no crisis → endocrine (± CDK4/6)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HR− / crisis / refractory → chemo (HER2+: + anti-HER2)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problem → surgery / RT; bone → bisphosphonate / denosumab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progression: prior benefit → next endocrine line; primary progression → consider chemo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309360" y="694944"/>
            <a:ext cx="2606040" cy="302666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749808"/>
            <a:ext cx="2423160" cy="18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&amp; risk of recurrence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6382512" y="966673"/>
            <a:ext cx="2478024" cy="2727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relapse early (3–5 y); ER+ risk persists well beyond 5 y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metastases within 5 y — some at 20–30 y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Node-neg. &lt;30% vs node-pos. up to 75% recurrence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In-breast recurrence 20 y: 39.2% lumpectomy alone vs 14.3% + RT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4 local recurrences → prevent ~1 BC death</a:t>
            </a:r>
            <a:endParaRPr lang="en-US" sz="87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nodes best predict LATE recurrence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228600" y="3794760"/>
            <a:ext cx="868680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3813048"/>
            <a:ext cx="8540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treat a "recurrence" without histology and fresh receptors • restage before local salvage — isolated local disease may be the first sign of distant spread • after BCT the salvage is mastectomy (not re-lumpectomy) • after neoadjuvant BCS, recurrence is higher with cN2–N3, residual &gt;2 cm, multifocal residual or LVI.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Stage/Type → Modes of Management → Follow-up Schedule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58368"/>
          <a:ext cx="8686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74520"/>
                <a:gridCol w="178308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type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Radiotherapy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therapy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Follow-up: frequency &amp; methods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(bilateral mastectomy optional)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/ raloxifene / AI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bilateral mammogram + CBE; MRI if high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limited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Lumpectomy ≥2 mm; no 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(omit only low-grade selected)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5 y if ER+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mammogram 6–12 mo after RT then yearly (ipsilateral recurrence ~half invasive)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+ 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tamoxifen after bilateral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contralateral mammogram yearly; no routine imaging of reconstruction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I–IIB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BCT or mastectomy; SLNB (cN0) /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after BCS; PMRT if ≥4 nodes, +ve margin, 1–3 nodes premenopausal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ER/PR/HER2, size, nodes, grade, 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endocrine adherence; BMD on AI; gynae review on tamoxifen; lymphedema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IIIA/IIIB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neoadjuvant: MRM or BCS +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Always: chest wall/breast +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chemo ± anti-HER2; complete 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cardiac monitoring after anthracycline / anti-HER2 / left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after response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+ all nodal basins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anthracycline-based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STD*; high M1 risk → symptom-directed imaging early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Palliative / for complications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Palliative (bone, brain, cord)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first (HR+, no crisis); chemo; anti-HER2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+ imaging response each line; re-biopsy at progression; palliative care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Resect (post-mastectomy) / mastectomy (post-BCT)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field not irradiated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receptors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Restage for distant disease, then STD*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 carrier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RRM; RRSO at 35–40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(BRCA2)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CBE 6-monthly; mammogram + MRI yearly from 25; TVUS + CA-125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28600" y="3529584"/>
            <a:ext cx="8686800" cy="51206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" y="3547872"/>
            <a:ext cx="8540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</a:t>
            </a:r>
            <a:r>
              <a:rPr lang="en-US" sz="8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*STD = H&amp;P every 3–6 mo for 3 y, 6–12 mo in years 4–5, then yearly; monthly BSE; annual mammogram; no routine blood tests, tumour markers, bone scan, CT/PET or breast MRI when asymptomatic. Ethiopia: first 2–3 y at an oncologist-led centre, then at the nearest lower-level facility with a named focal point.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&amp; Adjuvant Therapy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per operation • techniques • reconstruction • radiotherapy • chemotherapy • endocrine • anti-HER2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Indications for Each Type of Surgery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76656"/>
          <a:ext cx="86868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206240"/>
                <a:gridCol w="2880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Indicated for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/ caution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/ vacuum biopsy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of every palpable or non-palpable lesion (preferred)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core ≠ no cancer; clip the site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 biopsy (wire/seed)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Discordant needle result; radial scar/atypia needing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first-line diagnosis; plan incision for later surgery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Breast-conserving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0–II unifocal disease in non-carriers; selected IIIA after neoadjuvant response; limited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chest RT, persistent +ve margins, multicentric, lupus/scleroderma, BRCA carrier, 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Oncoplastic BCS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must be removed; large parenchymal volume; tumour between nipple and IMF; closure would malposition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Tis–T3 with immediate reconstruction (recurrence &lt;6–8%)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reduction; cancer &gt;2–3 cm from areola, small breast, minimal ptosis, BMI &lt;40, non-smoker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PMRT, prior RT or periareolar surgery, collagen-vascular disease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 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choice (avoid RT); not excisable with good cosmesis; extensive calcifications; large central/subareolar; multicentric; extensive DCIS; risk reduction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Node-positive needing ALND; stage III after neoadjuvant; inflammatory after response; male breast cancer; non-responders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Pregnancy: MRM feasible 1st–2nd trimester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(Halsted)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never needed today (systemic therapy + 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cN0 invasive (incl. T3); mastectomy for DCIS; cN0 after neoadjuvant; pregnancy (isotope only)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Inflammatory, proven nodes, DCIS with BCS, prior axillary surgery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ALND (I–III)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 nodes (FNA/core); SLN not found; persistent nodes after neoadjuvant; outside Z0011; 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 risk ↑ with RT, obesity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axillary dissection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cN1 converting to cN0 after neoadjuvant (clipped node + SLNs)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dual tracer, ≥3 SLNs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Risk-reducing mastectomy / RRSO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 carriers (RRSO 35–40 y after childbearing); very-high-risk LCIS by choice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benefit unproven in non-carriers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— Localised Excision &amp; Breast-Conserving Surgery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Breast-conserving surgery — step sequence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SLNB first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8600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assessment can run while tumour is excised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1600200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682496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82496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Incision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682496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to NAC above; radial below; excise skin only if involved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054096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36392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Excise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136392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+ envelope of normal tissue; localise non-palpable lesion (wire, radioactive/magnetic seed, US)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4507992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90288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Specimen X-ray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590288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lesion + margins before leaving theatre; orient (sutures, clips, dyes)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961888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44184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Margins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44184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extra cavity shaves if close; send ER/PR/HER2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7415784" y="1097280"/>
            <a:ext cx="82296" cy="0"/>
          </a:xfrm>
          <a:prstGeom prst="line">
            <a:avLst/>
          </a:prstGeom>
          <a:noFill/>
          <a:ln w="15875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0" y="932688"/>
            <a:ext cx="137160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932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Close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498080" y="1298448"/>
            <a:ext cx="1371600" cy="987552"/>
          </a:xfrm>
          <a:prstGeom prst="roundRect">
            <a:avLst>
              <a:gd name="adj" fmla="val 5556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1316736"/>
            <a:ext cx="1280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Cautery/ligatures; 3-0 absorbable deep; 4-0/5-0 subcuticular; drain rarely</a:t>
            </a:r>
            <a:endParaRPr lang="en-US" sz="94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95728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 margin</a:t>
                      </a:r>
                      <a:endParaRPr lang="en-US" sz="87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stage I–II + WBI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tumour on ink" — wider margins do not lower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+ WBI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obtain negative margin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4572000" y="2395728"/>
            <a:ext cx="4343400" cy="137160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2450592"/>
            <a:ext cx="41605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Incision rules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45152" y="2671953"/>
            <a:ext cx="4215384" cy="106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Circumareolar for subareolar / near-NAC lesions; elsewhere along skin tension lines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radial incisions in upper half (NAC pulled up) and curvilinear in lower half (NAC pulled down)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biopsy scar can be excised separately at mastectomy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28600" y="3401568"/>
            <a:ext cx="4206240" cy="124358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" y="3456432"/>
            <a:ext cx="402336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301752" y="3677793"/>
            <a:ext cx="4078224" cy="93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= excision with margin + adjuvant RT + nodal assessment (segmental/partial mastectomy, lumpectomy, WLE, tylectomy)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DCIS: excision + RT, no nodal assessment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572000" y="3840480"/>
            <a:ext cx="4343400" cy="80467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45152" y="3858768"/>
            <a:ext cx="4197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Excisional biopsy is for discordant needle results only • never do a "one-step" frozen-section mastectomy • always confirm the target on specimen radiography.</a:t>
            </a:r>
            <a:endParaRPr lang="en-US" sz="97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 — Sentinel Lymph Node Biopsy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" y="69494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713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tracer:</a:t>
            </a:r>
            <a:r>
              <a:rPr lang="en-US" sz="8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Tc-99m sulfur colloid (0.5 mCi same day / 2.5 mCi day before; peritumoral, around cavity, subareolar or subdermal) + blue dye 3–5 mL (parenchymal/subareolar)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28600" y="129844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" y="124358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261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Gamma probe transcutaneously; lymphoscintigraphy optional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28600" y="184708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179222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1810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3–4 cm, in line with a future ALND incision, low axilla below hairline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" y="234086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3591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node: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Divide axillary fascia, follow blue lymphatics; signal rises near node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28600" y="294436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" y="288950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9077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10-s in-vivo count → remove → 10-s ex-vivo count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28600" y="3493008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" y="3438144"/>
            <a:ext cx="4754880" cy="493776"/>
          </a:xfrm>
          <a:prstGeom prst="roundRect">
            <a:avLst>
              <a:gd name="adj" fmla="val 1111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rule: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 all blue nodes + all nodes &gt;10% of hottest ex-vivo count; re-check bed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669280" y="694944"/>
            <a:ext cx="3246120" cy="146304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749808"/>
            <a:ext cx="306324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42432" y="971169"/>
            <a:ext cx="3118104" cy="115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tracer &gt; either alone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Meta-analysis: sensitivity 93%, FNR 7%, NPV 94%, accuracy 95%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SLNs find 98% of positive SLNs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2231136"/>
            <a:ext cx="3246120" cy="17830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286000"/>
            <a:ext cx="306324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rise with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42432" y="2507361"/>
            <a:ext cx="3118104" cy="1479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tumours; prior excisional biopsy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nodes: 1 → 17.7%, 2 → 10%, 3 → 6.9%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Extra-axillary SLN 1.4%: 0% subareolar vs 20% peritumoral injection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IMN drainage predicts worse distant DFS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4050792"/>
            <a:ext cx="8686800" cy="59436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069080"/>
            <a:ext cx="8540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inject blue dye subdermally (tattooing/skin necrosis) or into the biopsy cavity • allergy ~1 in 10,000; warn of blue urine • routine IHC of negative SLNs is not warranted.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Mastectomy — What Each Operation Removes &amp; MRM Landmarks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572000" cy="914400"/>
        </p:xfrm>
        <a:graphic>
          <a:graphicData uri="http://schemas.openxmlformats.org/drawingml/2006/table">
            <a:tbl>
              <a:tblPr/>
              <a:tblGrid>
                <a:gridCol w="1116938"/>
                <a:gridCol w="536130"/>
                <a:gridCol w="446775"/>
                <a:gridCol w="536130"/>
                <a:gridCol w="491453"/>
                <a:gridCol w="521238"/>
                <a:gridCol w="461668"/>
                <a:gridCol w="4616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tissue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Nipple–areola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I nodes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 II–III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Pec. minor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Pec. major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Skin-sparing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Nipple-sparing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(simple)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simple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†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Halsted radical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61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removed  •  ✓ preserved  •  – not part of the operation (axilla staged separately: SLNB or ALND)  •  ÷ † Patey removed pectoralis minor; most surgeons now divide only its tendon</a:t>
            </a:r>
            <a:endParaRPr lang="en-US" sz="73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694944"/>
          <a:ext cx="397764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29535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radical (Patey) mastectomy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Latissimus (lateral), sternal midline, subclavius, 2–3 cm below IMF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flaps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mm (skin + tela subcutanea)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with pectoralis major fascia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lateral axillary vein; clear anterior/inferior surfaces; level I → II → III lateral to medial; divide pec. minor tendon near coracoid for apex; medial limit = Halsted's ligament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Thoracodorsal bundle; long thoracic nerve (winged scapula); pectoral nerves. Intercostobrachial often sacrificed → arm numbness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154680"/>
            <a:ext cx="4572000" cy="149047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3209544"/>
            <a:ext cx="43891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Nipple-sparing — select carefully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01752" y="3430905"/>
            <a:ext cx="4443984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risk reduction; for cancer: tumour &gt;2–3 cm from areola, small breast, minimal ptosis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periareolar surgery or RT, BMI &lt;40, non-smoker, no collagen-vascular disease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does not go with NAC preservation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4059936"/>
            <a:ext cx="3977640" cy="585216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10912" y="4078224"/>
            <a:ext cx="3831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Skin-sparing mastectomy: recurrence &lt;6–8% for Tis–T3 — similar to standard mastectomy.</a:t>
            </a:r>
            <a:endParaRPr lang="en-US" sz="97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Complications &amp; Reconstruction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251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 / prevention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Commonest, up to 30%; closed suction drains; remove at &lt;30 mL/day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 infection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Infrequent, mostly flap necrosis → culture, debride, antibiotics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Haemorrhage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Rare; early re-exploration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 after MRM (50–60% with RT); risk: extensive ALND, RT, +ve nodes, obesity → physio, sleeves, decongestive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SLNB alone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 1%, seroma 7.1%, haematoma 1.4%; paresthesia 8.6%, ↓ motion 3.8%, arm &gt;2 cm 6.9%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694944"/>
            <a:ext cx="425196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713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— timing follows the need for RT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6784848" y="10058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1069848"/>
            <a:ext cx="28803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4924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784848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229600" y="10698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63440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stage / risk-reducing: skin-sparing, one operation, cheaper, psychological benefit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99048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 EXPECTED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expander (deflate for RT) → definitive 6–12 mo after RT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34656" y="1133856"/>
            <a:ext cx="1371600" cy="1298448"/>
          </a:xfrm>
          <a:prstGeom prst="roundRect">
            <a:avLst>
              <a:gd name="adj" fmla="val 422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0376" y="1152144"/>
            <a:ext cx="1280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 → after adjuvant RT (RT to reconstruction = worse cosmesis)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2523744"/>
            <a:ext cx="4251960" cy="212140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2578608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736592" y="2804465"/>
            <a:ext cx="4123944" cy="181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 / expander, or autologous: pedicled TRAM, free TRAM / DIEP (deep inferior epigastric), latissimus ± implant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defect: pedicled latissimus (thoracodorsal); skin graft tolerates RT but poor take may delay RT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228600" y="2788920"/>
            <a:ext cx="4251960" cy="9144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284378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Chest-wall resection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01752" y="306514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ribs → soft-tissue cover only (scar stabilises)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 ribs → prosthetic stabilisation + latissimus or TRAM flap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3794760"/>
            <a:ext cx="425196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1752" y="3813048"/>
            <a:ext cx="41056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place a definitive implant reconstruction when PMRT is likely • plan the mastectomy incision around a future ALND/reconstruction.</a:t>
            </a:r>
            <a:endParaRPr lang="en-US" sz="97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Radiotherapy — General &amp; Special Indications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76656"/>
          <a:ext cx="5577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2519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 /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(invasive)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Whole-breast RT ± boost for all — halves recurrence, improves 15-y survival (~⅙); 50 Gy over 5–6 wk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(DCIS)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WBI in all subgroups; omit only selected low/intermediate grade (margin ≥3 mm)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Post-mastectomy (PMRT)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+ve margin; ≥4 +ve nodes; 1–3 nodes in premenopausal → chest wall + supraclavicular (EBCTCG supports 1–3 nodes; SLN-era → MDT)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IIIA/IIIB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after surgery: breast or chest wall + supraclavicular; grossly involved IMN →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+ supraclavicular + internal mammary + axillary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axilla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Tangential WBI (covers low axilla) replaces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recurrence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if not previously irradiated (palliative if scope remains)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Palliation: brain, cord compression, painful/unstable bone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676656"/>
            <a:ext cx="2926080" cy="20116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731520"/>
            <a:ext cx="27432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6062472" y="949884"/>
            <a:ext cx="2798064" cy="171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during pregnancy — defer until after delivery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chest RT, lupus, scleroderma: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relative contraindication to BCT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NSM / reconstruction: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harms NAC and cosmesis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for high local-regional risk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5989320" y="2761488"/>
            <a:ext cx="2926080" cy="188366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816352"/>
            <a:ext cx="27432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omission after BCS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6062472" y="3034716"/>
            <a:ext cx="2798064" cy="158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 y, T1N0, ER+ on tamoxifen (CALGB 9343): 2% vs 10% at 10 y, no survival difference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PRIME-2 (≥65 y, ER+, N0, ≤3 cm): 1.3% vs 4.1%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continue endocrine therapy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Partial Breast Irradiation (APBI) — Selection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88920" cy="384048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≥60 y • unifocal T1 • ER-positive • no LVI • margins ≥2 mm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731520"/>
            <a:ext cx="2788920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lobular • 2.1–3 cm • ER-negative • focal LVI • margins &lt;2 mm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731520"/>
            <a:ext cx="2788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731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UNSUITABLE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6128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T3/T4 • multifocal or multicentric • extensive LVI • positive margins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240280"/>
            <a:ext cx="425196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95144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01752" y="2521001"/>
            <a:ext cx="4123944" cy="106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twice daily, lower total dose (vs 50 Gy ± boost over 5–6 wk)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Brachytherapy, 3D-conformal external beam or IMRT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Recurrences mostly at/near the tumour bed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4251960" cy="13716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295144"/>
            <a:ext cx="406908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736592" y="2521001"/>
            <a:ext cx="4123944" cy="1063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TARGIT (n = 3,451, intra-operative RT): 3.3% vs 1.3% recurrence at 2.4 y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NSABP B-39 / RTOG 04-13 (WBI vs APBI) awaited at time of writing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helps select patients for partial-breast RT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8686800" cy="8686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721608"/>
            <a:ext cx="8540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APBI only for highly selected low-risk patients, per guidelines or within trials • do not offer it outside Z0011-type settings where the tangents are relied on to treat the low axilla.</a:t>
            </a:r>
            <a:endParaRPr lang="en-US" sz="9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Chemotherapy — General &amp; Special Indications (Adjuvant)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5544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/ nodes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HR-positive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HR-negative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types*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≤0.5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no chemo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96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benefit — no chemo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0.6–1.0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chemo only with adverse features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if adverse features (HR− counts)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N0, &gt;1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 ± chemo — 21-gene score decides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7D66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Endocrine; chemo if &gt;3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Node-positive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endocrine (RS may guide 1–3 nodes, postmenopausal)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endocrine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43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*Tubular, mucinous, medullary (usually strongly ER+). Adverse features = LVI, high nuclear/histologic grade, HER2 overexpression, HR-negative. HER2+ → add trastuzumab-based regimen.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5989320" y="694944"/>
            <a:ext cx="2926080" cy="243230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749808"/>
            <a:ext cx="274320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 — consider chemo if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6062472" y="969670"/>
            <a:ext cx="2798064" cy="2130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Node-positive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ER-negative / triple-negative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HER2-positive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N0 &gt;5 mm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LVI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Adjuvant! mortality &gt;10%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10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21-gene distant relapse &gt;15% at 10 y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228600" y="3200400"/>
            <a:ext cx="2834640" cy="144475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indications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30175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III, esp. ER-negative; inflammatory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for lumpectomy (B-18: more BCS)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/ TNBC — pCR highest; cN1 to downstage axilla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3154680" y="3200400"/>
            <a:ext cx="2834640" cy="144475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conditions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322783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&gt;70: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definitive data (benefit proven ≤70 y)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avoid 1st trimester (12% defects); 2nd–3rd safe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HR−, large, many nodes, locally advanced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080760" y="3200400"/>
            <a:ext cx="2834640" cy="144475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255264"/>
            <a:ext cx="265176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disease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153912" y="3473628"/>
            <a:ext cx="2706624" cy="114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HR-negative; visceral crisis; hormone-refractory; lymphangitic spread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single agents by response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Chemotherapy Regimens &amp; Neoadjuvant Response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931920"/>
                <a:gridCol w="3931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HER2-negative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Dose-dense AC → paclitaxel 2-weekly; dose-dense AC → weekly paclitaxel; TC (docetaxel + cyclophosphamide)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paclitaxel + trastuzumab ± pertuzumab; TCH (docetaxel, carboplatin, trastuzumab ± pertuzumab)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CMF; AC → 3-weekly docetaxel; AC → weekly paclitaxel; TAC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→ docetaxel + trastuzumab ± pertuzumab; TC + trastuzumab; FEC → taxane + trastuzumab + pertuzumab; paclitaxel +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190195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doxorubicin, C = cyclophosphamide, E = epirubicin, F = 5-FU, M = methotrexate, T = taxane; → = followed by. Current lists differ — check guidelines.</a:t>
            </a:r>
            <a:endParaRPr lang="en-US" sz="760" dirty="0"/>
          </a:p>
        </p:txBody>
      </p:sp>
      <p:sp>
        <p:nvSpPr>
          <p:cNvPr id="9" name="Shape 6"/>
          <p:cNvSpPr/>
          <p:nvPr/>
        </p:nvSpPr>
        <p:spPr>
          <a:xfrm>
            <a:off x="228600" y="2194560"/>
            <a:ext cx="2834640" cy="2450592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vs adjuvant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30175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(T3/T4): best with surgery between courses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B-18: same DFS/OS, more lumpectomies, fewer +ve nodes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recurrence ↑ only when RT replaced surgery; biology &amp; stage drive recurrence, not timing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3154680" y="2194560"/>
            <a:ext cx="2834640" cy="24505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response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322783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→ better survival; RCB-0 to 3 predicts 10-y RFS in TNBC, ER+, HER2+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on treatment = worst prognosis → switch class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used for accelerated approval — not proven surrogate for DFS/OS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6080760" y="2194560"/>
            <a:ext cx="2834640" cy="245059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249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responds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6153912" y="2469286"/>
            <a:ext cx="2706624" cy="214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pCR &lt;10%; lobular &lt;3%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ER− pCR ≈3× ER+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HER2+: trastuzumab + pertuzumab ↑ pCR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advanced: anthracycline ± taxane → surgery → RT</a:t>
            </a:r>
            <a:endParaRPr lang="en-US" sz="89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Hormonal (Endocrine) Therapy — Indications &amp; Choice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48640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ER/PR-positive invasive cancer (response &gt;60% vs &lt;10% if HR-negative)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71800" y="10241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088136"/>
            <a:ext cx="37490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08813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2860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× 5 y (↓ mortality ⅓, carry-over benefit; ↓ contralateral 39%)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(&lt;40 y, node+, needed chemo): ovarian suppression + exemestane (SOFT/TEXT DFS 93 vs 89%)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210312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POSTMENOPAUSAL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10312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Aromatase inhibitor first-line (anastrozole, letrozole, exemestane): −30% recurrence, −15% 10-y mortality vs tamoxifen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bone; arthralgia common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3977640" y="1152144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170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977640" y="1444752"/>
            <a:ext cx="1737360" cy="1572768"/>
          </a:xfrm>
          <a:prstGeom prst="roundRect">
            <a:avLst>
              <a:gd name="adj" fmla="val 3488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463040"/>
            <a:ext cx="1645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10 y (ATLAS, aTTom) or extended letrozole (MA-17R, B-42: ↑DFS, no OS gain) — best for node+, chemo-treated</a:t>
            </a:r>
            <a:endParaRPr lang="en-US" sz="91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694944"/>
          <a:ext cx="30175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5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flashes, thrombosis (&lt;3%), cataract, endometrial cancer (long use), bone pain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loss/fracture (bisphosphonate), arthralgia; less endometrial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897880" y="2194560"/>
            <a:ext cx="3017520" cy="2450592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89320" y="2249424"/>
            <a:ext cx="283464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indications</a:t>
            </a:r>
            <a:endParaRPr lang="en-US" sz="1030" dirty="0"/>
          </a:p>
        </p:txBody>
      </p:sp>
      <p:sp>
        <p:nvSpPr>
          <p:cNvPr id="29" name="Text 26"/>
          <p:cNvSpPr/>
          <p:nvPr/>
        </p:nvSpPr>
        <p:spPr>
          <a:xfrm>
            <a:off x="5971032" y="2467788"/>
            <a:ext cx="2889504" cy="2149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ER+ DCIS: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 5 y (not after bilateral mastectomy)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Gail ≥1.66%, LCIS, ADH/ALH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elderly/unfit, indolent ER+ LABC, lobular (IMPACT BCS 44% AI vs 31% tamoxifen)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BC: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~80% HR+ → tamoxifen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HR+ without crisis: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endocrine first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228600" y="3108960"/>
            <a:ext cx="5486400" cy="15361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" y="3127248"/>
            <a:ext cx="5340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endocrine therapy if ER AND PR negative • AIs alone are not for premenopausal women (need ovarian suppression) • re-biopsy metastases — receptors change • ovarian suppression adds little without chemotherapy-level risk • B-14: &gt;5 y tamoxifen showed no gain (short follow-up) — later ATLAS showed benefit from years 10–15.</a:t>
            </a:r>
            <a:endParaRPr lang="en-US" sz="97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Endocrine Therapy in Metastatic Disease &amp; Ovarian Suppression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251960" cy="237744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(postmenopausal ER+/HER2−)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301752" y="969670"/>
            <a:ext cx="4123944" cy="207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AI, or palbociclib + letrozole (ribociclib, abemaciclib also approved)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progression: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palbociclib + fulvestrant (premenopausal + goserelin); abemaciclib ± fulvestrant; everolimus + exemestane (mTOR)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Premenopausal, endocrine-naive: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tamoxifen, or ovarian suppression/ablation + AI ± CDK4/6i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tamoxifen/toremifene, fulvestrant, megestrol, fluoxymesterone, high-dose ethinyl estradiol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228600" y="3145536"/>
            <a:ext cx="4251960" cy="1499616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00400"/>
            <a:ext cx="406908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Ovarian ablation / suppression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301752" y="3420262"/>
            <a:ext cx="4123944" cy="119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Oophorectomy, ovarian RT or GnRH agonist (goserelin, leuprolide)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Goserelin + tamoxifen beat CMF in ER+ premenopausal early cancer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SOFT/TEXT: benefit mainly &lt;40 y, node+, chemo-treated; no OS difference</a:t>
            </a:r>
            <a:endParaRPr lang="en-US" sz="89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663440" y="658368"/>
          <a:ext cx="4251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663440" y="3566160"/>
            <a:ext cx="4251960" cy="10789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621024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736592" y="3839388"/>
            <a:ext cx="4123944" cy="77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 → next endocrine line likely works; de-novo progression → &lt;20% benefit, weigh chemo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ESR1 mutation (20–30% after AI) → AI resistance; bevacizumab indication revoked</a:t>
            </a:r>
            <a:endParaRPr lang="en-US" sz="8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Anti-HER2 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&amp; Adjuvant Therapy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669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B-31/N9831: 3-y DFS 75 → 87% (HR 0.48), mortality −33%.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year = standard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 y more toxic; 6 mo not non-inferior). With taxane, NOT with anthracycline (cardiotoxicity). BCIRG 006: TCH ≈ AC-TH (less leukaemia/heart failure)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25 → 66.7% with paclitaxel → FEC-75; cardiac function preserved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HER2–HER3 dimerisation. Metastatic 1st line + trastuzumab + docetaxel; neoadjuvant HER2+ &gt;2 cm or N+ (NeoSphere ↑pCR ~17%; TRYPHAENA 57–66%); APHINITY iDFS events 7.1 vs 8.7%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Lapatinib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HER2/EGFR TKI; + capecitabine metastatic; adjuvant inferior to trastuzumab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T-DM1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Antibody–drug conjugate for metastatic disease after trastuzumab + taxane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Neratinib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ExteNET: 1 y after trastuzumab → 2-y iDFS 94.2 vs 91.9%; HER2-mutant tumours benefit 36%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6080760" y="658368"/>
          <a:ext cx="2834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080760" y="3337560"/>
            <a:ext cx="2834640" cy="1307592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72200" y="3392424"/>
            <a:ext cx="265176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</a:t>
            </a:r>
            <a:endParaRPr lang="en-US" sz="1040" dirty="0"/>
          </a:p>
        </p:txBody>
      </p:sp>
      <p:sp>
        <p:nvSpPr>
          <p:cNvPr id="11" name="Text 7"/>
          <p:cNvSpPr/>
          <p:nvPr/>
        </p:nvSpPr>
        <p:spPr>
          <a:xfrm>
            <a:off x="6153912" y="3612286"/>
            <a:ext cx="2706624" cy="100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HER2-positive invasive cancer (IHC 3+ / FISH amplified)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HER2+ adjuvant: add pertuzumab</a:t>
            </a:r>
            <a:endParaRPr lang="en-US" sz="89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Situations &amp; 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• male breast cancer • phyllodes • rare cancers • prognosis • pitfalls &amp; rapid recall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 in Pregnancy &amp; Lactation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Pregnancy-associated cancer — 1 in 3,000 pregnancies; mean age 34; nodes positive in up to 75%; presents late (hormone-rich breast masks it)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0" y="1042416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521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704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ultrasound + needle biopsy (&lt;25% of nodules are cancer; ~30% of benign = galactocele, lobular hyperplasia, lactating adenoma, mastitis). Mammography rarely (shield). Work-up: CBC, chest X-ray (shielded), LFTs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572000" y="160934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167335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18488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25512" y="167335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1st–2nd TRIMESTER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radical mastectomy (1st-trimester anaesthesia ↑ abortion risk)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182112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TRIMESTER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+ axillary dissection; radiation after delivery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35624" y="1737360"/>
            <a:ext cx="2788920" cy="960120"/>
          </a:xfrm>
          <a:prstGeom prst="roundRect">
            <a:avLst>
              <a:gd name="adj" fmla="val 5714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755648"/>
            <a:ext cx="2697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1st trimester (12% birth defects); 2nd/3rd: no teratogenicity → neoadjuvant approach possible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4251960" cy="9144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71216"/>
            <a:ext cx="406908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301752" y="3094076"/>
            <a:ext cx="4123944" cy="6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with isotope alone is safe • suppress lactation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for stage, prognosis equals non-pregnant women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4663440" y="2816352"/>
            <a:ext cx="4251960" cy="9144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71216"/>
            <a:ext cx="406908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4736592" y="3094076"/>
            <a:ext cx="4123944" cy="6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is NEVER given during pregnancy; no chemo in 1st trimester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delay core biopsy of a pregnancy "lump"; isotope-only SLNB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228600" y="3803904"/>
            <a:ext cx="8686800" cy="84124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58768"/>
            <a:ext cx="850392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presentation is late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301752" y="4081628"/>
            <a:ext cx="8558784" cy="5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engorgement and density mask early cancers — any persistent mass needs imaging and core biopsy</a:t>
            </a:r>
            <a:endParaRPr lang="en-US" sz="91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Breast Cancer, Phyllodes &amp; Rare Tumours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251960" cy="210312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breast cancer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01752" y="968172"/>
            <a:ext cx="4123944" cy="180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of breast cancers; peak 6th decade; gynecomastia precedes in 20%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radiation, estrogen, testicular feminisation, Klinefelter, BRCA2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&gt;85%, DCIS &lt;15%; presents later (II–IV); stage-for-stage same survival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usually MRM; SLNB accurate; RT if high local risk; ~80% HR+ → tamoxifen; chemo if HR−, large, many nodes, LABC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63440" y="694944"/>
            <a:ext cx="4251960" cy="210312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49808"/>
            <a:ext cx="406908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Phyllodes tumour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4736592" y="968172"/>
            <a:ext cx="4123944" cy="180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/ borderline / malignant; leaf-like cut surface; cellular monoclonal stroma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and necrosis do not grade; malignant: sarcomatous elements, mitoses, invasive margins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wide excision with normal margin; malignant → re-excise to 1 cm; large → mastectomy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axillary dissection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(nodal mets rare)</a:t>
            </a:r>
            <a:endParaRPr lang="en-US" sz="88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871216"/>
          <a:ext cx="8686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tumour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 metaplasia; regional mets 25%, distant rare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Adenoid cystic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&lt;0.1%; salivary-like, 1–3 cm, circumscribed; axillary spread rare, lung mets can kill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Apocrine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differentiated, vesicular nuclei; can be aggressive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Sarcoma / angiosarcoma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painless rapid mass → core/incisional biopsy; wide excision (may need mastectomy); no ALND unless nodes proven. Angiosarcoma: de novo, post-RT, Stewart–Treves (post-mastectomy lymphedema, 7–10 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Lymphoma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≤39 y Burkitt-like, bilateral; ≥40 y B-cell; stage-based therapy; 5/10-y 74/51%. Implant ALCL: remove capsule + mass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Prognosis &amp; High-Yield Numbers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658368"/>
          <a:ext cx="3657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89.2% (white 90.4% vs black 78.7%); gains reflect screening + better local and systemic therapy.</a:t>
            </a:r>
            <a:endParaRPr lang="en-US" sz="79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90672"/>
          <a:ext cx="3657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Morbidity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Seroma / lymphedema after MRM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≤30% / ~20% (50–60% + 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lymphedema: ALND vs SLN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 vs 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Inflammatory: M1 at Dx / 5-y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/ ~30%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694944"/>
          <a:ext cx="48463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ADH/ALH • LCIS/DCIS • ADH in ducts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• 10× • 7×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Gail tamoxifen threshold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 ≥1.66%, age 35–59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P-1 / MAP.3 / IBIS-II reduction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/ 65% / ~50%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/ BRCA2 ovarian risk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≤40% / ~20%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 ≥50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 → invasive; DCIS ipsilateral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 (bilateral); 25–70%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Untreated median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y; 5-y 18%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TAILORx RS 0–10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5-y OS, endocrine alone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excision alone: low/int vs 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 vs 15.3%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B-24 tamoxifen + RT vs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 vs 13.4%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B-06 in-breast recurrence 20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 vs 14.3% (+RT)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B-32 SLN identification / FNR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/ 9.7%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 OS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91.9% vs 92.5%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3-y DFS /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→ 87%; −33%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MRM skin flaps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High-Yield Distinctions &amp; Rapid Management Recall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Situations &amp; Review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572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54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 vs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marker, bilateral, no calcification, E-cadherin lost vs precursor, ipsilateral, calcifies → excise + 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BRCA1 vs BRCA2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TNBC/medullary, ovary 40% vs HR+, male BC, pancreas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Fibroadenoma vs phyllodes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Phyllodes: leaf-like, cellular monoclonal stroma, 1-cm margin, no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scar vs CSL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 cm vs &gt;1 cm — both need tissue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 vs DCIS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≤2–3 mm vs &gt;3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Multicentric vs multifocal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quadrant vs same quadrant / &lt;4 cm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 vs neglected LABC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Dermal lymphatics, rapid, poorly defined, more M1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Fistulectomy vs duct excision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Localised vs diffuse / multiple fistulae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Neoadjuvant vs 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OS; more BCS with neoadjuvant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983480" y="694944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69494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5961888" y="694944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71323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/ tamoxifen / bilateral mastectomy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4983480" y="1193292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19329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5961888" y="1193292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07608" y="121158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mm + RT; extensive → mastectomy + SLNB; ER+ → tamoxifen 5 y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983480" y="1691640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169164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5961888" y="1691640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7608" y="1709928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(dual tracer, 10% rule); 1–2 +SLN + BCS + WBI → no ALND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983480" y="2189988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2189988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cN+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961888" y="2189988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07608" y="220827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or neoadjuvant → TAD if converts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4983480" y="2688336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2688336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961888" y="2688336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07608" y="2706624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→ response → surgery → RT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4983480" y="3186684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3186684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5961888" y="3186684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07608" y="320497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first if HR+ no crisis; chemo HR−/crisis; bone agent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4983480" y="3685032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3685032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5961888" y="3685032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07608" y="370332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tamoxifen (± OFS + exemestane high risk); post: AI; extend if node+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4983480" y="4183380"/>
            <a:ext cx="960120" cy="448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83480" y="4183380"/>
            <a:ext cx="960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5961888" y="4183380"/>
            <a:ext cx="2953512" cy="448056"/>
          </a:xfrm>
          <a:prstGeom prst="roundRect">
            <a:avLst>
              <a:gd name="adj" fmla="val 12245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007608" y="4201668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Trastuzumab 1 y with taxane (not anthracycline) ± pertuzumab; neratinib after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Visual Study Deck</dc:title>
  <dc:subject>PptxGenJS Presentation</dc:subject>
  <dc:creator>Dr. Muluamlak — GSR-3</dc:creator>
  <cp:lastModifiedBy>Dr. Muluamlak — GSR-3</cp:lastModifiedBy>
  <cp:revision>1</cp:revision>
  <dcterms:created xsi:type="dcterms:W3CDTF">2026-09-28T05:24:36Z</dcterms:created>
  <dcterms:modified xsi:type="dcterms:W3CDTF">2026-09-28T05:24:36Z</dcterms:modified>
</cp:coreProperties>
</file>