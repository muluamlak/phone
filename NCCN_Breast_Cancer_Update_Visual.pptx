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5875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830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Update -- Visual Summary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632808" y="3246120"/>
            <a:ext cx="2926080" cy="0"/>
          </a:xfrm>
          <a:prstGeom prst="line">
            <a:avLst/>
          </a:prstGeom>
          <a:noFill/>
          <a:ln w="15875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657600"/>
            <a:ext cx="107286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Condensed and redesigned from the supplied NCCN Breast Cancer v6.2026 and
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Breast Cancer Risk Reduction v1.2026 guideline documents
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BD8E8"/>
                </a:solidFill>
              </a:rPr>
              <a:t>Flowcharts, tables and decision cards replace prose bullets throughout --
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BD8E8"/>
                </a:solidFill>
              </a:rPr>
              <a:t>use with the current licensed NCCN algorithms at the bedside.
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Prepared by: Dr. Muluamlak -- GSR-3
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8E8"/>
                </a:solidFill>
              </a:rPr>
              <a:t>Advisor: EBS Unit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NCCN 6.2026 Framework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Inputs to Every Decision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1545336"/>
            <a:ext cx="5065776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buSzPct val="100000"/>
              <a:buChar char="▪"/>
            </a:pPr>
            <a:r>
              <a:rPr lang="en-US" sz="12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 extent: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T, N, M and resectability</a:t>
            </a:r>
            <a:endParaRPr lang="en-US" sz="1200" dirty="0"/>
          </a:p>
          <a:p>
            <a:pPr algn="l" marL="152400" indent="-152400">
              <a:lnSpc>
                <a:spcPct val="108000"/>
              </a:lnSpc>
              <a:buSzPct val="100000"/>
              <a:buChar char="▪"/>
            </a:pPr>
            <a:r>
              <a:rPr lang="en-US" sz="12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Biology: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ER, PR, HER2, grade + selected molecular/genomic tests</a:t>
            </a:r>
            <a:endParaRPr lang="en-US" sz="1200" dirty="0"/>
          </a:p>
          <a:p>
            <a:pPr algn="l" marL="152400" indent="-152400">
              <a:lnSpc>
                <a:spcPct val="108000"/>
              </a:lnSpc>
              <a:buSzPct val="100000"/>
              <a:buChar char="▪"/>
            </a:pPr>
            <a:r>
              <a:rPr lang="en-US" sz="12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factors: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age, menopause, pregnancy, genetics, comorbidity, fertility, preferences</a:t>
            </a:r>
            <a:endParaRPr lang="en-US" sz="1200" dirty="0"/>
          </a:p>
          <a:p>
            <a:pPr algn="l" marL="152400" indent="-152400">
              <a:lnSpc>
                <a:spcPct val="108000"/>
              </a:lnSpc>
              <a:buSzPct val="100000"/>
              <a:buChar char="▪"/>
            </a:pPr>
            <a:r>
              <a:rPr lang="en-US" sz="12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response: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pCR vs residual invasive disease can change postoperative treatment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051560"/>
            <a:ext cx="5745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Categories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417320"/>
          <a:ext cx="574517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1050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evidence, uniform NCCN consensus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Lower-level evidence, uniform consensus -- the default unless stated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Lower-level evidence, consensus less uniform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disagreement -- use only in defined circumstances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035040" y="3520440"/>
            <a:ext cx="5745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NCCN Breast Cancer v6.2026; Evidence Blocks definitions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Workup -- Newly Diagnosed Invasive Cancer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5394960" cy="292608"/>
          </a:xfrm>
          <a:prstGeom prst="roundRect">
            <a:avLst>
              <a:gd name="adj" fmla="val 15625"/>
            </a:avLst>
          </a:prstGeom>
          <a:solidFill>
            <a:srgbClr val="17365D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59536"/>
            <a:ext cx="524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+ IMAGING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822960"/>
            <a:ext cx="5394960" cy="292608"/>
          </a:xfrm>
          <a:prstGeom prst="roundRect">
            <a:avLst>
              <a:gd name="adj" fmla="val 15625"/>
            </a:avLst>
          </a:prstGeom>
          <a:solidFill>
            <a:srgbClr val="17365D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6792" y="859536"/>
            <a:ext cx="524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+ PATIENT FACTORS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1143000"/>
            <a:ext cx="5394960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179576"/>
            <a:ext cx="5248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H&amp;P + bilateral diagnostic mammography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709928"/>
            <a:ext cx="0" cy="128016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1480" y="1837944"/>
            <a:ext cx="5394960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874520"/>
            <a:ext cx="5248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US as needed; axillary US if nodal staging may be omitted / disease suspected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0" y="2404872"/>
            <a:ext cx="0" cy="128016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1480" y="2532888"/>
            <a:ext cx="5394960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569464"/>
            <a:ext cx="5248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MRI: optional/selective (occult disease, extent questions)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0" y="3099816"/>
            <a:ext cx="0" cy="128016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11480" y="3227832"/>
            <a:ext cx="5394960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" y="3264408"/>
            <a:ext cx="5248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routine metastatic imaging if asymptomatic + low-risk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143000"/>
            <a:ext cx="5394960" cy="566928"/>
          </a:xfrm>
          <a:prstGeom prst="roundRect">
            <a:avLst>
              <a:gd name="adj" fmla="val 11290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1179576"/>
            <a:ext cx="5248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review: histology, grade, ER/PR/HER2 (validated testing)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1120" y="1709928"/>
            <a:ext cx="0" cy="128016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63640" y="1837944"/>
            <a:ext cx="5394960" cy="566928"/>
          </a:xfrm>
          <a:prstGeom prst="roundRect">
            <a:avLst>
              <a:gd name="adj" fmla="val 11290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36792" y="1874520"/>
            <a:ext cx="5248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counseling/testing: hereditary risk, TNBC any age, or PARP-i may be relevant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61120" y="2404872"/>
            <a:ext cx="0" cy="128016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63640" y="2532888"/>
            <a:ext cx="5394960" cy="566928"/>
          </a:xfrm>
          <a:prstGeom prst="roundRect">
            <a:avLst>
              <a:gd name="adj" fmla="val 11290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2569464"/>
            <a:ext cx="5248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Fertility, contraception, sexual health; pregnancy test if possible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961120" y="3099816"/>
            <a:ext cx="0" cy="128016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63640" y="3227832"/>
            <a:ext cx="5394960" cy="566928"/>
          </a:xfrm>
          <a:prstGeom prst="roundRect">
            <a:avLst>
              <a:gd name="adj" fmla="val 11290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3264408"/>
            <a:ext cx="5248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screen + baseline lymphedema assessment where relevant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480" y="3968496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BINV-1; BINV-A; BINV-C; BINV-D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-- Primary Treatment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84168" y="105156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17365D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57320" y="1088136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Biopsy-proven pure DCIS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26968" y="1828800"/>
            <a:ext cx="2331720" cy="0"/>
          </a:xfrm>
          <a:prstGeom prst="line">
            <a:avLst/>
          </a:prstGeom>
          <a:noFill/>
          <a:ln w="25400">
            <a:solidFill>
              <a:srgbClr val="17365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64728" y="1828800"/>
            <a:ext cx="-2331720" cy="0"/>
          </a:xfrm>
          <a:prstGeom prst="line">
            <a:avLst/>
          </a:prstGeom>
          <a:noFill/>
          <a:ln w="25400">
            <a:solidFill>
              <a:srgbClr val="17365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95848" y="1508760"/>
            <a:ext cx="0" cy="320040"/>
          </a:xfrm>
          <a:prstGeom prst="line">
            <a:avLst/>
          </a:prstGeom>
          <a:noFill/>
          <a:ln w="25400">
            <a:solidFill>
              <a:srgbClr val="17365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" y="1828800"/>
            <a:ext cx="5303520" cy="365760"/>
          </a:xfrm>
          <a:prstGeom prst="roundRect">
            <a:avLst>
              <a:gd name="adj" fmla="val 17500"/>
            </a:avLst>
          </a:prstGeom>
          <a:solidFill>
            <a:srgbClr val="0F6E6E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86537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BREAST-CONSERVING ROUTE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76695" y="1828800"/>
            <a:ext cx="5303520" cy="365760"/>
          </a:xfrm>
          <a:prstGeom prst="roundRect">
            <a:avLst>
              <a:gd name="adj" fmla="val 17500"/>
            </a:avLst>
          </a:prstGeom>
          <a:solidFill>
            <a:srgbClr val="8E3B57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9847" y="186537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ROUTE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286000"/>
            <a:ext cx="5303520" cy="530352"/>
          </a:xfrm>
          <a:prstGeom prst="roundRect">
            <a:avLst>
              <a:gd name="adj" fmla="val 12069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2322576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-- no routine axillary surgery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3063240" y="2816352"/>
            <a:ext cx="0" cy="91440"/>
          </a:xfrm>
          <a:prstGeom prst="line">
            <a:avLst/>
          </a:prstGeom>
          <a:noFill/>
          <a:ln w="2540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1480" y="2907792"/>
            <a:ext cx="5303520" cy="530352"/>
          </a:xfrm>
          <a:prstGeom prst="roundRect">
            <a:avLst>
              <a:gd name="adj" fmla="val 12069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944368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Re-excision for margins; mastectomy if not achievable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3063240" y="3438144"/>
            <a:ext cx="0" cy="91440"/>
          </a:xfrm>
          <a:prstGeom prst="line">
            <a:avLst/>
          </a:prstGeom>
          <a:noFill/>
          <a:ln w="2540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1480" y="3529584"/>
            <a:ext cx="5303520" cy="530352"/>
          </a:xfrm>
          <a:prstGeom prst="roundRect">
            <a:avLst>
              <a:gd name="adj" fmla="val 12069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56616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Whole-breast RT = Category 1 (APBI an option)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3063240" y="4059936"/>
            <a:ext cx="0" cy="91440"/>
          </a:xfrm>
          <a:prstGeom prst="line">
            <a:avLst/>
          </a:prstGeom>
          <a:noFill/>
          <a:ln w="2540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1480" y="4151376"/>
            <a:ext cx="5303520" cy="530352"/>
          </a:xfrm>
          <a:prstGeom prst="roundRect">
            <a:avLst>
              <a:gd name="adj" fmla="val 12069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4187952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omission: Cat. 2B, selected favorable disease only -- not all small DCIS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6476695" y="2286000"/>
            <a:ext cx="5303520" cy="530352"/>
          </a:xfrm>
          <a:prstGeom prst="roundRect">
            <a:avLst>
              <a:gd name="adj" fmla="val 12069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9847" y="2322576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mastectomy: extensive/multicentric disease, or BCS/RT unsuitable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9128455" y="2816352"/>
            <a:ext cx="0" cy="91440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76695" y="2907792"/>
            <a:ext cx="5303520" cy="530352"/>
          </a:xfrm>
          <a:prstGeom prst="roundRect">
            <a:avLst>
              <a:gd name="adj" fmla="val 12069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9847" y="2944368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generally performed (mapping harder after mastectomy)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9128455" y="3438144"/>
            <a:ext cx="0" cy="91440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76695" y="3529584"/>
            <a:ext cx="5303520" cy="530352"/>
          </a:xfrm>
          <a:prstGeom prst="roundRect">
            <a:avLst>
              <a:gd name="adj" fmla="val 12069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9847" y="356616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SLNB omission: age &gt;50, nonpalpable low-grade ER+ DCIS, normal axilla, patient preference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9128455" y="4059936"/>
            <a:ext cx="0" cy="91440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76695" y="4151376"/>
            <a:ext cx="5303520" cy="530352"/>
          </a:xfrm>
          <a:prstGeom prst="roundRect">
            <a:avLst>
              <a:gd name="adj" fmla="val 12069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9847" y="4187952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cancer on final path -&gt; switch to invasive-cancer algorithm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411480" y="4791456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DCIS-1; BINV-D; BINV-F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-- Endocrine Therapy and Follow-Up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Endocrine Therapy (ER-positive DCIS)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99032"/>
          <a:ext cx="113687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0768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BCS + RT, or excision alone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years of endocrine therapy considered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Premenopausal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Postmenopausal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or aromatase inhibitor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Intolerant / symptomatic patients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Low-dose tamoxifen is an option (less mature evidence premenopausally)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2934272"/>
            <a:ext cx="11368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subsequent breast events -- a survival advantage has NOT been demonstrated. CYP2D6 genotype testing is NOT recommended to select tamoxifen.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336404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11511"/>
          <a:ext cx="1136873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0768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/ 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&amp; physical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6-12 months x5 years, then annually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mammogram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6-12 months after RT completion (or after BCS if no RT), then annually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health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when on AI; calcium/vitamin D + antiresorptive therapy in selected patients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11480" y="5128832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DCIS-2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5875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Surgery, Margins, Axilla and Radiation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379476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common textbook teaching with the current NCCN de-escalation and response-adapted framework.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versus Mastectomy -- Selection Principles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Conservation Favored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1545336"/>
            <a:ext cx="5065776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excision with acceptable cosmesis is feasible AND adjuvant RT can be delivered</a:t>
            </a:r>
            <a:endParaRPr lang="en-US" sz="115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Oncoplastic technique can expand BCS eligibility (larger resection, better contour)</a:t>
            </a:r>
            <a:endParaRPr lang="en-US" sz="115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mammographic/MRI extent with the ability to get a clear margin</a:t>
            </a:r>
            <a:endParaRPr lang="en-US" sz="115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BRCA1/2 status does NOT automatically prohibit BCS -- discuss future contralateral/ipsilateral risk separately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5745175" cy="4480560"/>
          </a:xfrm>
          <a:prstGeom prst="roundRect">
            <a:avLst>
              <a:gd name="adj" fmla="val 1633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179576"/>
            <a:ext cx="5415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Favored / Required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99632" y="1545336"/>
            <a:ext cx="5415991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breast cancer or extensive skin/dermal lymphatic involvement</a:t>
            </a:r>
            <a:endParaRPr lang="en-US" sz="115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suspicious or malignant microcalcifications</a:t>
            </a:r>
            <a:endParaRPr lang="en-US" sz="115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positive margins despite feasible re-excision</a:t>
            </a:r>
            <a:endParaRPr lang="en-US" sz="115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receive required breast RT</a:t>
            </a:r>
            <a:endParaRPr lang="en-US" sz="115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extensive multicentric or cN2-N3 disease (individualized)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56235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BINV-G; BINV-H; BINV-1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After BCS -- What NCCN Expects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6873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91840"/>
                <a:gridCol w="54251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Invasive cancer (stage I-II)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ink on tumor" (invasive or DCIS)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Wider routine margins do not replace appropriate RT; positive -&gt; re-excision or mastectomy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+ whole-breast 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mm (SSO/ASTRO/ASCO consensus, adopted by NCCN)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Wider than 2mm not shown to add proportionate benefit when RT given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admixed with invasive cancer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the invasive-cancer 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ink on tumor" applies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657600"/>
            <a:ext cx="11368735" cy="1417320"/>
          </a:xfrm>
          <a:prstGeom prst="roundRect">
            <a:avLst>
              <a:gd name="adj" fmla="val 5161"/>
            </a:avLst>
          </a:prstGeom>
          <a:solidFill>
            <a:srgbClr val="FBF1DE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" y="3785616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76072" y="4151376"/>
            <a:ext cx="11039551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orientation and communication with pathology -- essential for re-excision and oncoplastic cases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calcifications, close-margin location, and overall recurrence risk still matter clinically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521208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BINV-F; NCCN discussion MS-56; SSO/ASTRO/ASCO margin consensus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Management Algorithm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246120" cy="457200"/>
          </a:xfrm>
          <a:prstGeom prst="roundRect">
            <a:avLst>
              <a:gd name="adj" fmla="val 14000"/>
            </a:avLst>
          </a:prstGeom>
          <a:solidFill>
            <a:srgbClr val="17365D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88136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node-negative (cN0)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34095" y="1051560"/>
            <a:ext cx="3246120" cy="457200"/>
          </a:xfrm>
          <a:prstGeom prst="roundRect">
            <a:avLst>
              <a:gd name="adj" fmla="val 14000"/>
            </a:avLst>
          </a:prstGeom>
          <a:solidFill>
            <a:srgbClr val="17365D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07247" y="1088136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Biopsy-proven cN+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34540" y="1508760"/>
            <a:ext cx="0" cy="128016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" y="1636776"/>
            <a:ext cx="3246120" cy="457200"/>
          </a:xfrm>
          <a:prstGeom prst="roundRect">
            <a:avLst>
              <a:gd name="adj" fmla="val 14000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673352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(standard staging)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34540" y="2093976"/>
            <a:ext cx="0" cy="109728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" y="2203704"/>
            <a:ext cx="3246120" cy="658368"/>
          </a:xfrm>
          <a:prstGeom prst="roundRect">
            <a:avLst>
              <a:gd name="adj" fmla="val 9722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240280"/>
            <a:ext cx="30998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7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positive SLN + cT1-2(sel.T3) + upfront surgery + planned breast RT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2034540" y="2862072"/>
            <a:ext cx="0" cy="109728"/>
          </a:xfrm>
          <a:prstGeom prst="line">
            <a:avLst/>
          </a:prstGeom>
          <a:noFill/>
          <a:ln w="2540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1480" y="2971800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E9F5EE"/>
          </a:solidFill>
          <a:ln w="15875">
            <a:solidFill>
              <a:srgbClr val="2F6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008376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2F6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CAN BE OMITTED (Z0011-era)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520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for &gt;=3 positive SLNs. Very-favorable cN0: selective SLNB omission is entering practice under strict criteria only -- not a universal recommendation.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10157155" y="1508760"/>
            <a:ext cx="0" cy="128016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34095" y="1636776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7247" y="1673352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7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Clip/mark the biopsied node; neoadjuvant systemic therapy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10157155" y="2057400"/>
            <a:ext cx="0" cy="109728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34095" y="2167128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07247" y="2203704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axilla after neoadjuvant therapy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57155" y="2587752"/>
            <a:ext cx="0" cy="109728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34095" y="2697480"/>
            <a:ext cx="1536192" cy="621792"/>
          </a:xfrm>
          <a:prstGeom prst="roundRect">
            <a:avLst>
              <a:gd name="adj" fmla="val 10294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07247" y="273405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ycN0: SLNB (dual tracer) + TAD (remove clipped node)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10244023" y="2697480"/>
            <a:ext cx="1536192" cy="621792"/>
          </a:xfrm>
          <a:prstGeom prst="roundRect">
            <a:avLst>
              <a:gd name="adj" fmla="val 10294"/>
            </a:avLst>
          </a:prstGeom>
          <a:solidFill>
            <a:srgbClr val="FBEAEC"/>
          </a:solidFill>
          <a:ln w="15875">
            <a:solidFill>
              <a:srgbClr val="A626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17175" y="2734056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cN+, or failed/inadequate mapping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534095" y="3429000"/>
            <a:ext cx="1536192" cy="457200"/>
          </a:xfrm>
          <a:prstGeom prst="roundRect">
            <a:avLst>
              <a:gd name="adj" fmla="val 14000"/>
            </a:avLst>
          </a:prstGeom>
          <a:solidFill>
            <a:srgbClr val="E9F5EE"/>
          </a:solidFill>
          <a:ln w="15875">
            <a:solidFill>
              <a:srgbClr val="2F6F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07247" y="346557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00" b="1" dirty="0">
                <a:solidFill>
                  <a:srgbClr val="2F6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negative: no ALND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244023" y="3429000"/>
            <a:ext cx="1536192" cy="457200"/>
          </a:xfrm>
          <a:prstGeom prst="roundRect">
            <a:avLst>
              <a:gd name="adj" fmla="val 14000"/>
            </a:avLst>
          </a:prstGeom>
          <a:solidFill>
            <a:srgbClr val="FBEAEC"/>
          </a:solidFill>
          <a:ln w="15875">
            <a:solidFill>
              <a:srgbClr val="A626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17175" y="3465576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34095" y="399592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nodal disease integrates with PMRT/RNI and systemic-escalation plans.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411480" y="4681728"/>
            <a:ext cx="11368735" cy="777240"/>
          </a:xfrm>
          <a:prstGeom prst="roundRect">
            <a:avLst>
              <a:gd name="adj" fmla="val 9412"/>
            </a:avLst>
          </a:prstGeom>
          <a:solidFill>
            <a:srgbClr val="FBF1DE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4809744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Still Needed When: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76072" y="5175504"/>
            <a:ext cx="1103955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nodal burden, mastectomy pathway (plan RT separately), or when omission criteria above are not met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5550408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BINV-D; Z0011, AMAROS, SENOMAC, SOUND/INSEMA, SENTINA, Z1071, SN-FNAC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Decisions -- Breast and Chest Wall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1545336"/>
            <a:ext cx="5065776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Whole-breast RT is a core component of breast conservation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Hypofractionated whole-breast RT is standard for many patients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APBI: appropriate for selected favorable invasive cancer/DCIS meeting criteria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individualized by age, grade, margins, recurrence risk, setting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the cavity at BCS (esp. after oncoplastic rearrangement)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omission: reserved for selected favorable/older patients or low-risk DCIS 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5745175" cy="4480560"/>
          </a:xfrm>
          <a:prstGeom prst="roundRect">
            <a:avLst>
              <a:gd name="adj" fmla="val 1633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179576"/>
            <a:ext cx="5415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Post-Mastectomy (PMRT)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99632" y="1545336"/>
            <a:ext cx="5415991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nodal burden, tumor extent, margins, overall locoregional risk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Skin/nipple-sparing technique does NOT change PMRT indications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nodal irradiation may be added to chest-wall treatment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neoadjuvant therapy: integrate PRE-treatment clinical stage with response + biologic risk -- do not base PMRT on ypT/ypN alone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planning must anticipate PMRT whenever likely or uncertain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56235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BINV-I; BINV-H; multidisciplinary PMRT framework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5875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Subtype-Specific Early Invasive Disease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379476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Biology and treatment response determine the sequence and intensity of systemic therapy.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HR-Positive / HER2-Negative Early Disease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Backbone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80744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08760"/>
            <a:ext cx="506577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Premenopausal: tamoxifen +/- ovarian function suppression (higher-risk: AI + OFS)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Postmenopausal: AI-based therapy central; tamoxifen an alternative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&gt;=5 years, extended by individualized recurrence risk/tolerability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11480" y="33832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Chemotherapy?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712464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BF1DE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840480"/>
            <a:ext cx="506577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size, grade, nodal status, age/menopause + genomic assay where validated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Multigene assays identify low-distant-recurrence groups with limited chemo benefit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 genomic assay outside its validated context or in place of MDT judgment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5745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Beyond Endocrine Therapy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399032"/>
          <a:ext cx="574517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7792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NCCN-Supported Setting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Abemaciclib (adjuvant)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HR+/HER2-: &gt;=4 pos. nodes, OR 1-3 nodes + grade 3 and/or tumor &gt;=5cm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Ribociclib (adjuvant)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II-III, with endocrine therapy (NATALEE)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Palbociclib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an adjuvant standard (negative adjuvant trials)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Olaparib (1 year)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high-risk germline BRCA1/2, HER2-negative; may combine with endocrine therapy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Bisphosphonate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Postmenopausal, higher-risk node-neg. or node-positive -- reduces distant recurrence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11480" y="557784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BINV-K; BINV-M; MS-44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HER2-Positive and Triple-Negative Early Disease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HER2-Positive -- Risk-Adapted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1545336"/>
            <a:ext cx="5065776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pT1a-b N0: benefit from HER2 therapy may be small -- balance vs cardiotoxicity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node-negative (esp. &gt;1cm): trastuzumab-based chemo is Cat. 1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HR-positive tumors also receive endocrine therapy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pT1c-T3 or node-positive: chemo + trastuzumab Cat. 1; add pertuzumab in selected higher-risk settings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important for stage II-III -- response guides postoperative escalation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disease after neoadjuvant HER2-therapy -&gt; postoperative escalation (current discussion incorporates T-DXd evidence)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5745175" cy="4069080"/>
          </a:xfrm>
          <a:prstGeom prst="roundRect">
            <a:avLst>
              <a:gd name="adj" fmla="val 1798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179576"/>
            <a:ext cx="5415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Triple-Negative -- High-Risk Neoadjuvant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99632" y="1545336"/>
            <a:ext cx="5415991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stage II-III: neoadjuvant chemo + pembrolizumab when eligible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Carboplatin/taxane and anthracycline-based strategies per regimen/patient factors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BRCA1/2 testing important -- can change postoperative therapy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is favorable but does NOT eliminate planned completion of local + systemic therapy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invasive disease is a major trigger for postoperative escalation</a:t>
            </a:r>
            <a:endParaRPr lang="en-US" sz="10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BRCA1/2 carriers with high-risk HER2-neg. disease may get adjuvant olaparib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411480" y="5257800"/>
            <a:ext cx="11368735" cy="868680"/>
          </a:xfrm>
          <a:prstGeom prst="roundRect">
            <a:avLst>
              <a:gd name="adj" fmla="val 8421"/>
            </a:avLst>
          </a:prstGeom>
          <a:solidFill>
            <a:srgbClr val="FBF1DE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5385816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Histologies and Very Small Tumors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76072" y="5751576"/>
            <a:ext cx="11039551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Tubular, mucinous, cribriform: often endocrine therapy alone suffices if ER+/HER2-, pN0/pN1mi -- but HER2+, high nodal burden or other high-risk features always override a favorable label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11480" y="6172200"/>
            <a:ext cx="11368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BINV-5; BINV-L/M; BINV-11; KEYNOTE-522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5875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Advanced, Inflammatory and Special Situations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379476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of therapy is often as important as the individual treatment modality.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 / Locally Advanced -- General Sequence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368735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17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79576"/>
            <a:ext cx="1122243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4632" y="1197864"/>
            <a:ext cx="457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1197864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systemic therapy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5087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subtype: HER2-directed (HER2+) / chemo-immunotherapy (TNBC, if eligible) / endocrine-based in selected endocrine-sensitive disease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1920240"/>
            <a:ext cx="0" cy="128016"/>
          </a:xfrm>
          <a:prstGeom prst="line">
            <a:avLst/>
          </a:prstGeom>
          <a:noFill/>
          <a:ln w="25400">
            <a:solidFill>
              <a:srgbClr val="17365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" y="2048256"/>
            <a:ext cx="11368735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0F6E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084832"/>
            <a:ext cx="1122243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" y="2103120"/>
            <a:ext cx="457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5840" y="2103120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breast + axillary surgery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414016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may downstage breast and axilla; guides extent of surgery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25496"/>
            <a:ext cx="0" cy="128016"/>
          </a:xfrm>
          <a:prstGeom prst="line">
            <a:avLst/>
          </a:prstGeom>
          <a:noFill/>
          <a:ln w="2540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1480" y="2953512"/>
            <a:ext cx="11368735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8E3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990088"/>
            <a:ext cx="1122243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" y="3008376"/>
            <a:ext cx="457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05840" y="3008376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E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319272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nodal burden, margins and locoregional risk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730752"/>
            <a:ext cx="0" cy="128016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1480" y="3858768"/>
            <a:ext cx="11368735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895344"/>
            <a:ext cx="1122243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" y="3913632"/>
            <a:ext cx="457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05840" y="3913632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systemic therapy as indicated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22452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identifies residual-risk biology -&gt; postoperative escalation/de-escalation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4809744"/>
            <a:ext cx="11368735" cy="594360"/>
          </a:xfrm>
          <a:prstGeom prst="roundRect">
            <a:avLst>
              <a:gd name="adj" fmla="val 12308"/>
            </a:avLst>
          </a:prstGeom>
          <a:solidFill>
            <a:srgbClr val="FBEAEC"/>
          </a:solidFill>
          <a:ln w="15875">
            <a:solidFill>
              <a:srgbClr val="A626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4937760"/>
            <a:ext cx="11039551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Nonresponder: do NOT delay surgery indefinitely -- reassess for additional/alternate systemic therapy or selected preoperative 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5449824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BINV-L; BINV-M; BINV-I; locally advanced disease pathways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Breast Cancer -- Diagnosis to Treatment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Diagnosis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1545336"/>
            <a:ext cx="50200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onset (&lt;=6 months): erythema, edema/peau d'orange over &gt;=1/3 breast +/- mass</a:t>
            </a:r>
            <a:endParaRPr lang="en-US" sz="10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 confirmation of invasive cancer required; dermal lymphatic invasion NOT required (a negative skin biopsy does not exclude IBC)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587752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715768"/>
            <a:ext cx="5020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Work-Up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76072" y="3081528"/>
            <a:ext cx="50200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history/exam + clinical photography; CBC/CMP, ER/PR/HER2</a:t>
            </a:r>
            <a:endParaRPr lang="en-US" sz="10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mammography +/- US, CT chest, CT/MRI abdomen/pelvis, bone scan or FDG-PET/CT</a:t>
            </a:r>
            <a:endParaRPr lang="en-US" sz="10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suspicious distant lesions to confirm stage IV when feasible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051560"/>
            <a:ext cx="5836615" cy="502920"/>
          </a:xfrm>
          <a:prstGeom prst="roundRect">
            <a:avLst>
              <a:gd name="adj" fmla="val 12727"/>
            </a:avLst>
          </a:prstGeom>
          <a:solidFill>
            <a:srgbClr val="A62639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16752" y="1088136"/>
            <a:ext cx="569031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FIRST -- always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1908" y="1554480"/>
            <a:ext cx="0" cy="128016"/>
          </a:xfrm>
          <a:prstGeom prst="line">
            <a:avLst/>
          </a:prstGeom>
          <a:noFill/>
          <a:ln w="25400">
            <a:solidFill>
              <a:srgbClr val="A6263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0" y="1682496"/>
            <a:ext cx="5836615" cy="548640"/>
          </a:xfrm>
          <a:prstGeom prst="roundRect">
            <a:avLst>
              <a:gd name="adj" fmla="val 11667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1719072"/>
            <a:ext cx="56903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HER2+: add HER2-directed therapy (+/- pertuzumab)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861908" y="2231136"/>
            <a:ext cx="0" cy="109728"/>
          </a:xfrm>
          <a:prstGeom prst="line">
            <a:avLst/>
          </a:prstGeom>
          <a:noFill/>
          <a:ln w="25400">
            <a:solidFill>
              <a:srgbClr val="0F6E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2340864"/>
            <a:ext cx="5836615" cy="685800"/>
          </a:xfrm>
          <a:prstGeom prst="roundRect">
            <a:avLst>
              <a:gd name="adj" fmla="val 9333"/>
            </a:avLst>
          </a:prstGeom>
          <a:solidFill>
            <a:srgbClr val="FBEAEC"/>
          </a:solidFill>
          <a:ln w="15875">
            <a:solidFill>
              <a:srgbClr val="A626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2377440"/>
            <a:ext cx="5690311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3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Responders: total mastectomy + level I/II ALND</a:t>
            </a:r>
            <a:endParaRPr lang="en-US" sz="93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3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Skin/nipple-sparing = CONTRAINDICATED. BCS not recommended.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861908" y="3026664"/>
            <a:ext cx="0" cy="109728"/>
          </a:xfrm>
          <a:prstGeom prst="line">
            <a:avLst/>
          </a:prstGeom>
          <a:noFill/>
          <a:ln w="25400">
            <a:solidFill>
              <a:srgbClr val="8E3B5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43600" y="3136392"/>
            <a:ext cx="5836615" cy="548640"/>
          </a:xfrm>
          <a:prstGeom prst="roundRect">
            <a:avLst>
              <a:gd name="adj" fmla="val 11667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16752" y="3172968"/>
            <a:ext cx="56903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PMRT: chest wall + comprehensive regional nodes (incl. IMNs if involved)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8861908" y="3685032"/>
            <a:ext cx="0" cy="109728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943600" y="3794760"/>
            <a:ext cx="5836615" cy="420624"/>
          </a:xfrm>
          <a:prstGeom prst="roundRect">
            <a:avLst>
              <a:gd name="adj" fmla="val 15217"/>
            </a:avLst>
          </a:prstGeom>
          <a:solidFill>
            <a:srgbClr val="FBF1DE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3831336"/>
            <a:ext cx="56903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reconstruction generally preferred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60807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IBC-1; IBC-2; MS-94-96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Populations -- Paget, Male, Pregnancy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6873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480560"/>
                <a:gridCol w="53336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/ Key Points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Paget disease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Full-thickness NAC biopsy for persistent eczematous/bleeding/ulcerated lesion; MRI after positive diagnosis to define extent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Mastectomy usual; BCS option if complete NAC excision + clear margins + WBRT. No axillary staging if pure DCIS by BCS; stage axilla for invasive disease, and generally at mastectomy (later SLNB may not be feasible)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breast cancer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Principles extrapolated from female disease (limited male trial data); SLNB if cN0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Germline genetic testing in ALL males; tamoxifen is usual endocrine backbone (AI needs added GnRH suppression -- AI alone is inadequate); 21-gene RS has prognostic evidence in men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Pregnancy-associated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delay tissue diagnosis; US + core biopsy central; MRI without gadolinium if needed; coordinate surgery/oncology/maternal-fetal medicine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 feasible in pregnancy. Chemo generally deferred past 1st trimester. Endocrine, anti-HER2, ADCs, PARP-i, checkpoint inhibitors and RT are deferred/avoided until after delivery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589788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PAGET-1; BINV-J; PREG-1/2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5875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and Metastatic Breast Cancer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379476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stage IV disease as a biologically dynamic, longitudinal condition with repeated biomarker-informed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 -- Universal Principles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Re-Characterize the Disease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1545336"/>
            <a:ext cx="5065776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a metastatic site when feasible -- confirm malignancy AND reassess ER/PR/HER2 (phenotype can differ from the primary)</a:t>
            </a:r>
            <a:endParaRPr lang="en-US" sz="12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BRCA1/2 assessment when results could identify PARP-inhibitor candidates</a:t>
            </a:r>
            <a:endParaRPr lang="en-US" sz="12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profiling selectively, to find actionable alterations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5745175" cy="4480560"/>
          </a:xfrm>
          <a:prstGeom prst="roundRect">
            <a:avLst>
              <a:gd name="adj" fmla="val 1633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179576"/>
            <a:ext cx="5415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Intent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99632" y="1545336"/>
            <a:ext cx="5415991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 prolong survival, control symptoms, preserve function and quality of life</a:t>
            </a:r>
            <a:endParaRPr lang="en-US" sz="12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patients receive multiple lines -- reassess benefit, toxicity, performance status and preferences at every progression</a:t>
            </a:r>
            <a:endParaRPr lang="en-US" sz="12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single-agent chemotherapy generally preferred over combinations</a:t>
            </a:r>
            <a:endParaRPr lang="en-US" sz="12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 reserved for high disease burden, rapid progression, or visceral crisis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56235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BINV-21-28; BINV-Q; BINV-R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HR+/HER2− Metastatic Disease -- Sequence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6400800" cy="502920"/>
          </a:xfrm>
          <a:prstGeom prst="roundRect">
            <a:avLst>
              <a:gd name="adj" fmla="val 12727"/>
            </a:avLst>
          </a:prstGeom>
          <a:solidFill>
            <a:srgbClr val="17365D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88136"/>
            <a:ext cx="62544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visceral crisis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6400800" cy="566928"/>
          </a:xfrm>
          <a:prstGeom prst="roundRect">
            <a:avLst>
              <a:gd name="adj" fmla="val 11290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700784"/>
            <a:ext cx="6254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3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line: Endocrine therapy + CDK4/6 inhibitor (core preferred strategy)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611880" y="2231136"/>
            <a:ext cx="0" cy="109728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1480" y="2340864"/>
            <a:ext cx="6400800" cy="457200"/>
          </a:xfrm>
          <a:prstGeom prst="roundRect">
            <a:avLst>
              <a:gd name="adj" fmla="val 14000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377440"/>
            <a:ext cx="6254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Premenopausal/perimenopausal: add ovarian suppression/ablation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11880" y="2798064"/>
            <a:ext cx="0" cy="109728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" y="2907792"/>
            <a:ext cx="6400800" cy="38404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944368"/>
            <a:ext cx="6254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until progression or unacceptable toxicity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3291840"/>
            <a:ext cx="0" cy="128016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1480" y="3419856"/>
            <a:ext cx="6400800" cy="384048"/>
          </a:xfrm>
          <a:prstGeom prst="roundRect">
            <a:avLst>
              <a:gd name="adj" fmla="val 16667"/>
            </a:avLst>
          </a:prstGeom>
          <a:solidFill>
            <a:srgbClr val="FBF1DE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456432"/>
            <a:ext cx="6254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Endocrine-resistant progression -&gt; biomarker-directed therapy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11880" y="3803904"/>
            <a:ext cx="0" cy="128016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" y="3931920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968496"/>
            <a:ext cx="2962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PIK3CA mutation:</a:t>
            </a:r>
            <a:endParaRPr lang="en-US" sz="9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Inavolisib + palbociclib + fulvestrant (Cat. 1, early-relapse setting)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03320" y="3931920"/>
            <a:ext cx="3108960" cy="566928"/>
          </a:xfrm>
          <a:prstGeom prst="roundRect">
            <a:avLst>
              <a:gd name="adj" fmla="val 11290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76472" y="3968496"/>
            <a:ext cx="2962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ESR1 mutation:</a:t>
            </a:r>
            <a:endParaRPr lang="en-US" sz="900" dirty="0"/>
          </a:p>
          <a:p>
            <a:pPr algn="ctr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ESR1-directed endocrine strategy when eligible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6085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endocrine therapy has given durable control, further endocrine combinations remain appropriate before cytotoxic therapy in many patients.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1051560"/>
            <a:ext cx="4602175" cy="4160520"/>
          </a:xfrm>
          <a:prstGeom prst="roundRect">
            <a:avLst>
              <a:gd name="adj" fmla="val 1758"/>
            </a:avLst>
          </a:prstGeom>
          <a:solidFill>
            <a:srgbClr val="FBEAEC"/>
          </a:solidFill>
          <a:ln w="19050">
            <a:solidFill>
              <a:srgbClr val="A626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179576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VISCERAL CRISIS ≠ VISCERAL METASTASIS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0" y="1737360"/>
            <a:ext cx="43278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Visceral crisis =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organ dysfunction from rapidly progressive disease, requiring the fastest effective systemic control -- NOT simply the presence of liver/lung/other visceral mets.
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 by: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signs, symptoms, labs and rate of progression.
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cytotoxic therapy generally favored for rapid response; reassess early -- if disease stabilizes, endocrine-based maintenance may again be appropriate. Palliative/supportive care integrated throughout.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60807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BINV-22/23; BINV-P; ESO-ESMO consensus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HER2+ and TNBC / HR+ HER2− Metastatic Disease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HER2-Positive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1545336"/>
            <a:ext cx="5065776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buSzPct val="100000"/>
              <a:buChar char="▪"/>
            </a:pPr>
            <a:r>
              <a:rPr lang="en-US" sz="108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line: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taxane + trastuzumab + pertuzumab, then maintenance HER2 blockade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HR+ tumors may also get endocrine therapy (selected pathways add CDK4/6i)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buSzPct val="100000"/>
              <a:buChar char="▪"/>
            </a:pPr>
            <a:r>
              <a:rPr lang="en-US" sz="108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lines / CNS disease: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trastuzumab deruxtecan (T-DXd) is a major option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Tucatinib + capecitabine + trastuzumab -- important with brain/CNS disease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HER2-targeted therapy beyond progression when appropriate (optimal sequence unsettled)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Monitor: T-DXd -&gt; ILD/pneumonitis; HER2 therapy -&gt; cardiac toxicity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5745175" cy="4480560"/>
          </a:xfrm>
          <a:prstGeom prst="roundRect">
            <a:avLst>
              <a:gd name="adj" fmla="val 1633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179576"/>
            <a:ext cx="5415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TNBC / HR+ HER2− -- Biomarker-Driven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99632" y="1545336"/>
            <a:ext cx="5415991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buSzPct val="100000"/>
              <a:buChar char="▪"/>
            </a:pPr>
            <a:r>
              <a:rPr lang="en-US" sz="108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biomarkers: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PD-L1 (22C3, CPS); germline BRCA1/2; exact HER2 IHC (0/1+/2+ISH-neg affects ADC eligibility); MSI-H, TMB-H, NTRK/RET fusions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 in biomarker-selected TNBC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PARP inhibitors preferred if eligible germline BRCA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ADCs: sacituzumab govitecan, datopotamab deruxtecan (line depends on prior treatment)</a:t>
            </a:r>
            <a:endParaRPr lang="en-US" sz="108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0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 IHC 1+ or 2+/ISH-neg: fam-trastuzumab deruxtecan supported in defined settings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11480" y="56235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BINV-24/26; BINV-Q-4, Q3-8; BINV-A HER2 testing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Bone, Brain and Structural Complications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687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741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metastasis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Denosumab, zoledronic acid or pamidronate WITH systemic/endocrine therapy if survival &gt;=3 months + adequate renal function (Cat. 1). Calcium/vitamin D + dental assessment required; monitor osteonecrosis risk. RT for painful/threatening lesions; surgery for instability/pathologic (or impending) fracture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metastases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CNS-specific assessment; local therapy (SRS, WBRT, or surgery) depending on disease pattern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Spinal cord compression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MRI + corticosteroids + surgery and/or RT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Effusions / obstruction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Pleural/pericardial effusion, biliary or ureteric obstruction -&gt; symptom-directed procedures + systemic control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55321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BINV-21; BINV-Q; NCCN CNS/Palliative/Supportive Care guidance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Oligometastatic Disease, Recurrence and Monitoring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3606698" cy="4480560"/>
          </a:xfrm>
          <a:prstGeom prst="roundRect">
            <a:avLst>
              <a:gd name="adj" fmla="val 2028"/>
            </a:avLst>
          </a:prstGeom>
          <a:solidFill>
            <a:srgbClr val="FBF1DE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327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Oligometastatic Stage IV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1545336"/>
            <a:ext cx="327751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resection of primary or ablation of ALL metastatic sites: NOT shown to improve survival in prospective trials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therapy may reduce local progression/palliate symptoms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oligomet. disease may behave more favorably than recurrent oligomet. disease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multimodality therapy: only highly selected favorable biology + limited burden (HER2+ or ER+, bone-only, few sites, young/long survival, NED after systemic therapy) -- MDT decision, not a routine standard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292498" y="1051560"/>
            <a:ext cx="3606698" cy="4480560"/>
          </a:xfrm>
          <a:prstGeom prst="roundRect">
            <a:avLst>
              <a:gd name="adj" fmla="val 2028"/>
            </a:avLst>
          </a:prstGeom>
          <a:solidFill>
            <a:srgbClr val="EAF1F8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7090" y="1179576"/>
            <a:ext cx="327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Locoregional Recurrence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57090" y="1545336"/>
            <a:ext cx="327751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buSzPct val="100000"/>
              <a:buChar char="▪"/>
            </a:pPr>
            <a:r>
              <a:rPr lang="en-US" sz="96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prior mastectomy: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resect isolated chest-wall recurrence if feasible (clear margins); involved-field RT if not previously irradiated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buSzPct val="100000"/>
              <a:buChar char="▪"/>
            </a:pPr>
            <a:r>
              <a:rPr lang="en-US" sz="96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prior BCS + RT:</a:t>
            </a:r>
            <a:pPr algn="l"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mastectomy is the NCCN consensus local therapy for most isolated recurrences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SLNB: limited accuracy/prognostic value after prior surgery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per CURRENT biology; CALOR supports chemo benefit especially for ER-negative isolated recurrence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173517" y="1051560"/>
            <a:ext cx="3606698" cy="4480560"/>
          </a:xfrm>
          <a:prstGeom prst="roundRect">
            <a:avLst>
              <a:gd name="adj" fmla="val 2028"/>
            </a:avLst>
          </a:prstGeom>
          <a:solidFill>
            <a:srgbClr val="FBEAEC"/>
          </a:solidFill>
          <a:ln w="15875">
            <a:solidFill>
              <a:srgbClr val="A626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8109" y="1179576"/>
            <a:ext cx="3277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-- What NOT to Do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38109" y="1545336"/>
            <a:ext cx="3277514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serial tumor markers, CTCs or ctDNA as standalone triggers to switch therapy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 does NOT incorporate routine ctDNA/CTC monitoring for metastatic disease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 regimen while benefit persists and toxicity is acceptable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progression: weigh benefit vs cumulative toxicity + performance status</a:t>
            </a:r>
            <a:endParaRPr lang="en-US" sz="96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96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disease: reassessment intervals may be individualized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11480" y="56235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BINV-21 (oligomet. footnote); BINV-18; MS-56; CALOR; BINV-R; MS-88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ln w="15875">
            <a:solidFill>
              <a:srgbClr val="B886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and Risk Reduction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80160" y="3794760"/>
            <a:ext cx="9631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2026 treats prevention, survivorship and quality of life as part of breast-cancer management -- not separate afterthoughts.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Post-Treatment Surveillance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99032"/>
          <a:ext cx="113687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9912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/ 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&amp; physical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1-4x/year for 5 years as clinically appropriate, then annually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Annual, beginning ~6+ months after completion of BCS + 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Reconstructed breast imaging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indicated routinely unless symptoms/findings warrant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 / metastatic imaging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 routinely in asymptomatic survivors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1480" y="33375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Care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3666744"/>
            <a:ext cx="11368735" cy="1737360"/>
          </a:xfrm>
          <a:prstGeom prst="roundRect">
            <a:avLst>
              <a:gd name="adj" fmla="val 4211"/>
            </a:avLst>
          </a:prstGeom>
          <a:solidFill>
            <a:srgbClr val="E9F5EE"/>
          </a:solidFill>
          <a:ln w="15875">
            <a:solidFill>
              <a:srgbClr val="2F6F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" y="3794760"/>
            <a:ext cx="11039551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endocrine-therapy adherence and manage toxicity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periodic bone mineral density if on AI or with treatment-induced ovarian failure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cardiotoxicity risk after anthracyclines, HER2-targeted therapy, or left-sided RT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lymphedema, fertility, sexual health, psychosocial distress, lifestyle and comorbidity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55321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BINV-17; Survivorship principles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-- Surgery, Endocrine Therapy, Lifestyle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687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91741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NCCN Guidance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Risk-reducing mastectomy (RRM)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Considered for pathogenic/likely-pathogenic variants in high-penetrance genes, compelling family history, or chest-wall RT before age 30. NO single numeric risk cutoff -- individualized. Moderate/low-penetrance variants without compelling FHx: benefit generally lacking. NOT the default for classic LCIS (endocrine risk reduction + surveillance preferred)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Risk-reducing endocrine therapy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Tamoxifen 20mg/day: age &gt;=35, adequate life expectancy, elevated risk (incl. &gt;=1.7% 5-yr Gail) or LCIS -- pre- or postmenopausal. Low-dose tamoxifen option if standard dose not tolerated. Postmenopausal alternatives: raloxifene (SERM), or anastrozole/exemestane (monitor bone health). CYP2D6 testing NOT recommended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 / ongoing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management, physical activity, limit alcohol, avoid smoking. Reassess family history over time (can trigger new genetic evaluation). Use validated risk models -- none replace genetics expertise. Polygenic risk scores are NOT recommended as standard-of-care by NCCN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t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57607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Breast Cancer Risk Reduction v1.2026; BRISK-1 through BRISK-7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NCCN 6.2026 Pitfalls for Surgeons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106424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1106424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"Mastectomy = better survival"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886968" y="1417320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when BCS + RT is oncologically appropriate -- they are equivalent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233008" y="1051560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7872" y="1106424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08496" y="1106424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"Ink on tumor" = "2mm margin"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6708496" y="1417320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interchangeable: ink-on-tumor is invasive BCS; 2mm is the DCIS+WBRT target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11480" y="1984248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203911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6968" y="2039112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ALND for every positive SLN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886968" y="2350008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Z0011/AMAROS/SENOMAC-era criteria + the RT plan instead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233008" y="1984248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7872" y="2039112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08496" y="2039112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axillary surgery for pure DCIS by BCS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6708496" y="2350008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indicated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1480" y="2916936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" y="297180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86968" y="2971800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Omitting the clipped node after neoadjuvant therapy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886968" y="3282696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TAD in an initially node-positive axilla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233008" y="2916936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7872" y="2971800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08496" y="2971800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surgery for IBC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6708496" y="3282696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always comes first; surgery is mastectomy + axillary treatment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11480" y="3849624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" y="390448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6968" y="3904488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Visceral metastasis = visceral crisis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886968" y="4215384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is a specific organ-threatening STATE, not just the presence of mets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233008" y="3849624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7872" y="3904488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708496" y="3904488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CT/PET/tumor markers in asymptomatic survivors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6708496" y="4215384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is clinical + annual breast imaging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11480" y="4782312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" y="4837176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886968" y="4837176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contralateral prophylactic mastectomy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886968" y="5148072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routine in average-risk unilateral breast cancer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233008" y="4782312"/>
            <a:ext cx="5547208" cy="841248"/>
          </a:xfrm>
          <a:prstGeom prst="roundRect">
            <a:avLst>
              <a:gd name="adj" fmla="val 6522"/>
            </a:avLst>
          </a:prstGeom>
          <a:solidFill>
            <a:srgbClr val="FBEAEC"/>
          </a:solidFill>
          <a:ln w="12700">
            <a:solidFill>
              <a:srgbClr val="A6263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87872" y="4837176"/>
            <a:ext cx="384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708496" y="4837176"/>
            <a:ext cx="498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"HER2-low" as a formal pathology category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6708496" y="5148072"/>
            <a:ext cx="498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actual HER2 IHC/ISH result instead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11480" y="576072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BINV-A, D, F, I, 17, 21-28; Risk Reduction v1.2026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6.2026 -- Master Management Algorithm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705024" cy="502920"/>
          </a:xfrm>
          <a:prstGeom prst="roundRect">
            <a:avLst>
              <a:gd name="adj" fmla="val 12727"/>
            </a:avLst>
          </a:prstGeom>
          <a:solidFill>
            <a:srgbClr val="17365D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88136"/>
            <a:ext cx="255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the Cancer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645920"/>
            <a:ext cx="2705024" cy="356616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5875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773936"/>
            <a:ext cx="244899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Histology + grade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/ PR / HER2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risk / germline testing when indicated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stage + resectability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116504" y="3429000"/>
            <a:ext cx="146304" cy="0"/>
          </a:xfrm>
          <a:prstGeom prst="line">
            <a:avLst/>
          </a:prstGeom>
          <a:noFill/>
          <a:ln w="25400">
            <a:solidFill>
              <a:srgbClr val="17365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9384" y="1051560"/>
            <a:ext cx="2705024" cy="502920"/>
          </a:xfrm>
          <a:prstGeom prst="roundRect">
            <a:avLst>
              <a:gd name="adj" fmla="val 12727"/>
            </a:avLst>
          </a:prstGeom>
          <a:solidFill>
            <a:srgbClr val="0F6E6E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2536" y="1088136"/>
            <a:ext cx="255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Decide Sequence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9384" y="1645920"/>
            <a:ext cx="2705024" cy="356616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7400" y="1773936"/>
            <a:ext cx="244899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surgery for selected operable disease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therapy when downstaging/response changes treatment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 / IBC: usually systemic therapy first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IV: systemic therapy based on current biology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004408" y="3429000"/>
            <a:ext cx="146304" cy="0"/>
          </a:xfrm>
          <a:prstGeom prst="line">
            <a:avLst/>
          </a:prstGeom>
          <a:noFill/>
          <a:ln w="25400">
            <a:solidFill>
              <a:srgbClr val="17365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87288" y="1051560"/>
            <a:ext cx="2705024" cy="502920"/>
          </a:xfrm>
          <a:prstGeom prst="roundRect">
            <a:avLst>
              <a:gd name="adj" fmla="val 12727"/>
            </a:avLst>
          </a:prstGeom>
          <a:solidFill>
            <a:srgbClr val="8E3B57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0440" y="1088136"/>
            <a:ext cx="255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Integrate Local Therapy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87288" y="1645920"/>
            <a:ext cx="2705024" cy="356616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5304" y="1773936"/>
            <a:ext cx="244899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 + RT or mastectomy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/ selective omission / TAD / ALND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PMRT / RNI by clinical + pathologic risk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coordinated with RT plan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892311" y="3429000"/>
            <a:ext cx="146304" cy="0"/>
          </a:xfrm>
          <a:prstGeom prst="line">
            <a:avLst/>
          </a:prstGeom>
          <a:noFill/>
          <a:ln w="25400">
            <a:solidFill>
              <a:srgbClr val="17365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75191" y="1051560"/>
            <a:ext cx="2705024" cy="502920"/>
          </a:xfrm>
          <a:prstGeom prst="roundRect">
            <a:avLst>
              <a:gd name="adj" fmla="val 12727"/>
            </a:avLst>
          </a:prstGeom>
          <a:solidFill>
            <a:srgbClr val="B8860B"/>
          </a:solidFill>
          <a:ln w="15875">
            <a:solidFill>
              <a:srgbClr val="2E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8343" y="1088136"/>
            <a:ext cx="2558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Reassess and Adapt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75191" y="1645920"/>
            <a:ext cx="2705024" cy="356616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3207" y="1773936"/>
            <a:ext cx="2448992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vs residual invasive disease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Escalate/de-escalate postoperative therapy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recurrence: biopsy when feasible, re-stage, re-check biomarkers</a:t>
            </a:r>
            <a:endParaRPr lang="en-US" sz="930" dirty="0"/>
          </a:p>
          <a:p>
            <a:pPr algn="l" marL="127000" indent="-1270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93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+ supportive care throughout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11480" y="53949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NCCN Breast Cancer v6.2026 -- integrated interpretation of BINV-1 through BINV-28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7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91695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9814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 Map for Presentation Preparation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225735" y="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6.2026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3F2F0"/>
          </a:solidFill>
          <a:ln w="15875">
            <a:solidFill>
              <a:srgbClr val="0F6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1795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Disease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6072" y="1545336"/>
            <a:ext cx="5065776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DCIS-1/2 -- diagnosis, surgery, RT, endocrine therapy, follow-up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BINV-1-17 -- invasive staging, local + systemic therapy, RT, surveillance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BINV-D -- axillary staging and omission criteria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BINV-F -- BCS margin standards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BINV-G/H/I -- BCS contraindications, reconstruction, radiation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5745175" cy="4480560"/>
          </a:xfrm>
          <a:prstGeom prst="roundRect">
            <a:avLst>
              <a:gd name="adj" fmla="val 1633"/>
            </a:avLst>
          </a:prstGeom>
          <a:solidFill>
            <a:srgbClr val="F7E9EE"/>
          </a:solidFill>
          <a:ln w="15875">
            <a:solidFill>
              <a:srgbClr val="8E3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9632" y="1179576"/>
            <a:ext cx="5415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E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Special Situations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99632" y="1545336"/>
            <a:ext cx="5415991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BINV-21-28 -- recurrent/stage IV systemic treatment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BINV-P/Q/R -- endocrine/targeted therapy, cytotoxics, monitoring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BINV-J -- male breast cancer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PREG-1/2 -- pregnancy-associated breast cancer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IBC-1/2 -- inflammatory breast cancer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PAGET-1 -- Paget disease</a:t>
            </a:r>
            <a:endParaRPr lang="en-US" sz="1100" dirty="0"/>
          </a:p>
          <a:p>
            <a:pPr algn="l" marL="152400" indent="-152400">
              <a:lnSpc>
                <a:spcPct val="108000"/>
              </a:lnSpc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BRISK -- risk reduction, genetics, endocrine prevention, risk-reducing surgery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5623560"/>
            <a:ext cx="11368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source: Supplied NCCN Breast Cancer v6.2026 and Breast Cancer Risk Reduction v1.2026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6473952"/>
            <a:ext cx="11368735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Breast Cancer v6.2026 -- Clinical Update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EBS Unit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NCCN Breast Cancer v6.2026 -- Clinical Update</dc:title>
  <dc:subject>PptxGenJS Presentation</dc:subject>
  <dc:creator>Dr. Muluamlak -- GSR-3</dc:creator>
  <cp:lastModifiedBy>Dr. Muluamlak -- GSR-3</cp:lastModifiedBy>
  <cp:revision>1</cp:revision>
  <dcterms:created xsi:type="dcterms:W3CDTF">2026-09-27T15:29:04Z</dcterms:created>
  <dcterms:modified xsi:type="dcterms:W3CDTF">2026-09-27T15:29:04Z</dcterms:modified>
</cp:coreProperties>
</file>