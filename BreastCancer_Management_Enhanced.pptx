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6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7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12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13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charts/chart17.xml" ContentType="application/vnd.openxmlformats-officedocument.drawingml.chart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US Lifetime BC Risk by Birth Decade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Lifetime risk</c:v>
                </c:pt>
              </c:strCache>
            </c:strRef>
          </c:tx>
          <c:spPr>
            <a:solidFill>
              <a:srgbClr val="AD1457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1970s</c:v>
                  </c:pt>
                  <c:pt idx="1">
                    <c:v>1980s</c:v>
                  </c:pt>
                  <c:pt idx="2">
                    <c:v>2000s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7.3</c:v>
                </c:pt>
                <c:pt idx="1">
                  <c:v>9.1</c:v>
                </c:pt>
                <c:pt idx="2">
                  <c:v>12.5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Five-Year Survival: Era and Race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White women</c:v>
                </c:pt>
              </c:strCache>
            </c:strRef>
          </c:tx>
          <c:spPr>
            <a:solidFill>
              <a:srgbClr val="00697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1975–77</c:v>
                  </c:pt>
                  <c:pt idx="1">
                    <c:v>1990–92</c:v>
                  </c:pt>
                  <c:pt idx="2">
                    <c:v>2010–16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</c:v>
                </c:pt>
                <c:pt idx="1">
                  <c:v>84</c:v>
                </c:pt>
                <c:pt idx="2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Black women</c:v>
                </c:pt>
              </c:strCache>
            </c:strRef>
          </c:tx>
          <c:spPr>
            <a:solidFill>
              <a:srgbClr val="B71C1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1975–77</c:v>
                  </c:pt>
                  <c:pt idx="1">
                    <c:v>1990–92</c:v>
                  </c:pt>
                  <c:pt idx="2">
                    <c:v>2010–16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62</c:v>
                </c:pt>
                <c:pt idx="1">
                  <c:v>71</c:v>
                </c:pt>
                <c:pt idx="2">
                  <c:v>80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33475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Bloom (1805–1933) Cohort, 250 Untreated Cases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Survivors from onset of disease</c:v>
                </c:pt>
              </c:strCache>
            </c:strRef>
          </c:tx>
          <c:spPr>
            <a:solidFill>
              <a:srgbClr val="B71C1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 years</c:v>
                  </c:pt>
                  <c:pt idx="1">
                    <c:v>10 years</c:v>
                  </c:pt>
                  <c:pt idx="2">
                    <c:v>15 years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3.6</c:v>
                </c:pt>
                <c:pt idx="2">
                  <c:v>0.8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Breast Cancer by Etiology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AD145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Sporadic</c:v>
                  </c:pt>
                  <c:pt idx="1">
                    <c:v>Familial
(no known gene)</c:v>
                  </c:pt>
                  <c:pt idx="2">
                    <c:v>Hereditary
(BRCA + other)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23</c:v>
                </c:pt>
                <c:pt idx="2">
                  <c:v>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Share of Hereditary BC by Gene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00697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BRCA1</c:v>
                  </c:pt>
                  <c:pt idx="1">
                    <c:v>BRCA2</c:v>
                  </c:pt>
                  <c:pt idx="2">
                    <c:v>Other/unknown gene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35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Relative Risk of Subsequent Breast Cancer by Lesion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risk (x)</c:v>
                </c:pt>
              </c:strCache>
            </c:strRef>
          </c:tx>
          <c:spPr>
            <a:solidFill>
              <a:srgbClr val="6A1B9A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Non-proliferative</c:v>
                  </c:pt>
                  <c:pt idx="1">
                    <c:v>Proliferative,
no atypia</c:v>
                  </c:pt>
                  <c:pt idx="2">
                    <c:v>Proliferative
with atypia</c:v>
                  </c:pt>
                  <c:pt idx="3">
                    <c:v>LCIS</c:v>
                  </c:pt>
                  <c:pt idx="4">
                    <c:v>Atypia + FHx BC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1.75</c:v>
                </c:pt>
                <c:pt idx="2">
                  <c:v>4.5</c:v>
                </c:pt>
                <c:pt idx="3">
                  <c:v>9</c:v>
                </c:pt>
                <c:pt idx="4">
                  <c:v>10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Relative Risk Reduction in Invasive Breast Cancer Incidence vs Placebo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RRR</c:v>
                </c:pt>
              </c:strCache>
            </c:strRef>
          </c:tx>
          <c:spPr>
            <a:solidFill>
              <a:srgbClr val="B71C1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Tamoxifen
(NSABP P-1)</c:v>
                  </c:pt>
                  <c:pt idx="1">
                    <c:v>Anastrozole
(IBIS-II)</c:v>
                  </c:pt>
                  <c:pt idx="2">
                    <c:v>Exemestane
(MAP.3)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Share of Invasive Cancers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AD1457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Ductal (NST)</c:v>
                  </c:pt>
                  <c:pt idx="1">
                    <c:v>Lobular</c:v>
                  </c:pt>
                  <c:pt idx="2">
                    <c:v>Tubular</c:v>
                  </c:pt>
                  <c:pt idx="3">
                    <c:v>Mucinous</c:v>
                  </c:pt>
                  <c:pt idx="4">
                    <c:v>Medullary-like</c:v>
                  </c:pt>
                  <c:pt idx="5">
                    <c:v>Papillary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75</c:v>
                </c:pt>
                <c:pt idx="1">
                  <c:v>11</c:v>
                </c:pt>
                <c:pt idx="2">
                  <c:v>2.5</c:v>
                </c:pt>
                <c:pt idx="3">
                  <c:v>2.5</c:v>
                </c:pt>
                <c:pt idx="4">
                  <c:v>1.5</c:v>
                </c:pt>
                <c:pt idx="5">
                  <c:v>0.75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Estrogen-Receptor Positivity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ER+</c:v>
                </c:pt>
              </c:strCache>
            </c:strRef>
          </c:tx>
          <c:spPr>
            <a:solidFill>
              <a:srgbClr val="B71C1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Ductal (NST)</c:v>
                  </c:pt>
                  <c:pt idx="1">
                    <c:v>Lobular</c:v>
                  </c:pt>
                  <c:pt idx="2">
                    <c:v>Tubular</c:v>
                  </c:pt>
                  <c:pt idx="3">
                    <c:v>Mucinous</c:v>
                  </c:pt>
                  <c:pt idx="4">
                    <c:v>Medullary-like</c:v>
                  </c:pt>
                  <c:pt idx="5">
                    <c:v>Papillary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75</c:v>
                </c:pt>
                <c:pt idx="1">
                  <c:v>90</c:v>
                </c:pt>
                <c:pt idx="2">
                  <c:v>94</c:v>
                </c:pt>
                <c:pt idx="3">
                  <c:v>90</c:v>
                </c:pt>
                <c:pt idx="4">
                  <c:v>10</c:v>
                </c:pt>
                <c:pt idx="5">
                  <c:v>87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10-yr Local Recurrence: Standard vs Hypofractionated WBI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10-yr local recurrence</c:v>
                </c:pt>
              </c:strCache>
            </c:strRef>
          </c:tx>
          <c:spPr>
            <a:solidFill>
              <a:srgbClr val="AD1457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D14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697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Standard
50Gy/25fx</c:v>
                  </c:pt>
                  <c:pt idx="1">
                    <c:v>Hypofractionated
42.5Gy/16fx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6.7</c:v>
                </c:pt>
                <c:pt idx="1">
                  <c:v>6.2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EORTC Boost Trial: 10-yr Ipsilateral Recurrence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incidence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D6D7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71C1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No boost</c:v>
                  </c:pt>
                  <c:pt idx="1">
                    <c:v>+16Gy boost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10.2</c:v>
                </c:pt>
                <c:pt idx="1">
                  <c:v>6.2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Clinical Response Rate to Neoadjuvant Chemo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Clinical response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EORTC (FEC)</c:v>
                  </c:pt>
                  <c:pt idx="1">
                    <c:v>NSABP B-18 (AC)</c:v>
                  </c:pt>
                  <c:pt idx="2">
                    <c:v>NSABP B-27 (AC→D)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79</c:v>
                </c:pt>
                <c:pt idx="2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Pathologic CR</c:v>
                </c:pt>
              </c:strCache>
            </c:strRef>
          </c:tx>
          <c:spPr>
            <a:solidFill>
              <a:srgbClr val="B71C1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EORTC (FEC)</c:v>
                  </c:pt>
                  <c:pt idx="1">
                    <c:v>NSABP B-18 (AC)</c:v>
                  </c:pt>
                  <c:pt idx="2">
                    <c:v>NSABP B-27 (AC→D)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</c:v>
                </c:pt>
                <c:pt idx="1">
                  <c:v>13</c:v>
                </c:pt>
                <c:pt idx="2">
                  <c:v>19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33475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Metastatic Endocrine + Targeted Agent: PFS Gain (months)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Endocrine alone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PALOMA-1
+palbociclib</c:v>
                  </c:pt>
                  <c:pt idx="1">
                    <c:v>PALOMA-3
+palbociclib</c:v>
                  </c:pt>
                  <c:pt idx="2">
                    <c:v>BOLERO-2
+everolimus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10.2</c:v>
                </c:pt>
                <c:pt idx="1">
                  <c:v>3.8</c:v>
                </c:pt>
                <c:pt idx="2">
                  <c:v>4.1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Targeted agent</c:v>
                </c:pt>
              </c:strCache>
            </c:strRef>
          </c:tx>
          <c:spPr>
            <a:solidFill>
              <a:srgbClr val="6A1B9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PALOMA-1
+palbociclib</c:v>
                  </c:pt>
                  <c:pt idx="1">
                    <c:v>PALOMA-3
+palbociclib</c:v>
                  </c:pt>
                  <c:pt idx="2">
                    <c:v>BOLERO-2
+everolimus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20.2</c:v>
                </c:pt>
                <c:pt idx="1">
                  <c:v>9.2</c:v>
                </c:pt>
                <c:pt idx="2">
                  <c:v>11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33475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Adjuvant Trastuzumab
(pooled pivotal trials): HR for DFS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HR-DFS (&lt;1 = benefit)</c:v>
                </c:pt>
              </c:strCache>
            </c:strRef>
          </c:tx>
          <c:spPr>
            <a:solidFill>
              <a:srgbClr val="AD145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B-31/
N9831</c:v>
                  </c:pt>
                  <c:pt idx="1">
                    <c:v>HERA</c:v>
                  </c:pt>
                  <c:pt idx="2">
                    <c:v>FinHER</c:v>
                  </c:pt>
                  <c:pt idx="3">
                    <c:v>BCIRG006
(AC-D-H)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</c:v>
                </c:pt>
                <c:pt idx="1">
                  <c:v>0.64</c:v>
                </c:pt>
                <c:pt idx="2">
                  <c:v>0.42</c:v>
                </c:pt>
                <c:pt idx="3">
                  <c:v>0.61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Neoadjuvant Trastuzumab
(Buzdar): pCR Rate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pCR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D6D7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697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Chemo alone</c:v>
                  </c:pt>
                  <c:pt idx="1">
                    <c:v>+ Trastuzumab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Pertuzumab Add-On
(NeoSphere/APHINITY): pCR / iDFS gain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Absolute effect</c:v>
                </c:pt>
              </c:strCache>
            </c:strRef>
          </c:tx>
          <c:spPr>
            <a:solidFill>
              <a:srgbClr val="6A1B9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NeoSphere
pCR (+pts)</c:v>
                  </c:pt>
                  <c:pt idx="1">
                    <c:v>APHINITY
iDFS events ↓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</c:v>
                </c:pt>
                <c:pt idx="1">
                  <c:v>1.6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AD1457"/>
                </a:solidFill>
                <a:latin typeface="Calibri"/>
              </a:defRPr>
            </a:pPr>
            <a:r>
              <a:rPr sz="1050" b="0" i="0" u="none" strike="noStrike">
                <a:solidFill>
                  <a:srgbClr val="AD1457"/>
                </a:solidFill>
                <a:latin typeface="Calibri"/>
              </a:rPr>
              <a:t>Site of First Recurrence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B71C1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Distant only</c:v>
                  </c:pt>
                  <c:pt idx="1">
                    <c:v>LR only</c:v>
                  </c:pt>
                  <c:pt idx="2">
                    <c:v>Both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8DC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x SUBTYPE MATRIX — STAGE 0-II — full sourced detail behind the compact slide table.
0/DCIS: HR+/HER2- — BCS+whole-breast RT (2mm margin target) or mastectomy if extensive (&gt;4cm or &gt;1 quadrant); ER+ DCIS → consider tamoxifen 5y after BCS+RT (NSABP B-24: events 8.2% vs 13.4%, P=.0009) [Schwartz p.580-582]. No routine SLNB with BCS; SLNB favored with mastectomy [NCCN p.10-11]. HER2+/TNBC columns: not applicable — HER2 status is not part of the DCIS decision algorithm in these sources; DCIS is not molecularly subtyped as TNBC the way invasive cancer is.
0/LCIS: Observation, chemoprevention (tamoxifen), or bilateral total mastectomy — excision does not help because disease is diffuse/bilateral risk [Schwartz p.580]. NCCN 2026 favors close monitoring + risk-reducing endocrine therapy over mastectomy as default for CLASSIC LCIS [NCCN p.6-7]. Pleomorphic LCIS behaves more like DCIS. HER2+/TNBC: not covered — LCIS is ER/PR-positive, HER2-negative by definition [DeVita p.1409].
I: HR+/HER2- — BCS+RT preferred or mastectomy; SLNB; endocrine backbone ± chemo guided by 21-gene Recurrence Score; postmenopausal pT1a N0 may use endocrine alone [Schwartz p.582-583,595-596; NCCN p.15-16]. Selected ≥70y ER+ T1N0 on tamoxifen may omit RT (CALGB C9343: local recurrence 1% vs 4% at 5y, no OS difference). HER2+: small pT1a-b N0 — individualized benefit-risk (trials didn't establish the same evidence base); larger tumors within stage I → chemo+trastuzumab increasingly favored [NCCN p.16]. TNBC: adjuvant may be omitted for pT1a N0; threshold for chemo rises with size [NCCN p.17].
II (IIA/IIB): HR+/HER2- — BCS+RT or mastectomy; SLNB (1-2 positive SLN + BCS+WBI → ALND often omitted per Z0011 criteria) [Schwartz p.584-585; NCCN p.12-14]; endocrine backbone; chemo per ASCO criteria (node-positive, high Ki-67/grade, high recurrence score) [Schwartz p.585,595-596]. HER2+: chemo+trastuzumab is Category 1 for pT1c-T3/node+; pertuzumab in selected higher-risk; neoadjuvant therapy "especially valuable" because pCR changes postoperative therapy [NCCN p.16]. TNBC: pT1c-T3 disease = Category 1 chemotherapy pathway [NCCN p.17].
Sources: [S]=Schwartz Ch.17, [N]=NCCN Breast Cancer v6.2026 (via condensed summary), [D]=DeVita Ch.106. This stage x subtype cross-tabulation is this deck's own synthesis assembled from each source's stage-based and subtype-based discussions — no single source contains the whole matrix as one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x SUBTYPE MATRIX — STAGE III-IV — full sourced detail behind the compact slide table.
III (IIIA/IIIB, non-IBC): HR+/HER2- — neoadjuvant endocrine therapy is an option for indolent, comorbid, strongly ER+ elderly patients (ACOSOG Z1031 supports neoadjuvant endocrine downstaging; PEPI score helps decide chemo need); a series of 195 patients, median age 69, median size 6cm, had 5-y OS 76% [Schwartz p.587]. Otherwise: neoadjuvant chemo → surgery → RT. HER2+: trastuzumab-based therapy for HER2+ LABC "should be incorporated" by extrapolation from early-stage data — no LABC-specific trastuzumab trials existed at the time DeVita's chapter was written [DeVita p.1439]. TNBC: high-risk stage II-III commonly uses pembrolizumab-containing neoadjuvant therapy; residual disease + germline BRCA1/2 can change postoperative therapy (olaparib eligibility) [NCCN p.16-17]. Neoadjuvant chemo: anthracycline ± taxane → mastectomy or lumpectomy ± ALND → RT [Schwartz p.595-596].
III / Inflammatory (T4d) — ALL subtypes: systemic therapy first (chemo/endocrine per receptor profile) → surgery only after complete resolution of skin changes → MRM → RT [NCCN p.19; DeVita p.1439]. IBC is enriched for HR-negative and HER2-positive relative to typical breast cancer, but treatment follows the ACTUAL receptor profile, not the word "inflammatory" [NCCN p.19]. Anthracycline-based neoadjuvant chemo gives "dramatic regression" in up to 75% of patients; 5-year survival ~30% [Schwartz p.601-602]. Often misdiagnosed as mastitis/abscess — key clinical clue: NO fever response to antibiotics. BCT is contraindicated in IBC (small series: 7/13 local recurrence with BCT) [DeVita p.1439]. PMRT is given to essentially all IBC patients even after pathologic complete response [DeVita p.1438].
IV (metastatic): HR+/HER2- — endocrine therapy first-line unless visceral crisis; chemotherapy if hormone-refractory or in visceral crisis [Schwartz p.586-587; DeVita p.1440-1441]. HER2+: continue HER2-pathway suppression across lines (trastuzumab ± pertuzumab/T-DM1/lapatinib/neratinib depending on prior exposure) [NCCN p.19-20; DeVita p.1442-1443]. TNBC: treatment depends on prior immunotherapy, ADC exposure, germline BRCA status (PARP inhibitor eligibility), PD-L1, disease tempo [NCCN p.19-20]; chemotherapy is the backbone given the absence of a targetable receptor [DeVita p.1440-1441].
Sources: [S]=Schwartz Ch.17, [N]=NCCN Breast Cancer v6.2026 (via condensed summary), [D]=DeVita Ch.106.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868680"/>
            <a:ext cx="82296" cy="2606040"/>
          </a:xfrm>
          <a:prstGeom prst="rect">
            <a:avLst/>
          </a:prstGeom>
          <a:solidFill>
            <a:srgbClr val="006978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38344"/>
            <a:ext cx="9144000" cy="105156"/>
          </a:xfrm>
          <a:prstGeom prst="rect">
            <a:avLst/>
          </a:prstGeom>
          <a:solidFill>
            <a:srgbClr val="006978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65836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AD1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481328"/>
            <a:ext cx="7955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6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Dr. Muluamlak, GSR-3   |   Advisor: EBS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974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Study &amp; Reference Deck — Rearranged Management Section, Ethiopian Guideline Integration &amp; 2026 Updates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0040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Schwartz 11th Ed. (Ch. 17)  |  DeVita, Hellman &amp; Rosenberg's Cancer (Ch. 106)  |  ESMO 2026 MBC Guideline  |  NCCN Breast Cancer v6.2026  |  Ethiopian FMOH Guideline 2024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91363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Parker CC, Damodaran S, Bland KI, Hunt KK   |   Burstein HJ, Harris JR, Morrow M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343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566928"/>
            <a:ext cx="4160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History of Breast Cancer Therapy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Anatomy &amp; Physiology (incl. Embryology)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Epidemiology &amp; Natural History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Risk Factors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Hereditary Breast Cancer (BRCA)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Screening &amp; Prevention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Diagnosis: Imaging &amp; Biopsy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Pathology — In Situ Carcinomas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Pathology — Invasive Carcinomas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AJCC Staging (TNM)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Prognostic Factors &amp; Subtypes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MANAGEMENT — General Framework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MANAGEMENT — Surgery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MANAGEMENT — Radiation Therapy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566928"/>
            <a:ext cx="4160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MANAGEMENT — Chemotherapy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MANAGEMENT — Hormonal Therapy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MANAGEMENT — HER2-Targeted Therapy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MANAGEMENT — Stage × Subtype Matrix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 MANAGEMENT — Statistics of Benefit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 MANAGEMENT — Recurrence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 Pitfalls — Screening, Diagnosis &amp; Rx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 Special Situations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 Ethiopian Guideline 2024 Integration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 Follow-Up &amp; Quick Reference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 References &amp; Bibliography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 Summary — Key Take-Home Messages</a:t>
            </a:r>
            <a:endParaRPr lang="en-US" sz="11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Key differences marked throughout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80560" y="621792"/>
            <a:ext cx="0" cy="3977640"/>
          </a:xfrm>
          <a:prstGeom prst="line">
            <a:avLst/>
          </a:prstGeom>
          <a:noFill/>
          <a:ln w="19050">
            <a:solidFill>
              <a:srgbClr val="00697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4690872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Sec.12-20: Management rebuilt exclusively from NCCN v6.2026, Schwartz Ch.17 &amp; DeVita Ch.106  |  🇪🇹 = Ethiopian guideline  ★ = 2026 update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of Breast Cancer Therapy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Breast Cancer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57607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Era/Year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Contributor(s)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~3000 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Edwin Smith Papyrus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Earliest recorded case (male); "there is no treatment"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Dran &amp; Moore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spread via lymphatics; first node removal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Halsted &amp; Meyer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Radical mastectomy: en-bloc skin, pec major/minor, axilla levels I–III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Haagensen &amp; Stout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Defined "grave signs" of inoperability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Patey &amp; Dyson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radical: preserve pectoralis major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Veronesi &amp; Fisher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 trials proving BCS = mastectomy for survival (NSABP B-06)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1980s–90s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groups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 lymph node concept; tamoxifen era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HERA, NSABP B-31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for HER2+ BC; survival benefit proven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SOFT/TEXT, Z0011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Ovarian suppression; SLNB alone safe in T1-2N1 BCS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DESTINY, MONARCH-3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T-DXd for HER2-low/+; CDK4/6 inhibitors standard 1st line MBC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— Milestones in Breast Cancer Therapy</a:t>
            </a:r>
            <a:endParaRPr lang="en-US" sz="1700" dirty="0"/>
          </a:p>
        </p:txBody>
      </p:sp>
      <p:pic>
        <p:nvPicPr>
          <p:cNvPr id="4" name="Image 0" descr="/tmp/claude-0/-home-user-Phone/c7f42cbc-61a1-5785-9117-fab275c9b64e/scratchpad/assets/fig1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971" y="754380"/>
            <a:ext cx="7776058" cy="3520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adapted from Schwartz Ch.17 (pp. 541–599)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Breast Cancer Therapy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of the Breast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01168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Embryologic Development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develops from ectoderm (milk line / galactic band) — bilateral ridges Week 4–6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line: axilla → groin; normally involutes leaving single pectoral pair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→ polymastia (extra breast) or polythelia (extra nipple) — 1–2% population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buds appear Wk 6; 15–20 primary epithelial buds canalize → lactiferous ducts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ductal-lobular units (TDLU) form in late fetal/postnatal life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TDLU = primary site of origin for DCIS, invasive ductal carcinoma and LCIS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Nipple-areola complex forms by areolar skin condensation; nipple elevation at puberty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2697480"/>
            <a:ext cx="4206240" cy="1938528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974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 Relevance of Embryology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99232"/>
            <a:ext cx="4023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Accessory breast tissue (axilla most common) can develop cancer — mimic lymph node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Inverted nipple if ductal tissue fails to canalize / fibrous tethering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Amazia (absent breast) vs amastia (absent nipple + breast) — rare surgical anomalies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Cooper's ligaments (fibrous septa) anchor skin → retraction = malignancy sign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Retroglandular fat plane — preserved in MRM; violated in Halsted radical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2011680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Line &amp; Clinical Correlation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Accessory nipple along milk line: L2–T10 dermatome distribution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Spence: functional breast tissue enters axilla through deep fascia opening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Inframammary fold: important surgical landmark; at 5th–6th rib midclavicular line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Retromammary space: loose areolar tissue between breast and pectoralis fascia — plane used in subglandular implant placement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17720" y="2697480"/>
            <a:ext cx="4297680" cy="1938528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974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 Zones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99232"/>
            <a:ext cx="411480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outer quadrant (UOQ): 50% of breast volume → 50% of all breast cancers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zone: subareolar; Paget's disease arises here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Retroareolar: 15–20 major lactiferous ducts converge at nipple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mammary nodes: 25–30% of medial tumors drain here → important for staging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TDLU undergoes cyclical proliferation/apoptosis with menstrual cycle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Anatomy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202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Anatomy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Extent: 2nd–6th rib vertically; sternal edge to mid-axillary line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Spence: breast tissue through clavipectoral fascia opening into axilla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Cooper's suspensory ligaments: attach skin to overlying dermis and deep fascia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Lymphatics: subdermal + parenchymal plexuses drain to axilla primarily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tissue types: glandular (15–20 lobes), stromal (fibrous), adipose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06040"/>
            <a:ext cx="4206240" cy="2011680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06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Supply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07792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mammary (pectoral branches): 60% medial breast → largest supply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thoracic artery (branch of axillary): upper outer quadrant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Intercostal perforators (2nd–4th): posterior supply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Thoracoacromial artery: pectoralis minor region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Venous drainage: internal mammary → subclavian → SVC; axillary vein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2024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Pectoral Fascia &amp; Muscles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Pectoralis major: superficial to breast; preserved in MRM (Patey)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Pectoralis minor: removed in Halsted; divided in Patey for axillary access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Serratus anterior: critical to preserve long thoracic nerve during ALND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Intercostobrachial nerve: sensory arm inner surface — often sacrificed in ALND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Thoracodorsal nerve to latissimus: preserve in all axillary dissections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06040"/>
            <a:ext cx="4297680" cy="2011680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060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 Anatomy (Surgical Importance)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07792"/>
            <a:ext cx="41148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thoracic nerve (of Bell): serratus anterior → "winged scapula" if cut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Thoracodorsal nerve: latissimus dorsi → preserve for TRAM/LD flap reconstruction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 pectoral nerve: pec minor/part pec major → enters pec minor lateral border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pectoral nerve: larger; enters pec major at clavicular head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Intercostobrachial nerve: T2 → inner arm sensation — often sacrificed in full ALND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— Breast Anatomy: Sagittal &amp; Frontal Views</a:t>
            </a:r>
            <a:endParaRPr lang="en-US" sz="1700" dirty="0"/>
          </a:p>
        </p:txBody>
      </p:sp>
      <p:pic>
        <p:nvPicPr>
          <p:cNvPr id="4" name="Image 0" descr="/tmp/claude-0/-home-user-Phone/c7f42cbc-61a1-5785-9117-fab275c9b64e/scratchpad/assets/fig2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21131"/>
            <a:ext cx="8412480" cy="33869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Sagittal section (left) and frontal view of the patient's right breast (right) — Cooper's ligaments, lactiferous ducts, and quadrant nomenclature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Lymphatic Drainage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5303520" cy="155448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Node Levels (Berg Classification)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5120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I (low axilla): lateral to pectoralis minor — first echelon; 60% breast drainage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II (mid-axilla): posterior to / behind pec minor — includes Rotter's nodes (interpectoral)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III (apical): medial to pec minor / subclavicular — Halsted's "complete dissection"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metastasis to Level III without Level I/II: ~4% — clinically significant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240280"/>
            <a:ext cx="5303520" cy="1234440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2402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Mammary Nodes (IMN)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542032"/>
            <a:ext cx="51206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 in intercostal spaces 1–6, within 3 cm of sternal edge (usually spaces 1–3)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25–30% of medial/central tumors drain to IMN; 15% of outer quadrant tumors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IMN involvement: independent predictor of poor prognosis; included in Stage N3b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radical mastectomy (Urban): included IMN; no survival benefit over MRM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3547872"/>
            <a:ext cx="5303520" cy="1088136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Node Concept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38328" y="3849624"/>
            <a:ext cx="512064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node = first draining node(s) from tumor site — best reflects nodal status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False-negative rate (FNR): ~5–8% with dual tracer (blue dye + Tc-99m sulfur colloid)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Z0011 trial: 1–2 positive SLNs in cT1-2, BCS + WBRT → ALND not needed (non-inferior OS/DFS)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621792"/>
          <a:ext cx="3291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5486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Group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Significance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L1-III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Lateral→medial to pec minor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drainage 85-90%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Intercostals 1-6, &lt;3cm sternal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Medial tumors; N3b if+ with IMN 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Rotter's (interpectoral)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pec major/minor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II; removed in Patey not Halsted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Supraclavicular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clavicle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N3c; indicates regional not systemic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— Axillary Lymph Node Levels (Berg Classification)</a:t>
            </a:r>
            <a:endParaRPr lang="en-US" sz="1700" dirty="0"/>
          </a:p>
        </p:txBody>
      </p:sp>
      <p:pic>
        <p:nvPicPr>
          <p:cNvPr id="4" name="Image 0" descr="/tmp/claude-0/-home-user-Phone/c7f42cbc-61a1-5785-9117-fab275c9b64e/scratchpad/assets/fig4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4258" y="754380"/>
            <a:ext cx="5015484" cy="3520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levels are defined relative to pectoralis minor (frontal view, patient's right axilla)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Physiology &amp; Gynecomastia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487168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Hormonal Control of Breast Development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Thelarche (Tanner Stage 2): estrogen-driven ductal elongation, ~age 8–13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Progesterone: lobular development, alveolar differentiation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Prolactin: milk production; high levels → suppress ovulation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Puberty: estrogen + GH + IGF-1 → complete ductal growth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 progesterone + placental lactogen → full lobular development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Menopause: loss of E2/P → involution; increase adipose relative to gland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HRT: combined E+P → increased BC risk (WHI); E-alone → no significant increase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228600" y="3182112"/>
            <a:ext cx="4206240" cy="1207008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31821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Galactorrhea &amp; Nipple Discharge Physiology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3483864"/>
            <a:ext cx="40233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Prolactin (PRL) secreted by ant. pituitary; dopamine suppresses PRL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Causes: pituitary adenoma, hypothyroidism, drugs (antipsychotics, metoclopramide)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Bloody discharge: intraductal papilloma (most common); DCIS must be excluded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2148840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Gynecomastia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benign proliferation of breast gland in males (true glandular hypertrophy)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Physiologic: neonates (maternal estrogen), puberty, elderly (relative hyperestrogenism)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 causes: hyperthyroidism, cirrhosis, hypogonadism, Klinefelter's (XXY)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causes: spironolactone, digitalis, marijuana, anabolic steroids, anti-androgens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Paraneoplastic: testicular/adrenal tumor (hCG-secreting), lung cancer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Pseudogynecomastia: adipose tissue — no glandular component</a:t>
            </a:r>
            <a:endParaRPr lang="en-US" sz="970" dirty="0"/>
          </a:p>
        </p:txBody>
      </p:sp>
      <p:sp>
        <p:nvSpPr>
          <p:cNvPr id="17" name="Shape 15"/>
          <p:cNvSpPr/>
          <p:nvPr/>
        </p:nvSpPr>
        <p:spPr>
          <a:xfrm>
            <a:off x="4617720" y="2862072"/>
            <a:ext cx="4297680" cy="1527048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8620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 — Consolidated Pointer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163824"/>
            <a:ext cx="41148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age 67 at diagnosis; Klinefelter's + BRCA2 (lifetime risk 6-8%) are the dominant risk factors; ER+ ~90%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MRM + tamoxifen is standard — full management box now lives once, in Special Situations Sec.22, removing what was previously a duplicate across two slides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FCE4EC"/>
          </a:solidFill>
          <a:ln w="15875">
            <a:solidFill>
              <a:srgbClr val="AD145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Gynecomastia is a hormonal/drug diagnosis of exclusion in men — a true breast MASS in a man still needs the same triple assessment as in a woman, not an assumption of benign gynecomastia.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of Breast Cancer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Natural History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Epidemiology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cancer worldwide: 2.26 million new cases in 2020 (11.7% of all cancers)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cause of cancer death in women globally: 685,000 deaths (2020)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in high-income countries; mortality highest in LMIC due to late presentation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survival: &gt;90% in HIC vs 66% India, 40% South Africa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 increasing: 0.5% per year in developed countries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 Data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risk: 12.5% (1 in 8 women)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~310,720 new invasive + ~56,500 DCIS cases estimated 2024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Mortality: ~42,000 deaths/year; declining since 1989 peak (~1.9%/year)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attributed to mammography screening + adjuvant therapy advances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Racial disparity: White women higher incidence; Black women higher mortality (HR 1.4)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TNBC: higher frequency in Black women (20–25% vs 10–15% White)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Epidemiology (FMOH 2024)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cancer in Ethiopia: 16,133 new cases/year (GLOBOCAN 2020)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 rate: 41.5/100,000 — BC accounts for 1 in 5 of ALL cancers in Ethiopia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third of all female cancers are breast cancer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Age-standardized mortality: 24.1/100,000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65–75% present at Stage III or IV (vs &lt;30% in HIC)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 6% of all BC in Sub-Saharan Africa (vs 1% globally)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23744"/>
            <a:ext cx="4297680" cy="237744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2374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 2024 Guideline Note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17720" y="2743200"/>
            <a:ext cx="4297680" cy="1892808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27432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 — Key Differences from HIC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3044952"/>
            <a:ext cx="411480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population-based mammographic screening program — limited infrastructure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as primary early detection modality (not mammography)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diagnosed Stage III/IV → limited curative options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WHO GBCI 60:60:80 targets: 60% early stage, 60-day diagnosis, 80% treatment completion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2030: shift diagnosis to ≥60% Stage I/II through CBE scale-up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— Epidemiologic Trends: Lifetime Risk &amp; Survival Disparities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97180" y="868680"/>
          <a:ext cx="4114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732020" y="868680"/>
          <a:ext cx="4114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lifetime BC risk has risen with longer life expectancy and better detection (ACS historical estimates). Right: survival has improved for both groups, but a persistent gap remains (SEER).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Natural History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History of Breast Cancer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Natural History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6916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Biology &amp; Growth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doubling time: 100–200 days (range 44–1869 days) for invasive 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tumor detectable by mammography at ~0.5–1.0 cm; clinically palpable at ~2 cm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6–8 years of subclinical growth before detection by mammography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kinetics: cell loss factor 50–70%; most cells die as they are produced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S-phase fraction (SPF) and Ki-67 index reflect proliferative rate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377440"/>
            <a:ext cx="4206240" cy="2258568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3774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Cascade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679192"/>
            <a:ext cx="402336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invasion → lymphovascular invasion (LVI) → nodal spread → hematogenous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steps: EMT (epithelial-mesenchymal transition), anoikis resistance, extravasation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Preferential metastatic sites: bone (70%), liver, lung, brain, adrenal (Batson's plexus)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is the most common cause of malignant pleural effusion in women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metastasis: highest in HER2+ and TNBC subtypes (~30–50% ultimately)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Bone-only metastasis: best prognosis among MBC; median OS 2–4 years with modern therapy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69164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vs Fisher Paradigm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(centrifugal): cancer spreads orderly: local → regional → systemic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Surgical cure possible with wider resection (radical mastectomy rationale)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 (systemic): cancer is systemic disease from early stages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Surgery for local control only; systemic therapy determines survival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consensus: both apply — local control + systemic therapy are essential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377440"/>
            <a:ext cx="4297680" cy="2258568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3774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Milestones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679192"/>
            <a:ext cx="411480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survival by AJCC stage: I: ~85%, IIA: ~75%, IIB: ~65%, IIIA: ~55%, IIIB: ~40%, IV: ~5–25%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Nodal status: single most powerful pathologic predictor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nodes: 70% 10-yr DFS; 1–3 nodes: 55%; 4–9 nodes: 40%; ≥10 nodes: 20%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patterns: ER+ recurrences late (years 5–20); TNBC/HER2+ early (&lt;3 years)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hazard of recurrence: ER+ bimodal peaks; TNBC front-loaded peak at 2–3 years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recurrence (&gt;5 years): ER+ only; motivation for extended adjuvant endocrine therapy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— Natural History of Untreated Breast Cancer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1143000" y="822960"/>
          <a:ext cx="6858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survival 2.7 years; 95% eventually died of breast cancer; ~75% developed skin ulceration before death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Natural History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 — Overview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41148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Factor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mutation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40–87× lifetime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Predominantly TNBC phenotype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BRCA2 mutation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20–40× lifetime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Predominantly ER+ phenotype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breast cancer (contralateral)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0.5% risk of second primary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8–10× lifetime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marker; not obligate precursor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Atypical hyperplasia (ADH/ALH)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Multiplied 10× if + family history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First-degree relative 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2–3× (if 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3–4× if 2 or more first-degree relatives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chest radiation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3–5×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 RT for Hodgkin's lymphoma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Mammographic density (BIRADS 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breast → ↓ sensitivity of mam.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Obesity (post-menopausal)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1.5–2×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peripheral aromatization of androgens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Nulliparity or late first pregnancy (&gt;35)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1.5–2×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exposure window effect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BRCA1 &amp; BRCA2 Mutations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10312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 (17q21)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suppressor — BRCA1/2 involved in HR (homologous recombination) repair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 mutations → predominantly TNBC (basal-like) phenotype; high-grade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BC risk: 50–72% (by age 80)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ovarian cancer risk: 40–46%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High-penetrance: AD inheritance, variable expression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 associated cancers: breast, ovary, fallopian tube; lower risk pancreas/prostate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788920"/>
            <a:ext cx="4206240" cy="1847088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788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Ashkenazi Jewish Founder Mutations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3090672"/>
            <a:ext cx="40233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common founder mutations: 185delAG, 5382insC (BRCA1); 6174delT (BRCA2)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Prevalence: 1 in 40 Ashkenazi Jewish individuals (vs 1:400 general population)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prior probability → expanded testing criteria in this population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2103120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BRCA2 (13q12.3)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BC risk: 45–69%; predominantly ER+ (higher luminal A/B frequency)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ovarian cancer risk: 12–20%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 risk: 6–8% lifetime (vs &lt;1% general population)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cancers: pancreatic (4–7%), melanoma, prostate (7–24% depending on age)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2026: BRCA2 carriers → annual prostate cancer screening from age 40–45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Biallelic BRCA2: Fanconi anemia — embryonic lethality / severe developmental defects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788920"/>
            <a:ext cx="4297680" cy="1847088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7889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Criteria (NCCN 2026)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090672"/>
            <a:ext cx="411480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at any age; BC diagnosed ≤50 years; ≥2 primary BC (bilateral or separate ipsilateral)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Ovarian/fallopian/peritoneal cancer at any age; male breast cancer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ancestry (Ashkenazi Jewish); first/second degree relative meeting criteria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BRCA1/2 in germline: opens olaparib/talazoparib eligibility in metastatic setting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&amp; Illustration — Hereditary Breast Cancer: Proportions &amp; Workup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28600" y="777240"/>
          <a:ext cx="406908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228600" y="2606040"/>
          <a:ext cx="406908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6" name="Image 0" descr="/tmp/claude-0/-home-user-Phone/c7f42cbc-61a1-5785-9117-fab275c9b64e/scratchpad/assets/fig12_h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713232"/>
            <a:ext cx="4114800" cy="2649017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sporadic vs familial vs hereditary breast cancer, and BRCA1/BRCA2 share of hereditary cases (standard teaching proportions). Right: suspected hereditary breast cancer workup algorithm.</a:t>
            </a:r>
            <a:endParaRPr lang="en-US" sz="900" dirty="0"/>
          </a:p>
        </p:txBody>
      </p:sp>
      <p:sp>
        <p:nvSpPr>
          <p:cNvPr id="8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Hormonal &amp; Environmental Risk Factors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2880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Reproductive &amp; Hormonal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menarche (&lt;12): ↑ risk (↑ lifetime estrogen exposure)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menopause (&gt;55): ↑ risk; nulliparity or first birth &gt;35 → 1.5–2× ↑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Breastfeeding: protective — each year of breastfeeding → 4% ↓ BC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(combined E+P): WHI → 1.24× ↑ risk for &gt;5 yrs; absolute risk small (8 per 10,000)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contraceptives: COCP slightly ↑ current use risk (RR 1.24); wanes after cessation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exposure (in utero): 2× ↑ risk in daughters (mothers who took DES 1940–1971)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14600"/>
            <a:ext cx="4206240" cy="2121408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14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&amp; Lifestyle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16352"/>
            <a:ext cx="40233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Radiation: ionizing radiation to chest (Hodgkin's therapy, repeated fluoroscopy)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Alcohol: dose-dependent; each drink/day → ~7% ↑ risk; mechanism: ↑ estrogen + acetaldehyde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(BMI &gt;30): 1.5–2× ↑ post-menopausal (adipose aromatase); protective pre-menopausal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activity: 25–30% ↓ risk with regular moderate exercise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Night-shift work: possible ↑ risk (circadian disruption, ↓ melatonin — limited evidence)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Diet: no single food established; Mediterranean diet pattern associated with ↓ risk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2880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Breast Disease (BBD)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Non-proliferative lesions (fibrocystic change, cysts, mild hyperplasia): NO increased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 without atypia (moderate hyperplasia, sclerosing adenosis, papilloma): 1.5–2× ↑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 with atypia: 4–5× ↑ (ADH and ALH have equal predictive value)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Atypical hyperplasia + first-degree relative BC: 10× ↑ lifetime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scar / complex sclerosing lesion: independent 2× ↑ risk; requires excision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14600"/>
            <a:ext cx="4297680" cy="2121408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14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High-Risk Syndromes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16352"/>
            <a:ext cx="411480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Li-Fraumeni syndrome (TP53): lifetime BC risk 40–80%; often premenopausal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Cowden syndrome (PTEN): 25–85% lifetime BC risk; also thyroid/endometrial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Peutz-Jeghers (STK11): 30–50% BC risk + GI hamartomas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diffuse gastric cancer (CDH1): 40–60% lobular BC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heterozygotes: 2–3× risk; homozygous → ataxia-telangiectasia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PALB2 mutation: 14–35% lifetime BC risk — becoming routine in germline testing panels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&amp; Chart — Benign Breast Disease: Classification &amp; Risk</a:t>
            </a:r>
            <a:endParaRPr lang="en-US" sz="1600" dirty="0"/>
          </a:p>
        </p:txBody>
      </p:sp>
      <p:pic>
        <p:nvPicPr>
          <p:cNvPr id="4" name="Image 0" descr="/tmp/claude-0/-home-user-Phone/c7f42cbc-61a1-5785-9117-fab275c9b64e/scratchpad/assets/fig6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960120"/>
            <a:ext cx="4114800" cy="2072945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4617720" y="777240"/>
          <a:ext cx="41148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Page classification of benign breast disorders (histology decides risk). Right: relative risk of subsequent invasive cancer by lesion type (Section 04).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Assessment Models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286000"/>
                <a:gridCol w="2011680"/>
                <a:gridCol w="29260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Inputs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/ BCRAT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menarche, first birth, family hx, biopsies, race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5-year risk; eligibility for chemoprevention (Gail ≥1.7%)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family hx detail; underestimates BRCA kindreds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Tyrer-Cuzick (IBIS)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Reproductive hx, density, family hx, BBD, BRCA probability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risk; most accurate for strong family hx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Complex; can overestimate in some AH/LCIS populations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BRCAPro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Pedigree + BRCA1/2 test results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of carrying BRCA1/2 variant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BRCA1/2 only; not PALB2, ATM, CHEK2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BOADICEA/CanRisk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pedigree, multiple susceptibility genes, PRS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Comprehensive hereditary risk incl. PALB2/ATM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PRS not yet standard of care (NCCN 2026)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BCSC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race/ethnicity, density, family hx, biopsy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Population-based 5–10 year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designed for extensive family hx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39319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2026 Thresholds: Discuss chemoprevention if Gail 5-year risk ≥1.7%; stronger recommendation if Gail ≥3% or IBIS/Tyrer-Cuzick 10-year ≥5%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BRCA Carrier Management Strategies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Breast Cancer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(Non-Surgical)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breast MRI + mammography (alternating every 6 months) from age 25–75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breast exam every 6–12 months from age 25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BRCA1: start MRI by age 25; BRCA2: by 25–30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Transvaginal ultrasound + CA-125: q6 months from 30–35 yrs or 5–10 yrs before earliest affected relative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 screening for male BRCA1/2 carriers: annual from age 40–45 (NCCN 2026)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Surgery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bilateral mastectomy (RRM): ↓ BC risk by ~90–95%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bilateral salpingo-oophorectomy (RRBSO): ↓ ovarian Ca risk 80–96%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RRBSO also reduces BC risk ~50% if done before menopause (BRCA1 by age 40, BRCA2 by 45)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mastectomy: acceptable for appropriate candidates; residual risk ~5–10%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counseling: implant vs autologous; body image discussion essential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20 mg/day × 5 years: reduces ER+ BC by 49% (NSABP P-1)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Less established benefit in BRCA1 (predominantly TNBC); clearer benefit for BRCA2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(postmenopausal): similar efficacy to tamoxifen, less uterine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inhibitors (AIs): postmenopausal only; exemestane, anastrozole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Risk-benefit should include QoL, contraindications (VTE, endometrial cancer history)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Positive: Systemic Treatment Implications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Olaparib (PARP inhibitor): FDA-approved for BRCA1/2 HER2-neg early BC (high-risk; residual dz after neoadj)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Talazoparib: alternative PARP inhibitor; similar indication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Neoadjuvant: BRCA1/2 → use platinum-based chemotherapy (cisplatin active)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Metastatic: olaparib/talazoparib preferred over single-agent chemo (OlympiAD/EMBRACA trials)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Children: autosomal dominant — 50% chance; genetic counseling for first-degree relatives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 NCCN 2026 — Genetic Risk Assessment Updates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Breast Cancer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NCCN v2.2026 UPDATE: Genetic/Familial High-Risk — BRCA &amp; Multi-Gene Panel Changes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920240"/>
          </a:xfrm>
          <a:prstGeom prst="rect">
            <a:avLst/>
          </a:prstGeom>
          <a:solidFill>
            <a:srgbClr val="FDECEA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BRCA1/2 &amp; Prostate Cancer Risk (NCCN 2026)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 P/LP carriers: 7–26% cumulative lifetime prostate Ca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BRCA2 P/LP carriers: 19–61% cumulative lifetime prostate Ca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BRCA2 associated with aggressive prostate cancer (T4, Gleason ≥8, metastatic)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3.19 (95% CI 1.94–5.25) for aggressive prostate Ca in BRCA2 carriers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Annual PSA screening recommended from age 40–45 for BRCA1/2 male carriers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from age 40 with BRCA2 or positive family hx of prostate Ca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852928"/>
            <a:ext cx="4206240" cy="1783080"/>
          </a:xfrm>
          <a:prstGeom prst="rect">
            <a:avLst/>
          </a:prstGeom>
          <a:solidFill>
            <a:srgbClr val="FDECEA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8529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HOXB13 G84E Variant — New Recognition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154680"/>
            <a:ext cx="402336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HOXB13 P/LP variants found in 1.4–4.5% of prostate cancer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G84E missense variant: 60% lifetime prostate Ca risk by age 80 in carriers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HOXB13 associated with early-onset prostate cancer (age ≤55)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included in multi-gene panel testing for hereditary cancer syndromes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strong association with aggressive disease phenotype (unlike BRCA2)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868680"/>
            <a:ext cx="4297680" cy="1920240"/>
          </a:xfrm>
          <a:prstGeom prst="rect">
            <a:avLst/>
          </a:prstGeom>
          <a:solidFill>
            <a:srgbClr val="FDECEA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9160" y="868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Multi-Gene Panel Considerations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1170432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P/LP variants: 2–4× BC risk; prostate Ca risk (moderate penetrance)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CHEK2 1100delC: 2–3× BC risk; also associated with prostate Ca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PALB2: 14–35% lifetime BC risk — now routinely tested alongside BRCA1/2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(polygenic risk score): NOT recommended as standard of care by NCCN 2026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CanRisk/BOADICEA now includes PALB2, ATM, CHEK2 in comprehensive risk model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852928"/>
            <a:ext cx="4297680" cy="1783080"/>
          </a:xfrm>
          <a:prstGeom prst="rect">
            <a:avLst/>
          </a:prstGeom>
          <a:solidFill>
            <a:srgbClr val="FDECEA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28529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Pancreatic &amp; Ovarian Cancer Updates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3154680"/>
            <a:ext cx="411480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BRCA1/2 carriers: annual pancreatic Ca surveillance from age 50 recommended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Nonepithelial ovarian cancer (granulosa, Sertoli-Leydig): new testing criteria added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BRIP1, RAD51C/D: ovarian Ca risk; relevant for counseling surgical prevention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testing cascade: all first-degree relatives of confirmed P/LP variant carrier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Mammography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&amp; Prevention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202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 Evidence &amp; Guidelines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BC mortality ~15–25% (meta-analyses of RCTs)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77–95%; lower in dense breasts (&lt;50%) → supplemental US or MRI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Specificity: ~90%; recall rate 10%; biopsy rate ~1.5%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USPSTF 2024: biennial mammography ages 40–74 (updated from 50–74)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ACS: annual mammography from age 45 (optional 40–44); biennial option at 55+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NCCN/ACR: annual mammography from age 40 for average risk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06040"/>
            <a:ext cx="4206240" cy="2029968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06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Classification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07792"/>
            <a:ext cx="40233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0: Incomplete — needs additional imaging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1: Negative — routine screening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2: Benign — routine screening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3: Probably benign — short-interval 6-month follow-up (0.5–2% malignancy)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4: Suspicious — biopsy recommended (4A 2–10%, 4B 10–50%, 4C 50–95%)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5: Highly suggestive of malignancy — biopsy required (&gt;95%)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6: Known biopsy-proven malignancy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2024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Mammography (DBT)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Breast Tomosynthesis: 15–30% ↑ cancer detection vs 2D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↓ in recall rates; 27% ↑ in invasive cancer detection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standard at most screening centers in HIC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higher radiation dose — still well within safe range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06040"/>
            <a:ext cx="4297680" cy="2029968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060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&amp; Overdiagnosis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07792"/>
            <a:ext cx="41148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10-year FP risk with annual mammography: ~61%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Overdiagnosis estimate: 10–25% of screen-detected cancers (esp. DCIS)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Balance: early detection benefit vs unnecessary biopsy, anxiety, overtreatment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highest in age 50–69; debate continues for 40–49 age group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interval does not affect OS in most trials (annual vs biennial)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" y="4636008"/>
            <a:ext cx="8686800" cy="91440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8600" y="4636008"/>
            <a:ext cx="86868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Ethiopia: Mammography NOT yet available as population screening. CBE is primary screening tool (see Ethiopian Guideline slide)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MRI Screening Indications &amp; Chemoprevention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&amp; Prevention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202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MRI — High-Risk Screening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MRI + mammography: ≥20% lifetime risk (BRCA1/2, other high-risk genes)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of MRI: 71–100% vs 33–60% for mammography in BRCA carriers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Contrast-enhanced MRI: evaluate extent of disease; preop planning; occult primary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Indications: BRCA carrier, prior chest RT, first-degree BRCA carrier, lifetime risk ≥20%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for average-risk women (false positive rate too high)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for: lifetime risk 15–20%, dense breasts with prior atypia (NCCN)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06040"/>
            <a:ext cx="4206240" cy="2029968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06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 Agents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07792"/>
            <a:ext cx="40233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20 mg/day × 5 yrs: 49% ↓ ER+ BC (NSABP P-1); pre+postmenopausal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60 mg/day × 5 yrs: 38% ↓ ER+ BC (MORE trial); postmenopausal only; ↓ VTE vs Tam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trial: Tamoxifen vs Raloxifene — similar invasive BC reduction; more uterine sarcoma with Tam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Exemestane 25 mg/day × 5 yrs: 65% ↓ risk (MAP.3 trial); postmenopausal only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Anastrozole 1 mg/day × 5 yrs: 50% ↓ (IBIS-II); postmenopausal; ↓ bone density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NCCN: discuss at Gail 5-year ≥1.7%; recommend at ≥3% or IBIS 10-yr ≥5%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2024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Supplemental Screening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dense breasts (BIRADS C/D) when MRI not available/affordable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Whole-breast US: detects additional 2–3 cancers per 1000 screened women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whole-breast US (ABUS): reproducible; less operator-dependent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FP rate: 85–90% of additional biopsies prompted by US are benign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replace mammography: misses calcifications (DCIS) entirely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06040"/>
            <a:ext cx="4297680" cy="2029968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060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Mastectomy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07792"/>
            <a:ext cx="41148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NCCN: discuss RRM for P/LP variants in high-penetrance genes (BRCA1/2, TP53, CDH1)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reduction: ~90–95% for BC; does not eliminate risk (residual chest wall tissue)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benefit: shown in BRCA1/2 carriers with intact ovaries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RRM: acceptable in appropriate candidates; completeness is paramount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Reconstruction: immediate implant vs tissue expander vs LD/TRAM flap — individualized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Counseling: body image, sexuality, future screening, genetic implications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— Chemoprevention Trials: Relative Risk Reduction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822960"/>
          <a:ext cx="78638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(&gt;13,000 women, ~4y); Anastrozole (3,864 postmenopausal, ~5y); Exemestane (4,560 postmenopausal, 35mo)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&amp; Prevention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Ethiopian Guideline — Screening &amp; Early Detection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&amp; Prevention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ETHIOPIAN GUIDELINE 2024 — Screening Note: CBE replaces population mammography as primary screening tool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78308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Early Detection Methods (Ethiopia)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Breast Health Awareness (BHA): women ≥20 years; monthly BSE education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Clinical Breast Examination (CBE): women ≥30 years; annual by trained provider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Diagnostic Imaging (US/Mammography): women ≥40 years every 2 years, or diagnostic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by trained health worker: identifies cancers as small as 1 cm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integrated into existing MCH services (ANC, postnatal, FP clinics)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715768"/>
            <a:ext cx="4206240" cy="192024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7157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Protocol in Ethiopia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017520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exam: breasts and underarms in upright and lying flat positions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 looking for: lump/change in shape, fixed/hard mass, axillary lump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changes: peau d'orange, ulceration, nipple retraction, bloody discharge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Confirmatory: if suspicious → refer for US ± mammography and FNAC/biopsy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all primary HCW; include CBE in medical and nursing curricula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assurance: proficiency assessments and standardized protocols</a:t>
            </a:r>
            <a:endParaRPr lang="en-US" sz="10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868680"/>
          <a:ext cx="4297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325880"/>
                <a:gridCol w="13258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 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Ethiopia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 (HIC)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modality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(trained health worker)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 (2D/3D)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to start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years (CBE)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years (mammography)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CBE; 2-yr mammogram if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or biennial mammo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 for &lt;1cm tumor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(CBE)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(~85%)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 (equipment + radiologists)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Gap/difference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65-75% present Stage III/IV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&lt;30% in HIC present late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Presentation &amp; Examination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1488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Presenting Signs &amp; Symptoms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Painless lump (most common, 70%): new hard/fixed lump → high suspicion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changes: peau d'orange (dermal lymphatic invasion), dimpling (Cooper's ligament tethering)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changes: inversion (new), eczematous rash (Paget's), bloody discharge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lymphadenopathy: hard, matted, fixed nodes → suspicious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advanced: skin ulceration, chest wall fixation, erythema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BC: diffuse erythema &gt;1/3 breast, peau d'orange, rapid onset (not a skin infection)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834640"/>
            <a:ext cx="4206240" cy="1801368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834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— Gold Standard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3136392"/>
            <a:ext cx="40233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Clinical Breast Examination (history + physical)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Imaging (mammogram ± US ± MRI)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Pathology (FNAC or core needle biopsy)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concordant benign: 99.6% NPV; discordance → biopsy mandatory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needle biopsy preferred over FNAC: provides architecture, ER/PR/HER2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2148840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Examination Technique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above head + leaning forward: accentuates asymmetry, skin dimpling, nipple retraction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nodes: axillary levels I–III, supraclavicular, infraclavicular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palpation: 4 quadrants + subareolar; standing then supine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size (cm), location (clock face, distance from nipple), mobility, consistency, borders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Skin: erythema, edema, satellite nodules, scars, visible veins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Contralateral breast: always examine both; bilateral synchronous BC ~1–3%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834640"/>
            <a:ext cx="4297680" cy="1801368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834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Workup Algorithm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136392"/>
            <a:ext cx="4114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&lt;30 with discrete mass: US first (dense breast, low malignancy risk)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≥30 or suspicious mass: Diagnostic mammogram + US ± 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solid mass any age: biopsy if ≥BIRADS 4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discharge: cytology of discharge + mammogram + US ± ductoscopy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Occult primary (axillary node + unknown primary): MRI breast before biopsy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— Triple Assessment Algorithm for a Palpable Mass</a:t>
            </a:r>
            <a:endParaRPr lang="en-US" sz="1700" dirty="0"/>
          </a:p>
        </p:txBody>
      </p:sp>
      <p:pic>
        <p:nvPicPr>
          <p:cNvPr id="4" name="Image 0" descr="/tmp/claude-0/-home-user-Phone/c7f42cbc-61a1-5785-9117-fab275c9b64e/scratchpad/assets/fig8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384" y="754380"/>
            <a:ext cx="6663233" cy="3520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pathway from clinical exam through imaging to tissue diagnosis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Imaging Modalities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914400"/>
                <a:gridCol w="2103120"/>
                <a:gridCol w="3291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 (2D)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75–85%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Screening; calcifications (DCIS)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breasts ↓ sensitivity; radiation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DBT (3D Mammo)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85–95%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Screening; dense breasts; spiculated lesions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dose; longer read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Ultrasound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90–95%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 vs solid; dense breast; biopsy guidance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 dependent; misses calcifications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MRI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90–99%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70–80%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High-risk screening; occult primary; extent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FP rate; expensive; not for 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PET/CT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70–85%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III–IV; detect LN/distant mets; ambiguous sites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sensitivity small (&lt;1cm) lesions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2743200"/>
            <a:ext cx="4206240" cy="1892808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27432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— Specific Indications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3044952"/>
            <a:ext cx="402336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Newly diagnosed BC: evaluate extent ipsilateral + contralateral synchronous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Occult primary (positive axillary node): 70% detection rate before MRI negative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response to neoadjuvant: residual disease assessment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breasts or implants: supplement mammography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BRCA/high-risk annual surveillance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17720" y="2743200"/>
            <a:ext cx="4297680" cy="1892808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27432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Evaluation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727448" y="3044952"/>
            <a:ext cx="411480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US-guided FNA/core biopsy of suspicious nodes: before decisions on surgical staging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biopsied suspicious node (clip) for targeted axillary dissection (TAD) after neoadjuvant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cN0: SLNB standard; cN1–2: full evaluation; post-neoadj cN0 → TAD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PET-CT: useful for detecting occult systemic disease in Stage III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Biopsy Techniques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463040"/>
                <a:gridCol w="2926080"/>
                <a:gridCol w="26517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Obtained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Advantages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Disadvantages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 (FNAC)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Cells (cytology)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Rapid, minimal trauma, guides treatment acutely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architecture; cannot distinguish inv vs in situ; operator dependent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needle biopsy (CNB)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tissue (histology)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Architecture, ER/PR/HER2; standard of care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invasive procedure; hematoma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Vacuum-assisted (Mammotome)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cores; 11–14G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 calcifications; lower sampling error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expensive; longer procedure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 biopsy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lesion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+ therapeutic if margins clear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OR; disrupts subsequent surgery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Incisional biopsy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of lesion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lesions; prior excisional failure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Disrupts tumor; requires OR; rarely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127248"/>
            <a:ext cx="4160520" cy="150876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3127248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Image-Guided Biopsy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3429000"/>
            <a:ext cx="39776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US-guided: real-time; solid masses; axillary nodes; most used technique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Stereotactic (mammogram-guided): microcalcifications without US correlate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MRI-guided: lesion only on MRI — requires supine or prone coil; DCIS especially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17720" y="3127248"/>
            <a:ext cx="4297680" cy="1508760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Post-Biopsy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727448" y="3429000"/>
            <a:ext cx="41148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placement mandatory: marks biopsy site for surgery or TAD after neoadjuvant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Radiograph clip to confirm: concordance of imaging and pathology before treatment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result: repeat biopsy — never trust a benign core if imaging is suspicious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Ethiopian Guideline — Timely Diagnosis (Pillar 2)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ETHIOPIAN GUIDELINE 2024 — Timely Diagnosis: Target = complete workup within 60 days of referral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8745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in Ethiopia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History + CBE by trained provider (history of lump, duration, changes)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Imaging — US preferred (mammogram if available); assess mass characteristics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FNAC as initial diagnostic modality → core needle biopsy → incisional 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all three = diagnostic concordance before treatment decisions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FNAC first approach: practical for resource-limited settings; limitations recognized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85–90% of all biopsied breast lesions are ultimately benign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807208"/>
            <a:ext cx="4206240" cy="1819656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807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Workup Algorithm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108960"/>
            <a:ext cx="402336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≥30 yrs with: breast lump ± change in shape/consistency, axillary lump,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skin changes (peau d'orange, ulceration), nipple retraction/bloody discharge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60 days: coordinate US ± mammography + FNAC/biopsy for diagnosis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lesion: treat per guideline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Suspected/confirmed BC: refer to BC treatment facility + MDT</a:t>
            </a:r>
            <a:endParaRPr lang="en-US" sz="10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868680"/>
          <a:ext cx="42976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1371600"/>
                <a:gridCol w="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Element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Ethiopia Approach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 Standard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imaging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(mammogram limited)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mammo +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mammography access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Tissue 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FNAC first → CNB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needle biopsy preferred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FNAC lacks architecture; misses HER2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Biomarker testing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ER/PR (limited); HER2 (variable)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ER/PR/HER2/Ki-67 all sites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Inconsistent HER2 testing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Target: ≤60 days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practice: ≤2–4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Delays common due to infrastructure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at tertiary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at all treating centers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MDT access limited to tertiary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LCIS — Features &amp; Natural History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 Situ Carcinomas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1488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— Classic Features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terminal duct-lobular unit (TDLU); lobular architecture preserved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Cells: small, uniform, discohesive; fill and distend acini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E-cadherin NEGATIVE (CDH1 loss) → loss of cell-cell adhesion (also in invasive lobular)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LCIS: bilateral risk marker; NOT an obligate precursor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 (PLCIS): high-grade, necrosis → managed more like high-grade DCIS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 LCIS: expansile growth → margins warranted (controversial)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834640"/>
            <a:ext cx="4206240" cy="1801368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834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 &amp; Risk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3136392"/>
            <a:ext cx="40233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BC risk: 8–10× general population; bilateral equal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~1% per year absolute risk of developing BC after LCIS diagnosis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lobular and ductal invasive carcinoma risk is elevated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at surgical margin: no re-excision required (classic LCIS); PLCIS: excise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of excisions → upgrade to invasive or DCIS (reason for excision at initial CNB)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2148840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LCIS: observation + risk stratification + chemoprevention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(NSABP P-1): 49% ↓ in subsequent BC risk for LCIS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Excision not mandatory for classic LCIS at core biopsy — but excision often done due to upgrade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LCIS: excision to clear margins (similar management to high-grade DCIS)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bilateral mastectomy: option for strong family history or BRCA+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mammogram + physical exam for surveillance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834640"/>
            <a:ext cx="4297680" cy="1801368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834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vs Invasive Lobular Carcinoma (ILC)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136392"/>
            <a:ext cx="4114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ILC: invasive cells in single file ("Indian file") through stroma; no gland formation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E-cadherin negative in both LCIS and ILC — marker of lobular differentiation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ILC: 8–14% of invasive BC; bilateral/multifocal in 20–30%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ILC more often ER+ (90%), HER2-; often mammographically occult (MRI superior)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ILC prognosis: similar to IDC stage-for-stage; late recurrences (bones, peritoneum, leptomeningeal)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 — Features &amp; Management Algorithm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 Situ Carcinomas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— Pathologic Features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Malignant epithelial cells within basement membrane — no invasion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as Tis; DCIS + microinvasion (≤1mm) = T1mi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Nuclear grade (size/chromatin/mitoses/necrosis): low(G1), intermediate(G2), high(G3)*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comedo (necrosis), cribriform, micropapillary, solid, papillary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 DCIS (high-grade+necrosis): most aggressive; calcifies → visible on mammography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*Full nuclear-grade criteria: Grading Summary, Section 10</a:t>
            </a:r>
            <a:endParaRPr lang="en-US" sz="97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Nuys Prognostic Index (VNPI)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4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Scoring: 4 factors each rated 1(best)–3(worst) — size, margin, grade+necrosis, age; raw sum 4–12 pts</a:t>
            </a:r>
            <a:endParaRPr lang="en-US" sz="94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4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re-mapped to a 3–9 reporting scale: 3–4: BCS alone   5–7: BCS+RT   8–9: mastectomy</a:t>
            </a:r>
            <a:endParaRPr lang="en-US" sz="94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4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specifically to individualize DCIS radiation decisions (not for invasive cancer)</a:t>
            </a:r>
            <a:endParaRPr lang="en-US" sz="94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4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not universally adopted; controversial omission of RT decisions</a:t>
            </a:r>
            <a:endParaRPr lang="en-US" sz="94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4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standard: margin ≥2 mm primary criterion for adequacy ("no ink" insufficient for DCIS)</a:t>
            </a:r>
            <a:endParaRPr lang="en-US" sz="94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untreated: ~50% of high-grade DCIS → invasive BC within 10 years (Lagios)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Low-grade DCIS: longer latency; some may never progress (overdiagnosis concern)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upgrade to invasive at excision: ~20% overall (higher for large/high-grade)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IBTR risk after BCS + RT: ~0.5–1% per year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RT: IBTR ~1.5–3% per year — halved with radiation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17720" y="256032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Diagnosis (CNB)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22392" y="2944368"/>
            <a:ext cx="36576" cy="228600"/>
          </a:xfrm>
          <a:prstGeom prst="rect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57800" y="299008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17720" y="316382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006978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17720" y="31638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(lumpectomy)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03720" y="3163824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BF360C"/>
          </a:solidFill>
          <a:ln w="12700">
            <a:solidFill>
              <a:srgbClr val="BF36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31638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22392" y="3547872"/>
            <a:ext cx="36576" cy="228600"/>
          </a:xfrm>
          <a:prstGeom prst="rect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57800" y="35935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17720" y="3767328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7720" y="37673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WBRT (standard Cat1)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903720" y="3767328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03720" y="37673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RT if mastectomy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22392" y="4151376"/>
            <a:ext cx="36576" cy="228600"/>
          </a:xfrm>
          <a:prstGeom prst="rect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57800" y="41970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617720" y="4370832"/>
            <a:ext cx="4206240" cy="320040"/>
          </a:xfrm>
          <a:prstGeom prst="roundRect">
            <a:avLst>
              <a:gd name="adj" fmla="val 14286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617720" y="43708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Rx (ER+ DCIS) — 5 yrs tamoxifen or AI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647688" y="324612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647688" y="385876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— DCIS Architectural Growth Patterns</a:t>
            </a:r>
            <a:endParaRPr lang="en-US" sz="1700" dirty="0"/>
          </a:p>
        </p:txBody>
      </p:sp>
      <p:pic>
        <p:nvPicPr>
          <p:cNvPr id="4" name="Image 0" descr="/tmp/claude-0/-home-user-Phone/c7f42cbc-61a1-5785-9117-fab275c9b64e/scratchpad/assets/fig17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766724"/>
            <a:ext cx="8412480" cy="349575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Papillary, cribriform, intermediate-grade, and comedo growth patterns — rising nuclear grade and necrosis correlate with higher recurrence/progression risk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 Situ Carcinomas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Invasive Carcinoma Types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Invasive Carcinomas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777240"/>
                <a:gridCol w="37947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ductal carcinoma (NST)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70–80%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specific features; heterogeneous; grades 1–3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Stage-dependent; most common cause BC death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lobular carcinoma (ILC)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8–14%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Indian-file pattern; E-cadherin neg; ER+/HER2-; bilateral risk; mammogram-occult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stage-for-stage to IDC; late bone/GI mets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Tubular carcinoma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Well-differentiated tubules; low-grade;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Excellent: 98% 10-yr survival; rare nodal spread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Mucinous (colloid)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Pools of mucin; ER+; older women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Good; low nodal positivity; rare distant mets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Medullary-like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Pushing borders; lymphocytic infiltrate; ER-/HER2-; BRCA1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Paradoxically better than grade-matched IDC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Cribriform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0.3–0.8%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Low-grade; sieves/arches;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Excellent; often mixed with tubular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(invasive)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0.5–1%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architecture; older women;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prognosis; central 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Metaplastic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0.2–1%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Squamous/spindle/chondroid/osseous metaplasia; TNBC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Aggressive; chemotherapy-resistant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Micropapillary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Tumor clusters in lacunar spaces; ER+; high LVI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prognosis; high nodal positivity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— Relative Frequency &amp; ER Positivity by Histologic Type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97180" y="822960"/>
          <a:ext cx="41148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732020" y="822960"/>
          <a:ext cx="41148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370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invasive cancers and estrogen-receptor positivity across histologic subtypes (Section 09)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Invasive Carcinomas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Histologic Types &amp; Presentations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Invasive Carcinomas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600200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Breast Cancer (IBC) — Pathologic Recognition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diagnosis: rapid onset erythema ≥1/3 breast ± peau d'orange ± nipple retraction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dermal lymphatic invasion (NOT a skin infection — no fever initially)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Pathologic: may or may not see classic invasive ductal cells in biopsy specimen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cT4d stage; &gt;Stage IIIB; no TNM "T" based on tumor size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management (mandatory neoadjuvant-first sequence, PMRT, regimens): Sec.18 Stage x Subtype Matrix — consolidated there to avoid repeating it on 3 slides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2514600"/>
            <a:ext cx="4206240" cy="2121408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14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Paget's Disease of the Nipple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16352"/>
            <a:ext cx="40233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pale cells (Paget cells) in nipple epidermis — eczematous nipple rash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associated with underlying DCIS (100%) or invasive cancer (50%)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(retroareolar) location; unilateral, persistent, non-responsive to topical steroids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biopsy of nipple epidermis or punch 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 total mastectomy (if underlying invasive) or BCS + nipple excision + RT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depends on underlying lesion; Paget's without invasive Ca → excellent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28800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Phyllodes Tumor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Biphasic: epithelial + stromal components; stromal overgrowth key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benign (50%), borderline (25%), malignant (25%)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Malignant: cellular stroma, high mitoses, permeative borders, stromal overgrowth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Metastasis: hematogenous (lung, bone) — NOT lymphatic (no SLNB needed)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wide excision ≥1 cm margin; mastectomy if large; NO chemotherapy (sarcoma)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Recurrence: all grades → wide excision; malignant → consider RT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14600"/>
            <a:ext cx="4297680" cy="2121408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14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Angiosarcoma of the Breast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16352"/>
            <a:ext cx="411480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(spontaneous): rare; young women; high-grade; no risk factors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(post-irradiation): most important form; 6–10 years after RT for 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Stewart-Treves syndrome: lymphedema-associated angiosarcoma (post-ALND)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Skin: blue-red discoloration, satellite nodules; rapidly enlarging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mastectomy + wide excision; no role for sentinel node 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poor; median OS 2–3 years; rapid metastasis to lungs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8th Edition — T &amp; N Categories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Staging (TNM)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41605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5204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Category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Size/Features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situ (DCIS, LCIS, Paget's without invasive)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T1mi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Microinvasion ≤1 mm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 mm – ≤5 mm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 mm – ≤10 mm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&gt;10 mm – ≤20 mm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&gt;20 mm – ≤50 mm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 mm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invasion (ribs, intercostals, serratus — NOT pectoralis)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ulceration, satellite nodules, edema (peau d'orange)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T4a + T4b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breast cancer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621792"/>
          <a:ext cx="44348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7947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Category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nodal metastasis by H&amp;E or IHC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Micrometastasis &gt;0.2mm, ≤2mm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 axillary nodes (macrometastasis)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sentinel node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 axillary + internal mammary SLN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4–9 axillary nodes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nodes (clinical)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≥10 axillary nodes or infraclavicular (Level III)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IMN + ≥1 axillary node; or ≥4 axillary + IMN SLN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Supraclavicular nodes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228600" y="4526280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Chest wall = ribs/intercostals/serratus anterior. Pectoralis muscle involvement does NOT = T4a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— Primary Tumor (T) Categories Drawn to Scale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 in millimeters, drawn to relative scale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(≤20 mm) → Stages I–II          T2 → T3 (&gt;50 mm)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021080" y="3291840"/>
            <a:ext cx="91440" cy="91440"/>
          </a:xfrm>
          <a:prstGeom prst="ellipse">
            <a:avLst/>
          </a:prstGeom>
          <a:solidFill>
            <a:srgbClr val="B71C1C"/>
          </a:solidFill>
          <a:ln w="9525">
            <a:solidFill>
              <a:srgbClr val="880E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1480" y="3474720"/>
            <a:ext cx="131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T1mi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3767328"/>
            <a:ext cx="131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mm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08464" y="3262449"/>
            <a:ext cx="120831" cy="120831"/>
          </a:xfrm>
          <a:prstGeom prst="ellipse">
            <a:avLst/>
          </a:prstGeom>
          <a:solidFill>
            <a:srgbClr val="B71C1C"/>
          </a:solidFill>
          <a:ln w="9525">
            <a:solidFill>
              <a:srgbClr val="880E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13560" y="3474720"/>
            <a:ext cx="131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813560" y="3767328"/>
            <a:ext cx="131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&gt;1–5 mm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50129" y="3141617"/>
            <a:ext cx="241663" cy="241663"/>
          </a:xfrm>
          <a:prstGeom prst="ellipse">
            <a:avLst/>
          </a:prstGeom>
          <a:solidFill>
            <a:srgbClr val="B71C1C"/>
          </a:solidFill>
          <a:ln w="9525">
            <a:solidFill>
              <a:srgbClr val="880E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15640" y="3474720"/>
            <a:ext cx="131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T1b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215640" y="3767328"/>
            <a:ext cx="131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&gt;5–10 mm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31377" y="2899954"/>
            <a:ext cx="483326" cy="483326"/>
          </a:xfrm>
          <a:prstGeom prst="ellipse">
            <a:avLst/>
          </a:prstGeom>
          <a:solidFill>
            <a:srgbClr val="B71C1C"/>
          </a:solidFill>
          <a:ln w="9525">
            <a:solidFill>
              <a:srgbClr val="880E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17720" y="3474720"/>
            <a:ext cx="131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3767328"/>
            <a:ext cx="131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&gt;10–20 mm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70963" y="2174966"/>
            <a:ext cx="1208314" cy="1208314"/>
          </a:xfrm>
          <a:prstGeom prst="ellipse">
            <a:avLst/>
          </a:prstGeom>
          <a:solidFill>
            <a:srgbClr val="B71C1C"/>
          </a:solidFill>
          <a:ln w="9525">
            <a:solidFill>
              <a:srgbClr val="880E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19800" y="3474720"/>
            <a:ext cx="131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019800" y="3767328"/>
            <a:ext cx="131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&gt;20–50 mm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231380" y="1691640"/>
            <a:ext cx="1691640" cy="1691640"/>
          </a:xfrm>
          <a:prstGeom prst="ellipse">
            <a:avLst/>
          </a:prstGeom>
          <a:solidFill>
            <a:srgbClr val="B71C1C"/>
          </a:solidFill>
          <a:ln w="9525">
            <a:solidFill>
              <a:srgbClr val="880E4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21880" y="3474720"/>
            <a:ext cx="131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421880" y="3767328"/>
            <a:ext cx="131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&gt;50 mm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65760" y="4160520"/>
            <a:ext cx="8412480" cy="9144"/>
          </a:xfrm>
          <a:prstGeom prst="rect">
            <a:avLst/>
          </a:prstGeom>
          <a:solidFill>
            <a:srgbClr val="D5D8DC"/>
          </a:solidFill>
          <a:ln w="12700">
            <a:solidFill>
              <a:srgbClr val="D5D8D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65760" y="42245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= any size with direct extension to chest wall and/or skin (ulceration, satellite nodules, or inflammatory carcinoma)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Staging (TNM)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Staging Groups &amp; Workup by Stage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Staging (TNM)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50292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40080"/>
                <a:gridCol w="640080"/>
                <a:gridCol w="822960"/>
                <a:gridCol w="17373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Anatomic Stage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5-Year OS (approx.)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(Tis)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T0–1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T0–1 / T2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 / 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/ T3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 / 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T0–3 / T3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 / N1–2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N0–2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~27% (5-yr, improving)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394960" y="621792"/>
            <a:ext cx="3520440" cy="16916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62179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Workup by Stage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504688" y="923544"/>
            <a:ext cx="33375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I–IIA (asymptomatic): H&amp;P + bilateral mammo + tumor biomarkers only; NO routine CT/bone scan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IIB–III: CT chest/abdomen/pelvis + bone scan OR PET-CT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IV: CT + bone scan or PET-CT; liver US; consider brain MRI if symptoms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NCCN: routine CBC, LFTs, ALP; CXR; selective MRI breast for extent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394960" y="2377440"/>
            <a:ext cx="3520440" cy="2258568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0" y="237744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8th Edition — Prognostic Staging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504688" y="2679192"/>
            <a:ext cx="333756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8th ed introduced "Prognostic Stage Groups" incorporating biomarkers: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T, N, M + Grade + ER/PR/HER2 status + Oncotype DX RS (if used)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stage may differ from anatomic stage (e.g., T2N1 ER+/HER2-/Grade1 = Stage IIA anatomic → Stage IB prognostic)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significant: Stage I tumors may have very different outcomes by biology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for treatment decisions, especially adjuvant systemic therapy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Cancer Grading Systems — Summary Reference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Staging (TNM)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2194560"/>
                <a:gridCol w="21945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(1 pt each)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1 (best)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3 (worst)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Tubule/gland formation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&gt;75% tubules formed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10–75% tubules formed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&lt;10% tubules formed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Nuclear pleomorphism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Small, uniform nuclei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variation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variation + nucleoli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Mitotic count /10 HPF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2048256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Nottingham (Elston-Ellis / modified SBR) Grade — Invasive Carcinoma: sum the 3 scores (range 3–9) →  3–5 = Grade 1 (well-diff.)   6–7 = Grade 2 (moderate)   8–9 = Grade 3 (poor)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28600" y="2414016"/>
            <a:ext cx="4297680" cy="173736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0040" y="241401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Nuclear Grade (distinct from Nottingham)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38328" y="2715768"/>
            <a:ext cx="411480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Low: monotonous small nuclei, diffuse fine chromatin, rare mitoses, necrosis rare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Intermediate: cytologic features between low and high grade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markedly pleomorphic nuclei, coarse chromatin, frequent mitoses, comedo necrosis common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Graded on nuclear features alone — DCIS has no tubule-formation score (no invasion to assess)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Nuys Prognostic Index (which also scores DCIS) is detailed on the DCIS slide, Sec.08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17720" y="2414016"/>
            <a:ext cx="4297680" cy="1737360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09160" y="241401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Systems in This Deck Relate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727448" y="2715768"/>
            <a:ext cx="411480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0–6 (imaging) → Nottingham/SBR grade or DCIS nuclear grade (biology) → AJCC T/N/M + Grade + ER/PR/HER2 = Prognostic Stage → Oncotype DX RS (genomic chemo-benefit) → ESCAT/MCBS (2026 metastatic actionability/benefit)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answers a DIFFERENT question — none replaces another; a tumor is fully characterized only when all five are known (full walkthrough: Follow-Up &amp; Quick Reference, Sec.24)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E0F2F1"/>
          </a:solidFill>
          <a:ln w="15875">
            <a:solidFill>
              <a:srgbClr val="00697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grade/score is only meaningful if you first state WHAT it grades and WHAT decision it feeds — memorize the criteria, not just the cutoff numbers.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Traditional Prognostic &amp; Predictive Factors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Factors &amp; Molecular Subtypes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 Prognostic Factors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node status: #1 predictor; each additional positive node decrements survival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size: T1 &lt; T2 &lt; T3; continuous variable, not threshold-dependent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Histologic grade (Elston-Ellis/Nottingham): tubule formation (1–3) + nuclear pleomorphism (1–3) + mitotic rate (1–3)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1 (3–5 pts): low; Grade 2 (6–7): intermediate; Grade 3 (8–9): high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Lymphovascular invasion (LVI): predicts nodal involvement + distant recurrence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margins: adequate margin reduces IBTR risk (negative = "no ink on tumor")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Biomarkers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(Estrogen Receptor): ≥1% IHC positive → endocrine therapy benefit (NCCN)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ER-low (1–10%): technically positive; biologically heterogeneous → full risk assessment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(Progesterone Receptor): ER+/PR+ best response; ER+/PR- intermediate; correlates with HER2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 (ERBB2): IHC 3+ or FISH amplified → trastuzumab + pertuzumab benefit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HER2-low: IHC 1+ or 2+/FISH negative → T-DXd eligibility (DESTINY-Breast04)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Ki-67: surrogate for proliferative activity; &gt;20–30% = high; threshold varies by lab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Key Factors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Age: younger patients (&lt;35): ↑ recurrence risk; more aggressive biology; BRCA testing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Race/ethnicity: Black women → higher TNBC rate; biologic and systemic disparities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Androgen receptor (AR): positive in 70–95% ER+ BC and ~50% TNBC (emerging target)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TILs (tumor-infiltrating lymphocytes): high TILs → improved pCR in TNBC/HER2+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cancer burden (RCB): RCB-0 (pCR) → best OS; RCB-III → worst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Pathologic Response (pCR)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= no residual invasive cancer in breast + lymph nodes after neoadjuvant 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definition: ypT0 ypN0 (NSABP) or ypT0/Tis ypN0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endpoint for improved OS in TNBC and HER2+ (CREATE-X, KATHERINE)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rates: TNBC ~30–55% with platinum-containing NAC; HER2+ up to 60–70%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disease in TNBC → capecitabine 6–8 cycles improves OS (CREATE-X)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disease in HER2+ → T-DM1 (ado-trastuzumab emtansine) improves DFS (KATHERINE)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Multigene Assays — Oncotype DX &amp; MammaPrint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Factors &amp; Molecular Subtypes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93392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Oncotype DX (21-gene RT-PCR)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Score (RS) 0–100: validated in ER+/HER2-, N0 and N1 (1–3 nodes)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&lt;18 (low): endocrine alone — chemo adds no benefit (TAILORx, RxPONDER)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18–30 (intermediate): chemo benefit uncertain; menopausal status critical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&gt;30 (high): chemotherapy adds significant benefit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 RS 16–25: may benefit from chemo (partly via ovarian suppression)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SIGNIFICANCE: avoids overtreatment (low-risk) AND undertreatment (high-risk) — practice-changing genomic test in ER+/HER2- BC</a:t>
            </a:r>
            <a:endParaRPr lang="en-US" sz="870" dirty="0"/>
          </a:p>
        </p:txBody>
      </p:sp>
      <p:sp>
        <p:nvSpPr>
          <p:cNvPr id="11" name="Shape 9"/>
          <p:cNvSpPr/>
          <p:nvPr/>
        </p:nvSpPr>
        <p:spPr>
          <a:xfrm>
            <a:off x="228600" y="2679192"/>
            <a:ext cx="4206240" cy="1956816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791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RxPONDER Trial (N1 disease)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80944"/>
            <a:ext cx="40233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III: 5083 women, ER+/HER2-, N1(1–3 nodes), RS ≤25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Postmenopausal: no chemo benefit (adds only toxicity)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 RS ≤25 N1: chemo improved iDFS (HR 0.64) — possibly via ovarian suppression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implication: postmenopausal N1 RS≤25 → endocrine therapy alone safe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 N1 → consider chemo + ovarian suppression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93392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MammaPrint (70-gene expression)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Microarray: classifies BC as Low Risk (LR) vs High Risk (HR) for distant recurrence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MINDACT trial: "Ultra-low risk" subset: clinical high / genomic low → can omit chemo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~46% clinical-high/genomic-low: chemotherapy omission safe at 5 years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suited for: ER+/HER2- early BC when additional genomic context needed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for both pre- and postmenopausal; pN0 and limited N1 disease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79192"/>
            <a:ext cx="4297680" cy="1956816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791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Multigene Assays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80944"/>
            <a:ext cx="411480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PAM50 / Prosigna (50 gene): reports Intrinsic Subtype + ROR (Risk of Recurrence) 0–100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Endopredict (EP): 12-gene; binary low/high; used in postmenopausal N0/N1 ER+ HER2-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Index (BCI): predicts late recurrence (years 5–10); guides extended endocrine therapy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validated for chemotherapy decision in ER+/HER2- early BC — not interchangeable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prefers Oncotype DX but accepts validated alternatives for specific clinical scenarios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Subtypes (Intrinsic/Sorlie–Perou Classification)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Factors &amp; Molecular Subtypes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914400"/>
                <a:gridCol w="228600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Biomarker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Biology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 Backbone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Luminal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ER+/PR+, HER2-, Low Ki-67, Grade 1–2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endocrine responsive; good prognosis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therapy alone (± CDK4/6)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Luminal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ER+/PR±, HER2-, High Ki-67 OR HER2+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aggressive; endocrine + chemo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+ CT ± CDK4/6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HER2-enriched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(ER-, PR-)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15–20%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 gene amplification dominant; aggressive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Anti-HER2 + chemo ± endocrine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 Negative (TNBC)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ER-, PR-, HER2-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10–15%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Basal-like (mostly); BRCA1 assoc.; high grade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± pembrolizumab ± PARP inhibitor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breast-like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expression all markers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Contaminated specimen or normal tissue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excluded from analysis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2807208"/>
            <a:ext cx="4206240" cy="182880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2807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Subclassification (Lehmann 2011)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3108960"/>
            <a:ext cx="4023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BL1 (Basal-like 1): highest pCR; cell cycle genes; responds to platinum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BL2 (Basal-like 2): growth factor signaling; lower pCR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(Mesenchymal): EMT-related; low pCR; responds to PI3K pathway inhibitors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(Immunomodulatory): high TILs; responds to immunotherapy (pembrolizumab)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 (Luminal AR): AR-positive; responds to anti-androgen therapy (enzalutamide)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17720" y="2807208"/>
            <a:ext cx="4297680" cy="182880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28072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HER2-Low — New Clinical Entity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727448" y="3108960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IHC 1+ or IHC 2+/ISH negative (previously called "HER2 negative")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Frequency: ~55–60% of all HER2-negative BC are actually HER2-low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T-DXd (trastuzumab deruxtecan): proven efficacy in HER2-low (DESTINY-Breast04)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DESTINY-Breast04: HR 0.49 for PFS; HR 0.64 for OS in HR+ HER2-low MBC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IMPORTANT: HER2-low is not a biologic subtype — it is a treatment eligibility criterion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Algorithm — Diagnosis to Treatment Selection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General Framework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3931920" cy="384048"/>
          </a:xfrm>
          <a:prstGeom prst="roundRect">
            <a:avLst>
              <a:gd name="adj" fmla="val 11905"/>
            </a:avLst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8600" y="6217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 breast finding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0" y="1024128"/>
            <a:ext cx="36576" cy="228600"/>
          </a:xfrm>
          <a:prstGeom prst="rect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21408" y="10698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1243584"/>
            <a:ext cx="3931920" cy="384048"/>
          </a:xfrm>
          <a:prstGeom prst="roundRect">
            <a:avLst>
              <a:gd name="adj" fmla="val 11905"/>
            </a:avLst>
          </a:prstGeom>
          <a:solidFill>
            <a:srgbClr val="006978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" y="124358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Assessment: exam + imaging + tissue (CNB preferred over FNA)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0" y="1645920"/>
            <a:ext cx="36576" cy="228600"/>
          </a:xfrm>
          <a:prstGeom prst="rect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21408" y="16916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8600" y="1865376"/>
            <a:ext cx="1234440" cy="548640"/>
          </a:xfrm>
          <a:prstGeom prst="roundRect">
            <a:avLst>
              <a:gd name="adj" fmla="val 833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8600" y="1865376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→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Sec.18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536192" y="1865376"/>
            <a:ext cx="1234440" cy="548640"/>
          </a:xfrm>
          <a:prstGeom prst="roundRect">
            <a:avLst>
              <a:gd name="adj" fmla="val 8333"/>
            </a:avLst>
          </a:prstGeom>
          <a:solidFill>
            <a:srgbClr val="BF360C"/>
          </a:solidFill>
          <a:ln w="12700">
            <a:solidFill>
              <a:srgbClr val="BF360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536192" y="1865376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→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843784" y="1865376"/>
            <a:ext cx="1316736" cy="548640"/>
          </a:xfrm>
          <a:prstGeom prst="roundRect">
            <a:avLst>
              <a:gd name="adj" fmla="val 8333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843784" y="1865376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→ risk</a:t>
            </a:r>
            <a:endParaRPr lang="en-US" sz="870" dirty="0"/>
          </a:p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mgmt, not staged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2286000" y="2468880"/>
            <a:ext cx="36576" cy="228600"/>
          </a:xfrm>
          <a:prstGeom prst="rect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121408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28600" y="2688336"/>
            <a:ext cx="3931920" cy="502920"/>
          </a:xfrm>
          <a:prstGeom prst="roundRect">
            <a:avLst>
              <a:gd name="adj" fmla="val 9091"/>
            </a:avLst>
          </a:prstGeom>
          <a:solidFill>
            <a:srgbClr val="006978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28600" y="268833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Biomarker + stage integration: ER/PR/HER2 on every invasive cancer; work-up TARGETED to stage/symptoms, not blanket M-staging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2286000" y="3246120"/>
            <a:ext cx="36576" cy="228600"/>
          </a:xfrm>
          <a:prstGeom prst="rect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121408" y="3291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28600" y="3465576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8600" y="34655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Resectability assessment: T4/N2/M1 → systemic first  |  Stage I-II, T3N1 → surgery first  |  Stage III → multimodality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4434840" y="621792"/>
            <a:ext cx="4480560" cy="233172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26280" y="62179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NCCN's "Five Questions" for Every Case  [N]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4544568" y="923544"/>
            <a:ext cx="429768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Benign, high-risk, in-situ, invasive, recurrent, or metastatic?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 is the anatomic stage?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is the phenotype/biology (ER/PR/HER2, grade, genomics)?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Should surgery or systemic therapy happen first?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What pathologic response will change postoperative treatment?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"Stage tells you WHERE the disease is. Biomarkers tell you WHAT it is biologically. The treatment plan emerges only after the two are integrated." [N]</a:t>
            </a:r>
            <a:endParaRPr lang="en-US" sz="970" dirty="0"/>
          </a:p>
        </p:txBody>
      </p:sp>
      <p:sp>
        <p:nvSpPr>
          <p:cNvPr id="33" name="Shape 31"/>
          <p:cNvSpPr/>
          <p:nvPr/>
        </p:nvSpPr>
        <p:spPr>
          <a:xfrm>
            <a:off x="4434840" y="3063240"/>
            <a:ext cx="4480560" cy="109728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26280" y="306324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 Counseling Trigger Points  [N]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4544568" y="3364992"/>
            <a:ext cx="4297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testing when hereditary risk is suspected, in TNBC at any age, or when a patient may be an olaparib candidate</a:t>
            </a:r>
            <a:endParaRPr lang="en-US" sz="970" dirty="0"/>
          </a:p>
        </p:txBody>
      </p:sp>
      <p:sp>
        <p:nvSpPr>
          <p:cNvPr id="36" name="Shape 34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F3E5F5"/>
          </a:solidFill>
          <a:ln w="15875">
            <a:solidFill>
              <a:srgbClr val="6A1B9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biology are two SEPARATE axes that must both be known before a treatment plan exists — neither one alone is sufficient.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Algorithm — Sequencing, Response-Adapted &amp; Metastatic Rx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General Framework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2880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vs. Adjuvant Sequencing  [N][D]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favored: cT2+/cN+, HER2+, TNBC, or tumor large relative to breast (enable BCS) [N][D]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appropriate: multicentric disease, extensive intraductal component, or patient preference for mastectomy [D]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B-18: neoadjuvant = adjuvant for OS; 9-trial meta-analysis: RR of LRR 1.22 (95% CI 1.04-1.45) vs adjuvant [D]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starting: assess axilla; clip any suspicious node for later targeted axillary dissection (TAD) [N]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228600" y="2542032"/>
            <a:ext cx="4206240" cy="1847088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420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Response-Adapted Postoperative Therapy (after neoadjuvant)  [N]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43784"/>
            <a:ext cx="40233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= excellent prognostic marker across ALL subtypes — still complete the planned local + systemic course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HR+/HER2-: continue endocrine ± CDK4/6i ± germline-BRCA-directed therapy (olaparib)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HER2+: postoperative HER2-targeted escalation (T-DM1)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TNBC: continue pembrolizumab if used neoadjuvantly; capecitabine / olaparib pathways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stage x subtype combinations: Section 18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4526280" y="621792"/>
            <a:ext cx="4389120" cy="4114800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17720" y="62179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(Stage IV) Algorithm  [D, Fig.106.6]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636008" y="923544"/>
            <a:ext cx="4206240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and/or PR POSITIVE → hormonal therapy first-line (unless visceral crisis) → chemotherapy only once hormone-refractory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and/or PR NEGATIVE → chemotherapy is the backbone; branch by HER2: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HER2-positive → chemotherapy + trastuzumab-based therapy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HER2-negative → chemotherapy alone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Re-biopsy accessible disease at first recurrence/Stage IV — re-check ER/PR/HER2, because phenotype can change [N][D]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[N] framing (2026): endocrine-based therapy is central for HR+/HER2- absent visceral crisis; continue HER2-pathway suppression across lines for HER2+; TNBC choice depends on prior immunotherapy/ADC exposure, germline BRCA, PD-L1, and disease tempo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first/second-line regimens by subtype: Section 18</a:t>
            </a:r>
            <a:endParaRPr lang="en-US" sz="970" dirty="0"/>
          </a:p>
        </p:txBody>
      </p:sp>
      <p:sp>
        <p:nvSpPr>
          <p:cNvPr id="17" name="Shape 15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EAF5EA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pathologic complete response changes WHAT you give next (escalate/de-escalate by residual biology) — it never means "stop," and it never replaces re-biopsy at relapse.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— Resection Types, SLNB Technique &amp; ALND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Surgery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583680"/>
                <a:gridCol w="5029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Src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BCS / lumpectomy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 resection + adjuvant RT + nodal assessment ("wide local excision")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/ simple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tissue + NAC only, no ALND; 30-day mortality &lt;1%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(Patey)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mastectomy + axillary dissection; preserves pec major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S,D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Halsted radical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 major+minor + levels I-III ALND; rarely needed today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kept, NAC removed; recurrence &lt;6-8%, ≈ standard mastectomy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S,D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 (NSM)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Tumor &gt;2-3cm from areola, non-smoker, no prior RT; poor if PMRT planned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S,D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Oncoplastic surgery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Tissue rearrangement when skin resection would malposition the nipple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S,N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Reconstruction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Implant/expander (low cost) or LD/TRAM/DIEP/SGAP flap (autologous, donor-site risk)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S,D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063240"/>
            <a:ext cx="4206240" cy="164592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30632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Technique  [S][D]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3364992"/>
            <a:ext cx="40233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tracer (isotope+blue dye) more accurate than either alone; meta-analysis: sens. 93%, FNR 7%, accuracy 95%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"10% rule": remove all blue nodes + nodes &gt;10% of hottest SLN count — 4 SLNs finds 98% of positive SLNs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Z10/B-32: SLN identified in 97-98.6%; complications: blue-dye anaphylaxis 0.1%; paresthesias 8.6% at 6mo</a:t>
            </a:r>
            <a:endParaRPr lang="en-US" sz="870" dirty="0"/>
          </a:p>
        </p:txBody>
      </p:sp>
      <p:sp>
        <p:nvSpPr>
          <p:cNvPr id="12" name="Shape 9"/>
          <p:cNvSpPr/>
          <p:nvPr/>
        </p:nvSpPr>
        <p:spPr>
          <a:xfrm>
            <a:off x="4526280" y="3063240"/>
            <a:ext cx="4389120" cy="1645920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17720" y="3063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— Standard Indications  [S][N]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636008" y="3364992"/>
            <a:ext cx="4206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nodal disease not meeting Z0011 criteria, failed SLN mapping, or heavier residual nodal burden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recommended: inflammatory cancer, biopsy-proven nodal mets before neoadjuvant work-up, DCIS w/o mastectomy</a:t>
            </a:r>
            <a:endParaRPr lang="en-US" sz="87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— Indications by Stage, Contraindications &amp; Margins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Surgery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97680" cy="19202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by Stage/Scenario  [S][D][N]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LCIS: observation ± chemoprevention; excision does not help (disease is diffuse/bilateral risk) — NCCN 2026 favors monitoring over default mastectomy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extensive (&gt;4cm/&gt;1 quadrant) → mastectomy; limited → lumpectomy+RT; mastectomy curative in ~98%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I/IIA/IIB: BCS+RT preferred, non-BRCA, unifocal — equivalent to mastectomy in 6 RCTs, confirmed at 20-yr (Milan I, B-06)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IIIA/IIIB: neoadjuvant → response assessment → surgery (BCS if downstaged; MRM if minimal response) → RT always follows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IBC: surgery CONTRAINDICATED until complete resolution of skin changes post-NAC, then MRM; BCT contraindicated (7/13 local recurrence in one series)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IV: resection of primary not standard initial therapy; retrospective survival association likely reflects selection bias (ECOG E2108 ongoing)</a:t>
            </a:r>
            <a:endParaRPr lang="en-US" sz="870" dirty="0"/>
          </a:p>
        </p:txBody>
      </p:sp>
      <p:sp>
        <p:nvSpPr>
          <p:cNvPr id="11" name="Shape 9"/>
          <p:cNvSpPr/>
          <p:nvPr/>
        </p:nvSpPr>
        <p:spPr>
          <a:xfrm>
            <a:off x="4617720" y="621792"/>
            <a:ext cx="4297680" cy="2331720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Contraindications to Breast Conservation  [D][S]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727448" y="923544"/>
            <a:ext cx="411480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ABSOLUTE: pregnancy (unless RT deferred to 3rd-trimester post-delivery); ≥2 tumors in separate quadrants or diffuse malignant microcalcifications; prior therapeutic RT requiring re-treatment; persistent positive margins after reasonable attempts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RELATIVE: scleroderma/active lupus (most oncologists treat as absolute); large tumor in small breast (cosmetic, not oncologic — consider neoadjuvant); known BRCA carrier ("not advised" — Schwartz)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contraindications: mobile suspicious nodes, microscopic axillary involvement, high systemic-relapse risk (affects adjuvant therapy, not local-therapy choice)</a:t>
            </a:r>
            <a:endParaRPr lang="en-US" sz="870" dirty="0"/>
          </a:p>
        </p:txBody>
      </p:sp>
      <p:sp>
        <p:nvSpPr>
          <p:cNvPr id="14" name="Shape 12"/>
          <p:cNvSpPr/>
          <p:nvPr/>
        </p:nvSpPr>
        <p:spPr>
          <a:xfrm>
            <a:off x="4617720" y="3108960"/>
            <a:ext cx="4297680" cy="123444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310896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Standards  [S][N]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3410712"/>
            <a:ext cx="41148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+ BCS: "no ink on tumor" (SSO-ASTRO); wider margins do NOT lower local recurrence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DCIS + WBRT: 2mm standard (2016 SSO-ASTRO-ASCO); Silverstein: &gt;10mm margin adds no RT benefit</a:t>
            </a:r>
            <a:endParaRPr lang="en-US" sz="8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LCIS at margin: no routine re-excision required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FFF8E1"/>
          </a:solidFill>
          <a:ln w="15875">
            <a:solidFill>
              <a:srgbClr val="BF36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"close" margin is not a fixed number across scenarios: it is 2mm for DCIS+RT, "no ink on tumor" for invasive cancer, and not required at all for classic LCIS — using the wrong rule is a common exam trap.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Radiation Therapy — Indications, RNI &amp; Contraindications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Radiation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78308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Post-BCS / Post-Mastectomy Indications  [N][D]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Post-BCS: WBRT is the core local-control strategy for most invasive cancer + DCIS; reduces local recurrence by ~70%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PMRT: positive margin; ≥4 positive nodes; 1-3 positive nodes especially premenopausal [S]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LABC/IBC: PMRT routinely given despite pathologic complete response to neoadjuvant chemo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Paget disease treated with BCT + negative margins: irradiate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228600" y="2514600"/>
            <a:ext cx="4206240" cy="1737360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14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Nodal Irradiation (RNI)  [N]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16352"/>
            <a:ext cx="40233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positive nodes: comprehensive RNI "often strongly considered"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≥4 positive nodes: comprehensive RNI is Category 1 in BOTH mastectomy and BCS pathways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IIIA/B: breast/chest-wall + supraclavicular RT combinations after neoadjuvant chemo + surgery ± ALND [S]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526280" y="621792"/>
            <a:ext cx="4389120" cy="1828800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17720" y="62179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Contraindications  [D][S]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636008" y="923544"/>
            <a:ext cx="42062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ABSOLUTE: pregnancy (BCT possible in 3rd trimester, RT deferred postpartum); prior therapeutic irradiation requiring re-treatment to an excessive total dose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RELATIVE, often treated as ABSOLUTE: scleroderma or active lupus — "tolerate irradiation poorly"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contraindication: rheumatoid arthritis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526280" y="2587752"/>
            <a:ext cx="4389120" cy="1664208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17720" y="258775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Indications  [N]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636008" y="2889504"/>
            <a:ext cx="4206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tumor-bed boost after BCS for: central/medial tumors, larger tumors, grade 3, ER-negative disease, LVI, young age/longevity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of the actual EORTC boost trial numbers: next slide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FFF8E1"/>
          </a:solidFill>
          <a:ln w="15875">
            <a:solidFill>
              <a:srgbClr val="BF36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Rheumatoid arthritis is NOT a radiation contraindication — only scleroderma and active lupus are treated that way. Mixing these up is a classic exam trap.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Radiation — Fractionation, Boost &amp; APBI Selection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Radiation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40080"/>
          <a:ext cx="42062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4526280" y="640080"/>
          <a:ext cx="42062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3127248"/>
            <a:ext cx="4206240" cy="137160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20040" y="31272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Numbers  [D]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338328" y="3429000"/>
            <a:ext cx="40233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Hypofractionation: absolute difference only 0.5 pts (95% CI -2.5 to 3.5); cosmesis similar; conventional fractionation did better in high-grade cancers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(n=5,318): 41% proportional reduction (P&lt;.0001); benefit greatest ≤40y (24%→14%), smallest &gt;60y (7%→4%); severe fibrosis 2%→4%</a:t>
            </a:r>
            <a:endParaRPr lang="en-US" sz="880" dirty="0"/>
          </a:p>
        </p:txBody>
      </p:sp>
      <p:sp>
        <p:nvSpPr>
          <p:cNvPr id="13" name="Shape 9"/>
          <p:cNvSpPr/>
          <p:nvPr/>
        </p:nvSpPr>
        <p:spPr>
          <a:xfrm>
            <a:off x="4526280" y="3127248"/>
            <a:ext cx="4389120" cy="137160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17720" y="31272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APBI Patient Selection (ASTRO)  [S][D]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4636008" y="3429000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SUITABLE: age ≥60y, unifocal T1, ER+, no LVI, margins ≥2mm, node-negative, BRCA1/2-negative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CAUTIONARY: lobular histology, 2.1-3cm, ER-, focal LVI, margins &lt;2mm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UNSUITABLE: T3/T4, multicentric, extensive LVI, positive margins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E3F2FD"/>
          </a:solidFill>
          <a:ln w="15875">
            <a:solidFill>
              <a:srgbClr val="0D47A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boost value is very small in patients ≥60 years, it is reasonable to treat grade 1-2, node-negative patients ≥60 with accelerated whole-breast RT without a boost. [D]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— Regimens by Subtype &amp; Who Needs It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Chemotherapy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4343400"/>
                <a:gridCol w="4343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HER2-negative — Preferred / Other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HER2-positive — Preferred / Other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ddAC→paclitaxel (q2wk or weekly); TC (docetaxel+cyclophosphamide)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AC→paclitaxel+trastuzumab±pertuzumab; TCH±pertuzumab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Other: CMF; AC→docetaxel; TAC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Other: AC→docetaxel+trastuzumab±pertuzumab; paclitaxel+trastuzumab±pertuzumab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146304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A=doxorubicin, C=cyclophosphamide, T=taxane. Table reproduced from Schwartz Table 17-14 (NCCN-2006-era) — the chapter itself notes "today's lists differ"; current regimens follow NCCN v6.2026. [S]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28600" y="1828800"/>
            <a:ext cx="4206240" cy="265176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0040" y="18288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 / Classic Chemo Triggers  [S]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38328" y="2130552"/>
            <a:ext cx="402336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chemo if: node-positive, ER-negative, HER2-positive, grade 3 node-negative &gt;5mm, triple-negative, LVI+, or 21-gene assay &gt;15% distant relapse at 10y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 ≤0.5cm: minimal benefit, not recommended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0.6-1.0cm N0: only with adverse features (LVI, high grade, HER2+, HR-negative)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HR-negative &gt;1cm: chemotherapy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HR-positive, T1, N0: endocrine ± chemo guided by 21-gene assay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17720" y="1828800"/>
            <a:ext cx="4297680" cy="2651760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0916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2026 Small-Tumor Thresholds  [N]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727448" y="2130552"/>
            <a:ext cx="411480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TNBC: pT1a N0 — adjuvant may be omitted in selected patients; threshold for chemo rises with size; pT1c-T3 = Category 1 chemo pathway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pT1a-b N0 — absolute benefit less certain (trials didn't establish this evidence base); pT1c-T3 and/or N+ — chemo+trastuzumab Category 1, pertuzumab in selected higher-risk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 Gallen (2005-07) vs NCCN(2007) historically disagreed on exact size cutoffs for chemo in every subtype — a reminder that thresholds shift between guideline versions [D]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FDECEA"/>
          </a:solidFill>
          <a:ln w="15875">
            <a:solidFill>
              <a:srgbClr val="B71C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"Triple-negative" and "node-positive" push toward chemo almost automatically — the genuinely hard calls are the small, HR+/HER2- tumors, which is exactly what the 21-gene assay was built to resolve.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— Neoadjuvant vs Adjuvant &amp; Trial Statistics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Chemotherapy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40080"/>
          <a:ext cx="42062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526280" y="621792"/>
            <a:ext cx="4389120" cy="21488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17720" y="62179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Facts  [D][S]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636008" y="923544"/>
            <a:ext cx="420624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B-18: same 5-yr DFS as adjuvant, but more lumpectomies + fewer positive nodes with neoadjuvant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Meta-analysis of 9 RCTs: no OS difference, but RR of local-regional recurrence 1.22 (95% CI 1.04-1.45) with neoadjuvant vs adjuvant sequencing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25-30% of patients ineligible for BCS at presentation achieved BCS after neoadjuvant chemo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ER-positive tumors respond LESS to neoadjuvant chemo (pCR &lt;10%, lobular &lt;3%) — pCR in ER-negative disease is ~3x that of ER-positive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4526280" y="2880360"/>
            <a:ext cx="4389120" cy="1554480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17720" y="2880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Contraindications / Cautions  [D]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636008" y="3182112"/>
            <a:ext cx="42062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Anthracyclines: cardiomyopathy risk, caution with prior exposure/cardiac disease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Taxanes: neuropathy, worse with pre-existing peripheral neuropathy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tamoxifen + chemo: worse recurrence than sequential chemo→tamoxifen — should NOT be given concurrently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FCE4EC"/>
          </a:solidFill>
          <a:ln w="15875">
            <a:solidFill>
              <a:srgbClr val="AD145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women would accept chemotherapy for a gain as small as 1%, and most for a 3-5% improvement in recurrence risk [D] — "marginal benefit" is a clinical judgment to share with the patient, not a reason to withhold the option.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Hormonal Therapy — Agents, Sequencing &amp; Duration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Hormonal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 or postmenopausal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SERM; now mainly used in PREmenopausal women [S]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Anastrozole / Letrozole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Postmenopausal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Nonsteroidal, reversible AI; first-line adjuvant postmenopausal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Exemestane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Postmenopausal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Steroidal, irreversible AI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Ovarian suppression (goserelin/leuprolide)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Premenopausal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GnRH agonist, or oophorectomy/ovarian 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Fulvestrant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Postmenopausal, metastatic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 down-regulator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2212848"/>
            <a:ext cx="4297680" cy="228600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2212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by Menopausal Status  [S][D]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2514600"/>
            <a:ext cx="41148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are first-line adjuvant in POSTmenopausal women: EBCTCG (31,920 women), 5y AI vs tamoxifen → -30% recurrence, ~-15% 10-yr BC mortality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ATAC/BIG1-98 (upfront AI) HR-DFS 0.87/0.81; IES/ARNO (switch after 2-3y tam) HR-DFS 0.68/0.60 vs continued tamoxifen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SOFT/TEXT: exemestane+OFS vs tamoxifen+OFS → DFS 93% vs 89%; benefit mainly in HIGH-RISK women (&lt;40y, node+) who needed chemo — "no meaningful benefit without chemotherapy"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NOT appropriate premenopausal: residual ovarian function overcomes the effect; lowers postmenopausal estrogen by ~90%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4617720" y="2212848"/>
            <a:ext cx="4297680" cy="2286000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2212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Contraindications  [N][D]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727448" y="2514600"/>
            <a:ext cx="41148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Tamoxifen: VTE RR 1.9 (95% CI 1.4-2.6); endometrial cancer RR 2.4 (95% CI 1.5-4.0) — significant elevation limited to POSTmenopausal women; teratogenic; avoid strong CYP2D6 inhibitors (paroxetine, fluoxetine)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AIs: bone loss, arthralgia, menopausal symptoms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does NOT recommend routine CYP2D6 genotype testing for tamoxifen prevention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young women (&lt;35y) who do NOT get chemo-induced amenorrhea have substantially worse prognosis than those who do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E0F2F1"/>
          </a:solidFill>
          <a:ln w="15875">
            <a:solidFill>
              <a:srgbClr val="0069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only work when ovarian estrogen production has already stopped — giving one to a premenopausal woman without ovarian suppression is a dosing-logic error, not just "the wrong drug."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Hormonal Therapy — Extended Duration &amp; Metastatic Statistics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Hormonal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97680" cy="233172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Evolving Evidence: Does &gt;5y Tamoxifen Help?  [Conflict — see Pitfalls]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11480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DeVita (older, pre-ATLAS): "extending tamoxifen beyond 5 years...has not led to further improvements in DFS or OS" — reflects the NIH 2000 Consensus recommendation of a fixed 5-year course [D]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 (newer): ATLAS (~13,000 women) — 10y vs 5y tamoxifen LOWERS recurrence and mortality, benefit emerging years 10-15; confirmed by aTTom [S]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Resolution: older evidence said no benefit beyond 5 years; ATLAS/aTTom later reversed that — always check which trial era a recommendation is based on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MA-17R/NSABP B-42: extended letrozole improves breast-cancer-free survival but NOT overall survival [S]</a:t>
            </a:r>
            <a:endParaRPr lang="en-US" sz="88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17720" y="621792"/>
          <a:ext cx="42976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228600" y="3108960"/>
            <a:ext cx="8686800" cy="137160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0040" y="310896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Endocrine Therapy — Key Numbers  [D][S]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38328" y="3410712"/>
            <a:ext cx="8503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(historic 1st-line, ER+ MBC): ~50% response rate; median response duration 12-18 months; "tamoxifen flare" (bone pain, transient progression, hypercalcemia) in 5-10% in first days/weeks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 metastatic: combined ovarian suppression + tamoxifen improves survival vs. either alone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 mutations occur in 20-30% of tumors AFTER AI exposure (rare in primary tumors) — confer ligand-independent ER activation, AI resistance, shorter survival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FDECEA"/>
          </a:solidFill>
          <a:ln w="15875">
            <a:solidFill>
              <a:srgbClr val="B71C1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respected texts disagree (as here on extended tamoxifen), the fix is not to average them — check publication era and cite the specific trial, exactly as this deck now flags it.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HER2-Targeted Therapy — Indications &amp; Regimens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HER2-Targeted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246888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Trial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Anti-HER2 mAb; ADCC + signaling block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adjuvant (1 yr standard) + metastatic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B-31/N9831: 3-y DFS 75%→87% (HR 0.48)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Anti-HER2 domain-2 mAb; blocks HER2-HER3 dimerization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Neo/adjuvant HER2+ stage II-III; 1st-line MBC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APHINITY: iDFS events 8.7%→7.1% (HR 0.82)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T-DM1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ADC: trastuzumab + DM1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HER2+ disease after neoadjuvant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KATHERINE (referenced in deck-wide notes)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T-DXd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ADC: trastuzumab + deruxtecan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line+ HER2+ MBC; HER2-low MBC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DESTINY-Breast trials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Lapatinib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 HER2/EGFR TKI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Metastatic + capecitabine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 lapatinib INFERIOR to trastuzumab [S]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Neratinib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Irreversible pan-HER TKI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adjuvant after 1y trastuzumab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ExteNET: 2-y iDFS 91.9%→94.2% (HR 0.66)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PARP inhibitor + platinum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PARP, metastatic TNBC (BRCA-assoc.)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RR, TTP, OS in phase 2 [D]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Olaparib: "robust responses," phase 2 proof-of-principle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2880360"/>
            <a:ext cx="8686800" cy="96012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288036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 Testing &amp; Concurrency Rule  [N][S][D]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3182112"/>
            <a:ext cx="8503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2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ACTUAL HER2 IHC/ISH result — NCCN 2026 stresses "HER2-low" is a treatment-eligibility criterion, not a separate pathology category</a:t>
            </a:r>
            <a:endParaRPr lang="en-US" sz="92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2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should NOT be given concurrently with anthracyclines — overlapping cardiotoxicity (both sources agree)</a:t>
            </a:r>
            <a:endParaRPr lang="en-US" sz="920" dirty="0"/>
          </a:p>
        </p:txBody>
      </p:sp>
      <p:sp>
        <p:nvSpPr>
          <p:cNvPr id="12" name="Shape 9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F3E5F5"/>
          </a:solidFill>
          <a:ln w="15875">
            <a:solidFill>
              <a:srgbClr val="6A1B9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 status is reported as a lab VALUE (IHC 0/1+/2+/3+, ISH ratio) — treatment eligibility is decided from that value against the current drug label, not from a fixed "positive/negative" memorized once.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HER2-Targeted Therapy — Landmark Trial Statistics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HER2-Targeted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21792"/>
          <a:ext cx="27889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3200400" y="621792"/>
          <a:ext cx="27889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Chart 2" descr=""/>
          <p:cNvGraphicFramePr/>
          <p:nvPr/>
        </p:nvGraphicFramePr>
        <p:xfrm>
          <a:off x="6172200" y="621792"/>
          <a:ext cx="27432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228600" y="3794760"/>
            <a:ext cx="8686800" cy="77724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320040" y="379476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Evolving Evidence: Trastuzumab Duration (1 vs 2 years)  [Conflict — see Pitfalls]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338328" y="4096512"/>
            <a:ext cx="8503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DeVita: HERA 1-vs-2-year comparison "not as yet available" at time of writing. Schwartz (newer): 2 years "more effective but more toxic"; PHARE trial: 6 months NOT non-inferior to 12 months. 1 year remains the standard duration — the two texts disagree on whether 2-year data even existed, not just on its result.</a:t>
            </a:r>
            <a:endParaRPr lang="en-US" sz="83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x Subtype Matrix — Stage 0 through II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Stage x Subtype Matrix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85800"/>
          <a:ext cx="8686800" cy="914400"/>
        </p:xfrm>
        <a:graphic>
          <a:graphicData uri="http://schemas.openxmlformats.org/drawingml/2006/table">
            <a:tbl>
              <a:tblPr/>
              <a:tblGrid>
                <a:gridCol w="713232"/>
                <a:gridCol w="2743200"/>
                <a:gridCol w="2606040"/>
                <a:gridCol w="2624328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HR+/HER2-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Triple-Negative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DCIS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BCS+WBRT (2mm margin) or mastectomy if extensive; ER+ → consider tamoxifen 5y [S]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 distinct DCIS pathway [S][N]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applicable to DCIS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LCIS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Observation+chemoprevention, or bilateral mastectomy (highest-risk only) [S][N]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covered — HER2- by definition [D]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applicable by definition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BCS+RT or mastectomy; SLNB; endocrine ± chemo by 21-gene RS [S][N]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pT1a-b: individualize; larger → chemo+trastuzumab [N]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pT1a: may omit adjuvant; threshold rises with size [N]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BCS+RT or mastectomy; Z0011 often omits ALND; chemo per ASCO criteria [S]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Chemo+trastuzumab Cat.1; pertuzumab if higher-risk [N]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pT1c-T3 = Category 1 chemotherapy [N]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3337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evidence, exact numbers and trial names for every cell: speaker notes on this slide + companion Exhaustive Notes.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" y="3749040"/>
            <a:ext cx="8686800" cy="251460"/>
          </a:xfrm>
          <a:prstGeom prst="rect">
            <a:avLst/>
          </a:prstGeom>
          <a:solidFill>
            <a:srgbClr val="EAF5EA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5760" y="3749040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table by STAGE first, then let subtype adjust the systemic-therapy column — local therapy (surgery/RT) is driven mainly by stage, systemic therapy mainly by biology.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x Subtype Matrix — Stage III &amp; IV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Stage x Subtype Matrix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85800"/>
          <a:ext cx="86868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606040"/>
                <a:gridCol w="2560320"/>
                <a:gridCol w="26060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HR+/HER2-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Triple-Negative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 (non-IBC)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endocrine option for elderly, strongly ER+ (Z1031/PEPI); else neoadjuvant chemo→surgery→RT [S]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Trastuzumab-based therapy by extrapolation from early-stage data [D]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Pembrolizumab-containing neoadjuvant; germline BRCA+ → olaparib eligible [N]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 / IBC (T4d)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THERAPY FIRST by receptor profile → MRM only after skin changes resolve → PMRT for ALL, even after pCR [N][D]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(same fixed sequence — receptor profile changes the drugs, never the order)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misread as mastitis — key: NO fever response to antibiotics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first-line unless visceral crisis; chemo if hormone-refractory [S][D]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Continue HER2-pathway suppression across lines [N][D]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prior therapy/BRCA/PD-L1; chemo is the backbone [N][D]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35204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evidence, exact numbers and trial names for every cell: speaker notes on this slide + companion Exhaustive Notes.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" y="3840480"/>
            <a:ext cx="8686800" cy="251460"/>
          </a:xfrm>
          <a:prstGeom prst="rect">
            <a:avLst/>
          </a:prstGeom>
          <a:solidFill>
            <a:srgbClr val="FFF8E1"/>
          </a:solidFill>
          <a:ln w="15875">
            <a:solidFill>
              <a:srgbClr val="BF36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5760" y="3840480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breast cancer is a CLINICAL diagnosis with ONE fixed sequence regardless of subtype — systemic therapy first, always — which is why it gets its own row instead of three separate cells.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IV — 2026 New-Agent Additions &amp; Ethiopia Access Gap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Stage x Subtype Matrix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97680" cy="1691640"/>
          </a:xfrm>
          <a:prstGeom prst="rect">
            <a:avLst/>
          </a:prstGeom>
          <a:solidFill>
            <a:srgbClr val="FDECEA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HR+/HER2- : ESR1 &amp; PI3K/AKT Pathway (post-CDK4/6)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11480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 mutations: acquired endocrine-resistance mechanism, ~20-30% of tumors after AI exposure [D-brief cross-ref]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Elacestrant (EMERALD): oral SERD, ESR1-mutated — ESCAT IA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Inavolisib+palbociclib+fulvestrant (INAVO120), PIK3CA-mutated: PFS 15.0 vs 7.3 months (HR 0.43)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Capivasertib+fulvestrant (CAPItello-291): AKT1/PIK3CA/PTEN-altered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17720" y="621792"/>
            <a:ext cx="4297680" cy="1691640"/>
          </a:xfrm>
          <a:prstGeom prst="rect">
            <a:avLst/>
          </a:prstGeom>
          <a:solidFill>
            <a:srgbClr val="FDECEA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&amp; TNBC : ADC-Era Sequencing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727448" y="923544"/>
            <a:ext cx="411480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CLEOPATRA (1st line) → T-DXd preferred 2nd line (DESTINY-Breast03) → tucatinib+tras+cape (HER2CLIMB, preferred with brain mets)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HER2-low (DESTINY-Breast04): T-DXd now standard 2nd/3rd line; must test HER2 by IHC — IHC 0 is NOT eligible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TNBC: PD-L1+ → pembrolizumab+chemo; PD-L1- → TROP2 ADCs (sacituzumab govitecan, dato-DXd)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28600" y="2450592"/>
            <a:ext cx="4297680" cy="1188720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" y="24505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ESCAT &amp; MCBS Scoring (framework, not drug-specific)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38328" y="2752344"/>
            <a:ext cx="4114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ESCAT = ESMO Scale for Clinical Actionability of Molecular Targets (Tier I ready for routine use → Tier IV do not use)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MCBS v2.0 = Magnitude of Clinical Benefit Scale (1-5 palliative / A-C curative) — guides which benefits are "substantial"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17720" y="2450592"/>
            <a:ext cx="4297680" cy="11887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4505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 Access Gap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752344"/>
            <a:ext cx="4114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2026 agents (T-DXd, inavolisib, elacestrant, sacituzumab govitecan) NOT yet available in Ethiopia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approach: established regimens (AC→T, CMF, tamoxifen, trastuzumab where available); MCBS scoring guides import-priority advocacy (WHO EML)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E3F2FD"/>
          </a:solidFill>
          <a:ln w="15875">
            <a:solidFill>
              <a:srgbClr val="0D47A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slide changes the Stage IV algorithm on the previous slide — it only adds NEW options at the points where hormone-refractory or HER2/TNBC lines already existed.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Statistics of Benefit — Prevention &amp; Local Therapy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Statistics of Benefit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920240"/>
                <a:gridCol w="352044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Comparator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 / Magnitude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(NSABP P-1)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Placebo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BC incidence −49% (all ER+ disease)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Prophylactic mastectomy (Hartmann)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incidence (sisters’ rate)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−90-94% (95% CI 71-99%)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 mammography (meta-analysis)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Unscreened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 0.85 (95% CI 0.73-0.99) BC death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excision+RT (NSABP B-17)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 31.7%→15.7% (−50%, P&lt;.00005)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 after BCS (EBCTCG 2005), node-negative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+16.1% local control, +4.6% 15-y 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 after BCS (EBCTCG 2005), node-positive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+30.1% local control, +8.2% 15-y 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Z0011: ALND vs no further axillary surgery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 +SLN, BCS+WBI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91.9% vs 92.5% (P=.25) — no difference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ALMANAC: SLNB vs ALND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 at 12mo: 5% vs much higher (RR 0.37)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EORTC boost trial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boost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10-y recurrence 10.2%→6.2% (41% reduction, P&lt;.0001)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FDECEA"/>
          </a:solidFill>
          <a:ln w="15875">
            <a:solidFill>
              <a:srgbClr val="B71C1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this slide has a NAMED comparator — quoting "tamoxifen reduces cancer by 49%" without saying "vs placebo, in ER+ disease, per NSABP P-1" is how these figures get misquoted on exams.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Statistics of Benefit — Systemic Therapy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Statistics of Benefit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783080"/>
                <a:gridCol w="342900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Comparator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 / Magnitude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Src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trastuzumab (Buzdar)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alone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26%→65%; cardiac function preserved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adjuvant (5 pivotal trials, pooled)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alone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~50% average DFS risk reduction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adjuvant (EBCTCG, &gt;80 trials, &gt;80,000 women)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tamoxifen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−41% annual recurrence rate (HR 0.59)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vs tamoxifen (EBCTCG, 31,920 women)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5y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−30% recurrence, ~−15% 10-y BC mortality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PALOMA-1: palbociclib+letrozole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Letrozole alone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PFS 10.2→20.2 months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BOLERO-2: everolimus+exemestane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Exemestane alone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PFS 4.1→11 months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CREATE-X: capecitabine, residual TNBC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capecitabine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DFS 74%→78%; OS benefit (HR 0.59)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KEYNOTE-522: pembrolizumab, neoadjuvant TNBC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alone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51.2%→64.8%; EFS HR 0.63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deck-wide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 APHINITY (adjuvant)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Trastuzumab+chemo alone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Invasive-DFS events 8.7%→7.1% (HR 0.82)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FCE4EC"/>
          </a:solidFill>
          <a:ln w="15875">
            <a:solidFill>
              <a:srgbClr val="AD145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how much smaller the systemic-therapy effect sizes are (HR 0.6-0.9) compared to the mandatory-sequence rules like IBC’s "neoadjuvant always first" — both are evidence-based, but they answer different kinds of questions.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Recurrence — Classification, Definitions &amp; Patterns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Recurrence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Type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 Goal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IBTR (true local)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Ipsilateral breast recurrence after BCS — same site, same histology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mastectomy ± systemic; re-staging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ipsilateral primary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quadrant, or ≥5yrs, or different biomarkers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as new primary; re-stage + re-treat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(post-mastectomy)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Skin/soft tissue at mastectomy site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 ± RT; systemic staging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(nodal)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Ipsilateral axillary, SCF, or IMN recurrence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 ± RT; full staging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Distant metastatic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site beyond locoregional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therapy; QoL focus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5532120" y="621792"/>
          <a:ext cx="33832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2999232"/>
            <a:ext cx="8686800" cy="14630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20040" y="2999232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&amp; Risk Pattern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338328" y="3300984"/>
            <a:ext cx="85039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recurrence: within 2-3cm of original site, same histology, &lt;5 years. New primary: different quadrant, OR ≥5 years, OR different histology/biomarkers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recurrences late (years 5-20+); TNBC/HER2+ early (&lt;3 years) — annual hazard peaks ~2y for TNBC, ~3-4y for HER2+, bimodal for ER+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risk by axillary status: node-negative ~25% vs node-positive ~60% at 10 years</a:t>
            </a:r>
            <a:endParaRPr lang="en-US" sz="930" dirty="0"/>
          </a:p>
        </p:txBody>
      </p:sp>
      <p:sp>
        <p:nvSpPr>
          <p:cNvPr id="13" name="Shape 9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E0F2F1"/>
          </a:solidFill>
          <a:ln w="15875">
            <a:solidFill>
              <a:srgbClr val="00697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 new lesion is "recurrence" or "new primary" changes prognosis AND treatment — always check site, latency, and biomarker match before assuming the worse label.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Locoregional Recurrence — Management Algorithm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— Recurrence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for LRR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grade + large tumor size (T3-4); positive/close margins after prior BCS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radiation to the breast/chest wall; young age (&lt;40)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Lymphovascular invasion (LVI): strong predictor of nodal/LRR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and HER2-enriched: early LRR within 2-3 years; ER-negative tumors: front-loaded pattern, no late recurrences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IBTR After BCS — Management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Re-stage: CT C/A/P + bone scan (or PET) to exclude distant disease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salvage: mastectomy (standard if prior RT given)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BCS: possible only if NO prior RT and margins achievable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Post-mastectomy RT: required if chest wall not previously irradiated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by NEW biomarker profile (re-biopsy); prognosis ~60-70% 5-y OS for isolated IBTR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Wall Recurrence (Post-Mastectomy)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staging workup before local treatment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Isolated: wide excision + RT (if not previously irradiated)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Previously irradiated field: re-irradiation possible at expert centers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distant mets: systemic therapy primary, local control adjunctive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Recurrence — Axillary/SCF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prior SLNB: full ALND (levels I-III)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prior ALND: surgical excision ± radiotherapy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Supraclavicular: radiotherapy ± systemic; surgery rarely feasible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regional recurrences: full staging to exclude distant mets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based on new biomarker testing + prior treatment history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Pitfalls — Screening, Investigation &amp; Diagnosis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— Screening, Diagnosis &amp; Management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3749040"/>
          </a:xfrm>
          <a:prstGeom prst="rect">
            <a:avLst/>
          </a:prstGeom>
          <a:solidFill>
            <a:srgbClr val="FDECEA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NCCN's Own "Common Pitfalls" Table  [N]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"Mastectomy is safer than BCS" — WRONG when BCS is appropriate + RT given, survival is equivalent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"Any positive SLN means ALND" — WRONG; axillary surgery is risk-adapted (Z0011)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"2mm margin required for every breast cancer" — WRONG; that's the DCIS+WBRT rule, not invasive cancer ("no ink on tumor")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"MRI should be done for everyone" — WRONG; selective use only, can increase false positives and unwarranted mastectomy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 M0 patient needs CT/PET" — WRONG; staging is targeted to symptoms/high-risk presentation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"Any visceral metastasis = visceral crisis" — WRONG; crisis is an organ-threatening clinical state, not just presence of mets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"HER2-low is a separate subtype" — WRONG; record the actual IHC/ISH result</a:t>
            </a:r>
            <a:endParaRPr lang="en-US" sz="9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"LCIS automatically means mastectomy" — WRONG; current guidance favors surveillance + endocrine prevention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617720" y="621792"/>
            <a:ext cx="4297680" cy="182880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Traps  [S][D]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727448" y="923544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core biopsy does NOT exclude cancer (sampling error) — discordant imaging/pathology needs re-biopsy, never "trust the benign core"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exam of the axilla is only ~20-33% accurate — do not skip imaging/biopsy before assuming cN0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B-06’s famous "equivalence" excluded palpable axillary nodes and converted positive-margin patients to mastectomy but still analyzed them as BCS (intention-to-treat) — know the caveat before quoting the headline result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2587752"/>
            <a:ext cx="4297680" cy="178308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258775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Overuse / Underuse Traps  [D]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2889504"/>
            <a:ext cx="411480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use is associated with MORE, but often unwarranted, conversion to mastectomy — a randomized trial found no decrease in unexpected mastectomy and no increase in negative-margin rate with added MRI</a:t>
            </a:r>
            <a:endParaRPr lang="en-US" sz="9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clinicopathologic factors ALONE (no genomic assay), up to 70% of early-stage patients receive chemotherapy that is unnecessary or ineffective [S]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F3E5F5"/>
          </a:solidFill>
          <a:ln w="15875">
            <a:solidFill>
              <a:srgbClr val="6A1B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these pitfalls share one shape: a rule that is TRUE in one specific scenario gets over-generalized to every scenario — always ask "which patients was this actually studied in?"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Pitfalls — Management &amp; Evolving Evidence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— Screening, Diagnosis &amp; Management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97680" cy="2103120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Traps  [D][S]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1148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mastectomy is a poor choice if PMRT is planned — radiation affects the preserved nipple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Z0011: only ~half the intended patients accrued; no standardization of low-axillary tangent irradiation — do not over-generalize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tamoxifen + chemo: ONE RCT found GREATER recurrence risk than sequential chemo→tamoxifen — sequence matters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+ strong CYP2D6 inhibitors (paroxetine, fluoxetine) may blunt its effect — avoid these SSRIs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High-dose chemo + stem-cell support (1990s, preliminary data): later RCTs showed NO survival benefit, MORE mortality</a:t>
            </a:r>
            <a:endParaRPr lang="en-US" sz="790" dirty="0"/>
          </a:p>
        </p:txBody>
      </p:sp>
      <p:sp>
        <p:nvSpPr>
          <p:cNvPr id="11" name="Shape 9"/>
          <p:cNvSpPr/>
          <p:nvPr/>
        </p:nvSpPr>
        <p:spPr>
          <a:xfrm>
            <a:off x="4617720" y="621792"/>
            <a:ext cx="4297680" cy="2103120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Decision-Making Paradox  [D]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727448" y="923544"/>
            <a:ext cx="41148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population-based study, MORE patient involvement in the surgical decision was associated with a GREATER likelihood of choosing mastectomy (27% when the patient decided alone vs. 5% when the surgeon decided) — the opposite of the intuitive assumption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Underuse of BCT is not mainly explained by medical contraindications: in one study only 13.4% were told mastectomy was medically necessary, yet mastectomy rates stayed high — patient preference and surgeon variation, not contraindications, drove the gap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228600" y="2862072"/>
            <a:ext cx="8686800" cy="160020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" y="2862072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Evolving Evidence — Three Places the Sources Genuinely Disagree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38328" y="3163824"/>
            <a:ext cx="85039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Trastuzumab duration: DeVita called 2-year data "not yet available"; Schwartz (newer) says 2 years is "more effective but more toxic" — 1 year remains standard (Sec.17)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Extended tamoxifen &gt;5 years: DeVita (older, pre-ATLAS) said no added benefit; Schwartz cites ATLAS/aTTom showing a real benefit emerging at years 10-15 (Sec.16) — always check trial era</a:t>
            </a:r>
            <a:endParaRPr lang="en-US" sz="8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HRT breast-cancer risk magnitude: Schwartz cites +26% (Collaborative Group reanalysis); DeVita cites WHI HR 1.24 (+24%) AND the Million Women Study RR 1.66 (+66%) — three different numbers from three different trials describing the same direction of risk; attribute each figure to its specific trial rather than quoting one as "the" HRT risk</a:t>
            </a:r>
            <a:endParaRPr lang="en-US" sz="88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Situations: Pregnancy, Male BC &amp; Nipple Discharge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38528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in Pregnancy (PABC)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Incidence: 1 in 3,000 pregnancies; most common cancer in pregnancy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US (safe); MRI without gadolinium acceptable; mammography OK (fetal shielding)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Surgery: all trimesters safe; avoid blue-dye sentinel mapping (Tc-99m acceptable)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Chemotherapy: AVOID 1st trimester; AC-T safe after 14 weeks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Termination: NOT recommended for cancer treatment — does not improve prognosis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228600" y="2624328"/>
            <a:ext cx="4206240" cy="201168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243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PABC — Drug &amp; RT Considerations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26080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Trastuzumab: CONTRAINDICATED (oligohydramnios, fetal renal failure)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Radiation: AVOID during pregnancy; defer to postpartum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Tamoxifen: TERATOGENIC — start only after delivery/breastfeeding cessation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Breastfeeding: not recommended during chemotherapy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stage-for-stage equivalent to non-pregnant; delayed diagnosis worsens outcome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38528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 — Consolidated  (was split across 2 slides)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of all BC; ~6% in Sub-Saharan Africa; avg age 67 at diagnosis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factors: BRCA2 (lifetime risk 6-8%, the single most important gene), Klinefelter (XXY), exogenous estrogen, radiation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Biology: ER+ ~90%; HER2+ uncommon; TNBC rare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MRM standard (BCS rare); tamoxifen preferred (AIs less effective — androgens compete)</a:t>
            </a:r>
            <a:endParaRPr lang="en-US" sz="97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2026: BRCA2 male carriers → annual PSA from age 40-45</a:t>
            </a:r>
            <a:endParaRPr lang="en-US" sz="970" dirty="0"/>
          </a:p>
        </p:txBody>
      </p:sp>
      <p:sp>
        <p:nvSpPr>
          <p:cNvPr id="17" name="Shape 15"/>
          <p:cNvSpPr/>
          <p:nvPr/>
        </p:nvSpPr>
        <p:spPr>
          <a:xfrm>
            <a:off x="4617720" y="2624328"/>
            <a:ext cx="4297680" cy="2011680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243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Discharge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26080"/>
            <a:ext cx="41148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Benign: bilateral, milky, multiple ducts, non-spontaneous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Concerning: unilateral, bloody/serosanguineous, single duct, spontaneous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Bloody discharge: #1 papilloma; #2 DCIS (must exclude)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Workup: bilateral mammogram + US ± ductography ± MRI ± ductoscopy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Papilloma excision → 10% upgrade to DCIS or invasive</a:t>
            </a:r>
            <a:endParaRPr lang="en-US" sz="103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Situations: Bilateral BC, Occult Primary &amp; Rare Cancers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Breast Cancer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Synchronous: diagnosed within 3 months; Metachronous: ≥3 months apart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Contralateral primary risk: 0.5-1%/year after first BC; higher in BRCA carriers, younger patients, lobular histology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Staging: both primaries staged independently; combined stage uses the worse primary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both breasts staged surgically; systemic therapy driven by the higher-risk tumor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228600" y="2587752"/>
            <a:ext cx="4206240" cy="2048256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877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Occult Primary BC (OPC) — Axillary Mass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89504"/>
            <a:ext cx="40233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axillary nodal metastasis, no primary on standard imaging (~1% of presentations)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Workup: mammogram+US → MRI breast (identifies primary in 70% of OPC)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negative: still likely breast origin (ER/PR/GCDFP-15 IHC)</a:t>
            </a:r>
            <a:endParaRPr lang="en-US" sz="103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3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 ALND + whole-breast RT (vs MRM); systemic therapy per biology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4014216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Presentations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1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(Inflammatory BC management now lives once, in Section 18's Stage x Subtype Matrix — removing what was a 3-way repeat across this deck)</a:t>
            </a:r>
            <a:endParaRPr lang="en-US" sz="91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1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Dermal metastasis ("carcinoma en cuirasse"): skin involvement by lymphatic spread</a:t>
            </a:r>
            <a:endParaRPr lang="en-US" sz="91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1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Lymphoma of breast: rare primary; biopsy essential; treat systemically, not surgically</a:t>
            </a:r>
            <a:endParaRPr lang="en-US" sz="91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1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Sarcoma of breast: wide-margin excision; no sentinel node; no routine chemotherapy</a:t>
            </a:r>
            <a:endParaRPr lang="en-US" sz="91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1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cell tumor: benign, subareolar, mimics BC clinically — excision curative</a:t>
            </a:r>
            <a:endParaRPr lang="en-US" sz="91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1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Hamartoma: mammographically distinct "breast-within-breast" — excision for diagnosis</a:t>
            </a:r>
            <a:endParaRPr lang="en-US" sz="91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1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Phyllodes tumor: biphasic; benign(50%)/borderline(25%)/malignant(25%); wide excision ≥ 1cm margin; metastasizes hematogenously (no SLNB needed); NO chemotherapy (sarcoma-like)</a:t>
            </a:r>
            <a:endParaRPr lang="en-US" sz="91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1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Angiosarcoma: primary (rare, young) or secondary (post-RT, 6-10y latency, Stewart-Treves if lymphedema-associated); mastectomy + wide excision; poor prognosis</a:t>
            </a:r>
            <a:endParaRPr lang="en-US" sz="910" dirty="0"/>
          </a:p>
        </p:txBody>
      </p:sp>
      <p:sp>
        <p:nvSpPr>
          <p:cNvPr id="17" name="Shape 15"/>
          <p:cNvSpPr/>
          <p:nvPr/>
        </p:nvSpPr>
        <p:spPr>
          <a:xfrm>
            <a:off x="228600" y="4489704"/>
            <a:ext cx="8686800" cy="251460"/>
          </a:xfrm>
          <a:prstGeom prst="rect">
            <a:avLst/>
          </a:prstGeom>
          <a:solidFill>
            <a:srgbClr val="EAF5EA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760" y="4489704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 </a:t>
            </a:r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"Rare" does not mean "unimportant on exam" — phyllodes and angiosarcoma are tested precisely because their management (no SLNB, no routine chemo) breaks the usual invasive-carcinoma rules.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Ethiopian BC Guideline 2024 — Overview &amp; Three Pillars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Guideline 2024 Integration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ETHIOPIAN FMOH 2024 — FIRST NATIONAL BREAST CANCER GUIDELINE (2024-2028)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82880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Goals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First-ever national BC guideline for Ethiopia (2024–2028)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16,133 new BC cases/year; ASI 41.5/100,000 — #1 cancer in Ethiopian women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Goal: reduce BC mortality aligned with WHO Global Breast Cancer Initiative (GBCI)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health system: primary (PHCU) → secondary (general hosp.) → tertiary (specialized)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Targets (60:60:80 aligned with WHO GBCI):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60% of invasive BC diagnosed at Stage I or II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60-day turnaround from referral to full diagnosis + start treatment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80% of patients completing multidisciplinary treatment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761488"/>
            <a:ext cx="4206240" cy="18745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7614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 — Health Promotion &amp; Early Detection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063240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&gt;60% breast cancer detected at Stage I and II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from age ≥30 annually (no population mammography)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BSE (breast self-exam) education: women ≥20 years monthly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MCH services: ANC, postnatal, family planning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Extension Workers (HEWs): trained for CBE and referral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education on BC risk factors for children/adolescents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mobilization: faith-based, community-based orgs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868680"/>
            <a:ext cx="4297680" cy="182880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9160" y="868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 — Timely Diagnosis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1170432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Full diagnosis (evaluation + imaging + pathology) within 60 days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assessment: CBE + US ± mammography + FNAC/CNB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FNAC first approach (resource-pragmatic) → CNB if needed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algorithm: women ≥30 with lump/skin change/nipple change → US + FNAC → confirm/refer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hospitals: ideal location for diagnostic services (geographic access)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Pathology: histology + ER/PR; HER2 testing expanding at tertiary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761488"/>
            <a:ext cx="4297680" cy="18745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27614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 — Comprehensive BC Management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3063240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80% of patients completing multidisciplinary treatment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approach: surgeon + oncologist + pathologist + radiologist + social worker + nurse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currently only at tertiary centers (Tikur Anbessa, JUSH, ALERT)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available: surgery (MRM standard), chemotherapy (24 public hospitals)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Radiotherapy: available at TASH + 2 regional hospitals; 4 more in development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Hormonal therapy: tamoxifen routinely available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HER2-targeted: expanding but not universally available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 — Treatment Scope by Healthcare Tier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Guideline 2024 Integration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ETHIOPIAN GUIDELINE 2024 — Scope of Practice by Health System Tier</a:t>
            </a:r>
            <a:endParaRPr lang="en-US" sz="95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868680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320040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Served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 Responsibilities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Referral Pathway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Post / Health Center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3,000–40,000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training, BHA education, identify suspicious findings, counseling on risk factors, first contact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Primary Hospital or higher for any CBE-suspicious finding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Hospital (PHCU)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60,000–100,000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CBE, risk factor counseling, basic breast US (if available), FNAC (selected), initiate referral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General Hospital for imaging, biopsy, staging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/ Secondary Hospital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500,000–1.5 million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diagnostic imaging (US, mammo), CNB, staging, basic chemotherapy, MRM/BCS surgery, follow-up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Specialized Hospital for complex surgery, RT, HER2-targeted, MDT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Specialized / Tertiary Hospital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3.5–5 million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MDT, complex surgery (reconstruction), radiotherapy, all systemic therapies, advanced diagnostics, research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 for all cases; should provide outreach support to secondary 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228600" y="3035808"/>
            <a:ext cx="4206240" cy="160020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0040" y="30358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 MDT Approach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38328" y="3337560"/>
            <a:ext cx="40233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Multidisciplinary Team: required for all BC management decisions at tertiary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breast surgeon, medical oncologist, radiation oncologist, radiologist, pathologist, clinical nurse specialist, social worker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consultation required when discussing cancer management plans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navigation program: standardized follow-up contact to reduce loss to follow-up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617720" y="3035808"/>
            <a:ext cx="4297680" cy="160020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09160" y="30358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Navigation &amp; Support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727448" y="3337560"/>
            <a:ext cx="41148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Navigator: reduces loss to follow-up between referral levels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referral pathway written: from primary → tertiary care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calendar: standardized scheduling tools (Appendix 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Psychosocial support: integrate social worker into MDT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support groups: connect survivors with newly diagnosed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navigation: high cost is key barrier to treatment completion</a:t>
            </a:r>
            <a:endParaRPr lang="en-US" sz="10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 vs International Standard — Key Gaps &amp; Priorities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Guideline 2024 Integration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CRITICAL DIFFERENCES: Ethiopian Practice vs International Standard (NCCN/ESMO 2026)</a:t>
            </a:r>
            <a:endParaRPr lang="en-US" sz="95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868680"/>
          <a:ext cx="8686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377440"/>
                <a:gridCol w="219456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 Standard (NCCN/ESMO 2026)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Ethiopian Current Practice (2024 Guideline)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mammography from age 40 (NCCN) / 45 (ACS)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annually from age 30; mammography only if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Scale-up CBE; advocate mammography expansion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at 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&lt;30% Stage III-IV in USA/Europe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65–75% Stage III-IV → poor outcomes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to early detection programs (60:60:80 goal)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Biomarker testing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ER/PR/HER2/Ki-67 all biopsy specimens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ER/PR routinely; HER2 expanding (inconsistent)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Standardize HER2 testing nationally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Genomic testing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Oncotype DX RS for ER+/HER2- adjuvant 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feasible short-term; future aspiration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CDK4/6 inhibitors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Palbociclib/ribociclib/abemaciclib standard 1st-line MBC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routinely available in public 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EML advocacy; access programs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HER2-targeted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standard; T-DXd 2nd line; pertuzumab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expanding; T-DXd not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 trastuzumab supply chain first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Immunotherapy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Pembrolizumab + chemo for TNBC Stage II-IV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access program; WHO EML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Radiotherapy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all centers; PMRT standard for Stage III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centers (3 in Ethiopia)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 RT centers (4 more planned)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adjuvant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Capecitabine residual TNBC; T-DM1 residual HER2+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Capecitabine increasingly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 capecitabine for residual TNBC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Guidelines (ASCO Recommendations)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&amp; Quick Reference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554480"/>
                <a:gridCol w="82296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1–5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H&amp;P (History &amp; Physical)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3–6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 on: new symptoms, toxicity, recurrence signs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Ipsilateral mammogram (after BCS)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6–12 months post-RT, then 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Earlier if concerns; MRI in BRCA carriers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Contralateral mammogram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Regardless of surgery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exam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 (tamoxifen → endometrial risk)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abnormal bleeding immediately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density (on AIs)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then q1–2 years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result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Calcium/Vit D + exercise; bisphosphonate if T-score &lt;−2.0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LFTs / CBC / tumor markers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routinely recommended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clinically indicated; markers not proven to improve 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CT/Bone scan/PET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 (asymptomatic)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symptomatic or signs of recurrence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Genetic counseling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 if not done at 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appropriate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testing criteria change (NCCN 2026 panels)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4187952"/>
            <a:ext cx="8686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PRINCIPLE: No imaging or tumor markers (CA 15-3, CEA) in asymptomatic patients — not proven to improve OS. Symptoms drive investigations.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 — LCIS vs DCIS &amp; Key Numbers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&amp; Quick Reference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58368"/>
          <a:ext cx="86868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46120"/>
                <a:gridCol w="37033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 (bilateral)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Obligate precursor (→invasive if untreated)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Unilateral (usually)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Margins required?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(≥2 mm)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Radiation indicated?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(after BCS)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staging?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(unless invasive)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mastectomy/invasion suspected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benefit?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(BRCA2, ADH subgroup)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(ER+ DCIS)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2889504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D1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Numbers</a:t>
            </a:r>
            <a:endParaRPr lang="en-US" sz="1300" dirty="0"/>
          </a:p>
        </p:txBody>
      </p:sp>
      <p:graphicFrame>
        <p:nvGraphicFramePr>
          <p:cNvPr id="1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200400"/>
          <a:ext cx="42519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6459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Number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BC risk in US women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12.5% (1 in 8)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 mortality reduction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~15–25%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chemoprevention (P-1)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↓ in ER+ BC risk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BCS = mastectomy for survival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RCTs confirmed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 false-negative rate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~5–8% (dual tracer)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1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3200400"/>
          <a:ext cx="42519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6459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Number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Z0011: ALND vs SLNB (OS)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difference (N=891)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benefit (HERA)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↓ in recurrence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in TNBC with chemo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~30–55%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upgrade at excision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IMN location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ICS 1–6, &lt;3cm sternal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 — Drug Mechanism &amp; Indication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&amp; Quick Reference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9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58368"/>
          <a:ext cx="8686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017520"/>
                <a:gridCol w="4114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SERM — blocks ER in breast tissue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Pre/post-menopausal ER+ adj; chemoprevention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Letrozole/Anastrozole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Non-steroidal AI — blocks peripheral aromatization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Post-menopausal ER+ adjuvant (superior to tamoxifen)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Anti-HER2 mAb — ADCC + signaling inhibition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adjuvant + metastatic; 1 year duration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Palbociclib/Ribociclib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CDK4/6 inhibitor — arrests cell cycle G1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ER+/HER2− metastatic 1st line (+ AI)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Olaparib/Talazoparib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PARP inhibitor — synthetic lethality in BRCA mut.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BRCA1/2-mutated HER2-neg metastatic BC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T-DXd (trastuzumab deruxtecan)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ADC: T + deruxtecan (topo I inhib)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HER2+ 2nd line MBC; HER2-low MBC (★ ESMO 2026)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Sacituzumab govitecan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ADC: anti-TROP2 + SN-38 payload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 2nd+ line; HR+ HER2- 3rd+ line (★ ESMO 2026)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— Textbooks &amp; Clinical Practice Guidelines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&amp; Bibliography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8686800" cy="12344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Textbooks (direct source — Management section, Sec.12-17, drawn EXCLUSIVELY from these plus NCCN below)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8503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Surgery, 11th edition — Chapter 17, "The Breast" (Parker CC, Damodaran S, Bland KI, Hunt KK)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DeVita, Hellman, and Rosenberg's Cancer: Principles &amp; Practice of Oncology — Chapter 106, "Malignant Tumors of the Breast" (Burstein HJ, Harris JR, Morrow M)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975104"/>
            <a:ext cx="8686800" cy="242316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1975104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Guidelines (direct + indirect sources)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276856"/>
            <a:ext cx="850392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Clinical Practice Guidelines in Oncology: Breast Cancer, Version 6.2026 (07/29/2026) and Breast Cancer Risk Reduction, Version 1.2026 (08/29/2025) — accessed via the "Breast Cancer Academic Master Summary 2026" condensed teaching synthesis of these two NCCN documents</a:t>
            </a:r>
            <a:endParaRPr lang="en-US" sz="9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Guidelines Insights: Genetic/Familial High-Risk Assessment — Breast, Ovarian, Pancreatic, and Prostate, Version 2.2026, JNCCN 2026;24(2):2-10 (Daly MB et al.) — used for Section 05 hereditary-risk content only</a:t>
            </a:r>
            <a:endParaRPr lang="en-US" sz="9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ESMO Clinical Practice Guideline: Metastatic breast cancer — diagnosis, treatment and follow-up (de Azambuja E et al.), Annals of Oncology, 2026</a:t>
            </a:r>
            <a:endParaRPr lang="en-US" sz="9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Guideline for Breast Health, Early Diagnosis and Timely Breast Cancer Management in Ethiopia (2024-2028), Federal Ministry of Health, Addis Ababa, April 2024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28600" y="4498848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real patient, always return to the current licensed NCCN/ESMO algorithm — this deck is an educational synthesis, not a clinical decision tool.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— Key Clinical Trials Cited in This Deck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&amp; Bibliography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2075688" cy="182880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/ Prevention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189280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P-1, P-2 (STAR)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IBIS-I, IBIS-II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MAP.3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HIP, BCDDP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2432304" y="621792"/>
            <a:ext cx="2075688" cy="1828800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23744" y="621792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/ Axilla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542032" y="923544"/>
            <a:ext cx="189280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B-06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I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ACOSOG Z0011, Z0010, Z1071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B-32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ALMANAC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SENTINA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4636008" y="621792"/>
            <a:ext cx="2075688" cy="1828800"/>
          </a:xfrm>
          <a:prstGeom prst="rect">
            <a:avLst/>
          </a:prstGeom>
          <a:solidFill>
            <a:srgbClr val="FFF8E1"/>
          </a:solidFill>
          <a:ln w="12700">
            <a:solidFill>
              <a:srgbClr val="9C65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27448" y="621792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45736" y="923544"/>
            <a:ext cx="189280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B-17, B-24, B-21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RTOG 9804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CALGB 9343, 9741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Canadian (age≥50)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PRIME-2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EORTC boost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MA.20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DBCG-IMN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FAST-Forward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6839712" y="621792"/>
            <a:ext cx="2075688" cy="1828800"/>
          </a:xfrm>
          <a:prstGeom prst="rect">
            <a:avLst/>
          </a:prstGeom>
          <a:solidFill>
            <a:srgbClr val="F3E5F5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31152" y="621792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923544"/>
            <a:ext cx="189280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B-18, B-27, B-28, B-30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CALGB 9344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BCIRG 001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Oncology (TC)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</a:t>
            </a:r>
            <a:endParaRPr lang="en-US" sz="7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CREATE-X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228600" y="2633472"/>
            <a:ext cx="2810256" cy="1965960"/>
          </a:xfrm>
          <a:prstGeom prst="rect">
            <a:avLst/>
          </a:prstGeom>
          <a:solidFill>
            <a:srgbClr val="FDECEA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0040" y="2633472"/>
            <a:ext cx="2718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38328" y="2935224"/>
            <a:ext cx="2627376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ATLAS, aTTom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1-98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IES, ARNO/ABCSG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MA-17, MA-17R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TEXT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B-33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monarchE</a:t>
            </a:r>
            <a:endParaRPr lang="en-US" sz="790" dirty="0"/>
          </a:p>
        </p:txBody>
      </p:sp>
      <p:sp>
        <p:nvSpPr>
          <p:cNvPr id="23" name="Shape 21"/>
          <p:cNvSpPr/>
          <p:nvPr/>
        </p:nvSpPr>
        <p:spPr>
          <a:xfrm>
            <a:off x="3166872" y="2633472"/>
            <a:ext cx="2810256" cy="1965960"/>
          </a:xfrm>
          <a:prstGeom prst="rect">
            <a:avLst/>
          </a:prstGeom>
          <a:solidFill>
            <a:srgbClr val="E3F2FD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258312" y="2633472"/>
            <a:ext cx="2718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HER2-Targeted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76600" y="2935224"/>
            <a:ext cx="2627376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B-31 / N9831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FinHER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BCIRG 006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APHINITY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NeoSphere, TRYPHAENA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ExteNET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KATHERINE</a:t>
            </a:r>
            <a:endParaRPr lang="en-US" sz="790" dirty="0"/>
          </a:p>
        </p:txBody>
      </p:sp>
      <p:sp>
        <p:nvSpPr>
          <p:cNvPr id="26" name="Shape 24"/>
          <p:cNvSpPr/>
          <p:nvPr/>
        </p:nvSpPr>
        <p:spPr>
          <a:xfrm>
            <a:off x="6105144" y="2633472"/>
            <a:ext cx="2810256" cy="196596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96584" y="2633472"/>
            <a:ext cx="2718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/ Novel Agents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214872" y="2935224"/>
            <a:ext cx="2627376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PALOMA-1/2/3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BOLERO-2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CLEOPATRA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DESTINY-Breast 01/02/03/04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HER2CLIMB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KEYNOTE-522/119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ASCENT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TROPION-Breast01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EMERALD, EMBER-3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INAVO120, CAPItello-291</a:t>
            </a:r>
            <a:endParaRPr lang="en-US" sz="79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79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OlympiAD, EMBRACA</a:t>
            </a:r>
            <a:endParaRPr lang="en-US" sz="79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0"/>
            <a:ext cx="8887968" cy="82296"/>
          </a:xfrm>
          <a:prstGeom prst="rect">
            <a:avLst/>
          </a:prstGeom>
          <a:solidFill>
            <a:srgbClr val="006978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D1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2179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Messages for Surgeons &amp; Oncologists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457200" y="987552"/>
            <a:ext cx="4160520" cy="288036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987552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Surgeon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289304"/>
            <a:ext cx="397764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BCS+RT = mastectomy for survival (6 RCTs) — offer it whenever oncologically appropriate; equivalence, not "safer with more tissue removed," is the correct framing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Z0011: 1-2 positive SLNs + BCS + WBRT → ALND not needed, even with macrometastasis — but never extend this to mastectomy, neoadjuvant, or &gt;2 positive nodes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rules are scenario-specific: "no ink on tumor" (invasive), 2mm (DCIS+RT), no re-excision needed (classic LCIS)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IBC is a clinical diagnosis with ONE fixed sequence: neoadjuvant chemo always precedes surgery — never operate first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mastectomy is a poor choice when PMRT is planned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709160" y="987552"/>
            <a:ext cx="4160520" cy="2880360"/>
          </a:xfrm>
          <a:prstGeom prst="rect">
            <a:avLst/>
          </a:prstGeom>
          <a:solidFill>
            <a:srgbClr val="EAF5E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987552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Oncologist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818888" y="1289304"/>
            <a:ext cx="397764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ER/PR/HER2 (and genomics where available) decide the systemic backbone; stage decides the local therapy — both axes are needed, neither alone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Oncotype DX / 21-gene RS: avoids both overtreatment (low-risk) and undertreatment (high-risk) in ER+/HER2- disease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dual anti-HER2 neoadjuvant; residual disease → T-DM1; T-DXd preferred 2nd-line MBC (2026)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TNBC: pembrolizumab+chemo neoadjuvant (KEYNOTE-522); capecitabine for residual disease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Re-biopsy at first recurrence/Stage IV — receptor status can change and changes the plan</a:t>
            </a:r>
            <a:endParaRPr lang="en-US" sz="96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sources disagree (trastuzumab duration, extended tamoxifen, HRT risk magnitude), cite the specific trial rather than averaging opinions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457200" y="3986784"/>
            <a:ext cx="8412480" cy="512064"/>
          </a:xfrm>
          <a:prstGeom prst="rect">
            <a:avLst/>
          </a:prstGeom>
          <a:solidFill>
            <a:srgbClr val="E8F5E9"/>
          </a:solidFill>
          <a:ln w="9525">
            <a:solidFill>
              <a:srgbClr val="0064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40142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Ethiopia: CBE-based screening, 65-75% present Stage III/IV, limited access to genomics/CDK4-6i/ADCs — the 60:60:80 targets and closing the access gap are the system-level priority alongside individual patient care.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55371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Schwartz | DeVita | NCCN v6.2026 | JNCCN v2.2026 | ESMO 2026 | Ethiopian FMOH 2024 (full citations: Sec.25)  —  Dr. Muluamlak, GSR-3 | Advisor: EBS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AD1457"/>
          </a:solidFill>
          <a:ln w="12700">
            <a:solidFill>
              <a:srgbClr val="AD145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— Key Take-Home Messages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Breast Cancer Management — Exhaustive Enhanced Presentation</dc:title>
  <dc:subject>PptxGenJS Presentation</dc:subject>
  <dc:creator>PptxGenJS</dc:creator>
  <cp:lastModifiedBy>PptxGenJS</cp:lastModifiedBy>
  <cp:revision>1</cp:revision>
  <dcterms:created xsi:type="dcterms:W3CDTF">2026-09-27T04:35:34Z</dcterms:created>
  <dcterms:modified xsi:type="dcterms:W3CDTF">2026-09-27T04:35:34Z</dcterms:modified>
</cp:coreProperties>
</file>