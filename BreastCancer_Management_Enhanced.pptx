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notesMasterIdLst>
    <p:notesMasterId r:id="rId9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68680"/>
            <a:ext cx="82296" cy="26060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7772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161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Presentation — Comprehensive Study Notes with Ethiopian Guideline &amp; 2026 Updates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Schwartz 11th Ed. (Ch. 17)  |  DeVita 10th Ed. (Ch. 106)  |  ESMO 2026 MBC  |  NCCN v6.2026  |  Ethiopian FMOH 2024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Parker CC, Damodaran S, Bland KI, Hunt KK   |   Burstein HJ, Harris JR, Morrow 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621792"/>
            <a:ext cx="41605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History of Breast Cancer Therapy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Anatomy &amp; Physiology (incl. Embryology)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Epidemiology &amp; Natural History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Risk Factors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Hereditary Breast Cancer (BRCA)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Screening &amp; Prevention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Diagnosis: Imaging &amp; Biopsy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Pathology — In Situ Carcinomas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Pathology — Invasive Carcinomas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AJCC Staging (TNM)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621792"/>
            <a:ext cx="41605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Prognostic Factors &amp; Subtypes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Local-Regional Therapy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Systemic Therapy (Adjuvant)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Management by Stage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ESMO 2026 — Metastatic BC Updates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Recurrence — Types &amp; Management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Special Situations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Ethiopian Guideline 2024 Integration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Follow-Up &amp; Quick Reference</a:t>
            </a:r>
            <a:endParaRPr lang="en-US" sz="12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differences marked throughout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685800"/>
            <a:ext cx="0" cy="3931920"/>
          </a:xfrm>
          <a:prstGeom prst="line">
            <a:avLst/>
          </a:prstGeom>
          <a:noFill/>
          <a:ln w="1905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45720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= Ethiopian guideline note   ★ = ESMO/NCCN 2026 update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Breast Cancer Therapy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Halsted radical mastectomy to precision oncology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Breast Cancer Therapy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Breast Cancer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Breast Cancer Therapy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5760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Contributor(s)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~3000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Smith Papyrus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recorded case (male); "there is no treatment"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Dran &amp; Moore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spread via lymphatics; first node removal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Halsted &amp; Meyer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mastectomy: en-bloc skin, pec major/minor, axilla levels I–III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Haagensen &amp; Stout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"grave signs" of inoperability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Patey &amp; Dyson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radical: preserve pectoralis major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Veronesi &amp; Fisher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 trials proving BCS = mastectomy for survival (NSABP B-06)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1980s–90s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groups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lymph node concept; tamoxifen 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HERA, NSABP B-31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for HER2+ BC; survival benefit proven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SOFT/TEXT, Z0011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Ovarian suppression; SLNB alone safe in T1-2N1 BCS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DESTINY, MONARCH-3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T-DXd for HER2-low/+; CDK4/6 inhibitors standard 1st line MBC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Milestones in Breast Cancer Therapy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" y="754380"/>
            <a:ext cx="7776058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adapted from Schwartz Ch.17 (pp. 541–599)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Breast Cancer Therapy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&amp; Physiology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structure, embryology, lymphatics, hormonal control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Embryology of the Breast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201168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Embryologic Development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develops from ectoderm (milk line / galactic band) — bilateral ridges Week 4–6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line: axilla → groin; normally involutes leaving single pectoral pair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→ polymastia (extra breast) or polythelia (extra nipple) — 1–2% population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buds appear Wk 6; 15–20 primary epithelial buds canalize → lactiferous ducts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ductal-lobular units (TDLU) form in late fetal/postnatal life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TDLU = primary site of origin for DCIS, invasive ductal carcinoma and LCIS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Nipple-areola complex forms by areolar skin condensation; nipple elevation at puberty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697480"/>
            <a:ext cx="4206240" cy="193852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 Relevance of Embryology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99232"/>
            <a:ext cx="4023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 breast tissue (axilla most common) can develop cancer — mimic lymph node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nipple if ductal tissue fails to canalize / fibrous tethering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Amazia (absent breast) vs amastia (absent nipple + breast) — rare surgical anomalies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Cooper's ligaments (fibrous septa) anchor skin → retraction = malignancy sign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Retroglandular fat plane — preserved in MRM; violated in Halsted radical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201168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Line &amp; Clinical Correlation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 nipple along milk line: L2–T10 dermatome distribution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tail of Spence: functional breast tissue enters axilla through deep fascia opening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Inframammary fold: important surgical landmark; at 5th–6th rib midclavicular line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Retromammary space: loose areolar tissue between breast and pectoralis fascia — plane used in subglandular implant placement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97480"/>
            <a:ext cx="4297680" cy="193852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97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 Zones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99232"/>
            <a:ext cx="4114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outer quadrant (UOQ): 50% of breast volume → 50% of all breast cancers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zone: subareolar; Paget's disease arises here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Retroareolar: 15–20 major lactiferous ducts converge at nipple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mammary nodes: 25–30% of medial tumors drain here → important for staging</a:t>
            </a:r>
            <a:endParaRPr lang="en-US" sz="10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TDLU undergoes cyclical proliferation/apoptosis with menstrual cycle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Anatomy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20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Anatomy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 2nd–6th rib vertically; sternal edge to mid-axillary line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tail of Spence: breast tissue through clavipectoral fascia opening into axilla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Cooper's suspensory ligaments: attach skin to overlying dermis and deep fascia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Lymphatics: subdermal + parenchymal plexuses drain to axilla primarily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tissue types: glandular (15–20 lobes), stromal (fibrous), adipose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4206240" cy="201168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Supply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0779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mammary (pectoral branches): 60% medial breast → largest supply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thoracic artery (branch of axillary): upper outer quadrant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Intercostal perforators (2nd–4th): posterior supply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Thoracoacromial artery: pectoralis minor region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Venous drainage: internal mammary → subclavian → SVC; axillary vein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2024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Pectoral Fascia &amp; Muscles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Pectoralis major: superficial to breast; preserved in MRM (Patey)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Pectoralis minor: removed in Halsted; divided in Patey for axillary access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Serratus anterior: critical to preserve long thoracic nerve during ALND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Intercostobrachial nerve: sensory arm inner surface — often sacrificed in ALND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Thoracodorsal nerve to latissimus: preserve in all axillary dissections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4297680" cy="201168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Anatomy (Surgical Importance)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07792"/>
            <a:ext cx="4114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thoracic nerve (of Bell): serratus anterior → "winged scapula" if cut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Thoracodorsal nerve: latissimus dorsi → preserve for TRAM/LD flap reconstruction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pectoral nerve: pec minor/part pec major → enters pec minor lateral border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pectoral nerve: larger; enters pec major at clavicular head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Intercostobrachial nerve: T2 → inner arm sensation — often sacrificed in full ALND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Breast Anatomy: Sagittal &amp; Frontal Views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1131"/>
            <a:ext cx="8412480" cy="33869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section (left) and frontal view of the patient's right breast (right) — Cooper's ligaments, lactiferous ducts, and quadrant nomenclature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Lymphatic Drainage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5303520" cy="155448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Node Levels (Berg Classification)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5120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 (low axilla): lateral to pectoralis minor — first echelon; 60% breast drainage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II (mid-axilla): posterior to / behind pec minor — includes Rotter's nodes (interpectoral)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III (apical): medial to pec minor / subclavicular — Halsted's "complete dissection"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metastasis to Level III without Level I/II: ~4% — clinically significant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5303520" cy="123444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240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Mammary Nodes (IMN)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542032"/>
            <a:ext cx="5120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in intercostal spaces 1–6, within 3 cm of sternal edge (usually spaces 1–3)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 of medial/central tumors drain to IMN; 15% of outer quadrant tumors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IMN involvement: independent predictor of poor prognosis; included in Stage N3b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radical mastectomy (Urban): included IMN; no survival benefit over MRM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547872"/>
            <a:ext cx="5303520" cy="1088136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3547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Node Concept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3849624"/>
            <a:ext cx="5120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node = first draining node(s) from tumor site — best reflects nodal status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rate (FNR): ~5–8% with dual tracer (blue dye + Tc-99m sulfur colloid)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Z0011 trial: 1–2 positive SLNs in cT1-2, BCS + WBRT → ALND not needed (non-inferior OS/DFS)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621792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548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Significance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L1-III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Lateral→medial to pec minor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drainage 85-90%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Intercostals 1-6, &lt;3cm sternal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Medial tumors; N3b if+ with IMN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Rotter's (interpectoral)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pec major/minor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II; removed in Patey not Halsted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Supraclavicular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clavicle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N3c; indicates regional not systemic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Axillary Lymph Node Levels (Berg Classification)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258" y="754380"/>
            <a:ext cx="5015484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levels are defined relative to pectoralis minor (frontal view, patient's right axilla)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Physiology &amp; Gynecomastia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Control of Breast Development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Thelarche (Tanner Stage 2): estrogen-driven ductal elongation, ~age 8–13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Progesterone: lobular development, alveolar differentiation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Prolactin: milk production; high levels → suppress ovulation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Puberty: estrogen + GH + IGF-1 → complete ductal growth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 progesterone + placental lactogen → full lobular development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Menopause: loss of E2/P → involution; increase adipose relative to gland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HRT: combined E+P → increased BC risk (WHI trial); E-alone → no significant increase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971800"/>
            <a:ext cx="4206240" cy="166420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Galactorrhea &amp; Nipple Discharge Physiology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3273552"/>
            <a:ext cx="40233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 (PRL) secreted by ant. pituitary; dopamine suppresses PRL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hyperprolactinemia: pituitary adenoma, hypothyroidism, drugs (antipsychotics, metoclopramide)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Bloody discharge: intraductal papilloma (most common); DCIS must be excluded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unilateral discharge → galactography / ductoscopy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2880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Gynecomastia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benign proliferation of breast gland in males (true glandular hypertrophy)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Physiologic: neonates (maternal estrogen), puberty, elderly (relative hyperestrogenism)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 causes: hyperthyroidism, cirrhosis, hypogonadism, Klinefelter's (XXY)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causes: spironolactone, digitalis, marijuana, anabolic steroids, anti-androgens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Paraneoplastic: testicular/adrenal tumor (hCG-secreting), lung cancer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Pseudogynecomastia: adipose tissue — no glandular component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14600"/>
            <a:ext cx="4297680" cy="212140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16352"/>
            <a:ext cx="41148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all breast cancers; 6% in Sub-Saharan Africa (higher rate)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 Klinefelter's, BRCA2 mutation, radiation, exogenous estrogen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ER+ (90%), older age at diagnosis (avg 67 yrs)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later: central location, nipple involvement more common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MRM (BCS rarely used); tamoxifen preferred adjuvant endocrine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BRCA2: most important germline mutation in male BC (lifetime risk 6-8%)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&amp; Natural History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Incidence, mortality trends, racial disparities, Ethiopia context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Natural History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of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Natural History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Epidemiology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 worldwide: 2.26 million new cases in 2020 (11.7% of all cancers)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cancer death in women globally: 685,000 deaths (2020)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 high-income countries; mortality highest in LMIC due to late presentation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survival: &gt;90% in HIC vs 66% India, 40% South Africa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increasing: 0.5% per year in developed countries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Data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risk: 12.5% (1 in 8 women)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~310,720 new invasive + ~56,500 DCIS cases estimated 2024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Mortality: ~42,000 deaths/year; declining since 1989 peak (~1.9%/year)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attributed to mammography screening + adjuvant therapy advances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disparity: White women higher incidence; Black women higher mortality (HR 1.4)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TNBC: higher frequency in Black women (20–25% vs 10–15% White)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Epidemiology (FMOH 2024)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cancer in Ethiopia: 16,133 new cases/year (GLOBOCAN 2020)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rate: 41.5/100,000 — BC accounts for 1 in 5 of ALL cancers in Ethiopia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third of all female cancers are breast cancer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Age-standardized mortality: 24.1/100,000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 present at Stage III or IV (vs &lt;30% in HIC)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 6% of all BC in Sub-Saharan Africa (vs 1% globally)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23744"/>
            <a:ext cx="4297680" cy="237744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23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 2024 Guideline Note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743200"/>
            <a:ext cx="4297680" cy="1892808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743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 — Key Differences from HIC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044952"/>
            <a:ext cx="41148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population-based mammographic screening program — limited infrastructure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as primary early detection modality (not mammography)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diagnosed Stage III/IV → limited curative options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WHO GBCI 60:60:80 targets: 60% early stage, 60-day diagnosis, 80% treatment completion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2030: shift diagnosis to ≥60% Stage I/II through CBE scale-up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Epidemiologic Trends: Lifetime Risk &amp; Survival Disparities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680210"/>
            <a:ext cx="4069080" cy="1668780"/>
          </a:xfrm>
          <a:prstGeom prst="rect">
            <a:avLst/>
          </a:prstGeom>
        </p:spPr>
      </p:pic>
      <p:pic>
        <p:nvPicPr>
          <p:cNvPr id="5" name="Image 1" descr="/tmp/claude-0/-home-user-Phone/c7f42cbc-61a1-5785-9117-fab275c9b64e/scratchpad/assets/fig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393546"/>
            <a:ext cx="4069080" cy="224210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lifetime risk by decade and by attained age (left); five-year survival by era and by race (right)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Natural History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History of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Natural History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Biology &amp; Growth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doubling time: 100–200 days (range 44–1869 days) for invasive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tumor detectable by mammography at ~0.5–1.0 cm; clinically palpable at ~2 cm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6–8 years of subclinical growth before detection by mammography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kinetics: cell loss factor 50–70%; most cells die as they are produced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S-phase fraction (SPF) and Ki-67 index reflect proliferative 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377440"/>
            <a:ext cx="4206240" cy="225856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Cascade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679192"/>
            <a:ext cx="4023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invasion → lymphovascular invasion (LVI) → nodal spread → hematogenous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 EMT (epithelial-mesenchymal transition), anoikis resistance, extravasation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Preferential metastatic sites: bone (70%), liver, lung, brain, adrenal (Batson's plexus)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the most common cause of malignant pleural effusion in women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metastasis: highest in HER2+ and TNBC subtypes (~30–50% ultimately)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Bone-only metastasis: best prognosis among MBC; median OS 2–4 years with modern therapy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69164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vs Fisher Paradigm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(centrifugal): cancer spreads orderly: local → regional → systemic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Surgical cure possible with wider resection (radical mastectomy rationale)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(systemic): cancer is systemic disease from early stages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Surgery for local control only; systemic therapy determines survival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consensus: both apply — local control + systemic therapy are essential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4297680" cy="225856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377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Milestones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679192"/>
            <a:ext cx="411480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survival by AJCC stage: I: ~85%, IIA: ~75%, IIB: ~65%, IIIA: ~55%, IIIB: ~40%, IV: ~5–25%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status: single most powerful pathologic predictor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nodes: 70% 10-yr DFS; 1–3 nodes: 55%; 4–9 nodes: 40%; ≥10 nodes: 20%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patterns: ER+ recurrences late (years 5–20); TNBC/HER2+ early (&lt;3 years)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hazard of recurrence: ER+ bimodal peaks; TNBC front-loaded peak at 2–3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recurrence (&gt;5 years): ER+ only; motivation for extended adjuvant endocrine therapy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Natural History of Untreated Breast Cancer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754380"/>
            <a:ext cx="6567221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(1805–1933) cohort of 250 untreated cases: survivors from onset of disease at 5, 10, and 15 years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Natural History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for Breast Cancer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Genetic, hormonal, environmental, benign breast disease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— Overview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4114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mutation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40–87× lifetime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Predominantly TNBC phenotype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BRCA2 mutation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20–40× lifetime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Predominantly ER+ phenotype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breast cancer (contralateral)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0.5% risk of second primary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8–10× lifetime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marker; not obligate precursor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Atypical hyperplasia (ADH/ALH)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Multiplied 10× if + family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First-degree relative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2–3× (if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3–4× if 2 or more first-degree relatives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chest radiation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Mantle RT for Hodgkin's lymphoma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Mammographic density (BIRADS 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breast → ↓ sensitivity of mam.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Obesity (post-menopausal)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peripheral aromatization of androgens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Nulliparity or late first pregnancy (&gt;35)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exposure window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BRCA1 &amp; BRCA2 Mutations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(17q21)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suppressor — BRCA1/2 involved in HR (homologous recombination) repair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mutations → predominantly TNBC (basal-like) phenotype; high-grade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BC risk: 50–72% (by age 80)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ovarian cancer risk: 40–46%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High-penetrance: AD inheritance, variable expression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associated cancers: breast, ovary, fallopian tube; lower risk pancreas/prostate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788920"/>
            <a:ext cx="4206240" cy="184708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788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Ashkenazi Jewish Founder Mutations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3090672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common founder mutations: 185delAG, 5382insC (BRCA1); 6174delT (BRCA2)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Prevalence: 1 in 40 Ashkenazi Jewish individuals (vs 1:400 general population)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 probability → expanded testing criteria in this population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210312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BRCA2 (13q12.3)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BC risk: 45–69%; predominantly ER+ (higher luminal A/B frequency)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ovarian cancer risk: 12–20%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 risk: 6–8% lifetime (vs &lt;1% general population)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cancers: pancreatic (4–7%), melanoma, prostate (7–24% depending on age)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2026: BRCA2 carriers → annual prostate cancer screening from age 40–45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Biallelic BRCA2: Fanconi anemia — embryonic lethality / severe developmental defects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4297680" cy="18470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788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Criteria (NCCN 2026)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3090672"/>
            <a:ext cx="41148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at any age; BC diagnosed ≤50 years; ≥2 primary BC (bilateral or separate ipsilateral)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Ovarian/fallopian/peritoneal cancer at any age; male breast cancer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ancestry (Ashkenazi Jewish); first/second degree relative meeting criteria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in germline: opens olaparib/talazoparib eligibility in metastatic setting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Hereditary Breast Cancer: Proportions &amp; Workup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787652"/>
            <a:ext cx="4069080" cy="1453896"/>
          </a:xfrm>
          <a:prstGeom prst="rect">
            <a:avLst/>
          </a:prstGeom>
        </p:spPr>
      </p:pic>
      <p:pic>
        <p:nvPicPr>
          <p:cNvPr id="5" name="Image 1" descr="/tmp/claude-0/-home-user-Phone/c7f42cbc-61a1-5785-9117-fab275c9b64e/scratchpad/assets/fig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190092"/>
            <a:ext cx="4069080" cy="264901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hereditary breast cancer by gene (left); suspected hereditary breast cancer workup algorithm (right)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Hormonal &amp; Environmental Risk Factors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&amp; Hormonal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menarche (&lt;12): ↑ risk (↑ lifetime estrogen exposure)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menopause (&gt;55): ↑ risk; nulliparity or first birth &gt;35 → 1.5–2× ↑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Breastfeeding: protective — each year of breastfeeding → 4% ↓ BC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 (combined E+P): WHI → 1.24× ↑ risk for &gt;5 yrs; absolute risk small (8 per 10,000)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contraceptives: COCP slightly ↑ current use risk (RR 1.24); wanes after cessation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exposure (in utero): 2× ↑ risk in daughters (mothers who took DES 1940–1971)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14600"/>
            <a:ext cx="4206240" cy="212140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Lifestyle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16352"/>
            <a:ext cx="40233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Radiation: ionizing radiation to chest (Hodgkin's therapy, repeated fluoroscopy)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Alcohol: dose-dependent; each drink/day → ~7% ↑ risk; mechanism: ↑ estrogen + acetaldehyde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(BMI &gt;30): 1.5–2× ↑ post-menopausal (adipose aromatase); protective pre-menopausal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activity: 25–30% ↓ risk with regular moderate exercise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Night-shift work: possible ↑ risk (circadian disruption, ↓ melatonin — limited evidence)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Diet: no single food established; Mediterranean diet pattern associated with ↓ risk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2880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Breast Disease (BBD)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Non-proliferative lesions (fibrocystic change, cysts, mild hyperplasia): NO increased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 without atypia (moderate hyperplasia, sclerosing adenosis, papilloma): 1.5–2× ↑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 with atypia: 4–5× ↑ (ADH and ALH have equal predictive value)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Atypical hyperplasia + first-degree relative BC: 10× ↑ lifetime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scar / complex sclerosing lesion: independent 2× ↑ risk; requires excision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14600"/>
            <a:ext cx="4297680" cy="212140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High-Risk Syndromes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16352"/>
            <a:ext cx="41148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Li-Fraumeni syndrome (TP53): lifetime BC risk 40–80%; often premenopausal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Cowden syndrome (PTEN): 25–85% lifetime BC risk; also thyroid/endometrial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Peutz-Jeghers (STK11): 30–50% BC risk + GI hamartomas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Hereditary diffuse gastric cancer (CDH1): 40–60% lobular BC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heterozygotes: 2–3× risk; homozygous → ataxia-telangiectasia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PALB2 mutation: 14–35% lifetime BC risk — becoming routine in germline testing panels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Benign Breast Disease: Classification &amp; Risk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478128"/>
            <a:ext cx="4069080" cy="2072945"/>
          </a:xfrm>
          <a:prstGeom prst="rect">
            <a:avLst/>
          </a:prstGeom>
        </p:spPr>
      </p:pic>
      <p:pic>
        <p:nvPicPr>
          <p:cNvPr id="5" name="Image 1" descr="/tmp/claude-0/-home-user-Phone/c7f42cbc-61a1-5785-9117-fab275c9b64e/scratchpad/assets/fig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584655"/>
            <a:ext cx="4069080" cy="185989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classification of benign breast disorders (left) and relative risk of subsequent cancer by lesion type (right)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Models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011680"/>
                <a:gridCol w="2926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/ BCRAT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menarche, first birth, family hx, biopsies, 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risk; eligibility for chemoprevention (Gail ≥1.7%)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family hx detail; underestimates BRCA kindreds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Tyrer-Cuzick (IBIS)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Reproductive hx, density, family hx, BBD, BRCA probability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risk; most accurate for strong family hx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Complex; can overestimate in some AH/LCIS populations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Pedigree + BRCA1/2 test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carrying BRCA1/2 variant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BRCA1/2 only; not PALB2, ATM, CHEK2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BOADICEA/CanRisk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pedigree, multiple susceptibility genes, PRS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hereditary risk incl. PALB2/ATM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PRS not yet standard of care (NCCN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race/ethnicity, density, family hx, biopsy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Population-based 5–10 year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designed for extensive family hx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8600" y="39319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2026 Thresholds: Discuss chemoprevention if Gail 5-year risk ≥1.7%; stronger recommendation if Gail ≥3% or IBIS/Tyrer-Cuzick 10-year ≥5%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Breast Cancer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 management strategies, prophylactic surgery, NCCN 2026 updates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Hereditary Breast Cancer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BRCA Carrier Management Strategies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Hereditary Breast Cancer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(Non-Surgical)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breast MRI + mammography (alternating every 6 months) from age 25–75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breast exam every 6–12 months from age 25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BRCA1: start MRI by age 25; BRCA2: by 25–30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Transvaginal ultrasound + CA-125: q6 months from 30–35 yrs or 5–10 yrs before earliest affected relative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screening for male BRCA1/2 carriers: annual from age 40–45 (NCCN 2026)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Surgery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bilateral mastectomy (RRM): ↓ BC risk by ~90–95%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bilateral salpingo-oophorectomy (RRBSO): ↓ ovarian Ca risk 80–96%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RRBSO also reduces BC risk ~50% if done before menopause (BRCA1 by age 40, BRCA2 by 45)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mastectomy: acceptable for appropriate candidates; residual risk ~5–10%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counseling: implant vs autologous; body image discussion essential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20 mg/day × 5 years: reduces ER+ BC by 49% (NSABP P-1)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Less established benefit in BRCA1 (predominantly TNBC); clearer benefit for BRCA2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 (postmenopausal): similar efficacy to tamoxifen, less uterine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 (AIs): postmenopausal only; exemestane, anastrozole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Risk-benefit should include QoL, contraindications (VTE, endometrial cancer history)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Positive: Systemic Treatment Implications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(PARP inhibitor): FDA-approved for BRCA1/2 HER2-neg early BC (high-risk; residual dz after neoadj)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Talazoparib: alternative PARP inhibitor; similar indication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Neoadjuvant: BRCA1/2 → use platinum-based chemotherapy (cisplatin active)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Metastatic: olaparib/talazoparib preferred over single-agent chemo (OlympiAD/EMBRACA trials)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Children: autosomal dominant — 50% chance; genetic counseling for first-degree relatives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NCCN 2026 — Genetic Risk Assessment Updates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Hereditary Breast Cancer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NCCN v2.2026 UPDATE: Genetic/Familial High-Risk — BRCA &amp; Multi-Gene Panel Changes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192024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&amp; Prostate Cancer Risk (NCCN 2026)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" y="1170432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P/LP carriers: 7–26% cumulative lifetime prostate Ca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BRCA2 P/LP carriers: 19–61% cumulative lifetime prostate Ca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BRCA2 associated with aggressive prostate cancer (T4, Gleason ≥8, metastatic)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3.19 (95% CI 1.94–5.25) for aggressive prostate Ca in BRCA2 carriers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Annual PSA screening recommended from age 40–45 for BRCA1/2 male carriers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from age 40 with BRCA2 or positive family hx of prostate Ca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852928"/>
            <a:ext cx="4206240" cy="178308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852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HOXB13 G84E Variant — New Recognition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3154680"/>
            <a:ext cx="40233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HOXB13 P/LP variants found in 1.4–4.5% of prostate cancer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G84E missense variant: 60% lifetime prostate Ca risk by age 80 in carriers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HOXB13 associated with early-onset prostate cancer (age ≤55)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included in multi-gene panel testing for hereditary cancer syndromes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association with aggressive disease phenotype (unlike BRCA2)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4297680" cy="192024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Multi-Gene Panel Considerations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1170432"/>
            <a:ext cx="4114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P/LP variants: 2–4× BC risk; prostate Ca risk (moderate penetrance)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CHEK2 1100delC: 2–3× BC risk; also associated with prostate Ca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PALB2: 14–35% lifetime BC risk — now routinely tested alongside BRCA1/2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(polygenic risk score): NOT recommended as standard of care by NCCN 2026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CanRisk/BOADICEA now includes PALB2, ATM, CHEK2 in comprehensive risk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852928"/>
            <a:ext cx="4297680" cy="178308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&amp; Ovarian Cancer Updates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154680"/>
            <a:ext cx="41148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carriers: annual pancreatic Ca surveillance from age 50 recommended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Nonepithelial ovarian cancer (granulosa, Sertoli-Leydig): new testing criteria added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BRIP1, RAD51C/D: ovarian Ca risk; relevant for counseling surgical prevention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testing cascade: all first-degree relatives of confirmed P/LP variant carrier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&amp; Prevention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guidelines, MRI, chemoprevention, Ethiopia CBE approach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Prevention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Mammography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Prevention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20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Evidence &amp; Guidelines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BC mortality ~15–25% (meta-analyses of RCTs)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77–95%; lower in dense breasts (&lt;50%) → supplemental US or MRI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~90%; recall rate 10%; biopsy rate ~1.5%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USPSTF 2024: biennial mammography ages 40–74 (updated from 50–74)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ACS: annual mammography from age 45 (optional 40–44); biennial option at 55+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NCCN/ACR: annual mammography from age 40 for average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4206240" cy="202996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Classification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07792"/>
            <a:ext cx="4023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0: Incomplete — needs additional imaging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1: Negative — routine screening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2: Benign — routine screening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3: Probably benign — short-interval 6-month follow-up (0.5–2% malignancy)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4: Suspicious — biopsy recommended (4A 2–10%, 4B 10–50%, 4C 50–95%)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5: Highly suggestive of malignancy — biopsy required (&gt;95%)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6: Known biopsy-proven malignancy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2024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Mammography (DBT)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Breast Tomosynthesis: 15–30% ↑ cancer detection vs 2D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↓ in recall rates; 27% ↑ in invasive cancer detection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standard at most screening centers in HIC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radiation dose — still well within safe range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4297680" cy="202996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&amp; Overdiagnosis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07792"/>
            <a:ext cx="41148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10-year FP risk with annual mammography: ~61%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Overdiagnosis estimate: 10–25% of screen-detected cancers (esp. DCIS)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early detection benefit vs unnecessary biopsy, anxiety, overtreatment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highest in age 50–69; debate continues for 40–49 age group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interval does not affect OS in most trials (annual vs biennial)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636008"/>
            <a:ext cx="8686800" cy="9144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8600" y="4636008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Ethiopia: Mammography NOT yet available as population screening. CBE is primary screening tool (see Ethiopian Guideline slide)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MRI Screening Indications &amp; Chemoprevention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Prevention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20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MRI — High-Risk Screening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MRI + mammography: ≥20% lifetime risk (BRCA1/2, other high-risk genes)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MRI: 71–100% vs 33–60% for mammography in BRCA carriers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 MRI: evaluate extent of disease; preop planning; occult primary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 BRCA carrier, prior chest RT, first-degree BRCA carrier, lifetime risk ≥20%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for average-risk women (false positive rate too high)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for: lifetime risk 15–20%, dense breasts with prior atypia (NCCN)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4206240" cy="202996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 Agents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07792"/>
            <a:ext cx="4023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20 mg/day × 5 yrs: 49% ↓ ER+ BC (NSABP P-1); pre+postmenopausal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Raloxifene 60 mg/day × 5 yrs: 38% ↓ ER+ BC (MORE trial); postmenopausal only; ↓ VTE vs Tam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trial: Tamoxifen vs Raloxifene — similar invasive BC reduction; more uterine sarcoma with Tam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Exemestane 25 mg/day × 5 yrs: 65% ↓ risk (MAP.3 trial); postmenopausal only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Anastrozole 1 mg/day × 5 yrs: 50% ↓ (IBIS-II); postmenopausal; ↓ bone density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NCCN: discuss at Gail 5-year ≥1.7%; recommend at ≥3% or IBIS 10-yr ≥5%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2024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Supplemental Screening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dense breasts (BIRADS C/D) when MRI not available/affordable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Whole-breast US: detects additional 2–3 cancers per 1000 screened women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whole-breast US (ABUS): reproducible; less operator-dependent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FP rate: 85–90% of additional biopsies prompted by US are benign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mammography: misses calcifications (DCIS) entirely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4297680" cy="202996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Mastectomy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07792"/>
            <a:ext cx="41148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NCCN: discuss RRM for P/LP variants in high-penetrance genes (BRCA1/2, TP53, CDH1)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reduction: ~90–95% for BC; does not eliminate risk (residual chest wall tissue)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benefit: shown in BRCA1/2 carriers with intact ovaries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RRM: acceptable in appropriate candidates; completeness is paramount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 immediate implant vs tissue expander vs LD/TRAM flap — individualized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Counseling: body image, sexuality, future screening, genetic implications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Chemoprevention Trials: Relative Risk Reduction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5723"/>
            <a:ext cx="8412480" cy="30577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risk reduction in invasive breast cancer incidence vs placebo across NSABP P-1, IBIS-II, and MAP.3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Prevention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🇪🇹 Ethiopian Guideline — Screening &amp; Early Detection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&amp; Prevention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ETHIOPIAN GUIDELINE 2024 — Screening Note: CBE replaces population mammography as primary screening tool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Early Detection Methods (Ethiopia)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" y="1170432"/>
            <a:ext cx="40233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Breast Health Awareness (BHA): women ≥20 years; monthly BSE education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Clinical Breast Examination (CBE): women ≥30 years; annual by trained provider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Diagnostic Imaging (US/Mammography): women ≥40 years every 2 years, or diagnostic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by trained health worker: identifies cancers as small as 1 cm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integrated into existing MCH services (ANC, postnatal, FP clinics)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715768"/>
            <a:ext cx="420624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715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Protocol in Ethiopia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3017520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exam: breasts and underarms in upright and lying flat positions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Palpation looking for: lump/change in shape, fixed/hard mass, axillary lump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changes: peau d'orange, ulceration, nipple retraction, bloody discharge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Confirmatory: if suspicious → refer for US ± mammography and FNAC/biopsy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primary HCW; include CBE in medical and nursing curricula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assurance: proficiency assessments and standardized protocols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868680"/>
          <a:ext cx="4297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2588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(HIC)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modality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 (trained health worker)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 (2D/3D)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to 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years (CBE)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years (mammography)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CBE; 2-yr mammogram if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or biennial mammo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for &lt;1cm tumor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(CBE)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(~85%)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(equipment + radiologists)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Gap/difference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65-75% present Stage III/IV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 in HIC present 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Diagnosis: Imaging &amp; Biopsy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examination, imaging modalities, triple assessment, biopsy techniques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Imaging &amp; Biopsy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Presentation &amp; Examination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Imaging &amp; Biopsy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21488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Signs &amp; Symptoms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Painless lump (most common, 70%): new hard/fixed lump → high suspicion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changes: peau d'orange (dermal lymphatic invasion), dimpling (Cooper's ligament tethering)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changes: inversion (new), eczematous rash (Paget's), bloody discharge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lymphadenopathy: hard, matted, fixed nodes → suspicious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advanced: skin ulceration, chest wall fixation, erythema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BC: diffuse erythema &gt;1/3 breast, peau d'orange, rapid onset (not a skin infection)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834640"/>
            <a:ext cx="4206240" cy="180136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— Gold Standard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3136392"/>
            <a:ext cx="4023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Clinical Breast Examination (history + physical)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Imaging (mammogram ± US ± MRI)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Pathology (FNAC or core needle biopsy)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concordant benign: 99.6% NPV; discordance → biopsy mandatory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needle biopsy preferred over FNAC: provides architecture, ER/PR/HER2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214884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Examination Technique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above head + leaning forward: accentuates asymmetry, skin dimpling, nipple retraction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nodes: axillary levels I–III, supraclavicular, infraclavicular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palpation: 4 quadrants + subareolar; standing then supine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size (cm), location (clock face, distance from nipple), mobility, consistency, borders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Skin: erythema, edema, satellite nodules, scars, visible veins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 breast: always examine both; bilateral synchronous BC ~1–3%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834640"/>
            <a:ext cx="4297680" cy="18013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834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 Algorithm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3136392"/>
            <a:ext cx="41148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&lt;30 with discrete mass: US first (dense breast, low malignancy risk)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≥30 or suspicious mass: Diagnostic mammogram + US ±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solid mass any age: biopsy if ≥BIRADS 4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discharge: cytology of discharge + mammogram + US ± ductoscopy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Occult primary (axillary node + unknown primary): MRI breast before biopsy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Triple Assessment Algorithm for a Palpable Mass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384" y="754380"/>
            <a:ext cx="6663233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pathway from clinical exam through imaging to tissue diagnosis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Imaging &amp; Biopsy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Modalities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Imaging &amp; Biopsy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210312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 (2D)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Screening; calcifications (DCIS)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breasts ↓ sensitivity; radiation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(3D Mammo)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Screening; dense breasts; spiculated lesions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dose; longer read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Ultrasound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 vs solid; dense breast; biopsy guidance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dependent; misses calcifications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MRI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screening; occult primary; extent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FP rate; expensive; not for 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PET/CT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III–IV; detect LN/distant mets; ambiguous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sensitivity small (&lt;1cm) lesions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2743200"/>
            <a:ext cx="4206240" cy="1892808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— Specific Indications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044952"/>
            <a:ext cx="40233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diagnosed BC: evaluate extent ipsilateral + contralateral synchronous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Occult primary (positive axillary node): 70% detection rate before MRI negative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response to neoadjuvant: residual disease assessment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breasts or implants: supplement mammography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BRCA/high-risk annual surveillance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2743200"/>
            <a:ext cx="4297680" cy="189280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743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Evaluation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3044952"/>
            <a:ext cx="41148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US-guided FNA/core biopsy of suspicious nodes: before decisions on surgical staging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biopsied suspicious node (clip) for targeted axillary dissection (TAD) after neoadjuvant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cN0: SLNB standard; cN1–2: full evaluation; post-neoadj cN0 → TAD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PET-CT: useful for detecting occult systemic disease in Stage III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Biopsy Techniques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Imaging &amp; Biopsy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92608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Obtained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FNA (FNAC)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 (cytology)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Rapid, minimal trauma, guides treatment acutely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architecture; cannot distinguish inv vs in situ; operator dependent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needle biopsy (CNB)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tissue (histology)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ER/PR/HER2; standard of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invasive procedure; hematoma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Vacuum-assisted (Mammotome)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cores; 11–14G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calcifications; lower sampling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expensive; longer procedure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 biopsy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lesion removed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+ therapeutic if margins clear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OR; disrupts subsequent surgery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Incisional biopsy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lesion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lesions; prior excisional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Disrupts tumor; requires OR; rarely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127248"/>
            <a:ext cx="4160520" cy="150876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12724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Image-Guided Biopsy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429000"/>
            <a:ext cx="39776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US-guided: real-time; solid masses; axillary nodes; most used technique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Stereotactic (mammogram-guided): microcalcifications without US correlate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MRI-guided: lesion only on MRI — requires supine or prone coil; DCIS especially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3127248"/>
            <a:ext cx="4297680" cy="150876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127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Post-Biopsy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3429000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placement mandatory: marks biopsy site for surgery or TAD after neoadjuvant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Radiograph clip to confirm: concordance of imaging and pathology before treatment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result: repeat biopsy — never trust a benign core if imaging is suspicious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🇪🇹 Ethiopian Guideline — Timely Diagnosis (Pillar 2)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Imaging &amp; Biopsy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ETHIOPIAN GUIDELINE 2024 — Timely Diagnosis: Target = complete workup within 60 days of referral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in Ethiopia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" y="1170432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History + CBE by trained provider (history of lump, duration, changes)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Imaging — US preferred (mammogram if available); assess mass characteristics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FNAC as initial diagnostic modality → core needle biopsy → incisional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three = diagnostic concordance before treatment decisions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FNAC first approach: practical for resource-limited settings; limitations recognized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85–90% of all biopsied breast lesions are ultimately benign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807208"/>
            <a:ext cx="4206240" cy="1819656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807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Workup Algorithm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3108960"/>
            <a:ext cx="40233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≥30 yrs with: breast lump ± change in shape/consistency, axillary lump,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skin changes (peau d'orange, ulceration), nipple retraction/bloody discharge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days: coordinate US ± mammography + FNAC/biopsy for diagnosis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lesion: treat per guideline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Suspected/confirmed BC: refer to BC treatment facility + MDT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868680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71600"/>
                <a:gridCol w="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Element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 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(mammogram limited)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mammo +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mammography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FNAC first → CNB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needle biopsy preferred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FNAC lacks architecture; misses HER2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Biomarker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ER/PR (limited); HER2 (variable)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ER/PR/HER2/Ki-67 all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HER2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≤60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practice: ≤2–4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Delays common due to 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at tertiary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at all treating centers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MDT access limited to tertiary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Pathology — In Situ Carcinomas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LCIS, DCIS: features, natural history, management algorithms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 Situ Carcinomas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LCIS — Features &amp; Natural History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 Situ Carcinomas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21488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— Classic Features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terminal duct-lobular unit (TDLU); lobular architecture preserved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Cells: small, uniform, discohesive; fill and distend acini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E-cadherin NEGATIVE (CDH1 loss) → loss of cell-cell adhesion (also in invasive lobular)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LCIS: bilateral risk marker; NOT an obligate precursor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 (PLCIS): high-grade, necrosis → managed more like high-grade DCIS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 LCIS: expansile growth → margins warranted (controversial)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834640"/>
            <a:ext cx="4206240" cy="180136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 &amp; Risk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3136392"/>
            <a:ext cx="4023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BC risk: 8–10× general population; bilateral equal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per year absolute risk of developing BC after LCIS diagnosis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lobular and ductal invasive carcinoma risk is elevated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at surgical margin: no re-excision required (classic LCIS); PLCIS: excise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excisions → upgrade to invasive or DCIS (reason for excision at initial CNB)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214884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LCIS: observation + risk stratification + chemoprevention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(NSABP P-1): 49% ↓ in subsequent BC risk for LCIS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Excision not mandatory for classic LCIS at core biopsy — but excision often done due to upgrade risk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excision to clear margins (similar management to high-grade DCIS)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bilateral mastectomy: option for strong family history or BRCA+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mammogram + physical exam for surveillance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834640"/>
            <a:ext cx="4297680" cy="180136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834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vs Invasive Lobular Carcinoma (ILC)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3136392"/>
            <a:ext cx="41148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ILC: invasive cells in single file ("Indian file") through stroma; no gland formation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E-cadherin negative in both LCIS and ILC — marker of lobular differentiation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ILC: 8–14% of invasive BC; bilateral/multifocal in 20–30%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ILC more often ER+ (90%), HER2-; often mammographically occult (MRI superior)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ILC prognosis: similar to IDC stage-for-stage; late recurrences (bones, peritoneum, leptomeningeal)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DCIS — Features &amp; Management Algorithm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 Situ Carcinomas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— Pathologic Features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epithelial cells within basement membrane — no invasion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as Tis; DCIS + microinvasion (≤1mm) = T1mi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grade (size/chromatin/mitoses/necrosis): low(G1), intermediate(G2), high(G3)*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comedo (necrosis), cribriform, micropapillary, solid, papillary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 DCIS (high-grade+necrosis): most aggressive; calcifies → visible on mammography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*Full nuclear-grade criteria: Grading Summary, Section 10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Nuys Prognostic Index (VNPI)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4 factors each rated 1(best)–3(worst) — size, margin, grade+necrosis, age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re-mapped to a 3–9 scale: 3–4: BCS alone   5–7: BCS+RT   8–9: mastectomy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not universally adopted; controversial omission of RT decisions</a:t>
            </a:r>
            <a:endParaRPr lang="en-US" sz="9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standard: margin ≥2 mm primary criterion for adequacy ("no ink" insufficient for DCIS)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untreated: ~50% of high-grade DCIS → invasive BC within 10 years (Lagios)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Low-grade DCIS: longer latency; some may never progress (overdiagnosis concern)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upgrade to invasive at excision: ~20% overall (higher for large/high-grade)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IBTR risk after BCS + RT: ~0.5–1% per year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RT: IBTR ~1.5–3% per year — halved with radiation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560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Diagnosis (CNB)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22392" y="2944368"/>
            <a:ext cx="36576" cy="2286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2990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316382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3163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(lumpectomy)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163824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1638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22392" y="3547872"/>
            <a:ext cx="36576" cy="2286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3593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376732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WBRT (standard Cat1)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37673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RT if mastectomy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22392" y="4151376"/>
            <a:ext cx="36576" cy="2286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57800" y="41970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4370832"/>
            <a:ext cx="4206240" cy="320040"/>
          </a:xfrm>
          <a:prstGeom prst="roundRect">
            <a:avLst>
              <a:gd name="adj" fmla="val 14286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17720" y="4370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Rx (ER+ DCIS) — 5 yrs tamoxifen or AI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647688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47688" y="385876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DCIS Architectural Growth Patterns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66724"/>
            <a:ext cx="8412480" cy="34957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Papillary, cribriform, intermediate-grade, and comedo growth patterns — rising nuclear grade and necrosis correlate with higher recurrence/progression risk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 Situ Carcinomas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Pathology — Invasive Carcinomas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special histologies, IBC, Paget's, Phyllodes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Invasive Carcinomas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Invasive Carcinoma Types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Invasive Carcinomas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77240"/>
                <a:gridCol w="3794760"/>
                <a:gridCol w="2011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ductal carcinoma (NST)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specific features; heterogeneous; grades 1–3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Stage-dependent; most common cause BC death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lobular carcinoma (ILC)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Indian-file pattern; E-cadherin neg; ER+/HER2-; bilateral risk; mammogram-occult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stage-for-stage to IDC; late bone/GI 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Tubular carcinoma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Well-differentiated tubules; low-grade;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Excellent: 98% 10-yr survival; rare nodal spread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Mucinous (colloid)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Pools of mucin; ER+; older women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Good; low nodal positivity; rare distant 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Medullary-like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Pushing borders; lymphocytic infiltrate; ER-/HER2-; BRCA1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Paradoxically better than grade-matched IDC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Cribriform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0.3–0.8%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Low-grade; sieves/arches;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Excellent; often mixed with tubular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Papillary (invasive)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Papillary architecture; older women;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prognosis; central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Metaplastic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0.2–1%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Squamous/spindle/chondroid/osseous metaplasia; TNBC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Aggressive; chemotherapy-resistant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Micropapillary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clusters in lacunar spaces; ER+; high LVI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prognosis; high nodal positivity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Relative Frequency &amp; ER Positivity by Histologic Type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5772"/>
            <a:ext cx="8412480" cy="31976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invasive cancers and estrogen-receptor positivity across histologic subtypes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Invasive Carcinomas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Histologic Types &amp; Presentations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— Invasive Carcinomas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28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Breast Cancer (IBC)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diagnosis: rapid onset erythema ≥1/3 breast ± peau d'orange ± nipple retraction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dermal lymphatic invasion (NOT a skin infection — no fever initially)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Pathologic: may or may not see classic invasive ductal cells in biopsy specimen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cT4d stage; &gt;Stage IIIB; no TNM "T" based on tumor size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NEOADJUVANT chemo first (NOT surgery first); then surgery then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5-year OS ~40%; TNBC and HER2+ subtypes common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14600"/>
            <a:ext cx="4206240" cy="212140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Paget's Disease of the Nipple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16352"/>
            <a:ext cx="40233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pale cells (Paget cells) in nipple epidermis — eczematous nipple rash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associated with underlying DCIS (100%) or invasive cancer (50%)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(retroareolar) location; unilateral, persistent, non-responsive to topical steroids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biopsy of nipple epidermis or punch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total mastectomy (if underlying invasive) or BCS + nipple excision +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depends on underlying lesion; Paget's without invasive Ca → excellent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2880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Phyllodes Tumor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Biphasic: epithelial + stromal components; stromal overgrowth key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benign (50%), borderline (25%), malignant (25%)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Malignant: cellular stroma, high mitoses, permeative borders, stromal overgrowth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Metastasis: hematogenous (lung, bone) — NOT lymphatic (no SLNB needed)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wide excision ≥1 cm margin; mastectomy if large; NO chemotherapy (sarcoma)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Recurrence: all grades → wide excision; malignant → consider 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14600"/>
            <a:ext cx="4297680" cy="212140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Angiosarcoma of the Breast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16352"/>
            <a:ext cx="41148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(spontaneous): rare; young women; high-grade; no risk factors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(post-irradiation): most important form; 6–10 years after RT for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Stewart-Treves syndrome: lymphedema-associated angiosarcoma (post-ALND)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Skin: blue-red discoloration, satellite nodules; rapidly enlarging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mastectomy + wide excision; no role for sentinel node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poor; median OS 2–3 years; rapid metastasis to lungs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Staging (TNM)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Edition: T, N, M categories and stage groups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Staging (TNM)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8th Edition — T &amp; N Categories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Staging (TNM)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4160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520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Category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Size/Features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situ (DCIS, LCIS, Paget's without invasive)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T1mi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Microinvasion ≤1 mm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 mm – ≤5 mm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T1b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 mm – ≤10 mm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T1c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 mm – ≤20 mm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&gt;20 mm – ≤50 mm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 mm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invasion (ribs, intercostals, serratus — NOT pectoralis)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T4b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ulceration, satellite nodules, edema (peau d'orange)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T4c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T4a + T4b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breast cancer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621792"/>
          <a:ext cx="4434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794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nodal metastasis by H&amp;E or IHC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Micrometastasis &gt;0.2mm, ≤2mm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axillary nodes (macrometastasis)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 sentinel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axillary + internal mammary SLN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4–9 axillary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mammary nodes (clinical)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 axillary nodes or infraclavicular (Level III)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IMN + ≥1 axillary node; or ≥4 axillary + IMN SLN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Supraclavicular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228600" y="452628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Chest wall = ribs/intercostals/serratus anterior. Pectoralis muscle involvement does NOT = T4a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Primary Tumor (T) Categories Drawn to Scale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736" y="754380"/>
            <a:ext cx="7418527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tumor diameters corresponding to AJCC T1mi through T3 categories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Staging (TNM)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Staging Groups &amp; Workup by Stage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Staging (TNM)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822960"/>
                <a:gridCol w="17373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Anatomic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OS (approx.)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(Tis)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T0–1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T0–1 / T2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 / 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/ 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 / 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T0–3 / T3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 / N1–2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 (5-yr, improving)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94960" y="621792"/>
            <a:ext cx="3520440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6217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Workup by Stage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504688" y="923544"/>
            <a:ext cx="33375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I–IIA (asymptomatic): H&amp;P + bilateral mammo + tumor biomarkers only; NO routine CT/bone scan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IIB–III: CT chest/abdomen/pelvis + bone scan OR PET-CT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IV: CT + bone scan or PET-CT; liver US; consider brain MRI if symptoms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NCCN: routine CBC, LFTs, ALP; CXR; selective MRI breast for extent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94960" y="2377440"/>
            <a:ext cx="3520440" cy="225856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23774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8th Edition — Prognostic Staging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504688" y="2679192"/>
            <a:ext cx="33375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ed introduced "Prognostic Stage Groups" incorporating biomarkers: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T, N, M + Grade + ER/PR/HER2 status + Oncotype DX RS (if used)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stage may differ from anatomic stage (e.g., T2N1 ER+/HER2-/Grade1 = Stage IIA anatomic → Stage IB prognostic)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significant: Stage I tumors may have very different outcomes by biology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for treatment decisions, especially adjuvant systemic therapy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Cancer Grading Systems — Summary Reference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Staging (TNM)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945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(1 pt each)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1 (best)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3 (worst)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Tubule/gland 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&gt;75% tubules formed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10–75% tubules formed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 tubules formed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pleomorphism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uniform nuclei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variation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variation + nucleoli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Mitotic count /10 HPF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8600" y="204825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Nottingham (Elston-Ellis / modified SBR) Grade — Invasive Carcinoma: sum the 3 scores (range 3–9) →  3–5 = Grade 1 (well-diff.)   6–7 = Grade 2 (moderate)   8–9 = Grade 3 (poor)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8600" y="2414016"/>
            <a:ext cx="2834640" cy="21031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Nuclear Grade (distinct from Nottingham)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38328" y="2715768"/>
            <a:ext cx="2651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monotonous small nuclei, diffuse fine chromatin, rare mitoses, necrosis rare</a:t>
            </a:r>
            <a:endParaRPr lang="en-US" sz="9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cytologic features between low and high grade</a:t>
            </a:r>
            <a:endParaRPr lang="en-US" sz="9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markedly pleomorphic nuclei, coarse chromatin, frequent mitoses, comedo necrosis common</a:t>
            </a:r>
            <a:endParaRPr lang="en-US" sz="9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Graded on nuclear features alone — DCIS has no tubule-formation score (no invasion to assess)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2414016"/>
            <a:ext cx="2834640" cy="210312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2414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Nuys Prognostic Index (VNPI) Recap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310128" y="2715768"/>
            <a:ext cx="2651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factors each scored 1 (best)–3 (worst): size, margin width, grade+necrosis, age</a:t>
            </a:r>
            <a:endParaRPr lang="en-US" sz="9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4–12 pts, re-mapped to a 3–9 reporting scale (Section 08)</a:t>
            </a:r>
            <a:endParaRPr lang="en-US" sz="9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3–4: BCS alone   5–7: BCS + RT   8–9: mastectomy</a:t>
            </a:r>
            <a:endParaRPr lang="en-US" sz="9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specifically to individualize DCIS radiation decisions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72200" y="2414016"/>
            <a:ext cx="2743200" cy="210312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24140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Deck's Classification Systems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281928" y="2715768"/>
            <a:ext cx="25603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BIRADS 0–6: imaging suspicion → biopsy threshold (Sec.06)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Nottingham/SBR 1–3: invasive tumor differentiation (above)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T/N/M + Grade: anatomic + prognostic STAGE (below)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Oncotype DX RS 0–100: genomic chemo-benefit score (Sec.11)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ESCAT I–IV / MCBS 1–5: 2026 target actionability / benefit size (Sec.15)</a:t>
            </a:r>
            <a:endParaRPr lang="en-US" sz="87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AJCC Stage Groups &amp; Survival by Stage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453439"/>
            <a:ext cx="4069080" cy="2122322"/>
          </a:xfrm>
          <a:prstGeom prst="rect">
            <a:avLst/>
          </a:prstGeom>
        </p:spPr>
      </p:pic>
      <p:pic>
        <p:nvPicPr>
          <p:cNvPr id="5" name="Image 1" descr="/tmp/claude-0/-home-user-Phone/c7f42cbc-61a1-5785-9117-fab275c9b64e/scratchpad/assets/fig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629918"/>
            <a:ext cx="4069080" cy="17693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8th edition anatomic stage groups (left, Schwartz Table 17-11) and SEER 5-year relative survival by stage at diagnosis (right)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AJCC Staging (TNM)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Prognostic Factors &amp; Molecular Subtypes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biomarkers, multigene assays, intrinsic subtypes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Factors &amp; Molecular Subtypes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Prognostic &amp; Predictive Factors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Factors &amp; Molecular Subtypes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 Prognostic Factors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node status: #1 predictor; each additional positive node decrements survival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size: T1 &lt; T2 &lt; T3; continuous variable, not threshold-dependent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Histologic grade (Elston-Ellis/Nottingham): tubule formation (1–3) + nuclear pleomorphism (1–3) + mitotic rate (1–3)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(3–5 pts): low; Grade 2 (6–7): intermediate; Grade 3 (8–9): high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Lymphovascular invasion (LVI): predicts nodal involvement + distant recurrence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margins: adequate margin reduces IBTR risk (negative = "no ink on tumor")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Biomarkers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(Estrogen Receptor): ≥1% IHC positive → endocrine therapy benefit (NCCN)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ER-low (1–10%): technically positive; biologically heterogeneous → full risk assessment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(Progesterone Receptor): ER+/PR+ best response; ER+/PR- intermediate; correlates with HER2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(ERBB2): IHC 3+ or FISH amplified → trastuzumab + pertuzumab benefit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HER2-low: IHC 1+ or 2+/FISH negative → T-DXd eligibility (DESTINY-Breast04)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Ki-67: surrogate for proliferative activity; &gt;20–30% = high; threshold varies by lab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Key Factors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younger patients (&lt;35): ↑ recurrence risk; more aggressive biology; BRCA testing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Race/ethnicity: Black women → higher TNBC rate; biologic and systemic disparities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 receptor (AR): positive in 70–95% ER+ BC and ~50% TNBC (emerging target)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TILs (tumor-infiltrating lymphocytes): high TILs → improved pCR in TNBC/HER2+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cancer burden (RCB): RCB-0 (pCR) → best OS; RCB-III → worst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Pathologic Response (pCR)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= no residual invasive cancer in breast + lymph nodes after neoadjuvant 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definition: ypT0 ypN0 (NSABP) or ypT0/Tis ypN0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endpoint for improved OS in TNBC and HER2+ (CREATE-X, KATHERINE)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rates: TNBC ~30–55% with platinum-containing NAC; HER2+ up to 60–70%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disease in TNBC → capecitabine 6–8 cycles improves OS (CREATE-X)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disease in HER2+ → T-DM1 (ado-trastuzumab emtansine) improves DFS (KATHERINE)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Multigene Assays — Oncotype DX &amp; MammaPrint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Factors &amp; Molecular Subtypes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93392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Oncotype DX (21-gene RT-PCR)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Score (RS) 0–100: validated in ER+/HER2-, N0 and N1 (1–3 nodes)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&lt;18 (low): endocrine alone — chemo adds no benefit (TAILORx, RxPONDER)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18–30 (intermediate): chemo benefit uncertain; menopausal status critical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&gt;30 (high): chemotherapy adds significant benefit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 RS 16–25: may benefit from chemo (partly via ovarian suppression)</a:t>
            </a:r>
            <a:endParaRPr lang="en-US" sz="87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avoids overtreatment (low-risk) AND undertreatment (high-risk) — practice-changing genomic test in ER+/HER2- BC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28600" y="2679192"/>
            <a:ext cx="4206240" cy="1956816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79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RxPONDER Trial (N1 disease)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80944"/>
            <a:ext cx="40233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III: 5083 women, ER+/HER2-, N1(1–3 nodes), RS ≤25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Postmenopausal: no chemo benefit (adds only toxicity)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 RS ≤25 N1: chemo improved iDFS (HR 0.64) — possibly via ovarian suppression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implication: postmenopausal N1 RS≤25 → endocrine therapy alone safe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 N1 → consider chemo + ovarian suppression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93392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MammaPrint (70-gene expression)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Microarray: classifies BC as Low Risk (LR) vs High Risk (HR) for distant recurrence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MINDACT trial: "Ultra-low risk" subset: clinical high / genomic low → can omit chemo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 clinical-high/genomic-low: chemotherapy omission safe at 5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for: ER+/HER2- early BC when additional genomic context needed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 both pre- and postmenopausal; pN0 and limited N1 disease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79192"/>
            <a:ext cx="4297680" cy="1956816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79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Multigene Assays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80944"/>
            <a:ext cx="41148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PAM50 / Prosigna (50 gene): reports Intrinsic Subtype + ROR (Risk of Recurrence) 0–100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Endopredict (EP): 12-gene; binary low/high; used in postmenopausal N0/N1 ER+ HER2-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Index (BCI): predicts late recurrence (years 5–10); guides extended endocrine therapy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validated for chemotherapy decision in ER+/HER2- early BC — not interchangeable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prefers Oncotype DX but accepts validated alternatives for specific clinical scenarios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Subtypes (Intrinsic/Sorlie–Perou Classification)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Factors &amp; Molecular Subtypes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914400"/>
                <a:gridCol w="228600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Biomarker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Biology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Backbone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Luminal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ER+/PR+, HER2-, Low Ki-67, Grade 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endocrine responsive; good prognosis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therapy alone (± CDK4/6)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Luminal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ER+/PR±, HER2-, High Ki-67 OR HER2+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aggressive; endocrine + chemo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+ CT ± CDK4/6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HER2-enriched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(ER-, PR-)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 gene amplification dominant; aggressive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Anti-HER2 + chemo ± endocrine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Negative (TNBC)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ER-, PR-, HER2-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Basal-like (mostly); BRCA1 assoc.; high 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± pembrolizumab ± PARP inhibitor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breast-like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expression all markers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Contaminated specimen or normal tissue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excluded from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2807208"/>
            <a:ext cx="420624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2807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Subclassification (Lehmann 2011)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108960"/>
            <a:ext cx="4023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BL1 (Basal-like 1): highest pCR; cell cycle genes; responds to platinum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BL2 (Basal-like 2): growth factor signaling; lower pCR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(Mesenchymal): EMT-related; low pCR; responds to PI3K pathway inhibitors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(Immunomodulatory): high TILs; responds to immunotherapy (pembrolizumab)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 (Luminal AR): AR-positive; responds to anti-androgen therapy (enzalutamide)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2807208"/>
            <a:ext cx="4297680" cy="182880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8072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HER2-Low — New Clinical Entity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3108960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IHC 1+ or IHC 2+/ISH negative (previously called "HER2 negative")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~55–60% of all HER2-negative BC are actually HER2-low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T-DXd (trastuzumab deruxtecan): proven efficacy in HER2-low (DESTINY-Breast04)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DESTINY-Breast04: HR 0.49 for PFS; HR 0.64 for OS in HR+ HER2-low MBC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HER2-low is not a biologic subtype — it is a treatment eligibility criterion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Local-Regional Therapy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BCS vs mastectomy, axillary management, radiation, reconstruction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Breast-Conserving Surgery (BCS) vs Mastectomy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20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(Lumpectomy) — Indications &amp; Requirements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EQUIVALENT to mastectomy in OS (6 RCTs: NSABP B-06, Milan I, others)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candidates: single tumor with adequate breast-to-tumor ratio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achieve negative margins (no ink on invasive tumor for IDC; ≥2mm for DCIS)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Post-BCS radiation: WBRT standard; partial breast RT in selected low-risk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PREFERRED when possible for quality of life; equivalent survival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Oncoplastic techniques expand BCS eligibility (therapeutic mammoplasty)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4206240" cy="20299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Contraindications to BCS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07792"/>
            <a:ext cx="4023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breast irradiation to the same breast (skin tolerance exceeded)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suspicious microcalcifications (multicentric extent)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primary tumors in different quadrants (multicentric)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positive margins despite re-excision (inability to achieve clear margins)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systemic lupus or scleroderma (relative — not absolute per all guidelines)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(relative — WBRT after delivery acceptable in 3rd trimester)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2024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— Types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(simple) mastectomy: breast only; no axillary dissection; used for prophylaxis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(Modified Radical Mastectomy): breast + levels I-III axilla; preserve pec major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Skin-sparing mastectomy: remove nipple-areolar complex; preserve breast skin envelope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mastectomy (NSM): preserve NAC; oncologically acceptable if retroareolar margin negative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Halsted radical (historical): also removes pec major/minor; rarely indicated today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4297680" cy="202996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Mastectomy Is Preferred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07792"/>
            <a:ext cx="41148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tumor:breast ratio (cannot achieve negative margins with acceptable cosmesis)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patient preference (informed choice — equivalent survival)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predisposition (BRCA carrier): prophylactic contralateral mastectomy option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BC: mastectomy AFTER neoadjuvant chemotherapy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Multifocal/multicentric disease in different quadrants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prior BCS (persistent positive margins or IBTR)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Axillary Surgery — SLNB &amp; Z0011 Trial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Lymph Node Biopsy (SLNB)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dual tracer (Tc-99m sulfur colloid + isosulfan blue dye) — sensitivity 97%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False-negative rate: ~5–8% with dual tracer; acceptable for clinical practice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disease: SLNB standard; if sentinel node negative → ALND not needed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section: controversial (defer final decision to permanent section in most centers)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curve: 20+ cases required for competency; must be ≥95% identification rate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to SLNB: cN2-3, prior axillary surgery, inflammatory BC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Z0011 Trial — Key Findings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ACOSOG Z0011: cT1-2 cN0; BCS + WBRT; 1–2 positive SLNs (macro)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vs no ALND: no difference in OS or DFS at 10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Z0011 criteria: cT1-2, clinically N0, BCS, receiving WBRT, 1–2 positive SLNs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NOT needed if Z0011 criteria met — even with macrometastasis in SLNs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cannot apply Z0011 to mastectomy, neoadjuvant, or &gt;2 positive SLNs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Neoadjuvant — Targeted Axillary Dissection (TAD)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cN1+: clip suspicious node at diagnosis biopsy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neoadjuvant: if pathologic N0 on imaging → SLNB + remove clipped node (TAD)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reduces FNR from 14% (SLNB alone) to ~2% (TAD) in post-neoadjuvant setting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SENTINA/ACOSOG Z1071: validated TAD approach for ycN0 after chemo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3+ SLN removed and targeted node negative → may avoid ALND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Indications (Remaining)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cN2–3 disease (clinically positive multiple nodes) — upfront surgery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Post-neoadjuvant: residual nodal disease (ycN+) confirmed by TAD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SLNB mapping (no sentinel node identified)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BC (after neoadjuvant therapy)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 positive SLNs in patients NOT meeting Z0011 criteria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extent: levels I and II standard; level III if gross disease or frozen positive at level II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Morbidity of Sentinel Node vs Completion Axillary Dissection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22172"/>
            <a:ext cx="8412480" cy="31848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of paresthesia, lymphedema, and other morbidity at one year (ACOSOG Z0010/Z0011 cohorts)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 Therapy in Breast Cancer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93392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Breast RT (WBRT) After BCS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after BCS: reduces IBTR by ~50–70% (EBCTCG meta-analysis)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Dose: 40–50 Gy in 15–25 fractions; boost 10–16 Gy to tumor bed (high-risk)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Hypofractionation (40 Gy in 15 fractions): equivalent to conventional; preferred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omission: age ≥65–70, T1, ER+/HER2-, negative nodes, on endocrine therapy (PRIME II)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after BCS: RT standard; margin ≥2 mm critical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Breast Irradiation (APBI): selected low-risk patients; ASTRO criteria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79192"/>
            <a:ext cx="4206240" cy="1956816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79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Post-Mastectomy RT (PMRT)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80944"/>
            <a:ext cx="40233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Indicated for: T3–4 tumors; ≥4 positive nodes; 1–3 positive nodes in high-risk (NCCN)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positive nodes: PMRT reduced locoregional recurrence (EBCTCG 2014 meta-analysis)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Dose: 46–50 Gy to chest wall ± regional nodes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volumes: chest wall + IMN + supraclavicular nodes (varies by center)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patients: implant-based reconstruction + PMRT → higher complication rate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after completion of chemotherapy; before hormonal therapy in some protocols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93392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Nodal Irradiation (RNI)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IMN and supraclavicular nodes when regional disease risk is high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MA.20 trial: WBRT + RNI vs WBRT alone: ↑ DFS but not OS; ↑ toxicity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DBCG-IMN: IMN RT improved OS in right-sided tumors with positive nodes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 ≥4 positive nodes; 1–3 nodes + medial/central tumor; high-risk N1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79192"/>
            <a:ext cx="4297680" cy="1956816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79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Toxicity &amp; Late Effects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80944"/>
            <a:ext cx="41148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Skin: early: acute radiodermatitis; late: fibrosis, telangiectasia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Lymphedema: WBRT + ALND: 20–30%; WBRT + SLNB: 5–7%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Cardiac: left-sided RT historical → coronary artery disease, pericarditis (now reduced with modern planning)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Pulmonary: radiation pneumonitis (1–3%); late fibrosis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Brachial plexus neuropathy: &lt;1% with modern techniques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malignancy: angiosarcoma (rare but serious; 6–10 yrs post-RT)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Radiation Therapy Reduces In-Breast Recurrence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11" y="754380"/>
            <a:ext cx="8278978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Ipsilateral breast recurrence with vs without radiation across NSABP B-06 and other randomized trials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Mastectomy Types &amp; Reconstruction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Therapy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10312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Consideration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tissue only; no ALND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Prophylaxis; DCIS; stage IV palliation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can be added if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+ ALND (levels I–III); preserve pec major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invasive BC requiring mastectomy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mastectomy in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+ preserve breast skin (remove NAC)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reconstruction; excellent cosmesis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oncologic outcome to MRM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 (NSM)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NAC; remove all breast tissue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Prophylaxis; small central-quadrant tumors; BRCA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Retroareolar margin must be negative; discuss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Halsted Radical (historical)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+ pec major + pec minor + ALND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 muscle involvement by tumor (rare)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OS benefit vs MRM; abandoned for most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035808"/>
            <a:ext cx="4206240" cy="160020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Options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3337560"/>
            <a:ext cx="4023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Implant-based: tissue expander → definitive implant (2 stages); most common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Direct-to-implant: single-stage; requires adequate soft tissue coverage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Latissimus dorsi (LD) flap: pedicled; provides additional soft tissue for coverage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TRAM/DIEP flap: autologous; gold standard for natural feel; higher morbidity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3035808"/>
            <a:ext cx="4297680" cy="160020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Oncoplastic BCS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3337560"/>
            <a:ext cx="41148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displacement: tissue rearrangement within the breast (therapeutic mammoplasty)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replacement: local/regional flap to fill defect (latissimus mini-flap)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larger resections with acceptable cosmesis; reduces rates of positive margins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oncoplastic training; contralateral symmetrization often needed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Systemic Therapy (Adjuvant)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therapy, chemotherapy regimens, HER2-targeted therapy, neoadjuvant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(Adjuvant)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Endocrine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(Adjuvant)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828800"/>
                <a:gridCol w="1188720"/>
                <a:gridCol w="3200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20mg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Pre/Postmenopausal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yrs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ATLAS: 10 yrs → OS benefit; ↓ recurrence vs 5 yrs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Anastrozole 1mg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Postmenopausal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 (+ up to 5 more)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ATAC: superior DFS vs Tam; ↓ contralateral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Letrozole 2.5mg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Postmenopausal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 (+ up to 5 more)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1-98: superior to Tam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Exemestane 25mg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Postmenopausal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2–3 yrs Tam → IES trial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+ OFS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SERM + GnRHa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 high-risk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 OFS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SOFT/TEXT: OFS + Tam improves DFS vs Tam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Exemestane + OFS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+ GnRHa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 high-risk ER+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SOFT/TEXT: OFS + Exe superior (younger/higher-risk)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Abemaciclib + 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HR+/HER2- high-risk early 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yrs (abema) + 5+ yrs 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monarchE: IDFS benefit in N+ high Ki-67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794760"/>
            <a:ext cx="4160520" cy="84124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794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Adjuvant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8328" y="4096512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MA.17R: Letrozole extended to 10 yrs: ↓ contralateral BC; ↑ bone loss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NCCN: consider 7.5–10 yrs AI in high-risk N+ postmenopausal patients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3794760"/>
            <a:ext cx="4297680" cy="84124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794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CDK4/6 Adjuvant (monarchE)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727448" y="409651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Abemaciclib: N2+ or N1+ with G3 or Ki-67 ≥20% + T≥5cm criteria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 abemaciclib → iDFS HR 0.664; effect maintained beyond treatment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Chemotherapy Regimens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(Adjuvant)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82880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Drugs &amp; Doses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ddAC→ddT (dose-dense)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ddAC × 4 → ddPaclitaxel × 4 (q14d)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subtypes (standard)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CALGB 9741: ↓ recurrence vs q21d; G-CSF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× 4–6 (taxane+cycloph.)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Docetaxel + Cyclophosphamide q21d ×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Lower-risk ER+ HER2-; avoid anthracyclines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9735: TC×6 &gt; AC×4 (DFS); omits anthracycline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× 4 (anthracycline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Doxorubicin 60 + Cycloph. 600 q21d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Lower-risk patients; older regimen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often replaced by TC for lower-risk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Carboplatin addition (TNBC)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Carboplatin + standard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 especially BRCA1/2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BrighTNess: pCR 57% with carbo vs 31% without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Capecitabine (residual TNBC)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Capecitabine 1000–1250 mg/m² PO bid × 6–8 cycles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 with residual dz after NAC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CREATE-X: 74% → 78% 5-yr DFS; OS benefit (HR 0.59)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CMF (historical)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Cycloph + Methotrexate + 5FU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Historical; now rarely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 regimen era (1970s)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822192"/>
            <a:ext cx="8686800" cy="813816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" y="38221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Key Points: Toxicity monitoring: LVEF (anthracyclines), neuropathy (taxanes), neutropenia. G-CSF required with dose-dense regimens. Cardiomyopathy risk: lifetime doxorubicin dose &lt;550 mg/m².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28600" y="3822192"/>
            <a:ext cx="8686800" cy="813816"/>
          </a:xfrm>
          <a:prstGeom prst="rect">
            <a:avLst/>
          </a:prstGeom>
          <a:solidFill>
            <a:srgbClr val="ECF0F1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" y="3822192"/>
            <a:ext cx="85953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Key Points: Toxicity monitoring: LVEF (anthracyclines), neuropathy (taxanes), neutropenia. G-CSF required with dose-dense regimens. Cardiomyopathy risk: lifetime doxorubicin dose &lt;550 mg/m².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HER2-Targeted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(Adjuvant)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10312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Target/Mechanism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Trial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(Herceptin)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Anti-HER2 mAb; ADCC + HER2 signaling block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adjuvant (12 months) + metastatic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HERA: 50% ↓ recurrence; NSABP B-31 confirmed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Pertuzumab (Perjeta)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Anti-HER2 domain 2 mAb; blocks HER2-HER3 dimerization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stage III or high-risk II (neo+adj)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APHINITY: ↑ iDFS in N+ (HR 0.76); benefit modest overall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T-DM1/ado-trastuzumab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ADC: trastuzumab + DM1 (maytansinoid)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HER2+ after neoadjuvant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KATHERINE: iDFS HR 0.50 vs trastuzumab alone; standard of care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T-DXd (trastuzumab deruxtecan)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ADC: trastuzumab + deruxtecan (topo I inhibitor)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line+ HER2+ MBC; HER2-low MBC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DESTINY-Breast01/02/04; ~50% objective response; ILD risk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Lapatinib (Tykerb)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EGFR/HER2 TKI (reversible)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MBC (now rarely first-line)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EGF100151; less used with T-DXd, tucatinib available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Neratinib (Nerlynx)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Irreversible pan-HER TKI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adjuvant after 1 yr trastuzumab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ExteNET: ↑ iDFS especially in HR+ HER2+ (↑ diarrhea)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Tucatinib (Tukysa)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HER2-selective TKI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MBC (+ trastuzumab + capecitabine)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HER2CLIMB: OS benefit incl. brain mets (preferred for CNS+)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Margetuximab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Fc-engineered anti-HER2 mAb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MBC (3rd line+)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SOPHIA: modest PFS benefit; specific FcγR polymorphism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8600" y="4315968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ESMO 2026: T-DXd preferred 2nd-line HER2+ MBC over other anti-HER2 options. Tucatinib+Tras+Cape: preferred for brain metastases.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Anti-HER2 Therapy: Landmark Trial Outcomes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92328"/>
            <a:ext cx="8412480" cy="34445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trastuzumab 3-year DFS (NSABP B-31/N9831), neoadjuvant trastuzumab pCR rate, and extended neratinib iDFS (ExteNET)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(Adjuvant)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Neoadjuvant (Preoperative) Systemic Therapy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(Adjuvant)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20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for Neoadjuvant Therapy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for: IBC (inflammatory BC — always neoadjuvant first)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 (LABC): downstage tumor + nodal disease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 HER2+ or TNBC: improve pCR rate; guide post-neoadjuvant 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BCS: large tumor → relative contraindication → neoadjuvant to achieve BCS eligibility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Research/prognostic: pCR correlates with improved DFS/OS in TNBC and HER2+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Response-adaptive treatment: residual disease → escalate (CREATE-X, KATHERINE)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4206240" cy="202996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Regimens by Subtype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07792"/>
            <a:ext cx="4023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TNBC: ddAC + paclitaxel ± pembrolizumab (KEYNOTE-522: ↑ pCR 64.8% vs 51.2%)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BRCA1/2: add carboplatin; pCR 55–60%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HER2+: docetaxel + carbo + trastuzumab + pertuzumab (TCbHP — NEOSPHERE)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ER+/HER2-: chemo before surgery; endocrine for postmenopausal elderly if non-responders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TNBC after NAC: capecitabine × 6–8 cycles (CREATE-X)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HER2+ after NAC: T-DM1 × 14 cycles (KATHERINE)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20240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in Early TNBC (KEYNOTE-522)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KEYNOTE-522: Stage II–III TNBC; pembrolizumab × 8 cycles neoadjuvant + 9 cycles adjuvant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pCR: 64.8% (pembro) vs 51.2% (placebo); EFS HR 0.63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approved 2021: pembrolizumab + chemo → surgery → pembrolizumab for 9 cycles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irAE monitoring: immune-related toxicities (endocrinopathies, pneumonitis)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PD-L1 testing NOT required for neoadjuvant eligibility in TNBC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Olaparib adjuvant: for BRCA1/2 germline, HER2-neg, residual disease or high-risk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06040"/>
            <a:ext cx="4297680" cy="20299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Response to Neoadjuvant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07792"/>
            <a:ext cx="41148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tumor size (calipers/US) every 2 cycles; reassess at mid-point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Imaging: MRI best for residual disease (85% correlation with pathology)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Axillary: US ± FNA for suspicious nodes; place clip for TAD (targeted axillary dissection)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response: switch regimen vs proceed to surgery (≥4–6 cycles typical)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assessment at surgery: ypT0/Tis ypN0 = pCR (NSABP/CTRC-AACR definition)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 response guides adjuvant decisions (see Residual Cancer Burden scale)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through IV: algorithms and treatment principles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In Situ Disease Management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Management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+ WBRT: standard (Cat 1); reduces IBTR ~50–70%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alone (selected low-risk): VNPI 3–4; low-grade; &lt;2.5 cm; margin ≥10 mm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Mastectomy: multicentric; large size; cosmesis not achievable; patient preference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≥2 mm required with WBRT; ≥3 mm for BCS alone (B-17 criteria)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SLNB: not routine for pure DCIS; YES with mastectomy (TAD becomes difficult later)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therapy: ER+ DCIS → tamoxifen 5 yrs (↓ recurrence + contralateral risk)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Management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LCIS: observation + chemoprevention + annual mammography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surgical re-excision required for classic LCIS at core biopsy margin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Chemoprevention: tamoxifen or raloxifene (NSABP P-2); reduces bilateral risk ~50%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excision to clear margins (similar to high-grade DCIS)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risk-reducing mastectomy: option for highest-risk patients (strong FH + BRCA)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MRI: consider for LCIS patients with additional risk factors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Paget's Disease — Stage 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Paget's (no underlying invasive): central excision + WBRT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Paget's + underlying DCIS: same management as DCIS ± Paget's-specific approach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Mastectomy: Paget's + multifocal DCIS or if BCS not achievable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SLNB: as for DCIS/invasive component (perform with mastectomy)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Adjuvant Points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for chemoprevention: ER+ DCIS after BCS ± 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20 mg/day × 5 yrs: ↓ ipsilateral + contralateral breast events (B-24)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(postmenopausal): anastrozole 1mg × 5 yrs reduces recurrence (IBIS-II DCIS)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for chemotherapy in pure DCIS/LCIS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annual mammo; H&amp;P every 6 months × 5 yrs then annually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I–IIB — Curative Intent Management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160520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6217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Work-up: Triple assessment, staging, biomarkers, genetics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53312" y="1005840"/>
            <a:ext cx="36576" cy="2286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10515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225296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" y="12252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eligible?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1225296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23160" y="1225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+ SLNB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" y="1874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187452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(± ALND)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167128" y="1316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167128" y="19476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56432" y="2258568"/>
            <a:ext cx="36576" cy="2286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23042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478024"/>
            <a:ext cx="4160520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8600" y="247802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RT: WBRT after BCS; PMRT if T3/T4 or ≥4 nodes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880360"/>
            <a:ext cx="4160520" cy="175564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" y="28803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by Subtype (Adjuvant)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38328" y="3182112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ER+/HER2-: endocrine ± chemo (by Oncotype DX RS); CDK4/6 (abemaciclib) if high-risk N+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HER2+: chemo + trastuzumab ± pertuzumab (N+ or high risk T2+)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Stage II: chemo ± pembrolizumab neoadjuvant (preferred); capecitabine if residual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BRCA1/2: olaparib adjuvant 1 yr if residual disease or pN+ after NAC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endocrine: 5–10 yrs depending on risk; OFS for premenopausal high-risk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621792"/>
            <a:ext cx="4297680" cy="4014216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vs Adjuvant Approach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27448" y="923544"/>
            <a:ext cx="411480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preferred: HER2+ Stage II+, TNBC Stage II+, LABC, goal BCS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preferred: pT1 pN0 low-risk ER+/HER2-, older/frail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IIA ER+/HER2- N0: Oncotype DX RS guides chemo decision (TAILORx)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IIB-N1 ER+/HER2-: consider neoadjuvant or direct surgery then adjuvant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T1N0 ER+ HER2-: excellent prognosis; chemo often not needed if RS ≤25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T2N1 HER2+: neoadjuvant HP-based; residual → T-DM1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T2N1 TNBC: neoadjuvant pembro-chemo; residual → capecitabine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T1-2 N0 TNBC RS&lt;50: adjuvant chemo; pembro only with neoadjuvant path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preservation: discuss before chemotherapy in premenopausal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GnRH agonist during chemo: reduces premature ovarian failure (POEMS trial)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III — Locally Advanced Breast Cancer (LABC)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Staging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IIIA: T3N1; T0-3N2 (fixed/matted axillary or IMN nodes)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IIIB: T4 (any) including IBC (T4d); T4N0-2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IIIC: Any T, N3 (infraclavicular, supraclavicular, IMN + axillary)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BC (T4d): rapid onset; clinical diagnosis; always Stage ≥IIIB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Workup: CT C/A/P + bone scan or PET-CT; brain MRI if symptomatic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Algorithm for LABC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Biopsy + biomarkers (ER/PR/HER2/Ki-67) + full staging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Neoadjuvant systemic therapy (NAC ± targeted) — ALL subtypes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MRM after neoadjuvant (BCS if excellent response; IBC → MRM mandatory)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Axillary dissection (ALND level I-II) for all N+ cases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PMRT (chest wall + regional nodes) — ALL Stage III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Adjuvant systemic (response-adapted): T-DM1 if HER2+ residual; capecitabine if TNBC residual; endocrine for ER+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IBC-Specific Management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surgery first in IBC — neoadjuvant chemotherapy MANDATORY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Anthracycline + taxane backbone ± platinum ± anti-HER2 (if HER2+)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MRM after ≥4–6 cycles (even if "complete clinical response")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PMRT: ALL IBC patients (even if pCR); target chest wall + regional nodes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Adjuvant: capecitabine (TNBC residual); T-DM1 (HER2+ residual); endocrine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5-yr OS ~40%; TNBC-IBC worst; HER2+ IBC improved with targeted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Radiotherapy in LABC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PMRT: All Stage III patients — both after BCS and mastectomy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Dose: 46–50 Gy to chest wall + 10 Gy boost for close margins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volumes: chest wall/residual breast + axilla + SCF + IMN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after completion of chemotherapy; before or concurrent with endocrine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+ PMRT: expander should be partially deflated during RT; complications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Hypofractionation: FAST-Forward shows 26 Gy × 5 non-inferior for WBRT (selected)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IV — Metastatic Breast Cancer (MBC)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38528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MBC Management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BC: incurable but treatable; goal = extend survival + maintain QoL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reassessment: rebiopsy metastatic site for ER/PR/HER2 (15–25% discordance)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actionable mutations: ESR1 (cfDNA), PIK3CA/PTEN/AKT1, BRCA1/2 (germline+somatic)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sites for rebiopsy: bone (decalcified limited), liver, skin/lymph node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performance status: critical for treatment selection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Bone-only MBC: best prognosis; bone-modifying agents (zoledronic acid/denosumab)</a:t>
            </a:r>
            <a:endParaRPr lang="en-US" sz="105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624328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4114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Line (NCCN/ESMO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Line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HR+/HER2- postmeno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CDK4/6i (ribociclib/abema/palbociclib) +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Fulvestrant ± inavolisib; elacestrant/imlunestrant if ESR1 mut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HR+/HER2- premeno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CDK4/6i + AI + OFS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Capivasertib + fulvestrant (PIK3CA/AKT1/PTEN mut); ET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Pertuzumab + trastuzumab + docetaxel (CLEOPATRA)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T-DXd (preferred 2nd line, DESTINY-Breast03)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brain 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+ docetaxel + trastuzumab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Tucatinib + tras + capecitabine (HER2CLIMB; preferred CNS)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 PD-L1+ (CPS≥10)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Pembrolizumab + chemo (KEYNOTE-522)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Sacituzumab govitecan (SG); dato-DXd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 PD-L1-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(gem/carbo; capecitabine)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SG; T-DXd (HER2-low); dato-DXd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BRCA1/2 mutated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Olaparib or talazoparib (HER2-neg)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SG; cabo after progression; chemo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228600" y="4636008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See ESMO 2026 slide for full updated algorithms with new agents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Targeted Add-On Therapy Roughly Doubles Progression-Free Survival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48" y="754380"/>
            <a:ext cx="8382305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progression-free survival, combination targeted therapy vs comparator alone, across landmark metastatic trials (PALOMA, MONALEESA, BOLERO-2, SOPHIA)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ESMO 2026 — Metastatic BC Updates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agents, ESR1/PIK3CA/TROP2 pathways, ESCAT scoring, HER2-low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ESMO 2026 — MBC Updates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ESMO 2026 — HR+/HER2− MBC: ESR1 &amp; PI3K/AKT Updates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ESMO 2026 — MBC Updates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ESMO 2026 MBC Guidelines Update — ER+/HER2- Metastatic Breast Cancer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196596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CDK4/6 Inhibitor Progression: ESR1 Pathway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" y="1170432"/>
            <a:ext cx="40233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ESR1 mutations: acquired endocrine resistance mechanism; present in ~40% post-CDK4/6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liquid biopsy (ctDNA) for ESR1 Y537S/D538G mutations before 2nd-line ET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Elacestrant (EMERALD trial): oral SERD; ESR1-mutated: PFS HR 0.55 vs standard ET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Imlunestrant (EMBER-3 trial): next-gen oral SERD; ESR1-mutated: ↑ PFS vs ET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ESCAT level: IA for ESR1-mutated (elacestrant); oral SERDs preferred over injections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cfDNA testing (cell-free DNA liquid biopsy) before selecting 2nd-line 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898648"/>
            <a:ext cx="4206240" cy="173736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898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PIK3CA/AKT1/PTEN Pathway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3200400"/>
            <a:ext cx="4023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mutation: ~35–40% of ER+/HER2- BC; activates PI3K/AKT/mTOR pathway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Inavolisib + palbociclib + fulvestrant: for PIK3CA-mutated, CDK4/6-pretreated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INAVO120: PFS median 15.0 vs 7.3 months (HR 0.43) — practice-changing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Capivasertib + fulvestrant: AKT1/PIK3CA/PTEN-altered; CAPItello-291 trial (PFS HR 0.60)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Everolimus + exemestane: mTOR inhibitor; BOLERO-2 (older; still used)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4297680" cy="196596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ESMO ESCAT Scoring System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1170432"/>
            <a:ext cx="411480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ESCAT = ESMO Scale for Clinical Actionability of Molecular Targets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I: Ready for routine use in clinical practice (level IA/IB)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II: Promising but lacking definitive evidence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III: Uncertain clinical utility — investigational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IV: Evidence for lack of utility — do not use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triage molecular test findings for clinical decision-making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prioritize which actionable alterations drive treatment selection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898648"/>
            <a:ext cx="4297680" cy="1737360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898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MCBS v2.0 (Magnitude of Clinical Benefit Scale)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200400"/>
            <a:ext cx="4114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benefit of new agents on 1–5 (palliative) or A-C (curative)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(highest) = meets ESMO threshold for substantial benefit: PFS HR &lt;0.65 or ≥6 mo improvement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T-DXd HER2+: Score 5; Tucatinib + T+C: Score 4; Capivasertib: Score 3-4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formulary decisions in resource-limited settings (e.g., Ethiopia)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Elacestrant ESR1-mutated: MCBS Score 3 — meaningful but limited benefit magnitude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ESMO 2026 — HER2+ &amp; TNBC MBC: New Agent Algorithms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ESMO 2026 — MBC Updates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ESMO 2026 MBC Update — HER2+ and TNBC: ADC era and immunotherapy algorithms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1938528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MBC: Updated Sequence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" y="1170432"/>
            <a:ext cx="4023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line: Pertuzumab + Trastuzumab + Taxane (CLEOPATRA — OS benefit maintained)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line: T-DXd (trastuzumab deruxtecan) — DESTINY-Breast03: PFS HR 0.28 vs T-DM1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T-DXd: PREFERRED 2nd line HER2+ by both ESMO and NCCN 2026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line: Tucatinib + trastuzumab + capecitabine (HER2CLIMB)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metastases present: Tucatinib preferred (CNS penetration; intracranial ORR 47%)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ILD: T-DXd-associated interstitial lung disease (2–13%); monitor with CT; dose modify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28600" y="2871216"/>
            <a:ext cx="4206240" cy="1764792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871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HER2-Low: New Standard (DESTINY-Breast04)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3172968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HER2-low = IHC 1+ or IHC 2+/FISH-negative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DESTINY-Breast04: T-DXd vs physician's choice chemo in HER2-low MBC (previously treated)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 HER2-low: PFS HR 0.51; OS HR 0.64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HER2-low: PFS HR 0.46 — also significant benefit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standard 2nd/3rd line for HER2-low MBC (HR+ and TNBC) — ESMO Grade A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test HER2 by IHC to identify HER2-low — IHC 0 is NOT eligible for T-DXd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4297680" cy="1938528"/>
          </a:xfrm>
          <a:prstGeom prst="rect">
            <a:avLst/>
          </a:prstGeom>
          <a:solidFill>
            <a:srgbClr val="FFF0F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MBC: 2026 Algorithm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1170432"/>
            <a:ext cx="4114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PD-L1+ (CPS ≥10): pembrolizumab + chemotherapy (KEYNOTE-119/522)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PD-L1-: chemotherapy (gem/carbo; capecitabine/vinorelbine); TROP2-targeted ADC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Sacituzumab govitecan (SG): anti-TROP2 ADC; ASCENT: OS HR 0.48 vs single chemo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Dato-DXd (datopotamab deruxtecan): anti-TROP2 ADC; TROPION-Breast01: PFS HR 0.63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 + SG: KEYNOTE-890 ongoing — promising combination</a:t>
            </a:r>
            <a:endParaRPr lang="en-US" sz="86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mut TNBC: olaparib or talazoparib → PARP inhibitor first in BRCA carriers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617720" y="2871216"/>
            <a:ext cx="4297680" cy="1764792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ESMO 2026 — Ethiopia Context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172968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ESMO 2026 agents (T-DXd, inavolisib, elacestrant, SG) NOT yet available in Ethiopia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approach: established regimens (AC→T, CMF, tamoxifen, trastuzumab where available)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access: expanding at tertiary centers; not universally available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CDK4/6 inhibitors: not yet routinely available in Ethiopian public health system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MCBS scoring: guides priority for import/affordable access negotiations (WHO EML)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Gap: Ethiopia ≈ 2010-era treatment availability vs 2026 standards</a:t>
            </a:r>
            <a:endParaRPr lang="en-US" sz="82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— Types &amp; Management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definitions, management by recurrence site/type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— Types &amp; Management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— Classification &amp; Definitions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— Types &amp;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38528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Locoregional Recurrence (LRR)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recurrence: recurrence at the ipsilateral breast (after BCS) or chest wall (after mastectomy)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recurrence: ipsilateral axillary, supraclavicular, infraclavicular, or IMN nodes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LRR incidence: ~5–10% at 10 years with modern 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IBTR (ipsilateral breast tumor recurrence): at original tumor site vs new primary?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recurrence: within 2–3 cm of original site, same histology, &lt;5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primary: different quadrant, OR ≥5 years, OR different histology/biomarkers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24328"/>
            <a:ext cx="4206240" cy="2011680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(Systemic) Recurrence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26080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metastasis: any organ outside the breast/regional nodes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Bone: most common (50–70% of distant recurrence); may be first site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Visceral: liver (20–30%), lung (10–15%), brain (especially HER2+ and TNBC)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Leptomeningeal: rare; HER2+ and TNBC; poor prognosis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recurrence: ER+ late (years 5–20+); TNBC/HER2+ early (&lt;3 yrs)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hazard rate: peaks at ~2 yrs for TNBC, ~3–4 yrs for HER2+, bimodal ER+</a:t>
            </a:r>
            <a:endParaRPr lang="en-US" sz="105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621792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(Standard)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IBTR (true local)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Ipsilateral breast recurrence after BCS — same site, same histology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Salvageable; 60–70% 10-yr 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 mastectomy ± systemic; re-staging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ipsilateral primary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quadrant or ≥5 yrs or different biomarkers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as new primary — better prognosis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+ full systemic workup; re-treat per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(post-mastectomy)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Skin/soft tissue at mastectomy 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Variable; 25–40% distant mets within 2 yrs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 ± RT; systemic staging; re-irradiate (selected)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(nodal)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Ipsilateral axillary, SCF, IMN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 eventually develop distant 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 ± RT; full staging; systemic therapy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Distant metastatic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site beyond locoregional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OS 2–5 yrs (improving)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therapy; local control as needed; QoL 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 — Patterns of Breast Cancer Recurrence</a:t>
            </a:r>
            <a:endParaRPr lang="en-US" sz="1700" dirty="0"/>
          </a:p>
        </p:txBody>
      </p:sp>
      <p:pic>
        <p:nvPicPr>
          <p:cNvPr id="4" name="Image 0" descr="/tmp/claude-0/-home-user-Phone/c7f42cbc-61a1-5785-9117-fab275c9b64e/scratchpad/assets/fig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0247"/>
            <a:ext cx="8412480" cy="29087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 first recurrence, distant-only vs local-regional-only (left); recurrence risk stratified by axillary nodal status (right)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— Types &amp; Management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Locoregional Recurrence — Management Algorithm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— Types &amp; Management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for LRR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grade + large tumor size (T3–4)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close surgical margins after prior BCS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radiation therapy to the breast/chest wall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age (&lt;40): higher absolute LRR risk independent of other factors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Lymphovascular invasion (LVI): strong predictor of nodal/locoregional recurrence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negative and HER2-enriched subtypes: early LRR within 2–3 years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ER-negative tumors: front-loaded recurrence pattern; no late recurrences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IBTR After BCS — Management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Re-staging: CT C/A/P + bone scan (or PET) → exclude distant disease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salvage: mastectomy (standard for IBTR after BCS + prior RT)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BCS: possible if NO prior RT and lesion is amenable to resection with clear margins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Post-mastectomy RT: required if chest wall not previously irradiated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therapy: treat by new biomarker profile (rebiopsied sample)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5-yr OS ~60–70% for isolated IBTR (better if ER+, long disease-free interval)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Wall Recurrence (Post-Mastectomy)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staging workup before local treatment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chest wall: excision (wide local) + RT (if not previously irradiated)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irradiated field: re-irradiation possible at expert centers (IMRT/SBRT)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therapy: by current tumor biomarkers; resistance patterns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isolated chest wall LRR → 25–35% 5-yr OS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distant mets found: systemic therapy is primary; local control adjunctive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Recurrence — Axillary/Supraclavicular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Ipsilateral axillary recurrence after prior SLNB: full ALND (levels I–III)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recurrence after prior ALND: surgical excision ± radiotherapy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Supraclavicular recurrence: radiotherapy ± systemic; surgical rarely feasible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regional recurrences: full staging to exclude distant mets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therapy: based on new biomarker testing + prior treatment history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perfusion: selective for in-transit (rare in BC); HILP (hyperthermic limb)</a:t>
            </a:r>
            <a:endParaRPr lang="en-US" sz="10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Pregnancy-associated BC, male BC, nipple discharge, IBC, rare presentations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Situations: Pregnancy, Male BC &amp; Nipple Discharge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938528"/>
          </a:xfrm>
          <a:prstGeom prst="rect">
            <a:avLst/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in Pregnancy (PABC)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Incidence: 1 in 3,000 pregnancies; most common cancer in pregnancy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US (safe in pregnancy); MRI without gadolinium acceptable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Mammography: low radiation dose to fetus (shields); if clinically warranted — OK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all trimesters safe; avoid sentinel node mapping with blue dye (Tc-99m acceptable)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Chemotherapy: AVOID in 1st trimester (organogenesis); AC-T safe after 14 weeks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Termination: NOT recommended for cancer treatment; does not improve prognosis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624328"/>
            <a:ext cx="4206240" cy="201168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PABC — Drug &amp; RT Considerations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926080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Taxanes: use with caution in 2nd/3rd trimester; limited data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Trastuzumab: CONTRAINDICATED in pregnancy (oligohydramnios, fetal renal failure)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Radiation: AVOID during pregnancy (fetal dose exposure); defer to postpartum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Tamoxifen: TERATOGENIC — contraindicated; start after delivery/breastfeeding cessation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Breastfeeding: not recommended during chemotherapy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Prognosis: stage-for-stage equivalent to non-pregnant; delayed diagnosis → worse outcomes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93852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all BC; higher in Sub-Saharan Africa (~6%) — may reflect BRCA2/Klinefelter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 BRCA2 (most important gene), Klinefelter (XXY), exogenous estrogen, radiation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Biology: ER+ in ~90%; HER2+ uncommon; TNBC rare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central retroareolar mass, often later than female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MRM (standard); BCS rare (limited breast tissue); tamoxifen for ER+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inhibitors: less effective (androgens compete); tamoxifen preferred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2026: BRCA2 male carriers → annual PSA from age 40–45 (prostate Ca risk)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624328"/>
            <a:ext cx="4297680" cy="201168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624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926080"/>
            <a:ext cx="4114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Benign: bilateral, milky, multiple ducts, non-spontaneous → hormonal/galactorrhea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Concerning: unilateral, bloody/serosanguineous, single duct, spontaneous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Bloody discharge: #1 cause = intraductal papilloma; #2 = DCIS (must exclude)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Workup: bilateral mammogram + US ± ductography ± MRI ± ductoscopy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Subareolar excision: for persistent single-duct discharge after imaging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Pathology: exclude DCIS; papilloma excision → 10% upgrade to DCIS or invasive</a:t>
            </a:r>
            <a:endParaRPr lang="en-US" sz="10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Inflammatory BC, Local-Regional Recurrence &amp; Rare Cancers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21792"/>
            <a:ext cx="4206240" cy="187452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621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Breast Cancer (IBC) — Summary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923544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diagnosis: rapid onset; ≥1/3 breast erythema + peau d'orange ± nipple retraction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misdiagnosed as mastitis/abscess — key: NO fever response to antibiotics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T4d; Stage ≥IIIB at minimum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sequence: biopsy → biomarkers → neoadjuvant chemo → MRM → PMRT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primary surgery; surgery without prior chemo = wrong approach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IBC: add trastuzumab + pertuzumab (excellent neoadjuvant response ~60–70% pCR)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560320"/>
            <a:ext cx="4206240" cy="2075688"/>
          </a:xfrm>
          <a:prstGeom prst="rect">
            <a:avLst/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Breast Cancer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" y="2862072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Synchronous: bilateral BC diagnosed simultaneously (within 3 months)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Metachronous: second primary BC ≥3 months after first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 of contralateral primary BC: 0.5–1% per year after first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in: BRCA carriers, younger patients, lobular histology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Staging: both primaries staged independently; combined stage uses worst primary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both breast surgeries staged (immediate or sequential); systemic therapy by higher-risk tumor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621792"/>
            <a:ext cx="4297680" cy="1874520"/>
          </a:xfrm>
          <a:prstGeom prst="rect">
            <a:avLst/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621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Occult Primary BC (OPC) — Axillary Mass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923544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axillary nodal metastasis with no identifiable breast primary on standard imaging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Incidence: ~1% of breast cancer presentations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Workup: mammogram + US → MRI breast (identifies primary in 70% of OPC)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MRI identifies primary: treat as standard invasive BC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MRI negative: still likely breast origin (ER/PR/GCDFP-15 IHC)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ALND + whole-breast RT (vs MRM); systemic therapy as per biology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297680" cy="2075688"/>
          </a:xfrm>
          <a:prstGeom prst="rect">
            <a:avLst/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560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Breast Presentations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862072"/>
            <a:ext cx="41148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synchronous IBC: extremely rare; treat each breast with neoadjuvant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Dermal metastasis (breast carcinoma en cuirasse): skin involvement by lymphatic spread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Lymphoma of breast: rare primary; biopsy essential; not amenable to surgery (treat systemically)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Sarcoma of breast: excision with wide margins; no sentinel node; no routine chemotherapy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cell tumor: benign; subareolar; mimics BC clinically — excision curative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Hamartoma: mammographically distinct "breast-within-breast"; excision for diagnosis</a:t>
            </a:r>
            <a:endParaRPr lang="en-US" sz="10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Ethiopian Guideline 2024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FMOH Breast Cancer Guideline: 3 pillars, treatment tiers, gaps vs international standard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Guideline 2024 Integration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🇪🇹 Ethiopian BC Guideline 2024 — Overview &amp; Three Pillars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Guideline 2024 Integration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ETHIOPIAN FMOH 2024 — FIRST NATIONAL BREAST CANCER GUIDELINE (2024-2028)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Goals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" y="1170432"/>
            <a:ext cx="4023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national BC guideline for Ethiopia (2024–2028)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16,133 new BC cases/year; ASI 41.5/100,000 — #1 cancer in Ethiopian women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Goal: reduce BC mortality aligned with WHO Global Breast Cancer Initiative (GBCI)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health system: primary (PHCU) → secondary (general hosp.) → tertiary (specialized)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Targets (60:60:80 aligned with WHO GBCI):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60% of invasive BC diagnosed at Stage I or II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60-day turnaround from referral to full diagnosis + start treatment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80% of patients completing multidisciplinary treatment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761488"/>
            <a:ext cx="420624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7614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Health Promotion &amp; Early Detection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3063240"/>
            <a:ext cx="40233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&gt;60% breast cancer detected at Stage I and II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CBE from age ≥30 annually (no population mammography)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(breast self-exam) education: women ≥20 years monthly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MCH services: ANC, postnatal, family planning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Extension Workers (HEWs): trained for CBE and referral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education on BC risk factors for children/adolescents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mobilization: faith-based, community-based orgs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429768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868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Timely Diagnosis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1170432"/>
            <a:ext cx="4114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Full diagnosis (evaluation + imaging + pathology) within 60 days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assessment: CBE + US ± mammography + FNAC/CNB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FNAC first approach (resource-pragmatic) → CNB if needed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algorithm: women ≥30 with lump/skin change/nipple change → US + FNAC → confirm/refer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hospitals: ideal location for diagnostic services (geographic access)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Pathology: histology + ER/PR; HER2 testing expanding at tertiary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761488"/>
            <a:ext cx="429768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761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Comprehensive BC Management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27448" y="3063240"/>
            <a:ext cx="41148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80% of patients completing multidisciplinary treatment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approach: surgeon + oncologist + pathologist + radiologist + social worker + nurse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currently only at tertiary centers (Tikur Anbessa, JUSH, ALERT)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available: surgery (MRM standard), chemotherapy (24 public hospitals)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Radiotherapy: available at TASH + 2 regional hospitals; 4 more in development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therapy: tamoxifen routinely available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HER2-targeted: expanding but not universally available</a:t>
            </a:r>
            <a:endParaRPr lang="en-US" sz="10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🇪🇹 Ethiopia — Treatment Scope by Healthcare Tier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Guideline 2024 Integration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ETHIOPIAN GUIDELINE 2024 — Scope of Practice by Health System Tier</a:t>
            </a:r>
            <a:endParaRPr lang="en-US" sz="95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200400"/>
                <a:gridCol w="2286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Served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Responsibilities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Pathway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Post / Health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3,000–40,000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 training, BHA education, identify suspicious findings, counseling on risk factors, first contact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Primary Hospital or higher for any CBE-suspicious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Hospital (PHCU)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60,000–100,000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CBE, risk factor counseling, basic breast US (if available), FNAC (selected), initiate referral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General Hospital for imaging, biopsy, 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/ Secondary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500,000–1.5 million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diagnostic imaging (US, mammo), CNB, staging, basic chemotherapy, MRM/BCS surgery, follow-up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Specialized Hospital for complex surgery, RT, HER2-targeted, MDT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/ Tertiary Hospital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3.5–5 million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MDT, complex surgery (reconstruction), radiotherapy, all systemic therapies, advanced diagnostics,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for all cases; should provide outreach support to secondary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28600" y="3035808"/>
            <a:ext cx="42062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 MDT Approach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38328" y="3337560"/>
            <a:ext cx="4023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Team: required for all BC management decisions at tertiary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breast surgeon, medical oncologist, radiation oncologist, radiologist, pathologist, clinical nurse specialist, social worker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consultation required when discussing cancer management plans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navigation program: standardized follow-up contact to reduce loss to follow-up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3035808"/>
            <a:ext cx="429768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9160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Navigation &amp; Support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727448" y="3337560"/>
            <a:ext cx="41148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Navigator: reduces loss to follow-up between referral levels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referral pathway written: from primary → tertiary care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calendar: standardized scheduling tools (Appendix D)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Psychosocial support: integrate social worker into MDT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groups: connect survivors with newly diagnosed patients</a:t>
            </a:r>
            <a:endParaRPr lang="en-US" sz="10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navigation: high cost is key barrier to treatment completion</a:t>
            </a:r>
            <a:endParaRPr lang="en-US" sz="10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🇪🇹 Ethiopia vs International Standard — Key Gaps &amp; Priorities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Guideline 2024 Integration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256032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" y="5486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CRITICAL DIFFERENCES: Ethiopian Practice vs International Standard (NCCN/ESMO 2026)</a:t>
            </a:r>
            <a:endParaRPr lang="en-US" sz="95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19456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Standard (NCCN/ESMO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Ethiopian Current Practice (2024 Guideline)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mammography from age 40 (NCCN) / 45 (ACS)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 annually from age 30; mammography only if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CBE; advocate mammography expansion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at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 Stage III-IV in USA/Europe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65–75% Stage III-IV → poor outcomes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to early detection programs (60:60:80 goal)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Biomarker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ER/PR/HER2/Ki-67 all biopsy specimens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ER/PR routinely; HER2 expanding (inconsistent)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HER2 testing nationally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Genomic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Oncotype DX RS for ER+/HER2- adjuvant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feasible short-term; future aspiration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 inhibitors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Palbociclib/ribociclib/abemaciclib standard 1st-line MBC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routinely available in public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EML advocacy; access programs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HER2-targeted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standard; T-DXd 2nd line; pertuzumab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expanding; T-DXd not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trastuzumab supply chain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Immunotherapy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Pembrolizumab + chemo for TNBC Stage II-IV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access program; WHO EML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Radiotherapy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all centers; PMRT standard for Stage 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centers (3 in Ethiopia)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RT centers (4 more planned)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adjuvant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Capecitabine residual TNBC; T-DM1 residual HER2+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Capecitabine increasingly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 capecitabine for residual TNBC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2514600" cy="5052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1440"/>
            <a:ext cx="73152" cy="505206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713232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6974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&amp; Quick Reference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160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follow-up guidelines, key numbers, drug reference tables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Quick Reference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Guidelines (ASCO Recommendations)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Quick Reference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82296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1–5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H&amp;P (History &amp; Physical)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3–6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on: new symptoms, toxicity, recurrence signs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Ipsilateral mammogram (after BCS)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months post-RT, then 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if concerns; MRI in BRCA carriers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Contralateral mammogram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Regardless of surgery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exam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 (tamoxifen → endometrial risk)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abnormal bleeding immediately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density (on AIs)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Baseline, then q1–2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Calcium/Vit D + exercise; bisphosphonate if T-score &lt;−2.0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LFTs / CBC / tumor markers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routinely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clinically indicated; markers not proven to improve 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CT/Bone scan/PET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 (asymptomatic)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routine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symptomatic or signs of recurrence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counseling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if not done at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appropriate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testing criteria change (NCCN 2026 panels)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8600" y="4187952"/>
            <a:ext cx="8686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No imaging or tumor markers (CA 15-3, CEA) in asymptomatic patients — not proven to improve OS. Symptoms drive investigations.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LCIS vs DCIS &amp; Key Numbers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Quick Reference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58368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46120"/>
                <a:gridCol w="37033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 (bilateral)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Obligate precursor (→invasive if untreated)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Unilateral (usually)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Margins required?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(≥2 mm)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indicated?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(after BCS)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staging?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(unless invasive)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mastectomy/invasion suspected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benefit?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(BRCA2, ADH subgroup)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(ER+ DCIS)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28600" y="28895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Numbers</a:t>
            </a:r>
            <a:endParaRPr lang="en-US" sz="1300" dirty="0"/>
          </a:p>
        </p:txBody>
      </p:sp>
      <p:graphicFrame>
        <p:nvGraphicFramePr>
          <p:cNvPr id="1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200400"/>
          <a:ext cx="42519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Number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 BC risk in US women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 (1 in 8)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 mortality reduction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~15–25%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chemoprevention (P-1)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↓ in ER+ BC risk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BCS = mastectomy for survival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RCTs confirmed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 false-negative rate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~5–8% (dual tracer)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00400"/>
          <a:ext cx="42519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Number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Z0011: ALND vs SLNB (OS)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 (N=891)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benefit (HERA)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↓ in recurrence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in TNBC with chemo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~30–55%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upgrade at excision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IMN location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ICS 1–6, &lt;3cm sternal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Drug Mechanism &amp; Indication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Quick Reference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58368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SERM — blocks ER in breast tissue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Pre/post-menopausal ER+ adj; chemoprevention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Letrozole/Anastrozole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Non-steroidal AI — blocks peripheral aromatization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Post-menopausal ER+ adjuvant (superior to tamoxifen)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Anti-HER2 mAb — ADCC + signaling inhibition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adjuvant + metastatic; 1 year duration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Palbociclib/Ribociclib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CDK4/6 inhibitor — arrests cell cycle G1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ER+/HER2− metastatic 1st line (+ AI)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Olaparib/Talazoparib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PARP inhibitor — synthetic lethality in BRCA mut.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BRCA1/2-mutated HER2-neg metastatic BC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T-DXd (trastuzumab deruxtecan)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ADC: T + deruxtecan (topo I inhib)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HER2+ 2nd line MBC; HER2-low MBC (★ ESMO 2026)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Sacituzumab govitecan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ADC: anti-TROP2 + SN-38 payload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 2nd+ line; HR+ HER2- 3rd+ line (★ ESMO 2026)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Reading the Grading/Staging/Genomic Alphabet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Quick Reference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8046720" cy="30175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0058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Deck's Classification Systems Relate (full detail: Section 10)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307592"/>
            <a:ext cx="786384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Imaging suspicion: BIRADS 0–6 (Section 06) decides whether to biopsy at all</a:t>
            </a:r>
            <a:endParaRPr lang="en-US" sz="12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Tumor biology: Nottingham/SBR histologic Grade 1–3, or DCIS nuclear grade low/int/high (Section 10 Grading Summary)</a:t>
            </a:r>
            <a:endParaRPr lang="en-US" sz="12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Anatomic + prognostic extent: AJCC T/N/M category, combined with Grade + ER/PR/HER2 + Oncotype RS = "Prognostic Stage" (Section 10)</a:t>
            </a:r>
            <a:endParaRPr lang="en-US" sz="12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Genomic chemo-benefit: Oncotype DX Recurrence Score 0–100 refines the chemotherapy decision within a given stage (Section 11)</a:t>
            </a:r>
            <a:endParaRPr lang="en-US" sz="12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2026 metastatic-setting evidence grading: ESCAT I–IV scores how actionable a molecular target is; MCBS 1–5 scores how LARGE the benefit is (Section 15)</a:t>
            </a:r>
            <a:endParaRPr lang="en-US" sz="120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answers a DIFFERENT question — none replaces another; a tumor is fully characterized only when all five are known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82296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9260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96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Messages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53312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biologically heterogeneous — molecular subtyping (ER/PR/HER2/grade + genomics) drives modern management</a:t>
            </a:r>
            <a:endParaRPr lang="en-US" sz="108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+ RT = mastectomy for survival; Z0011 supports SLNB alone in cT1-2N1 BCS patients — ALND not needed</a:t>
            </a:r>
            <a:endParaRPr lang="en-US" sz="108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BC: endocrine therapy backbone; Oncotype DX guides chemo (avoids over/under-treatment); CDK4/6 inhibitors adjuvant for high-risk N+</a:t>
            </a:r>
            <a:endParaRPr lang="en-US" sz="108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BC: dual anti-HER2 (HP) neoadjuvant; residual disease → T-DM1; T-DXd preferred 2nd-line MBC (ESMO 2026)</a:t>
            </a:r>
            <a:endParaRPr lang="en-US" sz="108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TNBC: pembrolizumab + chemo neoadjuvant (KEYNOTE-522 pCR 65%); capecitabine for residual; SG/dato-DXd MBC</a:t>
            </a:r>
            <a:endParaRPr lang="en-US" sz="108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&amp; staging are distinct, complementary tools: histologic grade (biology) + AJCC TNM (anatomy) + genomics (RS/ESCAT/MCBS) together set risk and treatment — see Section 10 Grading Summary</a:t>
            </a:r>
            <a:endParaRPr lang="en-US" sz="1080" dirty="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 Ethiopia: CBE-based screening, 65-75% Stage III-IV, limited access to targeted therapies — bridging the gap is the priority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02920" y="3584448"/>
            <a:ext cx="8138160" cy="914400"/>
          </a:xfrm>
          <a:prstGeom prst="rect">
            <a:avLst/>
          </a:prstGeom>
          <a:solidFill>
            <a:srgbClr val="EBF5FB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6393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Schwartz 11th Ed. (Ch.17)  |  DeVita 10th Ed. (Ch.106)  |  ESMO 2026 MBC Guidelines  |  NCCN v6.2026  |  JNCCN v2.2026  |  Ethiopian FMOH 2024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867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 GSR-3 Surgical Oncology Residency — September 2026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233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Muluamlak — EBS Unit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764024"/>
            <a:ext cx="9144000" cy="3794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" y="4764024"/>
            <a:ext cx="50292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&amp; Quick Reference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764024"/>
            <a:ext cx="22860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764024"/>
            <a:ext cx="59436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Exhaustive Enhanced Presentation</dc:title>
  <dc:subject>PptxGenJS Presentation</dc:subject>
  <dc:creator>PptxGenJS</dc:creator>
  <cp:lastModifiedBy>PptxGenJS</cp:lastModifiedBy>
  <cp:revision>1</cp:revision>
  <dcterms:created xsi:type="dcterms:W3CDTF">2026-09-26T14:05:38Z</dcterms:created>
  <dcterms:modified xsi:type="dcterms:W3CDTF">2026-09-26T14:05:38Z</dcterms:modified>
</cp:coreProperties>
</file>